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4"/>
  </p:notesMasterIdLst>
  <p:sldIdLst>
    <p:sldId id="1017" r:id="rId3"/>
    <p:sldId id="1018" r:id="rId11"/>
    <p:sldId id="1019" r:id="rId10"/>
    <p:sldId id="1020" r:id="rId9"/>
    <p:sldId id="1021" r:id="rId8"/>
    <p:sldId id="1022" r:id="rId7"/>
    <p:sldId id="1023" r:id="rId6"/>
    <p:sldId id="1024" r:id="rId5"/>
    <p:sldId id="1025" r:id="rId18"/>
    <p:sldId id="1026" r:id="rId19"/>
    <p:sldId id="1027" r:id="rId20"/>
    <p:sldId id="1028" r:id="rId21"/>
    <p:sldId id="1029" r:id="rId22"/>
    <p:sldId id="1030" r:id="rId23"/>
    <p:sldId id="1031" r:id="rId24"/>
    <p:sldId id="1032" r:id="rId25"/>
    <p:sldId id="1033" r:id="rId26"/>
    <p:sldId id="1034" r:id="rId27"/>
    <p:sldId id="1035" r:id="rId28"/>
    <p:sldId id="1036" r:id="rId29"/>
    <p:sldId id="1037" r:id="rId30"/>
    <p:sldId id="1038" r:id="rId31"/>
    <p:sldId id="1039" r:id="rId32"/>
    <p:sldId id="1040" r:id="rId33"/>
    <p:sldId id="1041" r:id="rId34"/>
    <p:sldId id="1042" r:id="rId35"/>
    <p:sldId id="1043" r:id="rId36"/>
    <p:sldId id="1044" r:id="rId37"/>
    <p:sldId id="1045" r:id="rId38"/>
    <p:sldId id="1046" r:id="rId39"/>
    <p:sldId id="1047" r:id="rId40"/>
    <p:sldId id="1048" r:id="rId41"/>
    <p:sldId id="1049" r:id="rId42"/>
    <p:sldId id="1050" r:id="rId43"/>
    <p:sldId id="1051" r:id="rId44"/>
    <p:sldId id="1052" r:id="rId45"/>
    <p:sldId id="1053" r:id="rId46"/>
    <p:sldId id="1054" r:id="rId47"/>
    <p:sldId id="1055" r:id="rId48"/>
    <p:sldId id="1056" r:id="rId49"/>
    <p:sldId id="1057" r:id="rId50"/>
    <p:sldId id="1058" r:id="rId51"/>
    <p:sldId id="1059" r:id="rId52"/>
    <p:sldId id="1060" r:id="rId53"/>
  </p:sldIdLst>
  <p:sldSz cx="12192000" cy="6858000"/>
  <p:notesSz cx="6858000" cy="9144000"/>
  <p:embeddedFontLst>
    <p:embeddedFont>
      <p:font typeface="DejaVu Math TeX Gyre" panose="02000503000000000000" charset="0"/>
      <p:regular r:id="rId17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CC"/>
    <a:srgbClr val="0000FF"/>
    <a:srgbClr val="8AF38A"/>
    <a:srgbClr val="FBF0DD"/>
    <a:srgbClr val="00CC00"/>
    <a:srgbClr val="008000"/>
    <a:srgbClr val="DDFADD"/>
    <a:srgbClr val="B9F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4" autoAdjust="0"/>
    <p:restoredTop sz="87347" autoAdjust="0"/>
  </p:normalViewPr>
  <p:slideViewPr>
    <p:cSldViewPr showGuides="1">
      <p:cViewPr varScale="1">
        <p:scale>
          <a:sx n="107" d="100"/>
          <a:sy n="107" d="100"/>
        </p:scale>
        <p:origin x="864" y="160"/>
      </p:cViewPr>
      <p:guideLst>
        <p:guide orient="horz" pos="222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26331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customXmlProps" Target="../customXml/itemProps1.xml"/><Relationship Id="rId16" Type="http://schemas.openxmlformats.org/officeDocument/2006/relationships/customXml" Target="../customXml/item1.xml"/><Relationship Id="rId17" Type="http://schemas.openxmlformats.org/officeDocument/2006/relationships/font" Target="fonts/font1.fntdata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一次含灵敏度的八胞格栅分析耗时（s）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NICE（一块 GPU）</c:v>
                </c:pt>
              </c:strCache>
            </c:strRef>
          </c:tx>
          <c:spPr>
            <a:solidFill>
              <a:srgbClr val="0070C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105.5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直接解，16 线程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867.8</c:v>
                </c:pt>
                <c:pt idx="1">
                  <c:v>1041.6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常规精确凝聚，16 线程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950</c:v>
                </c:pt>
                <c:pt idx="1">
                  <c:v>1218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直接解，单线程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5863.9</c:v>
                </c:pt>
                <c:pt idx="1">
                  <c:v>8131.0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每次设计迭代耗时（min）随胞数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每次设计迭代（min）</c:v>
                </c:pt>
              </c:strCache>
            </c:strRef>
          </c:tx>
          <c:spPr>
            <a:ln w="31750">
              <a:solidFill>
                <a:srgbClr val="0070C0"/>
              </a:solidFill>
            </a:ln>
          </c:spPr>
          <c:marker>
            <c:size val="9"/>
            <c:spPr>
              <a:solidFill>
                <a:srgbClr val="0070C0"/>
              </a:solidFill>
            </c:spPr>
          </c:marker>
          <c:cat>
            <c:strRef>
              <c:f>Sheet1!$A$2:$A$5</c:f>
              <c:strCache>
                <c:ptCount val="4"/>
                <c:pt idx="0">
                  <c:v>24</c:v>
                </c:pt>
                <c:pt idx="1">
                  <c:v>51</c:v>
                </c:pt>
                <c:pt idx="2">
                  <c:v>88</c:v>
                </c:pt>
                <c:pt idx="3">
                  <c:v>110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9.1</c:v>
                </c:pt>
                <c:pt idx="2">
                  <c:v>16.0</c:v>
                </c:pt>
                <c:pt idx="3">
                  <c:v>19.4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2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 i="0">
                    <a:solidFill>
                      <a:srgbClr val="595959"/>
                    </a:solidFill>
                    <a:latin typeface="Arial"/>
                    <a:ea typeface="Microsoft YaHei"/>
                  </a:rPr>
                  <a:t>胞数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327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8A8E8E4-9E6C-4A57-865F-D85E807DFE7B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20483" name="Notes Placeholder 2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r>
              <a:t>老师好。今天汇报 P1 的定稿情况：问题和相关工作、方法、结果，以及投稿计划和后续方向。最后有几件事需要您拍板。</a:t>
            </a:r>
          </a:p>
        </p:txBody>
      </p:sp>
      <p:sp>
        <p:nvSpPr>
          <p:cNvPr id="20484" name="Slide Number Placeholder 3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312656B-DCF6-4E74-B3C7-059311E4196A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先说结论。我们的学习模型保留每个胞全部盒面和切割带自由度，约两万四千个，但保住了静力凝聚的结构：对称半正定、刚体核、被精确 Schur 补从下方界住。四个数字：单胞平均能量误差 0.074%；两胞装配柔度 0.28%、灵敏度 1.5% 以内；八胞分析约为 16 线程直接解的十分之一时间；切割固支板上均匀化低估柔度 27%。和 PIML 系列的取舍不同：他们缩减边界换规模，我们保留完整边界、只近似内部，换来精度和对灵敏度的可追溯性。目标期刊 CMAME。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汇报分六部分：问题与相关工作；问题设定，也就是离散模型、精确凝聚和四项要求；误差理论；NICE 的构造；数值结果；最后是投稿计划和后续方向。方法和结果部分会讲得细一些。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关心的结构：梯度格栅、按零件外形切割的格栅、在切割面上支撑或加载的芯材。矛盾在于：整体太大，每次设计迭代都重算一遍不现实；但驱动设计的量是局部的，比如支撑旁切割胞的刚度、某处壁厚的灵敏度。左图是四个代表性胞：未切割、中度切割、两个重度切割，保留体积从 100% 到 2.6%。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均匀化依赖尺度分离，在支撑、载荷和切割胞处失效，我们切割板上低估 27%。全分辨率每次迭代都全额重付，八胞已经两百万自由度、Cholesky 因子 66 到 81 GiB。精确凝聚每个几何要一次内部分解。学习子结构，比如 PIML 系列，是第四条路，下一页把相关工作放在一起看。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先把相关工作放在一张表里。按论文引言的逻辑，组件模型大致有五条路线：均匀化与多尺度有限元；组件降基和端口缩减；面向格栅的凝聚与区域分解；学习子结构和学习单元，PIML 系列是其中发展最充分的一支；以及把学习用在求解器里的工作。区分它们的三个问题是：保留什么、组件怎么表示、近似在哪里改进。我们的位置在最下面一行。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PIML 系列和我们都是学习子结构，但取舍相反。他们每个子结构保留少量边界自由度，换来很小的粗模型，规模做到十亿单元、应用很广；代价是有一部分与网络无关的边界误差，他们用分区加密、边界增强、过采样来控制，系列里也没有报告灵敏度误差。我们保留完整的边界，误差只在内部延拓里、可以校正，柔度和灵敏度都到 0.1% 以内；代价是粗模型大，目前规模到 110 胞。两条路线的交汇点是：他们 CMAME 2026 也试过保留全部边界节点，因为成本没有采用；我们的线性网络表示和固定校正，正是让完整边界变得可行的部分。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先交代问题设定。单胞在单位盒里，材料域由 Schwarz-P 型水平集的一条带定义，带宽由八个角点参数三线性插值，可选一个平面切割。离散用笛卡尔背景网格上的 Q2 单元，每轴 32 个单元，加 ghost 罚项稳定小切割。要强调的一点是：本文所有误差都相对于这个离散系统的精确解度量，不是相对于连续问题。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保留自由度包括激活的盒面自由度，以及切割带，也就是被切割面穿过的那一层单元的全部自由度。切割带保留下来，切割面上的支撑和载荷就能直接施加。精确凝聚是标准的 Schur 补。难点在规模：一个胞中位保留两万三千多个自由度，显式形成 Schur 补要对每个保留自由度做一次内部求解；而设计每迭代一次，每个胞的几何都变，内部分解都得重做。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替代静力凝聚，学习模型需要满足四项要求：可组装，也就是对称半正定且零空间只有刚体模态；对新几何不需要内部分解，即使切割改变了离散空间；误差能追到柔度和设计需要的局部灵敏度；部署时不重训就能改进。右边一列是本文分别靠什么满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第一个关系是 Ritz 恒等式。任何容许延拓 F，只要保留行是单位阵，和精确延拓的差别只在内部，记为 H。内部平衡消去了交叉项，所以近似凝聚刚度减精确 Schur 补正好等于 H 转置 A H，半正定，没有一阶项。方向能量误差可以用内部残差表示，残差不需要参考解就能算，只是取 A 逆范数要一次内部求解。这是经典结果，对 PIML 用 N 转置 K N 的形式同样成立。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第二个关系：装配后柔度的低估量，等于重构误差的总能量，分成保留解的变化和内部不平衡两部分。再定义每个胞的能量份额 w，和它在精确迹处的能量误差 ε，柔度相对误差就被 β 界住，β 是份额加权的能量误差之和。意思是：一个胞局部场不准，但它承担的能量很少，柔度照样准。比如 U1/x 一个邻胞载荷下，基础网络目标胞份额 0.127%、能量误差 2.31%，β 给出 0.00295%，观测 0.00283%，但这个胞的灵敏度误差有 5.83%。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第三个关系是灵敏度。精确柔度灵敏度是负的 u 转置 K 导数 u；我们用重构场代入，得到场基估计。两者之差有一个线性交叉项和一个二次项。内部平衡只保证 K u 的内部分量为零，不保证 K 导数乘 u 的内部分量为零，所以线性项一般存在；能量误差减小，灵敏度误差不一定单调减小。代理柔度的完整导数还多一项，耦合延拓的设计依赖和内部残差；本文报告的是场基估计，它估计的是精确灵敏度。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误差链有四环。第一，Ritz 恒等式：近似刚度减精确刚度等于 H 转置 A H，半正定，误差二次。第二，装配柔度误差按各胞能量份额加权，所以份额小的胞可以让柔度看起来很准。第三，灵敏度里有一个一次项，能量误差管不住它。第四，能量误差分解成 δ 平方乘 κ：约 1% 的位移误差落在刚性方向上，放大成 1.8% 到 35% 的能量误差。所以判据必须是柔度和灵敏度同时准。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我们的核心想法就三处放置：近似只放在内部延拓上；保留完整的迹；刚度用能量形式 F 转置 K F。由构造就得到对称半正定、刚体核、被精确 Schur 补从下方界住，误差是内部误差的二次型，这些对任何输入都成立，不依赖网络训练得好不好。再加一个固定的两层网格校正，在给定条件下不会增大误差。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构造的第一部分是力学对象。延拓 F 等于校正 𝒲 作用在网络延拓上；凝聚刚度取能量形式 F 转置 K F。施加这个算子时，必须先算 K F q，再乘完整延拓的转置，包括刚体重构、保留值恢复和校正的转置。分块写出来第二项是把内部残差的功传回保留自由度，平衡场时为零，否则必须保留，返回的力才是能量的导数。对称半正定只来自 K，不要求网络里的收集、散布或网格传递对称。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校正为什么要两层。把内部误差在 Jacobi 缩放的模态上展开，看误差能量落在哪些模态上。M1 一致面力下，最低 200 个模态含 24.5% 的误差能量，但只含 4.87% 的精确场能量，而且全部低于光滑区间下端 a 等于 0.173。Chebyshev 光滑在 a 到 b 的区间上衰减误差，对低于 a 的模态衰减很慢，所以需要互补的粗网格校正。H2 不一样，200 个模态里只有 66 个低于 a，光滑就够了很多。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粗网格校正是在当前内部场加上粗空间的范围上极小化能量，消除的能量正好是 b 转置 A_c 逆 b。主粗空间是 17 的三次方顶点网格上限制在内部自由度的三线性函数，不动保留值。把粗校正放在两个光滑阶段之间，就是两层循环，也就是方法里的 𝒲。如果粗求解精确、光滑在 A 范数下不扩张，就有 S 不大于 Ŝ 不大于 Ŝ_net：校正不会让误差变大，柔度向参考解靠近。排序有保证，减小多少没有保证，要实测；这个排序也不能推广到灵敏度。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固定网络、只加校正。H2 从 35% 降到 0.205%。M1 只做 Chebyshev 光滑降到 4.69%，因为它的误差有一大块落在光滑区间以下的低频模态，要靠粗网格校正，加上后到 0.186%。同一校正作用在零初值或调和延拓上远远不够，网络仍承担绝大部分精度。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网络学习的是内部平衡映射 q 到负 A 逆 K_IP q。先把刚体运动分离出去，网络只延拓变形部分，所以刚体重构和训练精度无关。几何分支是非线性的：单元矩描述材料分布，节点特征标识保留、切割带、弱支撑和局部刚度，编码后由系数头给出局部相互作用、网格传递和卷积的权重。位移分支是线性的：把保留位移提升到 32 个通道，用 27 槽模板上的局部相互作用和 65、33、17、9 的U 形网格层级传播。权重作用在模板、通道和层级上，不对应单个自由度，所以一个约六十万参数的网络服务所有保留集。最后加回刚体场、恢复保留值，容许性和刚体再现由构造保证。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用保留位移方向来考察延拓：多项式和多尺度位移提供空间内容，节点力、一致面力、弹簧支撑和邻胞作用下的响应提供力学方向。每个方向去掉刚体分量后用参考解归一化。目标函数是预测能量和参考能量之比的对数平均，加一个灵敏度项。由 Ritz 恒等式，能量项的最小值就对应平衡场。NICE 直接在校正后的延拓上训练，梯度穿过光滑递推和粗校正，类似求解器在环训练。训练集 591 个几何，基础网络 4.6 小时，NICE 延续训练 3.5 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部署时，依赖几何的量对每个几何只准备一次：单元矩、网络的几何编码、系数、光滑区间和粗分解。之后每次作用 Ŝ 只需要一次网络前向、十六步光滑、一次粗求解和对应的转置。延拓和凝聚刚度都不显式形成。格栅层面，在自由保留自由度上用预条件共轭梯度求解，预条件子是平衡两层的：细层是装配的保留刚度块 K_PP 的分解，每次设计迭代分解一次；粗空间是格栅顶点三线性函数乘六个刚体模态。灵敏度用恢复的场直接计算。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先交代实验设置。80 个验证几何，未切割、轻度、中度、重度切割各 20 个。每个几何用九类保留位移方向考察，一致面力每个几何 64 个方向，是主要载荷类别；节点力还会加载弱支撑节点，作为压力测试。比较四个变体：基础网络不带校正；在它基础上延续训练 15000 步得到三个变体：训练里带完整校正的 NICE、只带八步光滑的平滑训练、不带校正的未校正延续。另外还评估基础网络部署时直接加校正、不重训。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两类验证。参考解：n 等于 32 在七个胞上加密验证，未切割和中度切割胞柔度变化不超过 0.14%、灵敏度 0.23%；重度切割的 H2 到约 1% 和 3.6%。ghost 罚系数和积分加密的影响不超过 0.12%。部署算子：对称性 9 乘 10 的负 9 次方，功与能量一致到 5 乘 10 的负 9 次方，刚体模态能量 2 乘 10 的负 11 次方，这些都是构造性质在浮点下的体现。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个验证几何上，NICE 的平均能量误差 0.074%，未校正延续是 6.33%，各分层平均低 64 到 102 倍。逐方向看，5120 个采样方向的 95 分位 0.33%，最大 1.24%。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误差的组成。空间上，M1 的精确场只有 8% 的能量在离切割面两个单元以内，但基础网络误差能量的 39% 到 43% 在这一层，紧邻保留的切割带。NICE 把总误差能量降低 113 到 138 倍，这一层的份额减半到 19% 到 22%。放大机制：能量误差恰好等于δ 平方乘 κ，δ 是加权位移误差，κ 是误差和精确场的 Rayleigh 商之比。基础网络位移误差只有百分之一左右，但 κ 有 124 到 7089，所以能量误差到 1.8% 到 35%。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装配测试的设置：一个学习目标胞和一个精确、未切割的邻胞，厚度在界面上连续。两种配置 x 和 y，每种六个面载荷：三个方向的一致面力分别施加在目标胞面和邻胞面上。比较柔度和每个胞的八分量灵敏度向量，用 3% 作为共同参考线。选择集七个目标胞，再加九个选择之外的胞作独立检验：五个单胞误差最大的和每层随机一个。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装配之后，不完整的校正柔度可以在 3% 线以内，灵敏度却可以到 11.4%。NICE 在 14 个选择配置加 18 个留出配置全部在两条 3% 线以内，最大 0.28% 和 1.49%。这就是误差链第三环的实证。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这一页回答为什么要保留完整边界。用精确胞算子，只把盒面位移限制成 r 次 Bernstein 多项式：r 等于 1 时柔度误差78% 到 85%；r 到 8 时柔度 0.5% 到 0.7%，但邻载下灵敏度仍有 24% 到 64%。只限制共享界面、r 等于 3 时柔度只有零点几，灵敏度仍有 8% 到 21%。压缩边界对柔度尚可，对局部灵敏度不行。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真实设计里每个胞都是学习胞，邻胞误差进入同一个装配解。两个八胞格栅，十六个胞都没进过训练和检查点选择。面载下柔度误差不超过 0.015%，灵敏度不超过 0.14%；随机载荷下 0.069% 和 0.45%。份额加权的界 β 和实际误差在面载下只差不到 β 的 0.4%。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这一页回答"有没有做细网格复核"。做了，而且口径比只看柔度更严。我们的参考解就是全分辨率的切割有限元离散解：精确凝聚和整体直接求解在数学上是同一个解，实测柔度一致到 7 乘 10 的负 10 次方。按层级：单胞对照精确 Schur 补；两胞对照精确凝聚；四胞格栅直接对照整体格栅直接解，也就是把所有内部和保留自由度、近一百万个自由度一起求解，差 0.022% 以内；八胞对照装配的精确凝聚；优化算例 A 整条路径用精确凝聚孪生跑，板在初始和最终设计处做精确复核。离散本身也做了 n 等于 32 到 64 的加密。唯一没有复核的是 24 胞以上的规模演示，这在局限里写明了。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成本。八胞两个格栅，NICE 79 秒和 105 秒；16 线程 PARDISO 直接解 868 和 1042 秒，常规精确凝聚 950 和 1218 秒；单线程直接解 5864 和 8131 秒，这个口径和 PIML 的串行基准一致，是 57 到 77 倍。内存上，直接法的 Cholesky 因子从四胞的 29 到 32 GiB 涨到八胞的 66 到 81 GiB，NICE 显存峰值 9.2 GiB。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审稿人可能拿 PIML 的加速比来比，所以把加速比、精度和基准放在一张表里。各工作的精度层级和基准不同，加速比不能直接比较；我们 10 倍是对 16 线程 PARDISO，单线程口径 57 到 77 倍，精度在 0.01% 量级。正文不做这个比较，被问到时按此表陈述事实。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优化设置。设计变量是格栅顶点处的角点厚度参数，映射到每个胞的八个角点。目标是单位一致面力下柔度最小，体积不超过初始的 80%。加载面所在平面上的顶点参数固定，使节点载荷与设计无关。上下界 0.18 到 0.69，每个胞的角点跨度和梯度范数不超过 0.45，保证每个胞都在训练范围内。每次设计迭代重新生成每个胞的几何和学习子结构，从上一步的解开始 PCG，走一步 MMA，移动限 5%，不做线搜索。停止判据是目标相对变化连续三次低于 10 的负 4 次方，不用 KKT 残差，因为离散模型在迭代间会切换。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算例 A 是八胞块体，用 NICE 和精确凝聚各优化一遍。分别 24 和 23 次迭代停，柔度都降 2.0%、用料少 20%；最终角点参数最多差 0.0051。迭代 0、12、23 处 NICE 柔度比精确值低 0.011% 到 0.028%，符号正是式 (7) 给的；梯度误差不超过 0.33%，余弦不低于 0.999996，每个分量符号都对。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切割固支板，8 乘 4 层切掉 8 个胞，剩 24 个，固支在切割面上，这由保留的切割带直接表示，不需要重训。均匀化在均匀初始设计上低估柔度 27%；它的设计放回切割几何上，比 NICE 设计软 2.44%，精确柔度 80.198 对 78.287，角点参数最多差 0.26。NICE 的 24 次迭代共 1.3 小时。宏观网格从每胞每轴 6 加密到 12，低估仍有 25.8%；罚参数放大一百倍几乎不变。细观模型固支整个切割带，比只固支切割面更刚，只会缩小差距。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规模演示：24、51、88、110 胞的板，650 万到 3270 万自由度，每次设计迭代 4 到 19.4 分钟，和胞数成正比，每胞约 10.7 秒。CPU 内存每胞约 0.7 GiB，线性增长。现在的上限在预条件子里 K_PP 的直接分解，不在学习胞本身。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局限我们在 6.4 节都写了：只有一种胞族、一种离散，网络不等变；没有认证误差界，只有可计算的残差；灵敏度用场基估计；24 胞以上没有精确核对；没和 AMG、BDDC 比。审稿人最可能问加速比，答复材料已经准备好。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投稿计划：投 CMAME，同时挂 arXiv 占优先权。投稿前需要作者信息、各项声明包括 AI 使用声明、通读。可选的是先给 Nature Computational Science 发一封预投稿咨询，一两周回复，预期会被建议转投专业期刊，几乎不耽误时间。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后续路线一页概览，细节在路线图 PDF 里。P2 做带误差控制的局部量设计，把后验误差和规模作为支撑；P3 做跨胞族泛化，加上我们的 B 样条拉扭单胞；冲 NC 的方向是局部量驱动的有限尺寸格栅设计加打印和破坏试验，卖点是可行与不可行；另外有几篇低投入的并行小篇。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最后四件事需要您拍板：投稿去向；打印和测试条件；后续优先做哪几个方向、时间窗口多长；算力要不要增租。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以下为备用页，被追问时再翻。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P1 网络不重训直接用在映射胞上：384 对全部保持 Ŝ 不小于 S；共转拉回后扭转、弯曲误差在 0.1% 量级；拉伸是唯一明显失效。另外最坏方向误差远大于平均值，是后续要查清的问题。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 PIML 系列各篇在边界表示、训练、灵敏度、理论、校正上的逐项对照，供追问时查。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标题幻灯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7"/>
          <p:cNvSpPr>
            <a:spLocks noChangeArrowheads="1"/>
          </p:cNvSpPr>
          <p:nvPr userDrawn="1"/>
        </p:nvSpPr>
        <p:spPr bwMode="auto">
          <a:xfrm>
            <a:off x="-12699" y="0"/>
            <a:ext cx="12204700" cy="7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altLang="zh-CN" sz="2800">
              <a:solidFill>
                <a:srgbClr val="C00000"/>
              </a:solidFill>
            </a:endParaRPr>
          </a:p>
        </p:txBody>
      </p:sp>
      <p:sp>
        <p:nvSpPr>
          <p:cNvPr id="4" name="TextBox 9"/>
          <p:cNvSpPr txBox="1">
            <a:spLocks noChangeArrowheads="1"/>
          </p:cNvSpPr>
          <p:nvPr userDrawn="1"/>
        </p:nvSpPr>
        <p:spPr bwMode="auto">
          <a:xfrm>
            <a:off x="11211984" y="6550026"/>
            <a:ext cx="980016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4097D269-82ED-7444-A9F2-76BF1199FCEE}" type="slidenum">
              <a:rPr lang="en-US" altLang="zh-CN" sz="1400" b="1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r>
              <a:rPr lang="en-US" altLang="zh-CN" sz="1400" b="1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  <a:t>/44</a:t>
            </a:r>
            <a:endParaRPr lang="en-US" altLang="zh-CN" sz="1400" b="1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6568422"/>
            <a:ext cx="12192000" cy="28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sz="2800"/>
          </a:p>
        </p:txBody>
      </p:sp>
      <p:pic>
        <p:nvPicPr>
          <p:cNvPr id="7" name="图片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558" y="6570663"/>
            <a:ext cx="1435100" cy="287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1"/>
          <p:cNvSpPr>
            <a:spLocks noChangeArrowheads="1"/>
          </p:cNvSpPr>
          <p:nvPr userDrawn="1"/>
        </p:nvSpPr>
        <p:spPr bwMode="auto">
          <a:xfrm>
            <a:off x="928297" y="6523879"/>
            <a:ext cx="321733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Research group of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nnovation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esign</a:t>
            </a:r>
            <a:endParaRPr lang="en-US" altLang="zh-CN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ngineering &amp;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A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dvanced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cience</a:t>
            </a:r>
            <a:endParaRPr lang="zh-CN" altLang="en-US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4876800" y="6610990"/>
            <a:ext cx="394073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defRPr/>
            </a:pP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  工业装备结构分析优化与</a:t>
            </a:r>
            <a:r>
              <a:rPr lang="en-US" altLang="zh-CN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lang="zh-CN" altLang="en-US" sz="1000" b="0" dirty="0">
              <a:solidFill>
                <a:srgbClr val="7F7F7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灯片编号占位符 2"/>
          <p:cNvSpPr txBox="1"/>
          <p:nvPr userDrawn="1"/>
        </p:nvSpPr>
        <p:spPr bwMode="auto">
          <a:xfrm>
            <a:off x="11409892" y="6565349"/>
            <a:ext cx="584200" cy="274637"/>
          </a:xfrm>
          <a:prstGeom prst="rect">
            <a:avLst/>
          </a:prstGeom>
          <a:noFill/>
        </p:spPr>
        <p:txBody>
          <a:bodyPr/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>
              <a:defRPr/>
            </a:pPr>
            <a:fld id="{80C2D1C4-173E-4D48-969F-1B76B066F58F}" type="slidenum">
              <a:rPr lang="en-US" altLang="zh-CN" sz="1200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endParaRPr lang="en-US" altLang="zh-CN" sz="1200" dirty="0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-14558" y="61303"/>
            <a:ext cx="12192000" cy="7200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0" advClick="0"/>
    </mc:Choice>
    <mc:Fallback>
      <p:transition spd="slow" advClick="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36865" y="4447603"/>
            <a:ext cx="9144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sz="2000" b="1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</a:t>
            </a:r>
            <a:endParaRPr kumimoji="1" lang="zh-CN" altLang="en-US" sz="2000" b="1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工业装备结构分析优化与</a:t>
            </a:r>
            <a:r>
              <a:rPr kumimoji="1" lang="en-US" altLang="zh-CN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力学与航空航天学院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96122" y="3429000"/>
            <a:ext cx="914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spcBef>
                <a:spcPts val="600"/>
              </a:spcBef>
              <a:spcAft>
                <a:spcPts val="600"/>
              </a:spcAft>
              <a:defRPr kumimoji="1" sz="2800" b="1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sz="3200" dirty="0"/>
              <a:t>范芷瑞</a:t>
            </a:r>
            <a:endParaRPr lang="zh-CN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7434" y="1432551"/>
            <a:ext cx="12192000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600"/>
              </a:spcAft>
            </a:pPr>
            <a:r>
              <a:rPr lang="zh-CN" altLang="en-US" sz="3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P1 进展汇报：带平衡校正的神经初始化静力凝聚（NICE）</a:t>
            </a:r>
            <a:endParaRPr lang="zh-CN" altLang="en-US" sz="40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12745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Arial"/>
                <a:ea typeface="Microsoft YaHei"/>
              </a:rPr>
              <a:t>切割薄壁 TPMS 格栅的分析与厚度设计 · 投稿 CMAME 前与导师单独汇报 · 2026 年 10 月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一页结论：保留完整边界，只近似内部，误差能追到灵敏度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212080" cy="3017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学习模型作用在每个胞的</a:t>
            </a: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全部盒面与切割带自由度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上（中位数 2.4×10⁴ 个），同时保住静力凝聚的结构：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对称半正定，含刚体核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补从下方界住：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误差可以一路追到柔度和厚度灵敏度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部署后加大校正预算还能继续改进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8932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单胞平均能量误差（80 个验证几何）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≤0.28% / 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两胞装配：柔度 / 灵敏度误差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八胞分析（含灵敏度）快于 16 线程直接解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切割固支板上均匀化低估柔度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74552" cy="10515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与 PIML 系列的不同取舍：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PIML 缩减边界（多为 24 个角点自由度）换规模；本文保留完整边界、只近似内部，换来 0.01% 量级的精度，并说清误差怎么进入灵敏度。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状态：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正文 63 页 + 补充 37 页，可投；目标 </a:t>
            </a: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CMAME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，同时挂 arXiv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汇报提纲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问题与相关工作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组件模型的几条路线；与 PIML 系列的取舍</a:t>
            </a:r>
          </a:p>
        </p:txBody>
      </p:sp>
      <p:sp>
        <p:nvSpPr>
          <p:cNvPr id="6" name="Oval 5"/>
          <p:cNvSpPr/>
          <p:nvPr/>
        </p:nvSpPr>
        <p:spPr>
          <a:xfrm>
            <a:off x="6245352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9752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切割薄壁胞的离散模型；保留自由度与精确凝聚；四项要求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误差理论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Ritz 恒等式；按能量份额加权的柔度界；灵敏度中的一次项</a:t>
            </a:r>
          </a:p>
        </p:txBody>
      </p:sp>
      <p:sp>
        <p:nvSpPr>
          <p:cNvPr id="12" name="Oval 11"/>
          <p:cNvSpPr/>
          <p:nvPr/>
        </p:nvSpPr>
        <p:spPr>
          <a:xfrm>
            <a:off x="6245352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NICE 的构造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变分凝聚刚度；误差谱与两层网格校正；几何条件化网络；训练与部署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数值结果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单胞、两胞装配、消融、八胞格栅、成本、厚度优化、规模</a:t>
            </a:r>
          </a:p>
        </p:txBody>
      </p:sp>
      <p:sp>
        <p:nvSpPr>
          <p:cNvPr id="18" name="Oval 17"/>
          <p:cNvSpPr/>
          <p:nvPr/>
        </p:nvSpPr>
        <p:spPr>
          <a:xfrm>
            <a:off x="6245352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2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局限与审稿准备；投稿；后续路线；需要拍板的事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问题：组件同类但几何各异，整体太大、驱动设计的量却是局部的</a:t>
            </a:r>
          </a:p>
        </p:txBody>
      </p:sp>
      <p:pic>
        <p:nvPicPr>
          <p:cNvPr id="3" name="Picture 2" descr="F08_geo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7390"/>
            <a:ext cx="5120640" cy="45260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097280"/>
            <a:ext cx="5852160" cy="4846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对象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梯度格栅：胞的壁厚逐个变化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按零件外形切割的格栅：边界胞被平面切开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在切割面上支撑、加载的芯材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矛盾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整体太大：每次设计迭代都改变每个胞，全分辨率代价每轮全额重付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驱动设计的量是局部的：支撑旁切割胞的刚度、对某处壁厚的灵敏度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需要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一个可组装、能用于设计、误差可追溯的组件模型，且对新几何不需要内部分解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1（代表性验证几何 U1、M1、H1、H2）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现有三条路线各卡在一处，学习子结构是第四条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均匀化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依赖尺度分离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在支撑、载荷、切割胞处失效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切割固支板：柔度低估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每次设计迭代改变每个胞，代价每轮全额重付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 183–211 万自由度，Cholesky 因子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精确凝聚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每个几何一次内部分解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Schur 补：每个保留自由度一次内部求解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一胞中位 2.4×10⁴ 个保留自由度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学习子结构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以 PIML 系列为代表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每个子结构保留少量边界自由度，换来规模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边界误差与网络无关，需另行控制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我们的位置：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走子结构这条中间路线，但把近似放在内部延拓上，保留完整的保留空间；结构由构造保证，不靠训练。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相关工作：组件模型的五条路线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74549" cy="47365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1597"/>
                <a:gridCol w="3024879"/>
                <a:gridCol w="3299868"/>
                <a:gridCol w="3208205"/>
              </a:tblGrid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路线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代表工作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做法与特点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与本文的关系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均匀化 / 多尺度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Li et al. 2018；Hou &amp; Wu 1997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等效性质或多尺度基函数；依赖尺度分离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切割、支撑处失效（本文板算例 27%）；MsFEM 与本文同用能量形式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组件降基 / 端口缩减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Huynh et al. 2013；Eftang &amp; Patera 2013；Chasapi et al. 2023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离线构造降基，可给后验界；基于参数族共享的离散空间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本文的离散空间随切割变化，网络以每胞的离散几何为条件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格栅凝聚与区域分解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Wu et al. 2019；Hirschler et al. 2024；Bonilla Moreno et al. 2027；Chen &amp; Li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超单元插值、ROM-FETI-DP、2D 非贴体 BDDC、非贴体数值形函数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各自在胞间保持同一离散；本文面对随几何变化的保留集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学习子结构 / 学习单元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PIML（Huang et al. 2022–2024；Guo et al. 2026a,b 等）；Parish et al. 2024；Jiang H. et al.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学习形函数或界面刚度；PIML 保留少量边界自由度，规模大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本文保留完整保留空间，近似只在内部延拓（下一页对比）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 + 求解器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Greenfeld et al. 2019；Heinlein et al. 2021；Zhang E. et al.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学习多重网格、粗空间或混合求解器；迭代收敛到精确解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本文的校正改变的是被组装的算子本身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本文 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完整保留空间 + 几何条件化的线性延拓 + 固定两层网格校正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可组装、单侧界、部署时可改进、误差追到灵敏度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节（引言）与参考文献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与 PIML 系列的比较：两种不同的取舍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PIML：缩减边界，换规模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每个子结构保留少量边界自由度（多为 24 个角点；Bézier 为 168）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粗模型小：串行 10⁹ 单元；应用广（柔顺机构、应力、复杂域）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边界误差与网络无关，靠分区加密、边界增强、过采样控制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细网格复核的柔度误差 2.8–20.7%（偏刚）；未报告灵敏度误差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NICE：保留完整边界，换精度与可追溯性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每胞保留全部盒面与切割带自由度（2,679–45,900）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误差只在内部延拓，可由固定校正降低；切割面支撑、加载不需重训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八胞格栅：柔度 ≤0.015%，灵敏度 ≤0.14%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粗模型大：目前到 110 胞；加速约 10×（16 线程）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12801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交汇点：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Guo et al. (2026a) 也评估过保留全部边界节点（每个子结构 456–1,806 个自由度），加速 7.3–7.5×、位移误差 0.84–3.46%，因成本未采用。本文对保留位移精确线性的网络表示和固定校正，正是让完整边界可行的部分。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 et al. (2026a) Table 1；review_r1/GUO_SERIES_COMPARISON_CN.md 第 2、3 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问题设定（一）：切割薄壁 Schwarz-P 胞的离散模型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852160" cy="16002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φ(x)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cos(2πx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),   τ(x)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N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Q1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(x) τ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Ω(η) = { x ∈ [0,1]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3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:  |φ(x)| ≤ τ(x),  n·x ≤ b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cut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5852160" cy="3200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八个角点厚度参数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6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（带参数，非逐点壁厚）；对它们的导数即厚度灵敏度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至多一个平面切割，法向背离保留材料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背景单元与 Ω 交集测度为正即为激活单元，由区间包络认证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稳定化离散能量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½ u</a:t>
            </a:r>
            <a:r>
              <a:rPr sz="16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Ku</a:t>
            </a:r>
            <a:r>
              <a:rPr sz="1600" b="1" i="0">
                <a:solidFill>
                  <a:srgbClr val="262626"/>
                </a:solidFill>
                <a:latin typeface="Arial"/>
                <a:ea typeface="Microsoft YaHei"/>
              </a:rPr>
              <a:t>；参考解即该离散系统的平衡解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051560"/>
          <a:ext cx="5148071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0877"/>
                <a:gridCol w="367719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量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设置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位移近似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连续张量积 Q2 实体单元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背景分辨率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每轴 n = 32 个单元（65 个 Q2 节点）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材料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E_Y = 1，ν = 0.3（归一化）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稳定化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ghost 罚项，γ = 10⁻⁴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体积积分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4³ 子胞 + 局部加密；裁剪 Kuhn 四面体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厚度差分步长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h_c = 10⁻⁵ τ_c，激活集固定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参数范围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角点参数 0.176–0.698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2.1 节，式 (1)，表 1；附录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问题设定（二）：保留自由度与精确静力凝聚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rcRect r="50000" b="50000"/>
          <a:stretch>
            <a:fillRect/>
          </a:stretch>
        </p:blipFill>
        <p:spPr>
          <a:xfrm>
            <a:off x="457200" y="1020101"/>
            <a:ext cx="4206240" cy="37205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46320"/>
            <a:ext cx="4206240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Arial"/>
                <a:ea typeface="Microsoft YaHei"/>
              </a:rPr>
              <a:t>图：M1 的保留盒面自由度（黑）、保留切割带自由度（蓝）与内部自由度（灰）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051560"/>
            <a:ext cx="6793992" cy="150876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 = [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;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A ],   A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II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E = [ I ; −A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],   S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−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= E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743200"/>
            <a:ext cx="679399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保留集 P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：激活盒面自由度 + 切割带（被切割面穿过的激活单元层）的全部自由度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切割带承担切割面上的位移和虚功 → 切割面支撑、载荷可直接施加，无需重训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规模：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 2,679–45,900 个保留自由度（中位 23,604）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代价：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 需每个保留自由度一次内部求解；作用 S 需每个几何一次内部分解；每次设计迭代每个胞都变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假设：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 ⪰ 0，A ≻ 0；自由胞恰有 6 个刚体模态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2.2–2.3 节，式 (2)–(3)；图：论文 Fig. 6a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问题设定（三）：学习组件模型要替代静力凝聚，需满足四项要求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0" cy="3886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024879"/>
                <a:gridCol w="4949803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要求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为什么需要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本文如何满足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① 对称半正定，零空间只含刚体模态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才能装配：带支撑的装配矩阵正定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能量形式 Ŝ = FᵀKF + 构造上再现刚体（式 (11)、(17)）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② 新几何无需内部分解，离散空间随切割变化也适用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设计每迭代一次，每个胞都变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几何条件化网络，对保留位移线性；一个网络服务所有保留集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③ 误差可追溯到柔度与局部灵敏度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设计由局部灵敏度驱动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恒等式 + 份额加权界 + 灵敏度误差式（第 3 节）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④ 部署时可改进，无需重训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精度不够时可加预算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𝒲：给定条件下不增大误差（第 4.4 节）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6636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关键：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①④ 由构造保证，对任何网络输出都成立；②靠网络表示；③ 是本文的误差理论，判定何时可用于设计。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节第 2 段，第 2.3 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误差理论（一）：Ritz 恒等式与方向能量误差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100584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I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,   H = 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(F − E),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   ⟹   Ŝ − S = H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AH ⪰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4552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ε(q) =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(Ŝ − S)q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Sq,  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(KFq)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单侧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近似刚度永远不比精确刚度软：S ⪯ Ŝ；装配柔度偏小（偏刚）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二次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误差是内部误差的能量，没有一阶项：参考场平衡的直接结果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可计算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内部残差无需参考解即可得到；其 A⁻¹ 范数需每方向一次内部求解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3.1 节，式 (4)–(5)；附录 B（经典结果：Fraeijs de Veubeke 1965；Toselli &amp; Widlund 2005）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误差理论（二）：装配柔度误差按能量份额加权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C − Ĉ = ‖Û − U‖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𝕂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+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‖H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/ C,   β =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ε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(q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),   0 ≤ (C − Ĉ)/C ≤ β/(1+β) ≤ β</a:t>
            </a:r>
          </a:p>
        </p:txBody>
      </p:sp>
      <p:pic>
        <p:nvPicPr>
          <p:cNvPr id="5" name="Picture 4" descr="F10_energy_share.png"/>
          <p:cNvPicPr>
            <a:picLocks noChangeAspect="1"/>
          </p:cNvPicPr>
          <p:nvPr/>
        </p:nvPicPr>
        <p:blipFill>
          <a:blip r:embed="rId3"/>
          <a:srcRect t="4000" b="50000"/>
          <a:stretch>
            <a:fillRect/>
          </a:stretch>
        </p:blipFill>
        <p:spPr>
          <a:xfrm>
            <a:off x="457200" y="3564253"/>
            <a:ext cx="5120640" cy="21526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52160" y="3200400"/>
            <a:ext cx="5879592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1888" y="3273552"/>
            <a:ext cx="56601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例：U1/x，邻胞面 z 向载荷，基础网络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3730752"/>
            <a:ext cx="56601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目标胞能量份额 w = 0.127%，局部能量误差 ε = 2.31%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β = wε = 0.00295%；实测柔度误差 0.00283%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同一载荷下目标胞灵敏度误差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5.83%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份额小的胞可以让柔度看起来很准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3.2 节，式 (6)–(7)；第 5.6 节；图：论文 Fig. 10(a,b)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误差理论（三）：灵敏度误差含一次项，能量误差管不住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−u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u,    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−û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−2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 −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d,    u = Eq,  d = Fq − 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5468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Ĉ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s̃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− 2 (F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q̂)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（完整设计导数，式 (10)）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51960"/>
            <a:ext cx="1127455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线性项一般不为零：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(Ku)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= 0，但 (K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≠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；二次项因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⪰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非正，交叉项可正可负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误差小时线性项占主导：节点力下在六个胞中占线性与二次项之和的 24–72%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导数在离散选择固定的设计区间上成立；</a:t>
            </a: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激活单元、ghost 面、保留集等任一变化即为离散模型切换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3.3 节，式 (9)–(10)；第 5.4 节；附录 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误差链小结：柔度准不等于灵敏度准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① Ritz 恒等式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− S = HᵀAH ⪰ 0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单侧、二次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② 份额加权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柔度误差按各胞能量份额加权，Eq. (7)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份额小 → 柔度"看起来"准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③ 灵敏度一次项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场基灵敏度含线性交叉项，Eq. (9)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能量误差管不住它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④ ε = δ²κ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1% 位移误差落在刚性方向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→ 1.8–35% 能量误差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结论：</a:t>
            </a:r>
            <a:r>
              <a:rPr sz="1900" b="1" i="0">
                <a:solidFill>
                  <a:srgbClr val="262626"/>
                </a:solidFill>
                <a:latin typeface="Arial"/>
                <a:ea typeface="Microsoft YaHei"/>
              </a:rPr>
              <a:t>柔度准不保证灵敏度准；设计用途的判据是两者同时准。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11274552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第①环同样适用于以 NᵀKN 形成刚度的学习子结构（边界受限时下界为 LᵀSL），与其细网格复核中柔度偏刚的观察一致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第③环此前在学习子结构中没有被量化：本文逐胞报告灵敏度误差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 节；附录 B、C、H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核心想法：近似放在哪、刚度怎么形成，决定了结构</a:t>
            </a:r>
          </a:p>
        </p:txBody>
      </p:sp>
      <p:pic>
        <p:nvPicPr>
          <p:cNvPr id="3" name="Picture 2" descr="F01_metho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3080"/>
            <a:ext cx="7406640" cy="3925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051560"/>
            <a:ext cx="3657600" cy="4023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三处放置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近似只放在内部延拓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保留完整的迹（盒面 + 切割带）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刚度用能量形式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Ŝ = FᵀKF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由构造得到（对任何输入成立）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对称半正定、刚体核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，误差为内部误差的二次型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0640"/>
            <a:ext cx="1127455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固定的两层网格校正 𝒲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（Chebyshev 8 / 粗网格 Q₁(17) / Chebyshev 8）在能量内修正内部场；精确或非负平移的粗求解下，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⪯ Ŝ_net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，校正不会增大误差。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2；理论：第 3、4 节，附录 B–D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构造（一）：变分凝聚刚度——必须用完整延拓的转置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𝒲Ê,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KF,   Ŝq = 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 + F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算法 1：校正后凝聚刚度的作用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① 延拓：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网络给出 Ê q；固定保留值，施加前光滑 → 粗网格校正 → 后光滑，得 û = Fq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② 转置：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计算 y = Kû，返回 Fᵀy：按相反顺序施加校正的转置，再施加学习延拓的转置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③ 装配：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按式 (3) 装配各胞作用；求解后恢复 F_m B_m Û，用于场和灵敏度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由此得到的性质（对任何网络输出）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对称、半正定：只来自 K = Kᵀ ⪰ 0，不要求学习映射对称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零空间只有保留刚体模态（FR_P = R）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补从下方界住，误差为二次：Ŝ − S = HᵀAH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第二项传回内部残差的功：缺了它，返回的力就不是能量的导数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4.1 节，式 (11)–(12)，算法 1；附录 B、E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构造（二）：网络误差落在哪里——误差谱与 Chebyshev 光滑</a:t>
            </a:r>
          </a:p>
        </p:txBody>
      </p:sp>
      <p:pic>
        <p:nvPicPr>
          <p:cNvPr id="3" name="Picture 2" descr="F03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2680"/>
            <a:ext cx="6309360" cy="4275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051560"/>
            <a:ext cx="4782312" cy="10972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 D = diag(A)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Σ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31720"/>
            <a:ext cx="4782312" cy="3703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M1：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最低 200 个模态含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24.5%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的误差能量，只含 4.87% 的精确场能量，且全部低于光滑区间下端 a = 0.173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H2：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200 个模态中只有 66 个低于 a = 0.138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 [b/30, b]，b 取幂迭代估计的 1.05 倍；谱在 (0, b] 内时光滑在 A 范数下非扩张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低于 a 的模态衰减慢 → 交给粗网格校正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4.3 节，式 (15)；第 5.4 节；图：论文 Fig. 5（基础网络）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构造（三）：粗网格校正与两层循环——排序有保证，幅度靠实测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VA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 = 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⟹    S ⪯ Ŝ ⪯ Ŝ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（粗求解精确，‖Φ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≤ 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粗空间 Q₁(17)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17³ 顶点网格上的三线性向量函数，限制于内部自由度；M1：5,601 个粗自由度对 165,927 个内部自由度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只作用于内部，保留值不变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两层循环 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8 步 Chebyshev → Q₁(17) Galerkin 校正 → 8 步 Chebyshev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对给定几何是线性、固定的：训练时梯度可穿过它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保证什么、不保证什么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保证：能量误差不增大，柔度向参考解靠近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不保证：减小幅度（需实测）；灵敏度误差的单调性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4.4 节，式 (16)–(17)；附录 C、D、F.1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构造（三）续：校正效果——网络固定，部署后仍可改进</a:t>
            </a:r>
          </a:p>
        </p:txBody>
      </p:sp>
      <p:pic>
        <p:nvPicPr>
          <p:cNvPr id="3" name="Picture 2" descr="F04_corr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4828"/>
            <a:ext cx="6400800" cy="46597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051560"/>
            <a:ext cx="45720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同一网络、只加校正（能量误差）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554480"/>
          <a:ext cx="459943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9886"/>
                <a:gridCol w="1195852"/>
                <a:gridCol w="1287840"/>
                <a:gridCol w="11958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几何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仅光滑 8 步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完整校正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0.205%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13.5%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4.69%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0.186%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3154680"/>
            <a:ext cx="4572000" cy="2834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M1：最低 200 个模态（全部低于光滑区间下端）含 24.5% 的误差能量 → 需要粗网格校正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同一校正作用在零初值或调和延拓上远不够（Table 3）：网络承担了大部分精度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校正预算可以在部署时加大，不用重训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7；第 5.4–5.5 节，Table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构造（四）：几何条件化网络——对保留位移精确线性</a:t>
            </a:r>
          </a:p>
        </p:txBody>
      </p:sp>
      <p:pic>
        <p:nvPicPr>
          <p:cNvPr id="3" name="Picture 2" descr="F11_network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9740"/>
            <a:ext cx="3931920" cy="48071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63440" y="1051560"/>
            <a:ext cx="706831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q =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[ RC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𝒩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θ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(η) Π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]   ⟹  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= I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ÊR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3168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几何分支（非线性）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单元矩：背景单元内的材料分布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节点特征：保留 / 切割带 / 弱支撑 / 局部刚度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64 通道编码 + 两轮交换；系数头给出相互作用、网格传递、卷积的权重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02752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位移分支（线性）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保留位移提升到 32 个通道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27 槽模板上的局部相互作用，4 个加权头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U 形潜在层级 65 / 33 / 17 / 9；弱支撑模板单独处理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66360"/>
            <a:ext cx="7068312" cy="8686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62626"/>
                </a:solidFill>
                <a:latin typeface="Arial"/>
                <a:ea typeface="Microsoft YaHei"/>
              </a:rPr>
              <a:t>约 6×10⁵ 个参数服务 2,679–45,900 个保留自由度</a:t>
            </a: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：权重作用于模板、通道和网格层级，不对应单个自由度；不形成显式矩阵（中位尺寸胞的稠密 Ŝ 需 4.2 GiB）。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4.2 节，式 (13)–(14)；图：论文 Fig. 3；附录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构造（五）：训练方向与目标函数——在部署的算子上训练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11430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𝓛(θ) = (1/B)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log(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Ŝq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) + w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(1/|𝒥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|)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j∈𝒥_{s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} ‖s̃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/ ‖s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Sq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训练方向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规定的多项式位移与多尺度位移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平衡节点力、一致面力、弹簧支撑、邻胞作用下的响应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去刚体分量，按 qᵀSq = 1 归一化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训练中加入能量比较大的方向（刚体补空间上的块搜索）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几何增广：立方体 48 种对称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在部署的算子上训练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能量项：Ritz 原理，最小值对应每个方向上的平衡场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灵敏度项：带参考灵敏度标签的方向，w_s = 1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在 F = 𝒲Ê 上计算损失，梯度穿过光滑与粗校正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数据：691 个几何（591 训练 + 100 验证），生成约 42 GPU-h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训练：基础网络 4.6 h + NICE 延续 3.5 h（一块 RTX 5090）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4.5 节，式 (18)；第 5.1 节，表 2，表 ST01；附录 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构造（六）：部署与格栅求解——不形成延拓与凝聚矩阵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每个几何准备一次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单元矩、网络几何编码、系数与映射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光滑区间（幂迭代）、粗分解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不形成 Ê、Ŝ（中位尺寸胞的稠密 Ŝ 需 4.2 GiB）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05072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52544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每次作用 Ŝq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一次网络前向（单精度）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2k 步光滑 + 一次粗求解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再按相反顺序施加转置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900416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7888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5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格栅求解与灵敏度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5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自由保留自由度上的 PCG（相对残差 10⁻⁶）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平衡两层预条件：细层 = 𝕂_PP 分解（每次设计迭代一次）；粗空间 = 格栅顶点三线性 × 6 个刚体模态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恢复各胞场，计算场基灵敏度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74552" cy="10515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内存：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学习胞状态每胞 0.25–1.37 GiB（常规精确凝聚的内部 Cholesky 因子 0.60–9.4 GiB）；超出 GPU 预算的胞从 CPU 内存流式读取。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当前上限：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预条件子里 𝕂_PP 的直接分解随装配保留系统增长（第 6.4 节）。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4.6 节，第 5.8–5.9 节；补充说明 S3、S4.1，表 ST13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验证集、载荷类别与比较的变体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6583680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914400"/>
                <a:gridCol w="182880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变体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训练中的校正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评估时的校正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平滑训练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未校正（延续）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基础网络（加校正）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206240"/>
            <a:ext cx="658368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三个延续训练都从基础网络出发，再训练 15,000 步，几何与顺序相同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80 个验证几何中 20 个用于检查点选择；另报告其余 60 个的统计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051560"/>
            <a:ext cx="4416552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4927" y="1124712"/>
            <a:ext cx="4197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80 个验证几何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4927" y="1581912"/>
            <a:ext cx="4197096" cy="36027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未切割、轻度（保留 &gt;2/3）、中度（1/3–2/3）、重度（&lt;1/3）切割各 20 个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厚度场：均匀、仿射或混合三线性；角点参数 0.176–0.698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九类保留位移方向：多项式、多尺度、节点力、一致面力（主类，每几何 64 个）、弹簧支撑、邻胞诱导……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节点力会加载弱支撑节点：稳定化问题的压力测试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 节，表 2，表 ST01–ST03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参考解与部署算子的验证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离散参考解（n = 32）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66944" cy="26883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七个胞加密：U1 → n = 40；M1、M2 → n = 48；H1、H2 等 → n = 64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未切割、中度切割：柔度变化 ≤0.14%，灵敏度 ≤0.23%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重度切割 H2：柔度约 1%，灵敏度约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3.6%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ghost 罚系数 10⁻⁵–10⁻³、体积积分加密：变化 ≤0.12%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所有误差都相对于这个离散参考解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45352" y="1097280"/>
          <a:ext cx="5486398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280159"/>
                <a:gridCol w="128015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部署算子检查（U2、M1、M2、H1、H2）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一致面力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节点力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双线性形式对称性 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 − 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9×10⁻⁹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≤3×10⁻⁸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返回功与恢复场能量之差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5×10⁻⁹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≤2×10⁻⁸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刚体模态能量 / 典型变形能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2×10⁻¹¹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≤1×10⁻¹⁰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部署算子 vs 训练时场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1.1×10⁻⁷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352" y="4114800"/>
            <a:ext cx="54864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构造性质在浮点算术下得到保持（网络单精度、刚度作用与能量双精度）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5.2 节；表 ST04、ST10；补充说明 S1；图 S01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单胞精度：80 个验证几何平均 0.074%</a:t>
            </a:r>
          </a:p>
        </p:txBody>
      </p:sp>
      <p:pic>
        <p:nvPicPr>
          <p:cNvPr id="3" name="Picture 2" descr="F02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017"/>
            <a:ext cx="7498079" cy="45548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05156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801367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NICE 平均能量误差（一致面力）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51460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58775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64–102×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264408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各分层平均低于未校正延续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77639"/>
            <a:ext cx="3502152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5,120 个方向：95 分位 0.33%，最大 1.24%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60 个非选择几何上基本不变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 → 重度切割仍增约 7 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4；第 5.3 节，Table ST03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误差的组成——落在切割带旁，并被刚性方向放大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59" y="960120"/>
            <a:ext cx="5840841" cy="5166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537960" y="1051560"/>
            <a:ext cx="5193792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47688" y="1124712"/>
            <a:ext cx="49743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空间分布（M1，一致面力）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7688" y="1581912"/>
            <a:ext cx="4974336" cy="1636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精确场：距切割面两单元内的层只含 8% 的能量（占单元 13%）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基础网络误差能量：39–43% 在这一层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NICE：总误差能量降低 113–138 倍，该层份额减半至 19–22%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3474720"/>
            <a:ext cx="5193792" cy="6858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ε = δ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4251960"/>
            <a:ext cx="519379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δ：Jacobi 加权相对位移误差；κ：误差与精确场 Rayleigh 商之比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基础网络（M1、M2、H1、H2）：δ = 0.7–1.3%，κ = 124–7089 → ε = </a:t>
            </a:r>
            <a:r>
              <a:rPr sz="1400" b="1" i="0">
                <a:solidFill>
                  <a:srgbClr val="C00000"/>
                </a:solidFill>
                <a:latin typeface="Arial"/>
                <a:ea typeface="Microsoft YaHei"/>
              </a:rPr>
              <a:t>1.8–35%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小位移误差落在刚性方向上 → 大能量误差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5.4 节；附录 B.3；表 ST04；图：论文 Fig.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两胞装配——学习目标胞 + 精确邻胞</a:t>
            </a:r>
          </a:p>
        </p:txBody>
      </p:sp>
      <p:pic>
        <p:nvPicPr>
          <p:cNvPr id="3" name="Picture 2" descr="F09_assembly_lo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219" y="960120"/>
            <a:ext cx="8526513" cy="31089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选择集：U1、U2、L1、M1、M2、H1、H3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留出：9 个胞（5 个误差最大 + 每层 1 个）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载荷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每配置 6 个面载荷：3 个方向 × 目标面 / 邻胞面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另测 3 个切割面载荷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5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度量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5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柔度误差；每胞 8 分量灵敏度向量误差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共同参考线 3%；取 6 个载荷和两胞的最大值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5.6 节；图：论文 Fig. 8；补充说明 S4.2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装配后：柔度准，灵敏度不一定准</a:t>
            </a:r>
          </a:p>
        </p:txBody>
      </p:sp>
      <p:pic>
        <p:nvPicPr>
          <p:cNvPr id="3" name="Picture 2" descr="F05_assemb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69" y="960120"/>
            <a:ext cx="5234621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72200" y="1097280"/>
            <a:ext cx="5559552" cy="2057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81928" y="117043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不完整的校正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627631"/>
            <a:ext cx="5340096" cy="14538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未校正延续：灵敏度最高 11.4%，4 个配置越过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仅光滑训练：同样 4 个配置 3.15–4.43%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337560"/>
            <a:ext cx="5559552" cy="26060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1928" y="341071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3867911"/>
            <a:ext cx="5340096" cy="20025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14 个选择配置 + 18 个留出配置全部低于两条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最大：柔度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0.28%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，灵敏度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1.49%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基础网络部署时加校正（不重训）也全部低于 3% 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9；第 5.6 节，Table 4，Table ST08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消融：压缩边界对柔度尚可，对局部灵敏度不行</a:t>
            </a:r>
          </a:p>
        </p:txBody>
      </p:sp>
      <p:pic>
        <p:nvPicPr>
          <p:cNvPr id="3" name="Picture 2" descr="F06_ber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83" y="960120"/>
            <a:ext cx="5981984" cy="3017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78–85%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1：柔度误差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6824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24–64%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8264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8：柔度已 0.49–0.74%，邻载灵敏度误差仍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8–21%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只限制界面 r = 3：柔度 0.17–0.44%，邻载灵敏度误差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11；第 5.7 节，Table ST11（精确胞算子，只改保留表示）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八胞格栅：全部是学习胞，而且都是训练中没见过的胞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694944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331720"/>
                <a:gridCol w="233172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2×2×2 块体（4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3×3×1 层（3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柔度误差（三个面载）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0.014 / 0.011 / 0.0094%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0.015 / 0.013 / 0.010%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柔度误差（随机载荷，最大）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0.056%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灵敏度最大误差（面载 / 随机）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装配保留解差异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0.12%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各胞能量误差（面载）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0.006–0.026%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0.005–0.052%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772400" y="109728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17043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≤0.015%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84708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面载下格栅柔度误差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72491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≤0.14%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40156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面载下灵敏度最大误差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206240"/>
            <a:ext cx="3959352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份额加权界 β 与实际柔度误差之差 &lt; β 的 0.4%（面载）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格栅误差低于两胞最大误差：Eq. (7) 按能量份额加权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5.8 节；参考解：装配精确凝聚矩阵，相对残差 ≤1.3×10⁻¹⁰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细网格复核：每一层都对照了全分辨率的离散解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50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9912"/>
                <a:gridCol w="4216499"/>
                <a:gridCol w="2199912"/>
                <a:gridCol w="2658227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层级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参考解（全分辨率离散解）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复核的量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结果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单胞（80 个验证几何）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同一 n = 32 网格上的精确 Schur 补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方向能量误差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平均 0.074%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两胞装配（32 个配置）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精确凝聚（目标胞与邻胞）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每胞 8 分量灵敏度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≤0.28% / ≤1.5%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四胞格栅（2 个）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整体格栅直接求解：全部内部 + 保留自由度（88.5 万–95.8 万）一起求解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≤0.022%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八胞格栅（2 个）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装配精确凝聚（与整体直接解一致到 7×10⁻¹⁰）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灵敏度 / 保留解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≤0.015% / ≤0.14% / ≤0.13%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优化算例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精确凝聚孪生优化；迭代 0、12、23 复核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梯度 / 最终设计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≤0.028% / ≤0.33% / 角点差 ≤0.0051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切割固支板（24 胞）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三个设计的精确凝聚复核（表 ST21）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梯度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≤0.030% / ≤0.30%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离散本身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n = 32 → 40 / 48 / 64 加密（7 个胞）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除 H2 外 ≤0.28% / ≤0.44%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49240"/>
            <a:ext cx="11274552" cy="64008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说明：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精确凝聚与整体直接求解是同一个离散解；未复核的只有 24 胞以上的规模演示（第 6.4 节已写明）。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5.2、5.3、5.6、5.8、5.9、5.10 节；Table 5，Table ST10、ST17、ST21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成本：约为 16 线程直接解的 1/10，单线程口径 57–77×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72237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09728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117043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84708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相对 16 线程直接解（868 / 1,042 s 对 79 / 105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5176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72491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57–77×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40156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单线程口径（与 PIML 的串行基准一致）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427939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95604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八胞直接法 Cholesky 因子；NICE 显存峰值 9.2 GiB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5.9 节，Table 5，Table ST12b；不同处理器：一块 GPU 对 16 个 CPU 线程，比较的是各自的部署方式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加速比要和精度、基准一起看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83238"/>
                <a:gridCol w="2658227"/>
                <a:gridCol w="3666520"/>
                <a:gridCol w="256656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加速比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相对细网格的精度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EML 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328–472×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无全尺度误差表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SIMP 前 10 步的平均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JMPS 2024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&gt;230×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−4.7%，位移 6.3%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Matlab，串行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设计迭代 7.4–63×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1.3–13.6%；集中载荷柔度 15–63%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求解器未说明，串行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 全节点方案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7.3–7.5×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0.84–3.46%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同上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46×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2.8–9.2%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PCG + 不完全 Cholesky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70–129×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−20.7%，应力约低估 5.3 倍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OptiStruct 32 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≈10×（16 线程）；57–77×（单线程）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≤0.015%，灵敏度 ≤0.14%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MKL PARDISO Cholesky + 常规精确凝聚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49240"/>
            <a:ext cx="11274552" cy="64008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用途：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精度层级与基准不同，加速比不宜直接比较；正文不做此比较，审稿人问到时按此表陈述事实（RESPONSE_PREP_SPEEDUP_CN.md）。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节；本文 Table 5、ST12b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厚度优化的设置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6012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min  C(τ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= 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U    s.t.   V(τ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≤ V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*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0.8 V(τ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0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),   0.18 ≤ τ ≤ 0.69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变量与约束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变量：格栅顶点处的角点厚度参数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，映射到各胞角点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)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加载面平面上的顶点参数固定（算例 A 27 个中 9 个，板 74 个中 10 个）→ 载荷与设计无关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每胞角点跨度、梯度范数 ≤0.45：保持在训练范围内（[0.175, 0.699]，≤0.47）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梯度：各胞场基灵敏度按顶点求和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每次设计迭代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重新生成每个胞的几何与学习子结构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从上一步的解开始 PCG 求解格栅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MMA（Svanberg 2007 变体）一步，移动限 5%，无线搜索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停止：目标相对变化连续 3 次 &lt; 10⁻⁴；不用 KKT 残差（离散模型在迭代间切换）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节；表 ST16；补充说明 S6.1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优化算例 A：与精确凝聚的孪生运行几乎重合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116709" y="960120"/>
            <a:ext cx="5356100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051560"/>
            <a:ext cx="4325112" cy="13258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124712"/>
            <a:ext cx="432511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0.0051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01367"/>
            <a:ext cx="414223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与孪生设计的最大角点参数差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560320"/>
            <a:ext cx="4325112" cy="3474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/ 23 次迭代停止；柔度都降 2.0%，用料少 20%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柔度比精确值低 0.011–0.028%（符号由 Eq. (7) 给出）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梯度误差 ≤0.33%，余弦 ≥0.999996，每个分量符号正确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每对相邻迭代之间离散模型都发生切换，仍收敛到同一设计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12a；第 5.10 节，Table ST16–ST17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切割固支板：均匀化低估柔度 27%，设计在真实几何上更软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1670085" y="960120"/>
            <a:ext cx="3060628" cy="2926080"/>
          </a:xfrm>
          <a:prstGeom prst="rect">
            <a:avLst/>
          </a:prstGeom>
        </p:spPr>
      </p:pic>
      <p:pic>
        <p:nvPicPr>
          <p:cNvPr id="4" name="Picture 3" descr="F14_designs_scale.png"/>
          <p:cNvPicPr>
            <a:picLocks noChangeAspect="1"/>
          </p:cNvPicPr>
          <p:nvPr/>
        </p:nvPicPr>
        <p:blipFill>
          <a:blip r:embed="rId4"/>
          <a:srcRect r="34000"/>
          <a:stretch>
            <a:fillRect/>
          </a:stretch>
        </p:blipFill>
        <p:spPr>
          <a:xfrm>
            <a:off x="1067454" y="3931920"/>
            <a:ext cx="4265891" cy="2194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63640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3640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均匀化在初始设计上低估柔度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25712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25712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2.44%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均匀化设计在切割几何上更软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46811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24 胞（16 未切割 + 8 切割），切割带全部自由度固支：保留切割带直接表示，不重训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精确柔度：均匀化设计 80.198，NICE 设计 78.287；用 NICE 或精确凝聚评估结论相同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两设计角点参数最多相差 0.26（相关系数 0.95）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NICE 柔度误差 ≤0.030%，梯度误差 ≤0.30%；24 次迭代共 1.3 h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宏观网格 6→12 每胞每轴：低估 27.0%→25.8%；罚参数 ×100：变化 &lt;0.001%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细观固支整个切割带（更刚的支撑），只会缩小差距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12b、Fig. 13a,b；第 5.10 节，Table ST18c、ST21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规模：每次设计迭代耗时与胞数成正比，每胞约 10.7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67665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79" y="105156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12471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10.7 s / 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19" y="180136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每次设计迭代（10.1–10.9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56032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263347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0.7 GiB / 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331012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CPU 内存线性增长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069080"/>
            <a:ext cx="4233672" cy="1920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650 万–3270 万自由度，凝聚为 39 万–162 万自由保留自由度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上限在预条件子里 K_PP 的直接分解，不在学习胞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24 胞以上没有做精确核对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节，Fig. 13c，Table ST20（每个规模跑前 4 次设计迭代）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局限与审稿人可能的追问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局限（6.4 节已如实写出）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一种胞族（Schwarz-P）、一种离散（n = 32）；网络不等变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没有认证误差界，只有可计算残差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灵敏度为场基估计，省略延拓的设计导数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胞以上无精确核对；未与 AMG、BDDC 比较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训练对比只用一个随机种子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可能的追问 → 已备答复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"加速只有 10×"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精度层级不同；同精度档他们 7×；基准强度不同（单线程口径 57–77×）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"只有一种胞族"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构造与误差关系通用，网络适用范围 6.4 节写明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"一个种子"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如实写出；被要求可补多种子（GPU 约 1–2 天）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"没比 AMG / BDDC"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已写明；属于后续"精确求解器加速"方向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6.4 节；review_r1/RESPONSE_PREP_SPEEDUP_CN.md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投稿计划：CMAME，同时挂 arXiv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1  作者信息与声明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作者、单位、CRediT、利益冲突、致谢、AI 使用声明（作者本人填写）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2  通读定稿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中英文版、Word 版均已就绪，可分工通读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3  （可选）预投稿咨询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Nature Computational Science，1–2 周回复；预期建议转专业期刊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4  投 CMAME + arXiv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同时挂预印本，确立 NICE、单侧界、平衡校正的优先权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11274552" cy="118872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为什么是 CMAME：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论文的强项（变分结构、可组装、误差链、严格的精确凝聚核对）在 CMAME 最被看重；冲更高需要新工作（第二胞族、更大规模、实验），放到后续论文。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后续路线：不比加速比，比"可行与不可行"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P2  局部量设计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带误差控制的局部量（应力）设计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后验误差估计与自适应校正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规模（K_PP 多层粗解）作支撑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P3  跨胞族泛化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一网多族、映射几何、对称内建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B 样条拉扭单胞作第二胞族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有限尺寸的非经典（拉扭）响应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NC  有限尺寸设计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局部量驱动、上千胞的真实零件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设计 vs 均匀化设计打印对照、破坏试验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卖点：直接法放不下，我们能算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并行小篇（低投入）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切割胞数据集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CutFEM 方法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均匀化在切割边界失效的定量研究 + 实测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1274552" cy="114300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先做共享前置：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K_PP 多层粗解、后验估计 + 最坏方向诊断、质量 / 几何刚度凝聚、第二胞族。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依据：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直接法 Cholesky 因子超线性增长（四胞 29–32 → 八胞 66–81 GiB），NICE 每胞约 0.7 GiB、线性增长。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详见 docs/followup/ROADMAP_20261003_CN.pdf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需要老师拍板的四件事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61288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投稿去向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18488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直接投 CMAME，还是先发 Nat. Comput. Sci. 预投稿咨询？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450592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77440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实验条件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能否打印金属 / 聚合物 TPMS 试件？有无 DIC？有无激光测振？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666744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593592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方向与时间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50791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两年内主线选哪 3–4 个？NC 方向 1 约需 4–6 个月（前置完成后）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882896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809744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算力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266944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是否增租 GPU（P2 规模、P3 新胞族数据都需要）？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备用页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74552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B1  映射单胞零样本测试（后续工作前期结果）</a:t>
            </a:r>
          </a:p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B2  与 PIML 系列的逐项对照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B1  映射单胞零样本：结构始终成立，拉伸是唯一明显失效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49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299868"/>
                <a:gridCol w="2016586"/>
                <a:gridCol w="265822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映射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平均能量误差（共转拉回）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最差胞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最坏方向 μ−1 中位数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恒等（即 P1）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整胞转 30°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0.074%（直接用 3.72%）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0.30%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0.31%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10° / 胞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0.089%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30° / 胞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弯曲 R/L =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0.097%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拉伸 ×0.5（cond J = 2）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215%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00600"/>
            <a:ext cx="11274552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384 对全部保持 Ŝ ⪰ S 与对称半正定；刚体基须在物理坐标里分离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最坏方向（只是下界）远大于平均：恒等映射下重切胞 2012 的 μ−1 ≥ 44.5% —— 待查清是否会在装配中被激发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来源：docs/followup/A/full16/SUMMARY.md；STEP0_PLAN_CN.md 第 10 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B2  与 PIML 系列的逐项对照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6608"/>
                <a:gridCol w="2016586"/>
                <a:gridCol w="1833260"/>
                <a:gridCol w="1649934"/>
                <a:gridCol w="1833260"/>
                <a:gridCol w="2474901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EML 2023 / JMPS 2024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边界自由度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168（Bézier）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2,679–45,900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 / 无数据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监督（迁移）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能量对数比 + 灵敏度项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场基，忽略 ∂N/∂ρ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场基；应力问题反传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 + 完整导数；逐胞报告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理论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插值不变性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误差放大估计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下界、份额界、校正排序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校正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投影（rank-6）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无（转细网格）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参考解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 / EMsFEM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细网格（设计未复核）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同一离散的精确凝聚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800000"/>
      </a:dk2>
      <a:lt2>
        <a:srgbClr val="333333"/>
      </a:lt2>
      <a:accent1>
        <a:srgbClr val="EB6743"/>
      </a:accent1>
      <a:accent2>
        <a:srgbClr val="D3A911"/>
      </a:accent2>
      <a:accent3>
        <a:srgbClr val="FFFFFF"/>
      </a:accent3>
      <a:accent4>
        <a:srgbClr val="000000"/>
      </a:accent4>
      <a:accent5>
        <a:srgbClr val="F3B8B0"/>
      </a:accent5>
      <a:accent6>
        <a:srgbClr val="BF990E"/>
      </a:accent6>
      <a:hlink>
        <a:srgbClr val="7B9B63"/>
      </a:hlink>
      <a:folHlink>
        <a:srgbClr val="38A3B2"/>
      </a:folHlink>
    </a:clrScheme>
    <a:fontScheme name="奥斯汀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noFill/>
        </a:ln>
      </a:spPr>
      <a:bodyPr anchor="ctr">
        <a:spAutoFit/>
      </a:bodyPr>
      <a:lstStyle>
        <a:defPPr>
          <a:defRPr sz="2800" b="1">
            <a:solidFill>
              <a:srgbClr val="0070C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800000"/>
        </a:dk2>
        <a:lt2>
          <a:srgbClr val="333333"/>
        </a:lt2>
        <a:accent1>
          <a:srgbClr val="EB6743"/>
        </a:accent1>
        <a:accent2>
          <a:srgbClr val="D3A911"/>
        </a:accent2>
        <a:accent3>
          <a:srgbClr val="FFFFFF"/>
        </a:accent3>
        <a:accent4>
          <a:srgbClr val="000000"/>
        </a:accent4>
        <a:accent5>
          <a:srgbClr val="F3B8B0"/>
        </a:accent5>
        <a:accent6>
          <a:srgbClr val="BF990E"/>
        </a:accent6>
        <a:hlink>
          <a:srgbClr val="7B9B63"/>
        </a:hlink>
        <a:folHlink>
          <a:srgbClr val="38A3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2E507A"/>
        </a:dk2>
        <a:lt2>
          <a:srgbClr val="333333"/>
        </a:lt2>
        <a:accent1>
          <a:srgbClr val="5A90C2"/>
        </a:accent1>
        <a:accent2>
          <a:srgbClr val="8AC246"/>
        </a:accent2>
        <a:accent3>
          <a:srgbClr val="FFFFFF"/>
        </a:accent3>
        <a:accent4>
          <a:srgbClr val="000000"/>
        </a:accent4>
        <a:accent5>
          <a:srgbClr val="B5C6DD"/>
        </a:accent5>
        <a:accent6>
          <a:srgbClr val="7DB03F"/>
        </a:accent6>
        <a:hlink>
          <a:srgbClr val="F6831A"/>
        </a:hlink>
        <a:folHlink>
          <a:srgbClr val="EFC82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A82A9F"/>
        </a:dk2>
        <a:lt2>
          <a:srgbClr val="4D4D4D"/>
        </a:lt2>
        <a:accent1>
          <a:srgbClr val="12B4D4"/>
        </a:accent1>
        <a:accent2>
          <a:srgbClr val="F1C23D"/>
        </a:accent2>
        <a:accent3>
          <a:srgbClr val="FFFFFF"/>
        </a:accent3>
        <a:accent4>
          <a:srgbClr val="000000"/>
        </a:accent4>
        <a:accent5>
          <a:srgbClr val="AAD6E6"/>
        </a:accent5>
        <a:accent6>
          <a:srgbClr val="DAB036"/>
        </a:accent6>
        <a:hlink>
          <a:srgbClr val="8CA62C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CB019B1-382A-4266-B25C-5B523AA43C14-1">
      <extobjdata type="ECB019B1-382A-4266-B25C-5B523AA43C14" data="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==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WPS 演示</Application>
  <PresentationFormat>Widescreen</PresentationFormat>
  <Paragraphs>80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37" baseType="lpstr">
      <vt:lpstr>Arial</vt:lpstr>
      <vt:lpstr>SimSun</vt:lpstr>
      <vt:lpstr>Wingdings</vt:lpstr>
      <vt:lpstr>汉仪书宋二KW</vt:lpstr>
      <vt:lpstr>Microsoft YaHei</vt:lpstr>
      <vt:lpstr>汉仪旗黑</vt:lpstr>
      <vt:lpstr>Times New Roman</vt:lpstr>
      <vt:lpstr>SimHei</vt:lpstr>
      <vt:lpstr>汉仪中黑KW</vt:lpstr>
      <vt:lpstr>Tahoma</vt:lpstr>
      <vt:lpstr>Century Gothic</vt:lpstr>
      <vt:lpstr>苹方-简</vt:lpstr>
      <vt:lpstr>SimSun</vt:lpstr>
      <vt:lpstr>Arial Unicode MS</vt:lpstr>
      <vt:lpstr>幼圆</vt:lpstr>
      <vt:lpstr>Microsoft YaHei</vt:lpstr>
      <vt:lpstr>SimHei</vt:lpstr>
      <vt:lpstr>Wingdings</vt:lpstr>
      <vt:lpstr>汉仪正圆-75W</vt:lpstr>
      <vt:lpstr>汉仪正圆 55简</vt:lpstr>
      <vt:lpstr>BatangChe</vt:lpstr>
      <vt:lpstr>Apple SD Gothic Neo</vt:lpstr>
      <vt:lpstr>DejaVuMathTeXGyre</vt:lpstr>
      <vt:lpstr>DejaVu Math TeX Gyre</vt:lpstr>
      <vt:lpstr>Calibri</vt:lpstr>
      <vt:lpstr>Helvetica Neue</vt:lpstr>
      <vt:lpstr>Calibri</vt:lpstr>
      <vt:lpstr>SimSun</vt:lpstr>
      <vt:lpstr>Default Design</vt:lpstr>
      <vt:lpstr>PowerPoint 演示文稿</vt:lpstr>
      <vt:lpstr>核心问题</vt:lpstr>
      <vt:lpstr>不同边界条件的影响</vt:lpstr>
      <vt:lpstr>公式修正</vt:lpstr>
      <vt:lpstr>PowerPoint 演示文稿</vt:lpstr>
      <vt:lpstr>PowerPoint 演示文稿</vt:lpstr>
      <vt:lpstr>子结构法</vt:lpstr>
      <vt:lpstr>PowerPoint 演示文稿</vt:lpstr>
    </vt:vector>
  </TitlesOfParts>
  <Company>Guild Desing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ThemeGallery PowerTemplate</dc:title>
  <dc:creator>www.themegallery.com</dc:creator>
  <cp:lastModifiedBy>酸菜馅饺子</cp:lastModifiedBy>
  <cp:revision>2170</cp:revision>
  <dcterms:created xsi:type="dcterms:W3CDTF">2026-04-02T09:27:36Z</dcterms:created>
  <dcterms:modified xsi:type="dcterms:W3CDTF">2026-04-02T09:27:36Z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81BED8106B4DB7BE062FCE699721D4BC_43</vt:lpwstr>
  </property>
  <property fmtid="{D5CDD505-2E9C-101B-9397-08002B2CF9AE}" pid="3" name="KSOProductBuildVer">
    <vt:lpwstr>2052-12.1.25205.25205</vt:lpwstr>
  </property>
</Properties>
</file>