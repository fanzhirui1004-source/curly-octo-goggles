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
  </p:notesMasterIdLst>
  <p:sldIdLst>
    <p:sldId id="1017" r:id="rId3"/>
    <p:sldId id="1018" r:id="rId11"/>
    <p:sldId id="1019" r:id="rId10"/>
    <p:sldId id="1020" r:id="rId9"/>
    <p:sldId id="1021" r:id="rId8"/>
    <p:sldId id="1022" r:id="rId7"/>
    <p:sldId id="1023" r:id="rId6"/>
    <p:sldId id="1024" r:id="rId5"/>
    <p:sldId id="1025" r:id="rId18"/>
    <p:sldId id="1026" r:id="rId19"/>
    <p:sldId id="1027" r:id="rId20"/>
    <p:sldId id="1028" r:id="rId21"/>
    <p:sldId id="1029" r:id="rId22"/>
    <p:sldId id="1030" r:id="rId23"/>
    <p:sldId id="1031" r:id="rId24"/>
    <p:sldId id="1032" r:id="rId25"/>
    <p:sldId id="1033" r:id="rId26"/>
    <p:sldId id="1034" r:id="rId27"/>
    <p:sldId id="1035" r:id="rId28"/>
    <p:sldId id="1036" r:id="rId29"/>
    <p:sldId id="1037" r:id="rId30"/>
    <p:sldId id="1038" r:id="rId31"/>
    <p:sldId id="1039" r:id="rId32"/>
    <p:sldId id="1040" r:id="rId33"/>
    <p:sldId id="1041" r:id="rId34"/>
    <p:sldId id="1042" r:id="rId35"/>
    <p:sldId id="1043" r:id="rId36"/>
    <p:sldId id="1044" r:id="rId37"/>
    <p:sldId id="1045" r:id="rId38"/>
    <p:sldId id="1046" r:id="rId39"/>
  </p:sldIdLst>
  <p:sldSz cx="12192000" cy="6858000"/>
  <p:notesSz cx="6858000" cy="9144000"/>
  <p:embeddedFontLst>
    <p:embeddedFont>
      <p:font typeface="DejaVu Math TeX Gyre" panose="02000503000000000000" charset="0"/>
      <p:regular r:id="rId17"/>
    </p:embeddedFont>
  </p:embeddedFontLst>
  <p:defaultTextStyle>
    <a:defPPr>
      <a:defRPr lang="en-US"/>
    </a:defPPr>
    <a:lvl1pPr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90204" pitchFamily="34" charset="0"/>
        <a:ea typeface="SimSun" pitchFamily="2" charset="-122"/>
        <a:cs typeface="+mn-cs"/>
      </a:defRPr>
    </a:lvl5pPr>
    <a:lvl6pPr marL="2286000" algn="l" defTabSz="914400" rtl="0" eaLnBrk="1" latinLnBrk="0" hangingPunct="1">
      <a:defRPr kern="1200">
        <a:solidFill>
          <a:schemeClr val="tx1"/>
        </a:solidFill>
        <a:latin typeface="Arial" panose="020B0604020202090204" pitchFamily="34" charset="0"/>
        <a:ea typeface="SimSun" pitchFamily="2" charset="-122"/>
        <a:cs typeface="+mn-cs"/>
      </a:defRPr>
    </a:lvl6pPr>
    <a:lvl7pPr marL="2743200" algn="l" defTabSz="914400" rtl="0" eaLnBrk="1" latinLnBrk="0" hangingPunct="1">
      <a:defRPr kern="1200">
        <a:solidFill>
          <a:schemeClr val="tx1"/>
        </a:solidFill>
        <a:latin typeface="Arial" panose="020B0604020202090204" pitchFamily="34" charset="0"/>
        <a:ea typeface="SimSun" pitchFamily="2" charset="-122"/>
        <a:cs typeface="+mn-cs"/>
      </a:defRPr>
    </a:lvl7pPr>
    <a:lvl8pPr marL="3200400" algn="l" defTabSz="914400" rtl="0" eaLnBrk="1" latinLnBrk="0" hangingPunct="1">
      <a:defRPr kern="1200">
        <a:solidFill>
          <a:schemeClr val="tx1"/>
        </a:solidFill>
        <a:latin typeface="Arial" panose="020B0604020202090204" pitchFamily="34" charset="0"/>
        <a:ea typeface="SimSun" pitchFamily="2" charset="-122"/>
        <a:cs typeface="+mn-cs"/>
      </a:defRPr>
    </a:lvl8pPr>
    <a:lvl9pPr marL="3657600" algn="l" defTabSz="914400" rtl="0" eaLnBrk="1" latinLnBrk="0" hangingPunct="1">
      <a:defRPr kern="1200">
        <a:solidFill>
          <a:schemeClr val="tx1"/>
        </a:solidFill>
        <a:latin typeface="Arial" panose="020B0604020202090204" pitchFamily="34" charset="0"/>
        <a:ea typeface="SimSun" pitchFamily="2" charset="-122"/>
        <a:cs typeface="+mn-cs"/>
      </a:defRPr>
    </a:lvl9pPr>
  </p:defaultTextStyle>
  <p:extLst>
    <p:ext uri="{EFAFB233-063F-42B5-8137-9DF3F51BA10A}">
      <p15:sldGuideLst xmlns:p15="http://schemas.microsoft.com/office/powerpoint/2012/main">
        <p15:guide id="1" orient="horz" pos="2229"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CC"/>
    <a:srgbClr val="0000FF"/>
    <a:srgbClr val="8AF38A"/>
    <a:srgbClr val="FBF0DD"/>
    <a:srgbClr val="00CC00"/>
    <a:srgbClr val="008000"/>
    <a:srgbClr val="DDFADD"/>
    <a:srgbClr val="B9F5B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564" autoAdjust="0"/>
    <p:restoredTop sz="87347" autoAdjust="0"/>
  </p:normalViewPr>
  <p:slideViewPr>
    <p:cSldViewPr showGuides="1">
      <p:cViewPr varScale="1">
        <p:scale>
          <a:sx n="107" d="100"/>
          <a:sy n="107" d="100"/>
        </p:scale>
        <p:origin x="864" y="160"/>
      </p:cViewPr>
      <p:guideLst>
        <p:guide orient="horz" pos="2229"/>
        <p:guide pos="3840"/>
      </p:guideLst>
    </p:cSldViewPr>
  </p:slideViewPr>
  <p:notesTextViewPr>
    <p:cViewPr>
      <p:scale>
        <a:sx n="100" d="100"/>
        <a:sy n="100" d="100"/>
      </p:scale>
      <p:origin x="0" y="0"/>
    </p:cViewPr>
  </p:notesTextViewPr>
  <p:sorterViewPr>
    <p:cViewPr varScale="1">
      <p:scale>
        <a:sx n="100" d="100"/>
        <a:sy n="100" d="100"/>
      </p:scale>
      <p:origin x="0" y="-26331"/>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3.xml"/><Relationship Id="rId11" Type="http://schemas.openxmlformats.org/officeDocument/2006/relationships/slide" Target="slides/slide2.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ableStyles" Target="tableStyles.xml"/><Relationship Id="rId15" Type="http://schemas.openxmlformats.org/officeDocument/2006/relationships/customXmlProps" Target="../customXml/itemProps1.xml"/><Relationship Id="rId16" Type="http://schemas.openxmlformats.org/officeDocument/2006/relationships/customXml" Target="../customXml/item1.xml"/><Relationship Id="rId17" Type="http://schemas.openxmlformats.org/officeDocument/2006/relationships/font" Target="fonts/font1.fntdata"/><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a:solidFill>
                  <a:srgbClr val="262626"/>
                </a:solidFill>
                <a:latin typeface="Arial"/>
                <a:ea typeface="Microsoft YaHei"/>
              </a:rPr>
              <a:t>一次含灵敏度的八胞格栅分析耗时（s）</a:t>
            </a:r>
          </a:p>
        </c:rich>
      </c:tx>
      <c:layout/>
      <c:overlay val="0"/>
    </c:title>
    <c:autoTitleDeleted val="0"/>
    <c:plotArea>
      <c:barChart>
        <c:barDir val="col"/>
        <c:grouping val="clustered"/>
        <c:ser>
          <c:idx val="0"/>
          <c:order val="0"/>
          <c:tx>
            <c:strRef>
              <c:f>Sheet1!$B$1</c:f>
              <c:strCache>
                <c:ptCount val="1"/>
                <c:pt idx="0">
                  <c:v>NICE（一块 GPU）</c:v>
                </c:pt>
              </c:strCache>
            </c:strRef>
          </c:tx>
          <c:spPr>
            <a:solidFill>
              <a:srgbClr val="0070C0"/>
            </a:solidFill>
          </c:spPr>
          <c:cat>
            <c:strRef>
              <c:f>Sheet1!$A$2:$A$3</c:f>
              <c:strCache>
                <c:ptCount val="2"/>
                <c:pt idx="0">
                  <c:v>2×2×2（4 胞切割）</c:v>
                </c:pt>
                <c:pt idx="1">
                  <c:v>3×3×1（3 胞切割）</c:v>
                </c:pt>
              </c:strCache>
            </c:strRef>
          </c:cat>
          <c:val>
            <c:numRef>
              <c:f>Sheet1!$B$2:$B$3</c:f>
              <c:numCache>
                <c:formatCode>General</c:formatCode>
                <c:ptCount val="2"/>
                <c:pt idx="0">
                  <c:v>79.2</c:v>
                </c:pt>
                <c:pt idx="1">
                  <c:v>105.5</c:v>
                </c:pt>
              </c:numCache>
            </c:numRef>
          </c:val>
        </c:ser>
        <c:ser>
          <c:idx val="1"/>
          <c:order val="1"/>
          <c:tx>
            <c:strRef>
              <c:f>Sheet1!$C$1</c:f>
              <c:strCache>
                <c:ptCount val="1"/>
                <c:pt idx="0">
                  <c:v>直接解，16 线程</c:v>
                </c:pt>
              </c:strCache>
            </c:strRef>
          </c:tx>
          <c:spPr>
            <a:solidFill>
              <a:srgbClr val="7F7F7F"/>
            </a:solidFill>
          </c:spPr>
          <c:cat>
            <c:strRef>
              <c:f>Sheet1!$A$2:$A$3</c:f>
              <c:strCache>
                <c:ptCount val="2"/>
                <c:pt idx="0">
                  <c:v>2×2×2（4 胞切割）</c:v>
                </c:pt>
                <c:pt idx="1">
                  <c:v>3×3×1（3 胞切割）</c:v>
                </c:pt>
              </c:strCache>
            </c:strRef>
          </c:cat>
          <c:val>
            <c:numRef>
              <c:f>Sheet1!$C$2:$C$3</c:f>
              <c:numCache>
                <c:formatCode>General</c:formatCode>
                <c:ptCount val="2"/>
                <c:pt idx="0">
                  <c:v>867.8</c:v>
                </c:pt>
                <c:pt idx="1">
                  <c:v>1041.6</c:v>
                </c:pt>
              </c:numCache>
            </c:numRef>
          </c:val>
        </c:ser>
        <c:ser>
          <c:idx val="2"/>
          <c:order val="2"/>
          <c:tx>
            <c:strRef>
              <c:f>Sheet1!$D$1</c:f>
              <c:strCache>
                <c:ptCount val="1"/>
                <c:pt idx="0">
                  <c:v>常规精确凝聚，16 线程</c:v>
                </c:pt>
              </c:strCache>
            </c:strRef>
          </c:tx>
          <c:spPr>
            <a:solidFill>
              <a:srgbClr val="BFBFBF"/>
            </a:solidFill>
          </c:spPr>
          <c:cat>
            <c:strRef>
              <c:f>Sheet1!$A$2:$A$3</c:f>
              <c:strCache>
                <c:ptCount val="2"/>
                <c:pt idx="0">
                  <c:v>2×2×2（4 胞切割）</c:v>
                </c:pt>
                <c:pt idx="1">
                  <c:v>3×3×1（3 胞切割）</c:v>
                </c:pt>
              </c:strCache>
            </c:strRef>
          </c:cat>
          <c:val>
            <c:numRef>
              <c:f>Sheet1!$D$2:$D$3</c:f>
              <c:numCache>
                <c:formatCode>General</c:formatCode>
                <c:ptCount val="2"/>
                <c:pt idx="0">
                  <c:v>950</c:v>
                </c:pt>
                <c:pt idx="1">
                  <c:v>1218</c:v>
                </c:pt>
              </c:numCache>
            </c:numRef>
          </c:val>
        </c:ser>
        <c:ser>
          <c:idx val="3"/>
          <c:order val="3"/>
          <c:tx>
            <c:strRef>
              <c:f>Sheet1!$E$1</c:f>
              <c:strCache>
                <c:ptCount val="1"/>
                <c:pt idx="0">
                  <c:v>直接解，单线程</c:v>
                </c:pt>
              </c:strCache>
            </c:strRef>
          </c:tx>
          <c:spPr>
            <a:solidFill>
              <a:srgbClr val="C00000"/>
            </a:solidFill>
          </c:spPr>
          <c:cat>
            <c:strRef>
              <c:f>Sheet1!$A$2:$A$3</c:f>
              <c:strCache>
                <c:ptCount val="2"/>
                <c:pt idx="0">
                  <c:v>2×2×2（4 胞切割）</c:v>
                </c:pt>
                <c:pt idx="1">
                  <c:v>3×3×1（3 胞切割）</c:v>
                </c:pt>
              </c:strCache>
            </c:strRef>
          </c:cat>
          <c:val>
            <c:numRef>
              <c:f>Sheet1!$E$2:$E$3</c:f>
              <c:numCache>
                <c:formatCode>General</c:formatCode>
                <c:ptCount val="2"/>
                <c:pt idx="0">
                  <c:v>5863.9</c:v>
                </c:pt>
                <c:pt idx="1">
                  <c:v>8131.0</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0E0E0"/>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a:solidFill>
                  <a:srgbClr val="262626"/>
                </a:solidFill>
                <a:latin typeface="Arial"/>
                <a:ea typeface="Microsoft YaHei"/>
              </a:rPr>
              <a:t>每次设计迭代耗时（min）随胞数</a:t>
            </a:r>
          </a:p>
        </c:rich>
      </c:tx>
      <c:layout/>
      <c:overlay val="0"/>
    </c:title>
    <c:autoTitleDeleted val="0"/>
    <c:plotArea>
      <c:lineChart>
        <c:grouping val="standard"/>
        <c:varyColors val="0"/>
        <c:ser>
          <c:idx val="0"/>
          <c:order val="0"/>
          <c:tx>
            <c:strRef>
              <c:f>Sheet1!$B$1</c:f>
              <c:strCache>
                <c:ptCount val="1"/>
                <c:pt idx="0">
                  <c:v>每次设计迭代（min）</c:v>
                </c:pt>
              </c:strCache>
            </c:strRef>
          </c:tx>
          <c:spPr>
            <a:ln w="31750">
              <a:solidFill>
                <a:srgbClr val="0070C0"/>
              </a:solidFill>
            </a:ln>
          </c:spPr>
          <c:marker>
            <c:size val="9"/>
            <c:spPr>
              <a:solidFill>
                <a:srgbClr val="0070C0"/>
              </a:solidFill>
            </c:spPr>
          </c:marker>
          <c:cat>
            <c:strRef>
              <c:f>Sheet1!$A$2:$A$5</c:f>
              <c:strCache>
                <c:ptCount val="4"/>
                <c:pt idx="0">
                  <c:v>24</c:v>
                </c:pt>
                <c:pt idx="1">
                  <c:v>51</c:v>
                </c:pt>
                <c:pt idx="2">
                  <c:v>88</c:v>
                </c:pt>
                <c:pt idx="3">
                  <c:v>110</c:v>
                </c:pt>
              </c:strCache>
            </c:strRef>
          </c:cat>
          <c:val>
            <c:numRef>
              <c:f>Sheet1!$B$2:$B$5</c:f>
              <c:numCache>
                <c:formatCode>General</c:formatCode>
                <c:ptCount val="4"/>
                <c:pt idx="0">
                  <c:v>4.0</c:v>
                </c:pt>
                <c:pt idx="1">
                  <c:v>9.1</c:v>
                </c:pt>
                <c:pt idx="2">
                  <c:v>16.0</c:v>
                </c:pt>
                <c:pt idx="3">
                  <c:v>19.4</c:v>
                </c:pt>
              </c:numCache>
            </c:numRef>
          </c:val>
          <c:smooth val="0"/>
        </c:ser>
        <c:dLbls>
          <c:txPr>
            <a:bodyPr/>
            <a:lstStyle/>
            <a:p>
              <a:pPr>
                <a:defRPr sz="12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title>
          <c:tx>
            <c:rich>
              <a:bodyPr/>
              <a:lstStyle/>
              <a:p>
                <a:r>
                  <a:rPr sz="1200" b="0" i="0">
                    <a:solidFill>
                      <a:srgbClr val="595959"/>
                    </a:solidFill>
                    <a:latin typeface="Arial"/>
                    <a:ea typeface="Microsoft YaHei"/>
                  </a:rPr>
                  <a:t>胞数</a:t>
                </a:r>
              </a:p>
            </c:rich>
          </c:tx>
          <c:layout/>
          <c:overlay val="0"/>
        </c:title>
        <c:majorTickMark val="out"/>
        <c:minorTickMark val="none"/>
        <c:tickLblPos val="nextTo"/>
        <c:txPr>
          <a:bodyPr/>
          <a:lstStyle/>
          <a:p>
            <a:pPr>
              <a:defRPr sz="1200"/>
            </a:pPr>
          </a:p>
        </c:txPr>
        <c:crossAx val="2140495176"/>
        <c:crosses val="autoZero"/>
        <c:auto val="1"/>
        <c:lblAlgn val="ctr"/>
        <c:lblOffset val="100"/>
        <c:noMultiLvlLbl val="0"/>
      </c:catAx>
      <c:valAx>
        <c:axId val="2140495176"/>
        <c:scaling>
          <c:min val="0.0"/>
        </c:scaling>
        <c:delete val="0"/>
        <c:axPos val="l"/>
        <c:majorGridlines>
          <c:spPr>
            <a:ln>
              <a:solidFill>
                <a:srgbClr val="E0E0E0"/>
              </a:solidFill>
            </a:ln>
          </c:spPr>
        </c:majorGridlines>
        <c:majorTickMark val="out"/>
        <c:minorTickMark val="none"/>
        <c:tickLblPos val="nextTo"/>
        <c:spPr>
          <a:ln>
            <a:noFill/>
          </a:ln>
        </c:spPr>
        <c:txPr>
          <a:bodyPr/>
          <a:lstStyle/>
          <a:p>
            <a:pPr>
              <a:defRPr sz="11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b="0">
                <a:latin typeface="Arial" panose="020B0604020202090204" pitchFamily="34" charset="0"/>
                <a:ea typeface="+mn-ea"/>
              </a:defRPr>
            </a:lvl1pPr>
          </a:lstStyle>
          <a:p>
            <a:pPr>
              <a:defRPr/>
            </a:pPr>
            <a:endParaRPr lang="en-US" altLang="zh-CN"/>
          </a:p>
        </p:txBody>
      </p:sp>
      <p:sp>
        <p:nvSpPr>
          <p:cNvPr id="32771"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b="0">
                <a:latin typeface="Arial" panose="020B0604020202090204" pitchFamily="34" charset="0"/>
                <a:ea typeface="+mn-ea"/>
              </a:defRPr>
            </a:lvl1pPr>
          </a:lstStyle>
          <a:p>
            <a:pPr>
              <a:defRPr/>
            </a:pPr>
            <a:endParaRPr lang="en-US" altLang="zh-CN"/>
          </a:p>
        </p:txBody>
      </p:sp>
      <p:sp>
        <p:nvSpPr>
          <p:cNvPr id="3076"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32773"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en-US" altLang="zh-CN" noProof="0"/>
              <a:t>Click to edit Master text styles</a:t>
            </a:r>
            <a:endParaRPr lang="en-US" altLang="zh-CN" noProof="0"/>
          </a:p>
          <a:p>
            <a:pPr lvl="1"/>
            <a:r>
              <a:rPr lang="en-US" altLang="zh-CN" noProof="0"/>
              <a:t>Second level</a:t>
            </a:r>
            <a:endParaRPr lang="en-US" altLang="zh-CN" noProof="0"/>
          </a:p>
          <a:p>
            <a:pPr lvl="2"/>
            <a:r>
              <a:rPr lang="en-US" altLang="zh-CN" noProof="0"/>
              <a:t>Third level</a:t>
            </a:r>
            <a:endParaRPr lang="en-US" altLang="zh-CN" noProof="0"/>
          </a:p>
          <a:p>
            <a:pPr lvl="3"/>
            <a:r>
              <a:rPr lang="en-US" altLang="zh-CN" noProof="0"/>
              <a:t>Fourth level</a:t>
            </a:r>
            <a:endParaRPr lang="en-US" altLang="zh-CN" noProof="0"/>
          </a:p>
          <a:p>
            <a:pPr lvl="4"/>
            <a:r>
              <a:rPr lang="en-US" altLang="zh-CN" noProof="0"/>
              <a:t>Fifth level</a:t>
            </a:r>
            <a:endParaRPr lang="en-US" altLang="zh-CN" noProof="0"/>
          </a:p>
        </p:txBody>
      </p:sp>
      <p:sp>
        <p:nvSpPr>
          <p:cNvPr id="32774"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b="0">
                <a:latin typeface="Arial" panose="020B0604020202090204" pitchFamily="34" charset="0"/>
                <a:ea typeface="+mn-ea"/>
              </a:defRPr>
            </a:lvl1pPr>
          </a:lstStyle>
          <a:p>
            <a:pPr>
              <a:defRPr/>
            </a:pPr>
            <a:endParaRPr lang="en-US" altLang="zh-CN"/>
          </a:p>
        </p:txBody>
      </p:sp>
      <p:sp>
        <p:nvSpPr>
          <p:cNvPr id="32775"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vl1pPr>
          </a:lstStyle>
          <a:p>
            <a:pPr>
              <a:defRPr/>
            </a:pPr>
            <a:fld id="{B8A8E8E4-9E6C-4A57-865F-D85E807DFE7B}" type="slidenum">
              <a:rPr lang="en-US" altLang="zh-CN"/>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9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ChangeArrowheads="1" noTextEdit="1"/>
          </p:cNvSpPr>
          <p:nvPr>
            <p:ph type="sldImg"/>
          </p:nvPr>
        </p:nvSpPr>
        <p:spPr bwMode="auto">
          <a:xfrm>
            <a:off x="381000" y="685800"/>
            <a:ext cx="6096000" cy="3429000"/>
          </a:xfrm>
          <a:noFill/>
          <a:ln>
            <a:solidFill>
              <a:srgbClr val="000000"/>
            </a:solidFill>
            <a:miter lim="800000"/>
          </a:ln>
        </p:spPr>
      </p:sp>
      <p:sp>
        <p:nvSpPr>
          <p:cNvPr id="20483" name="Notes Placeholder 2"/>
          <p:cNvSpPr>
            <a:spLocks noGrp="1" noChangeArrowheads="1"/>
          </p:cNvSpPr>
          <p:nvPr>
            <p:ph type="body" idx="1"/>
          </p:nvPr>
        </p:nvSpPr>
        <p:spPr bwMode="auto">
          <a:noFill/>
        </p:spPr>
        <p:txBody>
          <a:bodyPr wrap="square" numCol="1" anchor="t" anchorCtr="0" compatLnSpc="1"/>
          <a:lstStyle/>
          <a:p>
            <a:r>
              <a:t>老师好。今天汇报 P1 的定稿情况：方法、结果、和 PIML 系列的对比，以及投稿计划和后续方向。最后有几件事需要您拍板。</a:t>
            </a:r>
          </a:p>
        </p:txBody>
      </p:sp>
      <p:sp>
        <p:nvSpPr>
          <p:cNvPr id="20484" name="Slide Number Placeholder 3"/>
          <p:cNvSpPr>
            <a:spLocks noGrp="1" noChangeArrowheads="1"/>
          </p:cNvSpPr>
          <p:nvPr>
            <p:ph type="sldNum" sz="quarter" idx="5"/>
          </p:nvPr>
        </p:nvSpPr>
        <p:spPr bwMode="auto">
          <a:noFill/>
          <a:ln>
            <a:miter lim="800000"/>
          </a:ln>
        </p:spPr>
        <p:txBody>
          <a:bodyPr/>
          <a:lstStyle/>
          <a:p>
            <a:fld id="{6312656B-DCF6-4E74-B3C7-059311E4196A}" type="slidenum">
              <a:rPr lang="en-US" altLang="en-US" smtClean="0"/>
            </a:fld>
            <a:endParaRPr lang="en-US"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先说结论。我们的学习模型保留每个胞全部盒面和切割带自由度，约两万四千个，但保住了静力凝聚的结构：对称半正定、刚体核、被精确 Schur 补从下方界住。四个数字：单胞平均能量误差 0.074%；两胞装配柔度 0.28%、灵敏度 1.5% 以内；八胞分析约为 16 线程直接解的十分之一时间；切割固支板上均匀化低估柔度 27%。和 PIML 最根本的区别：他们删边界，我们保留边界、只近似内部。目标期刊 CMAME。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们关心的结构：梯度格栅、按零件外形切割的格栅、在切割面上支撑或加载的芯材。矛盾在于：整体太大，每次设计迭代都重算一遍不现实；但驱动设计的量是局部的，比如支撑旁切割胞的刚度、某处壁厚的灵敏度。左图是四个代表性胞：未切割、中度切割、两个重度切割，保留体积从 100% 到 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均匀化依赖尺度分离，在支撑、载荷和切割胞处失效，我们切割板上低估 27%。全分辨率每次迭代都全额重付，八胞已经两百万自由度、Cholesky 因子 66 到 81 GiB。精确凝聚每个几何要一次内部分解。学习子结构，也就是 PIML 系列，是第四条路，下面三页专门讲它的问题。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先公平地讲清楚他们做了什么，表明我们读透了。六篇，共同框架是每个子结构保留八个角点、24 个自由度，网络预测形函数 N，刚度取 N 转置 K N。他们的强项是应用广、规模大：串行做到十亿单元，并行版本一百亿自由度；还有无数据训练、等变网络。这些导师可能会问，主动说。</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第一，精度。只保留 24 个角点，就带来与网络无关的边界模型误差：JMPS 2024 表 2 用精确内部，误差仍有 1% 到 12%。集中载荷下加载点位移，也就是柔度，误差线性边界 63%、Bézier 15%，作者自己写了"必然过刚"。局部量更糟：IJMS 2026 的应力 p 范数低估约 5.3 倍，只好降格成 warm start 再在细网格上优化 31 步。经细网格复核的柔度全部偏刚，他们只是观察到，没有解释也没有界；我们的 Ritz 恒等式正好解释这个现象。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第二，口径。参考解常常不是细网格：CS 2026 表 3、IJMS 主体都以同一线性边界下的精确子结构法为参考，只量了网络误差，边界误差没算进去；CMAME 2026 的优化设计全部没有细网格复核。基准偏弱或说不清：472 倍只比经典 SIMP 前十步平均；CMAME 2026 的直接 FEM 没写求解器，串行单 CPU，时间与规模还不单调。数字前后不一：摘要一万到十万倍、正文 328 到 472 倍，等等。</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第三，最关键的一页。CMAME 2026 表 1 自己试过保留全部边界节点：加速只有 7.3 到 7.5 倍，位移误差 0.84% 到 3.46%，子结构越大反而越差，原因是网络输出变多、预测能力下降；桥形算例超过一千秒，作者说"不再算有效的加速方法"。我们每胞保留的自由度多一到两个数量级，网络对保留位移精确线性、参数量不随保留自由度增长，他们解决不了的"输出变多网络变差"由固定校正收掉。另外整个系列没有一篇报告灵敏度误差。最后口径提醒：他们的输入是随机模量体素场，比我们难，这一点要主动承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我们的核心想法就三处放置：近似只放在内部延拓上；保留完整的迹；刚度用能量形式 F 转置 K F。由构造就得到对称半正定、刚体核、被精确 Schur 补从下方界住，误差是内部误差的二次型，这些对任何输入都成立，不依赖网络训练得好不好。再加一个固定的两层网格校正，在给定条件下不会增大误差。</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误差链有四环。第一，Ritz 恒等式：近似刚度减精确刚度等于 H 转置 A H，半正定，误差二次。第二，装配柔度误差按各胞能量份额加权，所以份额小的胞可以让柔度看起来很准。第三，灵敏度里有一个一次项，能量误差管不住它。第四，能量误差分解成 δ 平方乘 κ：约 1% 的位移误差落在刚性方向上，放大成 1.8% 到 35% 的能量误差。所以判据必须是柔度和灵敏度同时准。第六页那串"全部偏刚"，就是这条链的第一环。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网络对几何是非线性的，对保留位移是精确线性的。权重作用在模板、通道和网格层级上，不对应单个自由度，所以一个约六十万参数的网络服务保留自由度从两千多到四万多的所有胞。我们不形成显式矩阵：一个中位尺寸的胞，显式延拓双精度就要 4.3 GiB。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固定网络、只加校正。H2 从 35% 降到 0.205%。M1 只做 Chebyshev 光滑降到 4.69%，因为它的误差有一大块落在光滑区间以下的低频模态，要靠粗网格校正，加上后到 0.186%。同一校正作用在零初值或调和延拓上远远不够，网络仍承担绝大部分精度。</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个验证几何上，NICE 的平均能量误差 0.074%，未校正延续是 6.33%，各分层平均低 64 到 102 倍。逐方向看，5120 个采样方向的 95 分位 0.33%，最大 1.24%。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装配之后，不完整的校正柔度可以在 3% 线以内，灵敏度却可以到 11.4%。NICE 在 14 个选择配置加 18 个留出配置全部在两条 3% 线以内，最大 0.28% 和 1.49%。这就是误差链第三环的实证。</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这一页最直接打 PIML 的路线。用精确胞算子，只把盒面位移限制成 r 次 Bernstein 多项式：r 等于 1 时柔度误差78% 到 85%；r 到 8 时柔度 0.5% 到 0.7%，但邻载下灵敏度仍有 24% 到 64%。只限制共享界面、r 等于 3 时柔度只有零点几，灵敏度仍有 8% 到 21%。压缩边界对柔度尚可，对局部灵敏度不行。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真实设计里每个胞都是学习胞，邻胞误差进入同一个装配解。两个八胞格栅，十六个胞都没进过训练和检查点选择。面载下柔度误差不超过 0.015%，灵敏度不超过 0.14%；随机载荷下 0.069% 和 0.45%。份额加权的界 β 和实际误差在面载下只差不到 β 的 0.4%。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成本。八胞两个格栅，NICE 79 秒和 105 秒；16 线程 PARDISO 直接解 868 和 1042 秒，常规精确凝聚 950 和 1218 秒；单线程直接解 5864 和 8131 秒，这个口径和 PIML 的串行基准一致，是 57 到 77 倍。内存上，直接法的 Cholesky 因子从四胞的 29 到 32 GiB 涨到八胞的 66 到 81 GiB，NICE 显存峰值 9.2 GiB。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把加速比和精度放在一张表里看。他们的一百倍以上，都来自每个子结构 24 个角点自由度，代价是 2% 到 20% 的误差；同一精度档，也就是全节点方案，他们只有 7 倍；而且基准多是串行或者没说明的求解器。我们 10 倍是对 16 线程 PARDISO，单线程口径 57 到 77 倍，精度是 0.01% 量级。答复信里只陈述事实，不下"更优"的结论。</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算例 A 是八胞块体，用 NICE 和精确凝聚各优化一遍。分别 24 和 23 次迭代停，柔度都降 2.0%、用料少 20%；最终角点参数最多差 0.0051。迭代 0、12、23 处 NICE 柔度比精确值低 0.011% 到 0.028%，符号正是式 (7) 给的；梯度误差不超过 0.33%，余弦不低于 0.999996，每个分量符号都对。</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切割固支板，8 乘 4 层切掉 8 个胞，剩 24 个，固支在切割面上，这由保留的切割带直接表示，不需要重训。均匀化在均匀初始设计上低估柔度 27%；它的设计放回切割几何上，比 NICE 设计软 2.44%，精确柔度 80.198 对 78.287，角点参数最多差 0.26。NICE 的 24 次迭代共 1.3 小时。</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规模演示：24、51、88、110 胞的板，650 万到 3270 万自由度，每次设计迭代 4 到 19.4 分钟，和胞数成正比，每胞约 10.7 秒。CPU 内存每胞约 0.7 GiB，线性增长。现在的上限在预条件子里 K_PP 的直接分解，不在学习胞本身。</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局限我们在 6.4 节都写了：只有一种胞族、一种离散，网络不等变；没有认证误差界，只有可计算的残差；灵敏度用场基估计；24 胞以上没有精确核对；没和 AMG、BDDC 比。审稿人最可能问加速比，答复材料已经准备好。</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投稿计划：投 CMAME，同时挂 arXiv 占优先权。投稿前需要作者信息、各项声明包括 AI 使用声明、通读。可选的是先给 Nature Computational Science 发一封预投稿咨询，一两周回复，预期会被建议转投专业期刊，几乎不耽误时间。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后续路线一页概览，细节在路线图 PDF 里。P2 做带误差控制的局部量设计，把后验误差和规模作为支撑；P3 做跨胞族泛化，加上我们的 B 样条拉扭单胞；冲 NC 的方向是局部量驱动的有限尺寸格栅设计加打印和破坏试验，卖点是可行与不可行；另外有几篇低投入的并行小篇。</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最后四件事需要您拍板：投稿去向；打印和测试条件；后续优先做哪几个方向、时间窗口多长；算力要不要增租。</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以下为备用页，被追问时再翻。</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排序 Ŝ 不大于 Ŝ_net 需要精确或非负平移的粗求解，光滑区间从上方界住谱。离散切换：几何变化时活跃单元和保留集会跳变，所以优化不用 KKT 残差停止，而用目标相对变化。</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参考解本身的离散误差：n 等于 32 相对 64，除 H2 外柔度不超过 0.28%、灵敏度 0.44%。训练一次性约 60 GPU 小时，不计入表 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网络不重训直接用在映射胞上：384 对全部保持 Ŝ 不小于 S；共转拉回后扭转、弯曲误差在 0.1% 量级；拉伸是唯一明显失效。另外最坏方向误差远大于平均值，是后续要查清的问题。</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六篇和 NICE 在边界表示、灵敏度、理论、校正上的完整对照。</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2_标题幻灯片">
    <p:bg>
      <p:bgRef idx="1001">
        <a:schemeClr val="bg1"/>
      </p:bgRef>
    </p:bg>
    <p:spTree>
      <p:nvGrpSpPr>
        <p:cNvPr id="1" name=""/>
        <p:cNvGrpSpPr/>
        <p:nvPr/>
      </p:nvGrpSpPr>
      <p:grpSpPr>
        <a:xfrm>
          <a:off x="0" y="0"/>
          <a:ext cx="0" cy="0"/>
          <a:chOff x="0" y="0"/>
          <a:chExt cx="0" cy="0"/>
        </a:xfrm>
      </p:grpSpPr>
      <p:sp>
        <p:nvSpPr>
          <p:cNvPr id="3" name="矩形 7"/>
          <p:cNvSpPr>
            <a:spLocks noChangeArrowheads="1"/>
          </p:cNvSpPr>
          <p:nvPr userDrawn="1"/>
        </p:nvSpPr>
        <p:spPr bwMode="auto">
          <a:xfrm>
            <a:off x="-12699" y="0"/>
            <a:ext cx="12204700" cy="72000"/>
          </a:xfrm>
          <a:prstGeom prst="rect">
            <a:avLst/>
          </a:prstGeom>
          <a:solidFill>
            <a:srgbClr val="C00000"/>
          </a:solidFill>
          <a:ln>
            <a:noFill/>
          </a:ln>
        </p:spPr>
        <p:txBody>
          <a:bodyPr>
            <a:spAutoFit/>
          </a:bodyPr>
          <a:lstStyle>
            <a:lvl1pPr eaLnBrk="0" hangingPunct="0">
              <a:defRPr sz="2800">
                <a:solidFill>
                  <a:schemeClr val="tx1"/>
                </a:solidFill>
                <a:latin typeface="Times New Roman" panose="02020503050405090304" pitchFamily="18" charset="0"/>
                <a:ea typeface="SimHei" panose="02010609060101010101" pitchFamily="49" charset="-122"/>
              </a:defRPr>
            </a:lvl1pPr>
            <a:lvl2pPr marL="742950" indent="-285750" eaLnBrk="0" hangingPunct="0">
              <a:defRPr sz="2800">
                <a:solidFill>
                  <a:schemeClr val="tx1"/>
                </a:solidFill>
                <a:latin typeface="Times New Roman" panose="02020503050405090304" pitchFamily="18" charset="0"/>
                <a:ea typeface="SimHei" panose="02010609060101010101" pitchFamily="49" charset="-122"/>
              </a:defRPr>
            </a:lvl2pPr>
            <a:lvl3pPr marL="1143000" indent="-228600" eaLnBrk="0" hangingPunct="0">
              <a:defRPr sz="2800">
                <a:solidFill>
                  <a:schemeClr val="tx1"/>
                </a:solidFill>
                <a:latin typeface="Times New Roman" panose="02020503050405090304" pitchFamily="18" charset="0"/>
                <a:ea typeface="SimHei" panose="02010609060101010101" pitchFamily="49" charset="-122"/>
              </a:defRPr>
            </a:lvl3pPr>
            <a:lvl4pPr marL="1600200" indent="-228600" eaLnBrk="0" hangingPunct="0">
              <a:defRPr sz="2800">
                <a:solidFill>
                  <a:schemeClr val="tx1"/>
                </a:solidFill>
                <a:latin typeface="Times New Roman" panose="02020503050405090304" pitchFamily="18" charset="0"/>
                <a:ea typeface="SimHei" panose="02010609060101010101" pitchFamily="49" charset="-122"/>
              </a:defRPr>
            </a:lvl4pPr>
            <a:lvl5pPr marL="2057400" indent="-228600" eaLnBrk="0" hangingPunct="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eaLnBrk="1" hangingPunct="1">
              <a:spcBef>
                <a:spcPct val="50000"/>
              </a:spcBef>
              <a:defRPr/>
            </a:pPr>
            <a:endParaRPr lang="en-US" altLang="zh-CN" sz="2800">
              <a:solidFill>
                <a:srgbClr val="C00000"/>
              </a:solidFill>
            </a:endParaRPr>
          </a:p>
        </p:txBody>
      </p:sp>
      <p:sp>
        <p:nvSpPr>
          <p:cNvPr id="4" name="TextBox 9"/>
          <p:cNvSpPr txBox="1">
            <a:spLocks noChangeArrowheads="1"/>
          </p:cNvSpPr>
          <p:nvPr userDrawn="1"/>
        </p:nvSpPr>
        <p:spPr bwMode="auto">
          <a:xfrm>
            <a:off x="11211984" y="6550026"/>
            <a:ext cx="980016" cy="307975"/>
          </a:xfrm>
          <a:prstGeom prst="rect">
            <a:avLst/>
          </a:prstGeom>
          <a:noFill/>
          <a:ln>
            <a:noFill/>
          </a:ln>
        </p:spPr>
        <p:txBody>
          <a:bodyPr>
            <a:spAutoFit/>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eaLnBrk="1" hangingPunct="1">
              <a:spcBef>
                <a:spcPct val="50000"/>
              </a:spcBef>
              <a:defRPr/>
            </a:pPr>
            <a:fld id="{4097D269-82ED-7444-A9F2-76BF1199FCEE}" type="slidenum">
              <a:rPr lang="en-US" altLang="zh-CN" sz="1400" b="1" smtClean="0">
                <a:solidFill>
                  <a:srgbClr val="7F7F7F"/>
                </a:solidFill>
                <a:latin typeface="Times New Roman" panose="02020503050405090304" pitchFamily="18" charset="0"/>
                <a:ea typeface="SimHei" panose="02010609060101010101" pitchFamily="49" charset="-122"/>
              </a:rPr>
            </a:fld>
            <a:r>
              <a:rPr lang="en-US" altLang="zh-CN" sz="1400" b="1">
                <a:solidFill>
                  <a:srgbClr val="7F7F7F"/>
                </a:solidFill>
                <a:latin typeface="Times New Roman" panose="02020503050405090304" pitchFamily="18" charset="0"/>
                <a:ea typeface="SimHei" panose="02010609060101010101" pitchFamily="49" charset="-122"/>
              </a:rPr>
              <a:t>/30</a:t>
            </a:r>
            <a:endParaRPr lang="en-US" altLang="zh-CN" sz="1400" b="1">
              <a:solidFill>
                <a:srgbClr val="7F7F7F"/>
              </a:solidFill>
              <a:latin typeface="Times New Roman" panose="02020503050405090304" pitchFamily="18" charset="0"/>
              <a:ea typeface="SimHei" panose="02010609060101010101" pitchFamily="49" charset="-122"/>
            </a:endParaRPr>
          </a:p>
        </p:txBody>
      </p:sp>
      <p:sp>
        <p:nvSpPr>
          <p:cNvPr id="6" name="矩形 5"/>
          <p:cNvSpPr>
            <a:spLocks noChangeArrowheads="1"/>
          </p:cNvSpPr>
          <p:nvPr userDrawn="1"/>
        </p:nvSpPr>
        <p:spPr bwMode="auto">
          <a:xfrm>
            <a:off x="0" y="6568422"/>
            <a:ext cx="12192000" cy="288000"/>
          </a:xfrm>
          <a:prstGeom prst="rect">
            <a:avLst/>
          </a:prstGeom>
          <a:solidFill>
            <a:srgbClr val="FFC000"/>
          </a:solidFill>
          <a:ln>
            <a:noFill/>
          </a:ln>
        </p:spPr>
        <p:txBody>
          <a:bodyPr>
            <a:spAutoFit/>
          </a:bodyPr>
          <a:lstStyle>
            <a:lvl1pPr eaLnBrk="0" hangingPunct="0">
              <a:defRPr sz="2800">
                <a:solidFill>
                  <a:schemeClr val="tx1"/>
                </a:solidFill>
                <a:latin typeface="Times New Roman" panose="02020503050405090304" pitchFamily="18" charset="0"/>
                <a:ea typeface="SimHei" panose="02010609060101010101" pitchFamily="49" charset="-122"/>
              </a:defRPr>
            </a:lvl1pPr>
            <a:lvl2pPr marL="742950" indent="-285750" eaLnBrk="0" hangingPunct="0">
              <a:defRPr sz="2800">
                <a:solidFill>
                  <a:schemeClr val="tx1"/>
                </a:solidFill>
                <a:latin typeface="Times New Roman" panose="02020503050405090304" pitchFamily="18" charset="0"/>
                <a:ea typeface="SimHei" panose="02010609060101010101" pitchFamily="49" charset="-122"/>
              </a:defRPr>
            </a:lvl2pPr>
            <a:lvl3pPr marL="1143000" indent="-228600" eaLnBrk="0" hangingPunct="0">
              <a:defRPr sz="2800">
                <a:solidFill>
                  <a:schemeClr val="tx1"/>
                </a:solidFill>
                <a:latin typeface="Times New Roman" panose="02020503050405090304" pitchFamily="18" charset="0"/>
                <a:ea typeface="SimHei" panose="02010609060101010101" pitchFamily="49" charset="-122"/>
              </a:defRPr>
            </a:lvl3pPr>
            <a:lvl4pPr marL="1600200" indent="-228600" eaLnBrk="0" hangingPunct="0">
              <a:defRPr sz="2800">
                <a:solidFill>
                  <a:schemeClr val="tx1"/>
                </a:solidFill>
                <a:latin typeface="Times New Roman" panose="02020503050405090304" pitchFamily="18" charset="0"/>
                <a:ea typeface="SimHei" panose="02010609060101010101" pitchFamily="49" charset="-122"/>
              </a:defRPr>
            </a:lvl4pPr>
            <a:lvl5pPr marL="2057400" indent="-228600" eaLnBrk="0" hangingPunct="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5000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eaLnBrk="1" hangingPunct="1">
              <a:spcBef>
                <a:spcPct val="50000"/>
              </a:spcBef>
              <a:defRPr/>
            </a:pPr>
            <a:endParaRPr lang="en-US" sz="2800"/>
          </a:p>
        </p:txBody>
      </p:sp>
      <p:pic>
        <p:nvPicPr>
          <p:cNvPr id="7" name="图片 5"/>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4558" y="6570663"/>
            <a:ext cx="143510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1"/>
          <p:cNvSpPr>
            <a:spLocks noChangeArrowheads="1"/>
          </p:cNvSpPr>
          <p:nvPr userDrawn="1"/>
        </p:nvSpPr>
        <p:spPr bwMode="auto">
          <a:xfrm>
            <a:off x="928297" y="6523879"/>
            <a:ext cx="3217333" cy="369332"/>
          </a:xfrm>
          <a:prstGeom prst="rect">
            <a:avLst/>
          </a:prstGeom>
          <a:noFill/>
          <a:ln>
            <a:noFill/>
          </a:ln>
        </p:spPr>
        <p:txBody>
          <a:bodyPr wrap="square">
            <a:spAutoFit/>
          </a:bodyPr>
          <a:lstStyle>
            <a:lvl1pPr>
              <a:defRPr sz="2800">
                <a:solidFill>
                  <a:schemeClr val="tx1"/>
                </a:solidFill>
                <a:latin typeface="Times New Roman" panose="02020503050405090304" pitchFamily="18" charset="0"/>
                <a:ea typeface="SimHei" panose="02010609060101010101" pitchFamily="49" charset="-122"/>
              </a:defRPr>
            </a:lvl1pPr>
            <a:lvl2pPr marL="742950" indent="-285750">
              <a:defRPr sz="2800">
                <a:solidFill>
                  <a:schemeClr val="tx1"/>
                </a:solidFill>
                <a:latin typeface="Times New Roman" panose="02020503050405090304" pitchFamily="18" charset="0"/>
                <a:ea typeface="SimHei" panose="02010609060101010101" pitchFamily="49" charset="-122"/>
              </a:defRPr>
            </a:lvl2pPr>
            <a:lvl3pPr marL="1143000" indent="-228600">
              <a:defRPr sz="2800">
                <a:solidFill>
                  <a:schemeClr val="tx1"/>
                </a:solidFill>
                <a:latin typeface="Times New Roman" panose="02020503050405090304" pitchFamily="18" charset="0"/>
                <a:ea typeface="SimHei" panose="02010609060101010101" pitchFamily="49" charset="-122"/>
              </a:defRPr>
            </a:lvl3pPr>
            <a:lvl4pPr marL="1600200" indent="-228600">
              <a:defRPr sz="2800">
                <a:solidFill>
                  <a:schemeClr val="tx1"/>
                </a:solidFill>
                <a:latin typeface="Times New Roman" panose="02020503050405090304" pitchFamily="18" charset="0"/>
                <a:ea typeface="SimHei" panose="02010609060101010101" pitchFamily="49" charset="-122"/>
              </a:defRPr>
            </a:lvl4pPr>
            <a:lvl5pPr marL="2057400" indent="-228600">
              <a:defRPr sz="2800">
                <a:solidFill>
                  <a:schemeClr val="tx1"/>
                </a:solidFill>
                <a:latin typeface="Times New Roman" panose="02020503050405090304" pitchFamily="18" charset="0"/>
                <a:ea typeface="SimHei" panose="02010609060101010101" pitchFamily="49" charset="-122"/>
              </a:defRPr>
            </a:lvl5pPr>
            <a:lvl6pPr marL="25146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6pPr>
            <a:lvl7pPr marL="29718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7pPr>
            <a:lvl8pPr marL="34290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8pPr>
            <a:lvl9pPr marL="3886200" indent="-228600" eaLnBrk="0" fontAlgn="base" hangingPunct="0">
              <a:spcBef>
                <a:spcPct val="0"/>
              </a:spcBef>
              <a:spcAft>
                <a:spcPct val="0"/>
              </a:spcAft>
              <a:defRPr sz="2800">
                <a:solidFill>
                  <a:schemeClr val="tx1"/>
                </a:solidFill>
                <a:latin typeface="Times New Roman" panose="02020503050405090304" pitchFamily="18" charset="0"/>
                <a:ea typeface="SimHei" panose="02010609060101010101" pitchFamily="49" charset="-122"/>
              </a:defRPr>
            </a:lvl9pPr>
          </a:lstStyle>
          <a:p>
            <a:pPr algn="ctr" eaLnBrk="1" hangingPunct="1">
              <a:defRPr/>
            </a:pPr>
            <a:r>
              <a:rPr lang="en-US" altLang="zh-CN" sz="900" b="1" dirty="0">
                <a:solidFill>
                  <a:srgbClr val="0000FF"/>
                </a:solidFill>
                <a:latin typeface="Arial" panose="020B0604020202090204" pitchFamily="34" charset="0"/>
                <a:cs typeface="Arial" panose="020B0604020202090204" pitchFamily="34" charset="0"/>
              </a:rPr>
              <a:t>Research group of </a:t>
            </a:r>
            <a:r>
              <a:rPr lang="en-US" altLang="zh-CN" sz="900" b="1" dirty="0">
                <a:solidFill>
                  <a:srgbClr val="FF0000"/>
                </a:solidFill>
                <a:latin typeface="Arial" panose="020B0604020202090204" pitchFamily="34" charset="0"/>
                <a:cs typeface="Arial" panose="020B0604020202090204" pitchFamily="34" charset="0"/>
              </a:rPr>
              <a:t>i</a:t>
            </a:r>
            <a:r>
              <a:rPr lang="en-US" altLang="zh-CN" sz="900" b="1" dirty="0">
                <a:solidFill>
                  <a:srgbClr val="0000FF"/>
                </a:solidFill>
                <a:latin typeface="Arial" panose="020B0604020202090204" pitchFamily="34" charset="0"/>
                <a:cs typeface="Arial" panose="020B0604020202090204" pitchFamily="34" charset="0"/>
              </a:rPr>
              <a:t>nnovation </a:t>
            </a:r>
            <a:r>
              <a:rPr lang="en-US" altLang="zh-CN" sz="900" b="1" dirty="0">
                <a:solidFill>
                  <a:srgbClr val="FF0000"/>
                </a:solidFill>
                <a:latin typeface="Arial" panose="020B0604020202090204" pitchFamily="34" charset="0"/>
                <a:cs typeface="Arial" panose="020B0604020202090204" pitchFamily="34" charset="0"/>
              </a:rPr>
              <a:t>D</a:t>
            </a:r>
            <a:r>
              <a:rPr lang="en-US" altLang="zh-CN" sz="900" b="1" dirty="0">
                <a:solidFill>
                  <a:srgbClr val="0000FF"/>
                </a:solidFill>
                <a:latin typeface="Arial" panose="020B0604020202090204" pitchFamily="34" charset="0"/>
                <a:cs typeface="Arial" panose="020B0604020202090204" pitchFamily="34" charset="0"/>
              </a:rPr>
              <a:t>esign</a:t>
            </a:r>
            <a:endParaRPr lang="en-US" altLang="zh-CN" sz="900" b="1" dirty="0">
              <a:solidFill>
                <a:srgbClr val="0000FF"/>
              </a:solidFill>
              <a:latin typeface="Arial" panose="020B0604020202090204" pitchFamily="34" charset="0"/>
              <a:cs typeface="Arial" panose="020B0604020202090204" pitchFamily="34" charset="0"/>
            </a:endParaRPr>
          </a:p>
          <a:p>
            <a:pPr algn="ctr" eaLnBrk="1" hangingPunct="1">
              <a:defRPr/>
            </a:pPr>
            <a:r>
              <a:rPr lang="en-US" altLang="zh-CN" sz="900" b="1" dirty="0">
                <a:solidFill>
                  <a:srgbClr val="0000FF"/>
                </a:solidFill>
                <a:latin typeface="Arial" panose="020B0604020202090204" pitchFamily="34" charset="0"/>
                <a:cs typeface="Arial" panose="020B0604020202090204" pitchFamily="34" charset="0"/>
              </a:rPr>
              <a:t>in </a:t>
            </a:r>
            <a:r>
              <a:rPr lang="en-US" altLang="zh-CN" sz="900" b="1" dirty="0">
                <a:solidFill>
                  <a:srgbClr val="FF0000"/>
                </a:solidFill>
                <a:latin typeface="Arial" panose="020B0604020202090204" pitchFamily="34" charset="0"/>
                <a:cs typeface="Arial" panose="020B0604020202090204" pitchFamily="34" charset="0"/>
              </a:rPr>
              <a:t>E</a:t>
            </a:r>
            <a:r>
              <a:rPr lang="en-US" altLang="zh-CN" sz="900" b="1" dirty="0">
                <a:solidFill>
                  <a:srgbClr val="0000FF"/>
                </a:solidFill>
                <a:latin typeface="Arial" panose="020B0604020202090204" pitchFamily="34" charset="0"/>
                <a:cs typeface="Arial" panose="020B0604020202090204" pitchFamily="34" charset="0"/>
              </a:rPr>
              <a:t>ngineering &amp; </a:t>
            </a:r>
            <a:r>
              <a:rPr lang="en-US" altLang="zh-CN" sz="900" b="1" dirty="0">
                <a:solidFill>
                  <a:srgbClr val="FF0000"/>
                </a:solidFill>
                <a:latin typeface="Arial" panose="020B0604020202090204" pitchFamily="34" charset="0"/>
                <a:cs typeface="Arial" panose="020B0604020202090204" pitchFamily="34" charset="0"/>
              </a:rPr>
              <a:t>A</a:t>
            </a:r>
            <a:r>
              <a:rPr lang="en-US" altLang="zh-CN" sz="900" b="1" dirty="0">
                <a:solidFill>
                  <a:srgbClr val="0000FF"/>
                </a:solidFill>
                <a:latin typeface="Arial" panose="020B0604020202090204" pitchFamily="34" charset="0"/>
                <a:cs typeface="Arial" panose="020B0604020202090204" pitchFamily="34" charset="0"/>
              </a:rPr>
              <a:t>dvanced </a:t>
            </a:r>
            <a:r>
              <a:rPr lang="en-US" altLang="zh-CN" sz="900" b="1" dirty="0">
                <a:solidFill>
                  <a:srgbClr val="FF0000"/>
                </a:solidFill>
                <a:latin typeface="Arial" panose="020B0604020202090204" pitchFamily="34" charset="0"/>
                <a:cs typeface="Arial" panose="020B0604020202090204" pitchFamily="34" charset="0"/>
              </a:rPr>
              <a:t>S</a:t>
            </a:r>
            <a:r>
              <a:rPr lang="en-US" altLang="zh-CN" sz="900" b="1" dirty="0">
                <a:solidFill>
                  <a:srgbClr val="0000FF"/>
                </a:solidFill>
                <a:latin typeface="Arial" panose="020B0604020202090204" pitchFamily="34" charset="0"/>
                <a:cs typeface="Arial" panose="020B0604020202090204" pitchFamily="34" charset="0"/>
              </a:rPr>
              <a:t>cience</a:t>
            </a:r>
            <a:endParaRPr lang="zh-CN" altLang="en-US" sz="900" b="1" dirty="0">
              <a:solidFill>
                <a:srgbClr val="0000FF"/>
              </a:solidFill>
              <a:latin typeface="Arial" panose="020B0604020202090204" pitchFamily="34" charset="0"/>
              <a:cs typeface="Arial" panose="020B0604020202090204" pitchFamily="34" charset="0"/>
            </a:endParaRPr>
          </a:p>
        </p:txBody>
      </p:sp>
      <p:sp>
        <p:nvSpPr>
          <p:cNvPr id="9" name="矩形 8"/>
          <p:cNvSpPr/>
          <p:nvPr userDrawn="1"/>
        </p:nvSpPr>
        <p:spPr>
          <a:xfrm>
            <a:off x="4876800" y="6610990"/>
            <a:ext cx="3940735" cy="246221"/>
          </a:xfrm>
          <a:prstGeom prst="rect">
            <a:avLst/>
          </a:prstGeom>
        </p:spPr>
        <p:txBody>
          <a:bodyPr wrap="square">
            <a:spAutoFit/>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eaLnBrk="1" hangingPunct="1">
              <a:defRPr/>
            </a:pPr>
            <a:r>
              <a:rPr lang="zh-CN" altLang="en-US" sz="1000" b="0" dirty="0">
                <a:solidFill>
                  <a:srgbClr val="7F7F7F"/>
                </a:solidFill>
                <a:latin typeface="Microsoft YaHei" panose="020B0503020204020204" pitchFamily="34" charset="-122"/>
                <a:ea typeface="Microsoft YaHei" panose="020B0503020204020204" pitchFamily="34" charset="-122"/>
              </a:rPr>
              <a:t>大连理工大学  工业装备结构分析优化与</a:t>
            </a:r>
            <a:r>
              <a:rPr lang="en-US" altLang="zh-CN" sz="1000" b="0" dirty="0">
                <a:solidFill>
                  <a:srgbClr val="7F7F7F"/>
                </a:solidFill>
                <a:latin typeface="Microsoft YaHei" panose="020B0503020204020204" pitchFamily="34" charset="-122"/>
                <a:ea typeface="Microsoft YaHei" panose="020B0503020204020204" pitchFamily="34" charset="-122"/>
              </a:rPr>
              <a:t>CAE</a:t>
            </a:r>
            <a:r>
              <a:rPr lang="zh-CN" altLang="en-US" sz="1000" b="0" dirty="0">
                <a:solidFill>
                  <a:srgbClr val="7F7F7F"/>
                </a:solidFill>
                <a:latin typeface="Microsoft YaHei" panose="020B0503020204020204" pitchFamily="34" charset="-122"/>
                <a:ea typeface="Microsoft YaHei" panose="020B0503020204020204" pitchFamily="34" charset="-122"/>
              </a:rPr>
              <a:t>软件全国重点实验室</a:t>
            </a:r>
            <a:endParaRPr lang="zh-CN" altLang="en-US" sz="1000" b="0" dirty="0">
              <a:solidFill>
                <a:srgbClr val="7F7F7F"/>
              </a:solidFill>
              <a:latin typeface="Microsoft YaHei" panose="020B0503020204020204" pitchFamily="34" charset="-122"/>
              <a:ea typeface="Microsoft YaHei" panose="020B0503020204020204" pitchFamily="34" charset="-122"/>
            </a:endParaRPr>
          </a:p>
        </p:txBody>
      </p:sp>
      <p:sp>
        <p:nvSpPr>
          <p:cNvPr id="10" name="灯片编号占位符 2"/>
          <p:cNvSpPr txBox="1"/>
          <p:nvPr userDrawn="1"/>
        </p:nvSpPr>
        <p:spPr bwMode="auto">
          <a:xfrm>
            <a:off x="11409892" y="6565349"/>
            <a:ext cx="584200" cy="274637"/>
          </a:xfrm>
          <a:prstGeom prst="rect">
            <a:avLst/>
          </a:prstGeom>
          <a:noFill/>
        </p:spPr>
        <p:txBody>
          <a:bodyPr/>
          <a:lstStyle>
            <a:lvl1pPr>
              <a:defRPr kumimoji="1" sz="1600">
                <a:solidFill>
                  <a:schemeClr val="tx1"/>
                </a:solidFill>
                <a:latin typeface="Tahoma" panose="020B0604030504040204" pitchFamily="34" charset="0"/>
                <a:ea typeface="SimSun" pitchFamily="2" charset="-122"/>
              </a:defRPr>
            </a:lvl1pPr>
            <a:lvl2pPr marL="742950" indent="-285750">
              <a:defRPr kumimoji="1" sz="1600">
                <a:solidFill>
                  <a:schemeClr val="tx1"/>
                </a:solidFill>
                <a:latin typeface="Tahoma" panose="020B0604030504040204" pitchFamily="34" charset="0"/>
                <a:ea typeface="SimSun" pitchFamily="2" charset="-122"/>
              </a:defRPr>
            </a:lvl2pPr>
            <a:lvl3pPr marL="1143000" indent="-228600">
              <a:defRPr kumimoji="1" sz="1600">
                <a:solidFill>
                  <a:schemeClr val="tx1"/>
                </a:solidFill>
                <a:latin typeface="Tahoma" panose="020B0604030504040204" pitchFamily="34" charset="0"/>
                <a:ea typeface="SimSun" pitchFamily="2" charset="-122"/>
              </a:defRPr>
            </a:lvl3pPr>
            <a:lvl4pPr marL="1600200" indent="-228600">
              <a:defRPr kumimoji="1" sz="1600">
                <a:solidFill>
                  <a:schemeClr val="tx1"/>
                </a:solidFill>
                <a:latin typeface="Tahoma" panose="020B0604030504040204" pitchFamily="34" charset="0"/>
                <a:ea typeface="SimSun" pitchFamily="2" charset="-122"/>
              </a:defRPr>
            </a:lvl4pPr>
            <a:lvl5pPr marL="2057400" indent="-228600">
              <a:defRPr kumimoji="1" sz="1600">
                <a:solidFill>
                  <a:schemeClr val="tx1"/>
                </a:solidFill>
                <a:latin typeface="Tahoma" panose="020B0604030504040204" pitchFamily="34" charset="0"/>
                <a:ea typeface="SimSun" pitchFamily="2" charset="-122"/>
              </a:defRPr>
            </a:lvl5pPr>
            <a:lvl6pPr marL="25146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6pPr>
            <a:lvl7pPr marL="29718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7pPr>
            <a:lvl8pPr marL="34290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8pPr>
            <a:lvl9pPr marL="3886200" indent="-228600" eaLnBrk="0" fontAlgn="base" hangingPunct="0">
              <a:spcBef>
                <a:spcPct val="0"/>
              </a:spcBef>
              <a:spcAft>
                <a:spcPct val="0"/>
              </a:spcAft>
              <a:defRPr kumimoji="1" sz="1600">
                <a:solidFill>
                  <a:schemeClr val="tx1"/>
                </a:solidFill>
                <a:latin typeface="Tahoma" panose="020B0604030504040204" pitchFamily="34" charset="0"/>
                <a:ea typeface="SimSun" pitchFamily="2" charset="-122"/>
              </a:defRPr>
            </a:lvl9pPr>
          </a:lstStyle>
          <a:p>
            <a:pPr algn="r">
              <a:defRPr/>
            </a:pPr>
            <a:fld id="{80C2D1C4-173E-4D48-969F-1B76B066F58F}" type="slidenum">
              <a:rPr lang="en-US" altLang="zh-CN" sz="1200" smtClean="0">
                <a:solidFill>
                  <a:srgbClr val="7F7F7F"/>
                </a:solidFill>
                <a:latin typeface="Times New Roman" panose="02020503050405090304" pitchFamily="18" charset="0"/>
                <a:ea typeface="SimHei" panose="02010609060101010101" pitchFamily="49" charset="-122"/>
              </a:rPr>
            </a:fld>
            <a:endParaRPr lang="en-US" altLang="zh-CN" sz="1200" dirty="0">
              <a:solidFill>
                <a:srgbClr val="7F7F7F"/>
              </a:solidFill>
              <a:latin typeface="Times New Roman" panose="02020503050405090304" pitchFamily="18" charset="0"/>
              <a:ea typeface="SimHei" panose="02010609060101010101" pitchFamily="49" charset="-122"/>
            </a:endParaRPr>
          </a:p>
        </p:txBody>
      </p:sp>
      <p:sp>
        <p:nvSpPr>
          <p:cNvPr id="5" name="标题 4"/>
          <p:cNvSpPr>
            <a:spLocks noGrp="1"/>
          </p:cNvSpPr>
          <p:nvPr>
            <p:ph type="title"/>
          </p:nvPr>
        </p:nvSpPr>
        <p:spPr>
          <a:xfrm>
            <a:off x="-14558" y="61303"/>
            <a:ext cx="12192000" cy="720000"/>
          </a:xfrm>
          <a:prstGeom prst="rect">
            <a:avLst/>
          </a:prstGeom>
        </p:spPr>
        <p:txBody>
          <a:bodyPr/>
          <a:lstStyle>
            <a:lvl1pPr algn="ctr">
              <a:defRPr>
                <a:solidFill>
                  <a:srgbClr val="C00000"/>
                </a:solidFill>
                <a:latin typeface="Microsoft YaHei" panose="020B0503020204020204" pitchFamily="34" charset="-122"/>
                <a:ea typeface="Microsoft YaHei" panose="020B0503020204020204" pitchFamily="34" charset="-122"/>
              </a:defRPr>
            </a:lvl1pPr>
          </a:lstStyle>
          <a:p>
            <a:r>
              <a:rPr lang="zh-CN" altLang="en-US" dirty="0"/>
              <a:t>单击此处编辑母版标题样式</a:t>
            </a:r>
            <a:endParaRPr lang="en-US"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mc:Choice xmlns:p14="http://schemas.microsoft.com/office/powerpoint/2010/main" Requires="p14">
      <p:transition spd="slow" p14:dur="5000" advClick="0"/>
    </mc:Choice>
    <mc:Fallback>
      <p:transition spd="slow" advClick="0"/>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hdr="0" dt="0"/>
  <p:txStyles>
    <p:titleStyle>
      <a:lvl1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cs typeface="+mj-cs"/>
        </a:defRPr>
      </a:lvl1pPr>
      <a:lvl2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2pPr>
      <a:lvl3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3pPr>
      <a:lvl4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4pPr>
      <a:lvl5pPr algn="l" rtl="0" eaLnBrk="0" fontAlgn="base" hangingPunct="0">
        <a:spcBef>
          <a:spcPct val="0"/>
        </a:spcBef>
        <a:spcAft>
          <a:spcPct val="0"/>
        </a:spcAft>
        <a:defRPr sz="3200" b="1">
          <a:solidFill>
            <a:srgbClr val="0070C0"/>
          </a:solidFill>
          <a:latin typeface="Microsoft YaHei" panose="020B0503020204020204" pitchFamily="34" charset="-122"/>
          <a:ea typeface="Microsoft YaHei" panose="020B0503020204020204" pitchFamily="34" charset="-122"/>
        </a:defRPr>
      </a:lvl5pPr>
      <a:lvl6pPr marL="457200" algn="l" rtl="0" fontAlgn="base">
        <a:spcBef>
          <a:spcPct val="0"/>
        </a:spcBef>
        <a:spcAft>
          <a:spcPct val="0"/>
        </a:spcAft>
        <a:defRPr sz="3600" b="1">
          <a:solidFill>
            <a:srgbClr val="FFFFFF"/>
          </a:solidFill>
          <a:latin typeface="Arial" panose="020B0604020202090204" pitchFamily="34" charset="0"/>
        </a:defRPr>
      </a:lvl6pPr>
      <a:lvl7pPr marL="914400" algn="l" rtl="0" fontAlgn="base">
        <a:spcBef>
          <a:spcPct val="0"/>
        </a:spcBef>
        <a:spcAft>
          <a:spcPct val="0"/>
        </a:spcAft>
        <a:defRPr sz="3600" b="1">
          <a:solidFill>
            <a:srgbClr val="FFFFFF"/>
          </a:solidFill>
          <a:latin typeface="Arial" panose="020B0604020202090204" pitchFamily="34" charset="0"/>
        </a:defRPr>
      </a:lvl7pPr>
      <a:lvl8pPr marL="1371600" algn="l" rtl="0" fontAlgn="base">
        <a:spcBef>
          <a:spcPct val="0"/>
        </a:spcBef>
        <a:spcAft>
          <a:spcPct val="0"/>
        </a:spcAft>
        <a:defRPr sz="3600" b="1">
          <a:solidFill>
            <a:srgbClr val="FFFFFF"/>
          </a:solidFill>
          <a:latin typeface="Arial" panose="020B0604020202090204" pitchFamily="34" charset="0"/>
        </a:defRPr>
      </a:lvl8pPr>
      <a:lvl9pPr marL="1828800" algn="l" rtl="0" fontAlgn="base">
        <a:spcBef>
          <a:spcPct val="0"/>
        </a:spcBef>
        <a:spcAft>
          <a:spcPct val="0"/>
        </a:spcAft>
        <a:defRPr sz="3600" b="1">
          <a:solidFill>
            <a:srgbClr val="FFFFFF"/>
          </a:solidFill>
          <a:latin typeface="Arial" panose="020B0604020202090204"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hart" Target="../charts/char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536865" y="4447603"/>
            <a:ext cx="9144000" cy="1107996"/>
          </a:xfrm>
          <a:prstGeom prst="rect">
            <a:avLst/>
          </a:prstGeom>
          <a:noFill/>
        </p:spPr>
        <p:txBody>
          <a:bodyPr wrap="square" rtlCol="0">
            <a:spAutoFit/>
          </a:bodyPr>
          <a:lstStyle/>
          <a:p>
            <a:pPr algn="ctr">
              <a:spcBef>
                <a:spcPts val="600"/>
              </a:spcBef>
              <a:spcAft>
                <a:spcPts val="0"/>
              </a:spcAft>
            </a:pPr>
            <a:r>
              <a:rPr kumimoji="1" lang="zh-CN" altLang="en-US" sz="2000" b="1" dirty="0">
                <a:solidFill>
                  <a:srgbClr val="002060"/>
                </a:solidFill>
                <a:latin typeface="Microsoft YaHei" panose="020B0503020204020204" pitchFamily="34" charset="-122"/>
                <a:ea typeface="Microsoft YaHei" panose="020B0503020204020204" pitchFamily="34" charset="-122"/>
              </a:rPr>
              <a:t>大连理工大学</a:t>
            </a:r>
            <a:endParaRPr kumimoji="1" lang="zh-CN" altLang="en-US" sz="2000" b="1" dirty="0">
              <a:solidFill>
                <a:srgbClr val="002060"/>
              </a:solidFill>
              <a:latin typeface="Microsoft YaHei" panose="020B0503020204020204" pitchFamily="34" charset="-122"/>
              <a:ea typeface="Microsoft YaHei" panose="020B0503020204020204" pitchFamily="34" charset="-122"/>
            </a:endParaRPr>
          </a:p>
          <a:p>
            <a:pPr algn="ctr">
              <a:spcBef>
                <a:spcPts val="600"/>
              </a:spcBef>
              <a:spcAft>
                <a:spcPts val="0"/>
              </a:spcAft>
            </a:pPr>
            <a:r>
              <a:rPr kumimoji="1" lang="zh-CN" altLang="en-US" dirty="0">
                <a:solidFill>
                  <a:srgbClr val="002060"/>
                </a:solidFill>
                <a:latin typeface="Microsoft YaHei" panose="020B0503020204020204" pitchFamily="34" charset="-122"/>
                <a:ea typeface="Microsoft YaHei" panose="020B0503020204020204" pitchFamily="34" charset="-122"/>
              </a:rPr>
              <a:t>工业装备结构分析优化与</a:t>
            </a:r>
            <a:r>
              <a:rPr kumimoji="1" lang="en-US" altLang="zh-CN" dirty="0">
                <a:solidFill>
                  <a:srgbClr val="002060"/>
                </a:solidFill>
                <a:latin typeface="Microsoft YaHei" panose="020B0503020204020204" pitchFamily="34" charset="-122"/>
                <a:ea typeface="Microsoft YaHei" panose="020B0503020204020204" pitchFamily="34" charset="-122"/>
              </a:rPr>
              <a:t>CAE</a:t>
            </a:r>
            <a:r>
              <a:rPr kumimoji="1" lang="zh-CN" altLang="en-US" dirty="0">
                <a:solidFill>
                  <a:srgbClr val="002060"/>
                </a:solidFill>
                <a:latin typeface="Microsoft YaHei" panose="020B0503020204020204" pitchFamily="34" charset="-122"/>
                <a:ea typeface="Microsoft YaHei" panose="020B0503020204020204" pitchFamily="34" charset="-122"/>
              </a:rPr>
              <a:t>软件全国重点实验室</a:t>
            </a:r>
            <a:endParaRPr kumimoji="1" lang="en-US" altLang="zh-CN" dirty="0">
              <a:solidFill>
                <a:srgbClr val="002060"/>
              </a:solidFill>
              <a:latin typeface="Microsoft YaHei" panose="020B0503020204020204" pitchFamily="34" charset="-122"/>
              <a:ea typeface="Microsoft YaHei" panose="020B0503020204020204" pitchFamily="34" charset="-122"/>
            </a:endParaRPr>
          </a:p>
          <a:p>
            <a:pPr algn="ctr">
              <a:spcBef>
                <a:spcPts val="600"/>
              </a:spcBef>
              <a:spcAft>
                <a:spcPts val="0"/>
              </a:spcAft>
            </a:pPr>
            <a:r>
              <a:rPr kumimoji="1" lang="zh-CN" altLang="en-US" dirty="0">
                <a:solidFill>
                  <a:srgbClr val="002060"/>
                </a:solidFill>
                <a:latin typeface="Microsoft YaHei" panose="020B0503020204020204" pitchFamily="34" charset="-122"/>
                <a:ea typeface="Microsoft YaHei" panose="020B0503020204020204" pitchFamily="34" charset="-122"/>
              </a:rPr>
              <a:t>力学与航空航天学院</a:t>
            </a:r>
            <a:endParaRPr kumimoji="1" lang="en-US" altLang="zh-CN" dirty="0">
              <a:solidFill>
                <a:srgbClr val="002060"/>
              </a:solidFill>
              <a:latin typeface="Microsoft YaHei" panose="020B0503020204020204" pitchFamily="34" charset="-122"/>
              <a:ea typeface="Microsoft YaHei" panose="020B0503020204020204" pitchFamily="34" charset="-122"/>
            </a:endParaRPr>
          </a:p>
        </p:txBody>
      </p:sp>
      <p:sp>
        <p:nvSpPr>
          <p:cNvPr id="4" name="TextBox 3"/>
          <p:cNvSpPr txBox="1"/>
          <p:nvPr/>
        </p:nvSpPr>
        <p:spPr>
          <a:xfrm>
            <a:off x="1496122" y="3429000"/>
            <a:ext cx="9144000" cy="583565"/>
          </a:xfrm>
          <a:prstGeom prst="rect">
            <a:avLst/>
          </a:prstGeom>
          <a:noFill/>
        </p:spPr>
        <p:txBody>
          <a:bodyPr wrap="square" rtlCol="0">
            <a:spAutoFit/>
          </a:bodyPr>
          <a:lstStyle>
            <a:defPPr>
              <a:defRPr lang="en-US"/>
            </a:defPPr>
            <a:lvl1pPr algn="ctr">
              <a:spcBef>
                <a:spcPts val="600"/>
              </a:spcBef>
              <a:spcAft>
                <a:spcPts val="600"/>
              </a:spcAft>
              <a:defRPr kumimoji="1" sz="2800" b="1">
                <a:solidFill>
                  <a:srgbClr val="002060"/>
                </a:solidFill>
                <a:latin typeface="Microsoft YaHei" panose="020B0503020204020204" pitchFamily="34" charset="-122"/>
                <a:ea typeface="Microsoft YaHei" panose="020B0503020204020204" pitchFamily="34" charset="-122"/>
              </a:defRPr>
            </a:lvl1pPr>
          </a:lstStyle>
          <a:p>
            <a:r>
              <a:rPr lang="zh-CN" sz="3200" dirty="0"/>
              <a:t>范芷瑞</a:t>
            </a:r>
            <a:endParaRPr lang="zh-CN" sz="3200" dirty="0"/>
          </a:p>
        </p:txBody>
      </p:sp>
      <p:sp>
        <p:nvSpPr>
          <p:cNvPr id="7" name="TextBox 6"/>
          <p:cNvSpPr txBox="1"/>
          <p:nvPr/>
        </p:nvSpPr>
        <p:spPr>
          <a:xfrm>
            <a:off x="7434" y="1432551"/>
            <a:ext cx="12192000" cy="706755"/>
          </a:xfrm>
          <a:prstGeom prst="rect">
            <a:avLst/>
          </a:prstGeom>
          <a:noFill/>
        </p:spPr>
        <p:txBody>
          <a:bodyPr wrap="square">
            <a:spAutoFit/>
          </a:bodyPr>
          <a:lstStyle/>
          <a:p>
            <a:pPr algn="ctr">
              <a:spcBef>
                <a:spcPts val="1800"/>
              </a:spcBef>
              <a:spcAft>
                <a:spcPts val="600"/>
              </a:spcAft>
            </a:pPr>
            <a:r>
              <a:rPr lang="zh-CN" altLang="en-US" sz="3400" b="1" dirty="0">
                <a:solidFill>
                  <a:srgbClr val="C00000"/>
                </a:solidFill>
                <a:latin typeface="Microsoft YaHei" panose="020B0503020204020204" pitchFamily="34" charset="-122"/>
                <a:ea typeface="Microsoft YaHei" panose="020B0503020204020204" pitchFamily="34" charset="-122"/>
              </a:rPr>
              <a:t>P1 进展汇报：带平衡校正的神经初始化静力凝聚（NICE）</a:t>
            </a:r>
            <a:endParaRPr lang="zh-CN" altLang="en-US" sz="4000" b="1" dirty="0">
              <a:solidFill>
                <a:srgbClr val="C00000"/>
              </a:solidFill>
              <a:latin typeface="Microsoft YaHei" panose="020B0503020204020204" pitchFamily="34" charset="-122"/>
              <a:ea typeface="Microsoft YaHei" panose="020B0503020204020204" pitchFamily="34" charset="-122"/>
            </a:endParaRPr>
          </a:p>
        </p:txBody>
      </p:sp>
      <p:sp>
        <p:nvSpPr>
          <p:cNvPr id="8" name="TextBox 7"/>
          <p:cNvSpPr txBox="1"/>
          <p:nvPr/>
        </p:nvSpPr>
        <p:spPr>
          <a:xfrm>
            <a:off x="457200" y="2240280"/>
            <a:ext cx="11274552" cy="548640"/>
          </a:xfrm>
          <a:prstGeom prst="rect">
            <a:avLst/>
          </a:prstGeom>
          <a:noFill/>
        </p:spPr>
        <p:txBody>
          <a:bodyPr wrap="square" lIns="73152" rIns="73152" tIns="36576" bIns="36576" anchor="t">
            <a:spAutoFit/>
          </a:bodyPr>
          <a:lstStyle/>
          <a:p>
            <a:pPr algn="ctr">
              <a:spcAft>
                <a:spcPts val="600"/>
              </a:spcAft>
            </a:pPr>
            <a:r>
              <a:rPr sz="1800" b="0" i="0">
                <a:solidFill>
                  <a:srgbClr val="595959"/>
                </a:solidFill>
                <a:latin typeface="Arial"/>
                <a:ea typeface="Microsoft YaHei"/>
              </a:rPr>
              <a:t>切割薄壁 TPMS 格栅的分析与厚度设计 · 投稿 CMAME 前与导师单独汇报 · 2026 年 10 月</a:t>
            </a:r>
          </a:p>
        </p:txBody>
      </p:sp>
    </p:spTree>
  </p:cSld>
  <p:clrMapOvr>
    <a:masterClrMapping/>
  </p:clrMapOvr>
  <mc:AlternateContent xmlns:mc="http://schemas.openxmlformats.org/markup-compatibility/2006">
    <mc:Choice xmlns:p14="http://schemas.microsoft.com/office/powerpoint/2010/main" Requires="p14">
      <p:transition spd="slow" p14:dur="5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一页结论：保留完整边界，只近似内部，误差能追到灵敏度</a:t>
            </a:r>
          </a:p>
        </p:txBody>
      </p:sp>
      <p:sp>
        <p:nvSpPr>
          <p:cNvPr id="3" name="TextBox 2"/>
          <p:cNvSpPr txBox="1"/>
          <p:nvPr/>
        </p:nvSpPr>
        <p:spPr>
          <a:xfrm>
            <a:off x="457200" y="1051560"/>
            <a:ext cx="5212080" cy="3017520"/>
          </a:xfrm>
          <a:prstGeom prst="rect">
            <a:avLst/>
          </a:prstGeom>
          <a:noFill/>
        </p:spPr>
        <p:txBody>
          <a:bodyPr wrap="square" lIns="73152" rIns="73152" tIns="36576" bIns="36576" anchor="t">
            <a:spAutoFit/>
          </a:bodyPr>
          <a:lstStyle/>
          <a:p>
            <a:pPr algn="l">
              <a:spcAft>
                <a:spcPts val="800"/>
              </a:spcAft>
            </a:pPr>
            <a:r>
              <a:rPr sz="1700" b="0" i="0">
                <a:solidFill>
                  <a:srgbClr val="262626"/>
                </a:solidFill>
                <a:latin typeface="Arial"/>
                <a:ea typeface="Microsoft YaHei"/>
              </a:rPr>
              <a:t>学习模型作用在每个胞的</a:t>
            </a:r>
            <a:r>
              <a:rPr sz="1700" b="1" i="0">
                <a:solidFill>
                  <a:srgbClr val="C00000"/>
                </a:solidFill>
                <a:latin typeface="Arial"/>
                <a:ea typeface="Microsoft YaHei"/>
              </a:rPr>
              <a:t>全部盒面与切割带自由度</a:t>
            </a:r>
            <a:r>
              <a:rPr sz="1700" b="0" i="0">
                <a:solidFill>
                  <a:srgbClr val="262626"/>
                </a:solidFill>
                <a:latin typeface="Arial"/>
                <a:ea typeface="Microsoft YaHei"/>
              </a:rPr>
              <a:t>上（中位数 2.4×10⁴ 个），同时保住静力凝聚的结构：</a:t>
            </a:r>
          </a:p>
          <a:p>
            <a:pPr algn="l" marL="228600" indent="-201168">
              <a:spcAft>
                <a:spcPts val="800"/>
              </a:spcAft>
              <a:buFont typeface="Arial"/>
              <a:buChar char="•"/>
            </a:pPr>
            <a:r>
              <a:rPr sz="1700" b="0" i="0">
                <a:solidFill>
                  <a:srgbClr val="262626"/>
                </a:solidFill>
                <a:latin typeface="Arial"/>
                <a:ea typeface="Microsoft YaHei"/>
              </a:rPr>
              <a:t>对称半正定，含刚体核</a:t>
            </a:r>
          </a:p>
          <a:p>
            <a:pPr algn="l" marL="228600" indent="-201168">
              <a:spcAft>
                <a:spcPts val="800"/>
              </a:spcAft>
              <a:buFont typeface="Arial"/>
              <a:buChar char="•"/>
            </a:pPr>
            <a:r>
              <a:rPr sz="1700" b="0" i="0">
                <a:solidFill>
                  <a:srgbClr val="262626"/>
                </a:solidFill>
                <a:latin typeface="Arial"/>
                <a:ea typeface="Microsoft YaHei"/>
              </a:rPr>
              <a:t>被精确 Schur 补从下方界住：</a:t>
            </a:r>
            <a:r>
              <a:rPr sz="1700" b="0" i="0">
                <a:solidFill>
                  <a:srgbClr val="262626"/>
                </a:solidFill>
                <a:latin typeface="Cambria Math"/>
                <a:ea typeface="Cambria Math"/>
              </a:rPr>
              <a:t>S ⪯ Ŝ</a:t>
            </a:r>
          </a:p>
          <a:p>
            <a:pPr algn="l" marL="228600" indent="-201168">
              <a:spcAft>
                <a:spcPts val="800"/>
              </a:spcAft>
              <a:buFont typeface="Arial"/>
              <a:buChar char="•"/>
            </a:pPr>
            <a:r>
              <a:rPr sz="1700" b="0" i="0">
                <a:solidFill>
                  <a:srgbClr val="262626"/>
                </a:solidFill>
                <a:latin typeface="Arial"/>
                <a:ea typeface="Microsoft YaHei"/>
              </a:rPr>
              <a:t>误差可以一路追到柔度和厚度灵敏度</a:t>
            </a:r>
          </a:p>
          <a:p>
            <a:pPr algn="l" marL="228600" indent="-201168">
              <a:spcAft>
                <a:spcPts val="800"/>
              </a:spcAft>
              <a:buFont typeface="Arial"/>
              <a:buChar char="•"/>
            </a:pPr>
            <a:r>
              <a:rPr sz="1700" b="0" i="0">
                <a:solidFill>
                  <a:srgbClr val="262626"/>
                </a:solidFill>
                <a:latin typeface="Arial"/>
                <a:ea typeface="Microsoft YaHei"/>
              </a:rPr>
              <a:t>部署后加大校正预算还能继续改进</a:t>
            </a:r>
          </a:p>
        </p:txBody>
      </p:sp>
      <p:sp>
        <p:nvSpPr>
          <p:cNvPr id="4" name="Rounded Rectangle 3"/>
          <p:cNvSpPr/>
          <p:nvPr/>
        </p:nvSpPr>
        <p:spPr>
          <a:xfrm>
            <a:off x="5989320" y="1051560"/>
            <a:ext cx="274320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0" y="1124712"/>
            <a:ext cx="2743200"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0.074%</a:t>
            </a:r>
          </a:p>
        </p:txBody>
      </p:sp>
      <p:sp>
        <p:nvSpPr>
          <p:cNvPr id="6" name="TextBox 5"/>
          <p:cNvSpPr txBox="1"/>
          <p:nvPr/>
        </p:nvSpPr>
        <p:spPr>
          <a:xfrm>
            <a:off x="6080759" y="1801367"/>
            <a:ext cx="2560320" cy="54864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单胞平均能量误差（80 个验证几何）</a:t>
            </a:r>
          </a:p>
        </p:txBody>
      </p:sp>
      <p:sp>
        <p:nvSpPr>
          <p:cNvPr id="7" name="Rounded Rectangle 6"/>
          <p:cNvSpPr/>
          <p:nvPr/>
        </p:nvSpPr>
        <p:spPr>
          <a:xfrm>
            <a:off x="8915400" y="1051560"/>
            <a:ext cx="274320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15400" y="1124712"/>
            <a:ext cx="2743200" cy="685800"/>
          </a:xfrm>
          <a:prstGeom prst="rect">
            <a:avLst/>
          </a:prstGeom>
          <a:noFill/>
        </p:spPr>
        <p:txBody>
          <a:bodyPr wrap="square" lIns="73152" rIns="73152" tIns="36576" bIns="36576" anchor="ctr">
            <a:spAutoFit/>
          </a:bodyPr>
          <a:lstStyle/>
          <a:p>
            <a:pPr algn="ctr">
              <a:spcAft>
                <a:spcPts val="600"/>
              </a:spcAft>
            </a:pPr>
            <a:r>
              <a:rPr sz="3000" b="1" i="0">
                <a:solidFill>
                  <a:srgbClr val="C00000"/>
                </a:solidFill>
                <a:latin typeface="Arial"/>
                <a:ea typeface="Microsoft YaHei"/>
              </a:rPr>
              <a:t>≤0.28% / 1.5%</a:t>
            </a:r>
          </a:p>
        </p:txBody>
      </p:sp>
      <p:sp>
        <p:nvSpPr>
          <p:cNvPr id="9" name="TextBox 8"/>
          <p:cNvSpPr txBox="1"/>
          <p:nvPr/>
        </p:nvSpPr>
        <p:spPr>
          <a:xfrm>
            <a:off x="9006840" y="1801367"/>
            <a:ext cx="2560320" cy="54864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两胞装配：柔度 / 灵敏度误差</a:t>
            </a:r>
          </a:p>
        </p:txBody>
      </p:sp>
      <p:sp>
        <p:nvSpPr>
          <p:cNvPr id="10" name="Rounded Rectangle 9"/>
          <p:cNvSpPr/>
          <p:nvPr/>
        </p:nvSpPr>
        <p:spPr>
          <a:xfrm>
            <a:off x="5989320" y="2606040"/>
            <a:ext cx="274320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2679192"/>
            <a:ext cx="2743200"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≈10×</a:t>
            </a:r>
          </a:p>
        </p:txBody>
      </p:sp>
      <p:sp>
        <p:nvSpPr>
          <p:cNvPr id="12" name="TextBox 11"/>
          <p:cNvSpPr txBox="1"/>
          <p:nvPr/>
        </p:nvSpPr>
        <p:spPr>
          <a:xfrm>
            <a:off x="6080759" y="3355848"/>
            <a:ext cx="2560320" cy="54864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八胞分析（含灵敏度）快于 16 线程直接解</a:t>
            </a:r>
          </a:p>
        </p:txBody>
      </p:sp>
      <p:sp>
        <p:nvSpPr>
          <p:cNvPr id="13" name="Rounded Rectangle 12"/>
          <p:cNvSpPr/>
          <p:nvPr/>
        </p:nvSpPr>
        <p:spPr>
          <a:xfrm>
            <a:off x="8915400" y="2606040"/>
            <a:ext cx="274320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679192"/>
            <a:ext cx="2743200"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27%</a:t>
            </a:r>
          </a:p>
        </p:txBody>
      </p:sp>
      <p:sp>
        <p:nvSpPr>
          <p:cNvPr id="15" name="TextBox 14"/>
          <p:cNvSpPr txBox="1"/>
          <p:nvPr/>
        </p:nvSpPr>
        <p:spPr>
          <a:xfrm>
            <a:off x="9006840" y="3355848"/>
            <a:ext cx="2560320" cy="54864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切割固支板上均匀化低估柔度</a:t>
            </a:r>
          </a:p>
        </p:txBody>
      </p:sp>
      <p:sp>
        <p:nvSpPr>
          <p:cNvPr id="16" name="TextBox 15"/>
          <p:cNvSpPr txBox="1"/>
          <p:nvPr/>
        </p:nvSpPr>
        <p:spPr>
          <a:xfrm>
            <a:off x="457200" y="4343400"/>
            <a:ext cx="11274552" cy="1051560"/>
          </a:xfrm>
          <a:prstGeom prst="rect">
            <a:avLst/>
          </a:prstGeom>
          <a:solidFill>
            <a:srgbClr val="FBEDED"/>
          </a:solidFill>
        </p:spPr>
        <p:txBody>
          <a:bodyPr wrap="square" lIns="182880" rIns="182880" tIns="36576" bIns="36576" anchor="ctr">
            <a:spAutoFit/>
          </a:bodyPr>
          <a:lstStyle/>
          <a:p>
            <a:pPr algn="l">
              <a:spcAft>
                <a:spcPts val="600"/>
              </a:spcAft>
            </a:pPr>
            <a:r>
              <a:rPr sz="1700" b="1" i="0">
                <a:solidFill>
                  <a:srgbClr val="C00000"/>
                </a:solidFill>
                <a:latin typeface="Arial"/>
                <a:ea typeface="Microsoft YaHei"/>
              </a:rPr>
              <a:t>和 PIML 的根本区别：</a:t>
            </a:r>
            <a:r>
              <a:rPr sz="1700" b="0" i="0">
                <a:solidFill>
                  <a:srgbClr val="262626"/>
                </a:solidFill>
                <a:latin typeface="Arial"/>
                <a:ea typeface="Microsoft YaHei"/>
              </a:rPr>
              <a:t>他们删边界（每个子结构 24 个角点自由度），误差 2–20%；我们保留边界、只近似内部，误差 0.01% 量级，并且说清误差怎么进入灵敏度。</a:t>
            </a:r>
          </a:p>
        </p:txBody>
      </p:sp>
      <p:sp>
        <p:nvSpPr>
          <p:cNvPr id="17" name="TextBox 16"/>
          <p:cNvSpPr txBox="1"/>
          <p:nvPr/>
        </p:nvSpPr>
        <p:spPr>
          <a:xfrm>
            <a:off x="457200" y="5532120"/>
            <a:ext cx="11274552" cy="457200"/>
          </a:xfrm>
          <a:prstGeom prst="rect">
            <a:avLst/>
          </a:prstGeom>
          <a:noFill/>
        </p:spPr>
        <p:txBody>
          <a:bodyPr wrap="square" lIns="73152" rIns="73152" tIns="36576" bIns="36576" anchor="t">
            <a:spAutoFit/>
          </a:bodyPr>
          <a:lstStyle/>
          <a:p>
            <a:pPr algn="l">
              <a:spcAft>
                <a:spcPts val="600"/>
              </a:spcAft>
            </a:pPr>
            <a:r>
              <a:rPr sz="1600" b="1" i="0">
                <a:solidFill>
                  <a:srgbClr val="595959"/>
                </a:solidFill>
                <a:latin typeface="Arial"/>
                <a:ea typeface="Microsoft YaHei"/>
              </a:rPr>
              <a:t>状态：</a:t>
            </a:r>
            <a:r>
              <a:rPr sz="1600" b="0" i="0">
                <a:solidFill>
                  <a:srgbClr val="595959"/>
                </a:solidFill>
                <a:latin typeface="Arial"/>
                <a:ea typeface="Microsoft YaHei"/>
              </a:rPr>
              <a:t>正文 63 页 + 补充 37 页，可投；目标 </a:t>
            </a:r>
            <a:r>
              <a:rPr sz="1600" b="1" i="0">
                <a:solidFill>
                  <a:srgbClr val="0070C0"/>
                </a:solidFill>
                <a:latin typeface="Arial"/>
                <a:ea typeface="Microsoft YaHei"/>
              </a:rPr>
              <a:t>CMAME</a:t>
            </a:r>
            <a:r>
              <a:rPr sz="1600" b="0" i="0">
                <a:solidFill>
                  <a:srgbClr val="595959"/>
                </a:solidFill>
                <a:latin typeface="Arial"/>
                <a:ea typeface="Microsoft YaHei"/>
              </a:rPr>
              <a:t>，同时挂 arXiv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问题：组件同类但几何各异，整体太大、驱动设计的量却是局部的</a:t>
            </a:r>
          </a:p>
        </p:txBody>
      </p:sp>
      <p:pic>
        <p:nvPicPr>
          <p:cNvPr id="3" name="Picture 2" descr="F08_geometry.png"/>
          <p:cNvPicPr>
            <a:picLocks noChangeAspect="1"/>
          </p:cNvPicPr>
          <p:nvPr/>
        </p:nvPicPr>
        <p:blipFill>
          <a:blip r:embed="rId3"/>
          <a:stretch>
            <a:fillRect/>
          </a:stretch>
        </p:blipFill>
        <p:spPr>
          <a:xfrm>
            <a:off x="457200" y="1138530"/>
            <a:ext cx="5120640" cy="4763819"/>
          </a:xfrm>
          <a:prstGeom prst="rect">
            <a:avLst/>
          </a:prstGeom>
        </p:spPr>
      </p:pic>
      <p:sp>
        <p:nvSpPr>
          <p:cNvPr id="4" name="TextBox 3"/>
          <p:cNvSpPr txBox="1"/>
          <p:nvPr/>
        </p:nvSpPr>
        <p:spPr>
          <a:xfrm>
            <a:off x="5852160" y="1097280"/>
            <a:ext cx="5852160" cy="4846320"/>
          </a:xfrm>
          <a:prstGeom prst="rect">
            <a:avLst/>
          </a:prstGeom>
          <a:noFill/>
        </p:spPr>
        <p:txBody>
          <a:bodyPr wrap="square" lIns="73152" rIns="73152" tIns="36576" bIns="36576" anchor="t">
            <a:spAutoFit/>
          </a:bodyPr>
          <a:lstStyle/>
          <a:p>
            <a:pPr algn="l">
              <a:spcAft>
                <a:spcPts val="700"/>
              </a:spcAft>
            </a:pPr>
            <a:r>
              <a:rPr sz="1700" b="1" i="0">
                <a:solidFill>
                  <a:srgbClr val="C00000"/>
                </a:solidFill>
                <a:latin typeface="Arial"/>
                <a:ea typeface="Microsoft YaHei"/>
              </a:rPr>
              <a:t>对象</a:t>
            </a:r>
          </a:p>
          <a:p>
            <a:pPr algn="l" marL="228600" indent="-201168">
              <a:spcAft>
                <a:spcPts val="700"/>
              </a:spcAft>
              <a:buFont typeface="Arial"/>
              <a:buChar char="•"/>
            </a:pPr>
            <a:r>
              <a:rPr sz="1700" b="0" i="0">
                <a:solidFill>
                  <a:srgbClr val="262626"/>
                </a:solidFill>
                <a:latin typeface="Arial"/>
                <a:ea typeface="Microsoft YaHei"/>
              </a:rPr>
              <a:t>梯度格栅：胞的壁厚逐个变化</a:t>
            </a:r>
          </a:p>
          <a:p>
            <a:pPr algn="l" marL="228600" indent="-201168">
              <a:spcAft>
                <a:spcPts val="700"/>
              </a:spcAft>
              <a:buFont typeface="Arial"/>
              <a:buChar char="•"/>
            </a:pPr>
            <a:r>
              <a:rPr sz="1700" b="0" i="0">
                <a:solidFill>
                  <a:srgbClr val="262626"/>
                </a:solidFill>
                <a:latin typeface="Arial"/>
                <a:ea typeface="Microsoft YaHei"/>
              </a:rPr>
              <a:t>按零件外形切割的格栅：边界胞被平面切开</a:t>
            </a:r>
          </a:p>
          <a:p>
            <a:pPr algn="l" marL="228600" indent="-201168">
              <a:spcAft>
                <a:spcPts val="700"/>
              </a:spcAft>
              <a:buFont typeface="Arial"/>
              <a:buChar char="•"/>
            </a:pPr>
            <a:r>
              <a:rPr sz="1700" b="0" i="0">
                <a:solidFill>
                  <a:srgbClr val="262626"/>
                </a:solidFill>
                <a:latin typeface="Arial"/>
                <a:ea typeface="Microsoft YaHei"/>
              </a:rPr>
              <a:t>在切割面上支撑、加载的芯材</a:t>
            </a:r>
          </a:p>
          <a:p>
            <a:pPr algn="l">
              <a:spcAft>
                <a:spcPts val="700"/>
              </a:spcAft>
            </a:pPr>
            <a:r>
              <a:rPr sz="1700" b="1" i="0">
                <a:solidFill>
                  <a:srgbClr val="C00000"/>
                </a:solidFill>
                <a:latin typeface="Arial"/>
                <a:ea typeface="Microsoft YaHei"/>
              </a:rPr>
              <a:t>矛盾</a:t>
            </a:r>
          </a:p>
          <a:p>
            <a:pPr algn="l" marL="228600" indent="-201168">
              <a:spcAft>
                <a:spcPts val="700"/>
              </a:spcAft>
              <a:buFont typeface="Arial"/>
              <a:buChar char="•"/>
            </a:pPr>
            <a:r>
              <a:rPr sz="1700" b="0" i="0">
                <a:solidFill>
                  <a:srgbClr val="262626"/>
                </a:solidFill>
                <a:latin typeface="Arial"/>
                <a:ea typeface="Microsoft YaHei"/>
              </a:rPr>
              <a:t>整体太大：每次设计迭代都改变每个胞，全分辨率代价每轮全额重付</a:t>
            </a:r>
          </a:p>
          <a:p>
            <a:pPr algn="l" marL="228600" indent="-201168">
              <a:spcAft>
                <a:spcPts val="700"/>
              </a:spcAft>
              <a:buFont typeface="Arial"/>
              <a:buChar char="•"/>
            </a:pPr>
            <a:r>
              <a:rPr sz="1700" b="0" i="0">
                <a:solidFill>
                  <a:srgbClr val="262626"/>
                </a:solidFill>
                <a:latin typeface="Arial"/>
                <a:ea typeface="Microsoft YaHei"/>
              </a:rPr>
              <a:t>驱动设计的量是局部的：支撑旁切割胞的刚度、对某处壁厚的灵敏度</a:t>
            </a:r>
          </a:p>
          <a:p>
            <a:pPr algn="l">
              <a:spcAft>
                <a:spcPts val="700"/>
              </a:spcAft>
            </a:pPr>
            <a:r>
              <a:rPr sz="1700" b="1" i="0">
                <a:solidFill>
                  <a:srgbClr val="C00000"/>
                </a:solidFill>
                <a:latin typeface="Arial"/>
                <a:ea typeface="Microsoft YaHei"/>
              </a:rPr>
              <a:t>需要</a:t>
            </a:r>
          </a:p>
          <a:p>
            <a:pPr algn="l" marL="228600" indent="-201168">
              <a:spcAft>
                <a:spcPts val="700"/>
              </a:spcAft>
              <a:buFont typeface="Arial"/>
              <a:buChar char="•"/>
            </a:pPr>
            <a:r>
              <a:rPr sz="1700" b="0" i="0">
                <a:solidFill>
                  <a:srgbClr val="262626"/>
                </a:solidFill>
                <a:latin typeface="Arial"/>
                <a:ea typeface="Microsoft YaHei"/>
              </a:rPr>
              <a:t>一个可组装、能用于设计、误差可追溯的组件模型，且对新几何不需要内部分解</a:t>
            </a:r>
          </a:p>
        </p:txBody>
      </p:sp>
      <p:sp>
        <p:nvSpPr>
          <p:cNvPr id="5" name="TextBox 4"/>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1（代表性验证几何 U1、M1、H1、H2）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现有三条路线各卡在一处，学习子结构是第四条</a:t>
            </a:r>
          </a:p>
        </p:txBody>
      </p:sp>
      <p:sp>
        <p:nvSpPr>
          <p:cNvPr id="3" name="Rounded Rectangle 2"/>
          <p:cNvSpPr/>
          <p:nvPr/>
        </p:nvSpPr>
        <p:spPr>
          <a:xfrm>
            <a:off x="457200" y="1188720"/>
            <a:ext cx="2612898" cy="31089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61872"/>
            <a:ext cx="2393441"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均匀化</a:t>
            </a:r>
          </a:p>
        </p:txBody>
      </p:sp>
      <p:sp>
        <p:nvSpPr>
          <p:cNvPr id="5" name="TextBox 4"/>
          <p:cNvSpPr txBox="1"/>
          <p:nvPr/>
        </p:nvSpPr>
        <p:spPr>
          <a:xfrm>
            <a:off x="566928" y="1719072"/>
            <a:ext cx="2393441"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依赖尺度分离</a:t>
            </a:r>
          </a:p>
          <a:p>
            <a:pPr algn="l" marL="228600" indent="-201168">
              <a:spcAft>
                <a:spcPts val="400"/>
              </a:spcAft>
              <a:buFont typeface="Arial"/>
              <a:buChar char="•"/>
            </a:pPr>
            <a:r>
              <a:rPr sz="1500" b="0" i="0">
                <a:solidFill>
                  <a:srgbClr val="262626"/>
                </a:solidFill>
                <a:latin typeface="Arial"/>
                <a:ea typeface="Microsoft YaHei"/>
              </a:rPr>
              <a:t>在支撑、载荷、切割胞处失效</a:t>
            </a:r>
          </a:p>
          <a:p>
            <a:pPr algn="l" marL="228600" indent="-201168">
              <a:spcAft>
                <a:spcPts val="400"/>
              </a:spcAft>
              <a:buFont typeface="Arial"/>
              <a:buChar char="•"/>
            </a:pPr>
            <a:r>
              <a:rPr sz="1500" b="0" i="0">
                <a:solidFill>
                  <a:srgbClr val="262626"/>
                </a:solidFill>
                <a:latin typeface="Arial"/>
                <a:ea typeface="Microsoft YaHei"/>
              </a:rPr>
              <a:t>切割固支板：柔度低估 </a:t>
            </a:r>
            <a:r>
              <a:rPr sz="1500" b="1" i="0">
                <a:solidFill>
                  <a:srgbClr val="C00000"/>
                </a:solidFill>
                <a:latin typeface="Arial"/>
                <a:ea typeface="Microsoft YaHei"/>
              </a:rPr>
              <a:t>27%</a:t>
            </a:r>
          </a:p>
        </p:txBody>
      </p:sp>
      <p:sp>
        <p:nvSpPr>
          <p:cNvPr id="6" name="Rounded Rectangle 5"/>
          <p:cNvSpPr/>
          <p:nvPr/>
        </p:nvSpPr>
        <p:spPr>
          <a:xfrm>
            <a:off x="3344418" y="1188720"/>
            <a:ext cx="2612898" cy="31089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54146" y="1261872"/>
            <a:ext cx="2393441"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全分辨率</a:t>
            </a:r>
          </a:p>
        </p:txBody>
      </p:sp>
      <p:sp>
        <p:nvSpPr>
          <p:cNvPr id="8" name="TextBox 7"/>
          <p:cNvSpPr txBox="1"/>
          <p:nvPr/>
        </p:nvSpPr>
        <p:spPr>
          <a:xfrm>
            <a:off x="3454146" y="1719072"/>
            <a:ext cx="2393441"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每次设计迭代改变每个胞，代价每轮全额重付</a:t>
            </a:r>
          </a:p>
          <a:p>
            <a:pPr algn="l" marL="228600" indent="-201168">
              <a:spcAft>
                <a:spcPts val="400"/>
              </a:spcAft>
              <a:buFont typeface="Arial"/>
              <a:buChar char="•"/>
            </a:pPr>
            <a:r>
              <a:rPr sz="1500" b="0" i="0">
                <a:solidFill>
                  <a:srgbClr val="262626"/>
                </a:solidFill>
                <a:latin typeface="Arial"/>
                <a:ea typeface="Microsoft YaHei"/>
              </a:rPr>
              <a:t>八胞 183–211 万自由度，Cholesky 因子 </a:t>
            </a:r>
            <a:r>
              <a:rPr sz="1500" b="1" i="0">
                <a:solidFill>
                  <a:srgbClr val="C00000"/>
                </a:solidFill>
                <a:latin typeface="Arial"/>
                <a:ea typeface="Microsoft YaHei"/>
              </a:rPr>
              <a:t>66–81 GiB</a:t>
            </a:r>
          </a:p>
        </p:txBody>
      </p:sp>
      <p:sp>
        <p:nvSpPr>
          <p:cNvPr id="9" name="Rounded Rectangle 8"/>
          <p:cNvSpPr/>
          <p:nvPr/>
        </p:nvSpPr>
        <p:spPr>
          <a:xfrm>
            <a:off x="6231636" y="1188720"/>
            <a:ext cx="2612898" cy="31089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1364" y="1261872"/>
            <a:ext cx="2393441"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精确凝聚</a:t>
            </a:r>
          </a:p>
        </p:txBody>
      </p:sp>
      <p:sp>
        <p:nvSpPr>
          <p:cNvPr id="11" name="TextBox 10"/>
          <p:cNvSpPr txBox="1"/>
          <p:nvPr/>
        </p:nvSpPr>
        <p:spPr>
          <a:xfrm>
            <a:off x="6341364" y="1719072"/>
            <a:ext cx="2393441"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每个几何一次内部分解</a:t>
            </a:r>
          </a:p>
          <a:p>
            <a:pPr algn="l" marL="228600" indent="-201168">
              <a:spcAft>
                <a:spcPts val="400"/>
              </a:spcAft>
              <a:buFont typeface="Arial"/>
              <a:buChar char="•"/>
            </a:pPr>
            <a:r>
              <a:rPr sz="1500" b="0" i="0">
                <a:solidFill>
                  <a:srgbClr val="262626"/>
                </a:solidFill>
                <a:latin typeface="Arial"/>
                <a:ea typeface="Microsoft YaHei"/>
              </a:rPr>
              <a:t>显式 Schur 补：每个保留自由度一次内部求解</a:t>
            </a:r>
          </a:p>
          <a:p>
            <a:pPr algn="l" marL="228600" indent="-201168">
              <a:spcAft>
                <a:spcPts val="400"/>
              </a:spcAft>
              <a:buFont typeface="Arial"/>
              <a:buChar char="•"/>
            </a:pPr>
            <a:r>
              <a:rPr sz="1500" b="1" i="0">
                <a:solidFill>
                  <a:srgbClr val="C00000"/>
                </a:solidFill>
                <a:latin typeface="Arial"/>
                <a:ea typeface="Microsoft YaHei"/>
              </a:rPr>
              <a:t>一胞中位 2.4×10⁴ 个保留自由度</a:t>
            </a:r>
          </a:p>
        </p:txBody>
      </p:sp>
      <p:sp>
        <p:nvSpPr>
          <p:cNvPr id="12" name="Rounded Rectangle 11"/>
          <p:cNvSpPr/>
          <p:nvPr/>
        </p:nvSpPr>
        <p:spPr>
          <a:xfrm>
            <a:off x="9118854" y="1188720"/>
            <a:ext cx="2612898" cy="3108960"/>
          </a:xfrm>
          <a:prstGeom prst="roundRect">
            <a:avLst>
              <a:gd name="adj" fmla="val 6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28582" y="1261872"/>
            <a:ext cx="2393441"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学习子结构（PIML）</a:t>
            </a:r>
          </a:p>
        </p:txBody>
      </p:sp>
      <p:sp>
        <p:nvSpPr>
          <p:cNvPr id="14" name="TextBox 13"/>
          <p:cNvSpPr txBox="1"/>
          <p:nvPr/>
        </p:nvSpPr>
        <p:spPr>
          <a:xfrm>
            <a:off x="9228582" y="1719072"/>
            <a:ext cx="2393441"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每个子结构只保留少量边界自由度</a:t>
            </a:r>
          </a:p>
          <a:p>
            <a:pPr algn="l" marL="228600" indent="-201168">
              <a:spcAft>
                <a:spcPts val="400"/>
              </a:spcAft>
              <a:buFont typeface="Arial"/>
              <a:buChar char="•"/>
            </a:pPr>
            <a:r>
              <a:rPr sz="1500" b="0" i="0">
                <a:solidFill>
                  <a:srgbClr val="262626"/>
                </a:solidFill>
                <a:latin typeface="Arial"/>
                <a:ea typeface="Microsoft YaHei"/>
              </a:rPr>
              <a:t>换来规模，但带来与网络无关的边界误差</a:t>
            </a:r>
          </a:p>
          <a:p>
            <a:pPr algn="l" marL="228600" indent="-201168">
              <a:spcAft>
                <a:spcPts val="400"/>
              </a:spcAft>
              <a:buFont typeface="Arial"/>
              <a:buChar char="•"/>
            </a:pPr>
            <a:r>
              <a:rPr sz="1500" b="1" i="0">
                <a:solidFill>
                  <a:srgbClr val="C00000"/>
                </a:solidFill>
                <a:latin typeface="Arial"/>
                <a:ea typeface="Microsoft YaHei"/>
              </a:rPr>
              <a:t>→ 下面三页专门体检</a:t>
            </a:r>
          </a:p>
        </p:txBody>
      </p:sp>
      <p:sp>
        <p:nvSpPr>
          <p:cNvPr id="15" name="TextBox 14"/>
          <p:cNvSpPr txBox="1"/>
          <p:nvPr/>
        </p:nvSpPr>
        <p:spPr>
          <a:xfrm>
            <a:off x="457200" y="4572000"/>
            <a:ext cx="11274552" cy="822960"/>
          </a:xfrm>
          <a:prstGeom prst="rect">
            <a:avLst/>
          </a:prstGeom>
          <a:solidFill>
            <a:srgbClr val="EAF2FB"/>
          </a:solidFill>
        </p:spPr>
        <p:txBody>
          <a:bodyPr wrap="square" lIns="182880" rIns="182880" tIns="36576" bIns="36576" anchor="ctr">
            <a:spAutoFit/>
          </a:bodyPr>
          <a:lstStyle/>
          <a:p>
            <a:pPr algn="l">
              <a:spcAft>
                <a:spcPts val="600"/>
              </a:spcAft>
            </a:pPr>
            <a:r>
              <a:rPr sz="1700" b="1" i="0">
                <a:solidFill>
                  <a:srgbClr val="0070C0"/>
                </a:solidFill>
                <a:latin typeface="Arial"/>
                <a:ea typeface="Microsoft YaHei"/>
              </a:rPr>
              <a:t>我们的位置：</a:t>
            </a:r>
            <a:r>
              <a:rPr sz="1700" b="0" i="0">
                <a:solidFill>
                  <a:srgbClr val="262626"/>
                </a:solidFill>
                <a:latin typeface="Arial"/>
                <a:ea typeface="Microsoft YaHei"/>
              </a:rPr>
              <a:t>走子结构这条中间路线，但把近似放在内部延拓上，保留完整的保留空间；结构由构造保证，不靠训练。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PIML 系列速览：先说清他们做了什么、强在哪</a:t>
            </a:r>
          </a:p>
        </p:txBody>
      </p:sp>
      <p:graphicFrame>
        <p:nvGraphicFramePr>
          <p:cNvPr id="3" name="Table 2"/>
          <p:cNvGraphicFramePr>
            <a:graphicFrameLocks noGrp="1"/>
          </p:cNvGraphicFramePr>
          <p:nvPr/>
        </p:nvGraphicFramePr>
        <p:xfrm>
          <a:off x="457200" y="1051560"/>
          <a:ext cx="6766559" cy="3200400"/>
        </p:xfrm>
        <a:graphic>
          <a:graphicData uri="http://schemas.openxmlformats.org/drawingml/2006/table">
            <a:tbl>
              <a:tblPr firstRow="0" bandRow="0">
                <a:tableStyleId>{5940675A-B579-460E-94D1-54222C63F5DA}</a:tableStyleId>
              </a:tblPr>
              <a:tblGrid>
                <a:gridCol w="2021180"/>
                <a:gridCol w="1230283"/>
                <a:gridCol w="3515096"/>
              </a:tblGrid>
              <a:tr h="457200">
                <a:tc>
                  <a:txBody>
                    <a:bodyPr wrap="square"/>
                    <a:lstStyle/>
                    <a:p>
                      <a:r>
                        <a:rPr sz="1400" b="1" i="0">
                          <a:solidFill>
                            <a:srgbClr val="FFFFFF"/>
                          </a:solidFill>
                          <a:latin typeface="Arial"/>
                          <a:ea typeface="Microsoft YaHei"/>
                        </a:rPr>
                        <a:t>论文</a:t>
                      </a:r>
                    </a:p>
                  </a:txBody>
                  <a:tcPr marL="54864" marR="54864" marT="27432" marB="27432" anchor="ctr">
                    <a:solidFill>
                      <a:srgbClr val="C00000"/>
                    </a:solidFill>
                  </a:tcPr>
                </a:tc>
                <a:tc>
                  <a:txBody>
                    <a:bodyPr wrap="square"/>
                    <a:lstStyle/>
                    <a:p>
                      <a:r>
                        <a:rPr sz="1400" b="1" i="0">
                          <a:solidFill>
                            <a:srgbClr val="FFFFFF"/>
                          </a:solidFill>
                          <a:latin typeface="Arial"/>
                          <a:ea typeface="Microsoft YaHei"/>
                        </a:rPr>
                        <a:t>期刊</a:t>
                      </a:r>
                    </a:p>
                  </a:txBody>
                  <a:tcPr marL="54864" marR="54864" marT="27432" marB="27432" anchor="ctr">
                    <a:solidFill>
                      <a:srgbClr val="C00000"/>
                    </a:solidFill>
                  </a:tcPr>
                </a:tc>
                <a:tc>
                  <a:txBody>
                    <a:bodyPr wrap="square"/>
                    <a:lstStyle/>
                    <a:p>
                      <a:r>
                        <a:rPr sz="1400" b="1" i="0">
                          <a:solidFill>
                            <a:srgbClr val="FFFFFF"/>
                          </a:solidFill>
                          <a:latin typeface="Arial"/>
                          <a:ea typeface="Microsoft YaHei"/>
                        </a:rPr>
                        <a:t>主要做法</a:t>
                      </a:r>
                    </a:p>
                  </a:txBody>
                  <a:tcPr marL="54864" marR="54864" marT="27432" marB="27432" anchor="ctr">
                    <a:solidFill>
                      <a:srgbClr val="C00000"/>
                    </a:solidFill>
                  </a:tcPr>
                </a:tc>
              </a:tr>
              <a:tr h="457200">
                <a:tc>
                  <a:txBody>
                    <a:bodyPr wrap="square"/>
                    <a:lstStyle/>
                    <a:p>
                      <a:r>
                        <a:rPr sz="1400" b="0" i="0">
                          <a:solidFill>
                            <a:srgbClr val="262626"/>
                          </a:solidFill>
                          <a:latin typeface="Arial"/>
                          <a:ea typeface="Microsoft YaHei"/>
                        </a:rPr>
                        <a:t>Huang et al. 2023</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EML</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3D PIML；24 个角点自由度；监督训练</a:t>
                      </a:r>
                    </a:p>
                  </a:txBody>
                  <a:tcPr marL="54864" marR="54864" marT="27432" marB="27432" anchor="ctr">
                    <a:solidFill>
                      <a:srgbClr val="FFFFFF"/>
                    </a:solidFill>
                  </a:tcPr>
                </a:tc>
              </a:tr>
              <a:tr h="457200">
                <a:tc>
                  <a:txBody>
                    <a:bodyPr wrap="square"/>
                    <a:lstStyle/>
                    <a:p>
                      <a:r>
                        <a:rPr sz="1400" b="0" i="0">
                          <a:solidFill>
                            <a:srgbClr val="262626"/>
                          </a:solidFill>
                          <a:latin typeface="Arial"/>
                          <a:ea typeface="Microsoft YaHei"/>
                        </a:rPr>
                        <a:t>Huang et al. 2024</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JMPS</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无数据训练（最小势能）；DeepONet</a:t>
                      </a:r>
                    </a:p>
                  </a:txBody>
                  <a:tcPr marL="54864" marR="54864" marT="27432" marB="27432" anchor="ctr">
                    <a:solidFill>
                      <a:srgbClr val="F7F7F7"/>
                    </a:solidFill>
                  </a:tcPr>
                </a:tc>
              </a:tr>
              <a:tr h="457200">
                <a:tc>
                  <a:txBody>
                    <a:bodyPr wrap="square"/>
                    <a:lstStyle/>
                    <a:p>
                      <a:r>
                        <a:rPr sz="1400" b="0" i="0">
                          <a:solidFill>
                            <a:srgbClr val="262626"/>
                          </a:solidFill>
                          <a:latin typeface="Arial"/>
                          <a:ea typeface="Microsoft YaHei"/>
                        </a:rPr>
                        <a:t>Guo et al. 2026a</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CMAME</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Bézier 边界（168 自由度）；含"全节点"对照</a:t>
                      </a:r>
                    </a:p>
                  </a:txBody>
                  <a:tcPr marL="54864" marR="54864" marT="27432" marB="27432" anchor="ctr">
                    <a:solidFill>
                      <a:srgbClr val="FFFFFF"/>
                    </a:solidFill>
                  </a:tcPr>
                </a:tc>
              </a:tr>
              <a:tr h="457200">
                <a:tc>
                  <a:txBody>
                    <a:bodyPr wrap="square"/>
                    <a:lstStyle/>
                    <a:p>
                      <a:r>
                        <a:rPr sz="1400" b="0" i="0">
                          <a:solidFill>
                            <a:srgbClr val="262626"/>
                          </a:solidFill>
                          <a:latin typeface="Arial"/>
                          <a:ea typeface="Microsoft YaHei"/>
                        </a:rPr>
                        <a:t>Guo et al. 2026b</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arXiv</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OFEM：过采样基 + 重叠单位分解</a:t>
                      </a:r>
                    </a:p>
                  </a:txBody>
                  <a:tcPr marL="54864" marR="54864" marT="27432" marB="27432" anchor="ctr">
                    <a:solidFill>
                      <a:srgbClr val="F7F7F7"/>
                    </a:solidFill>
                  </a:tcPr>
                </a:tc>
              </a:tr>
              <a:tr h="457200">
                <a:tc>
                  <a:txBody>
                    <a:bodyPr wrap="square"/>
                    <a:lstStyle/>
                    <a:p>
                      <a:r>
                        <a:rPr sz="1400" b="0" i="0">
                          <a:solidFill>
                            <a:srgbClr val="262626"/>
                          </a:solidFill>
                          <a:latin typeface="Arial"/>
                          <a:ea typeface="Microsoft YaHei"/>
                        </a:rPr>
                        <a:t>Jiang C. et al. 2026</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Compos. Struct.</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立方对称等变；投影校正</a:t>
                      </a:r>
                    </a:p>
                  </a:txBody>
                  <a:tcPr marL="54864" marR="54864" marT="27432" marB="27432" anchor="ctr">
                    <a:solidFill>
                      <a:srgbClr val="FFFFFF"/>
                    </a:solidFill>
                  </a:tcPr>
                </a:tc>
              </a:tr>
              <a:tr h="457200">
                <a:tc>
                  <a:txBody>
                    <a:bodyPr wrap="square"/>
                    <a:lstStyle/>
                    <a:p>
                      <a:r>
                        <a:rPr sz="1400" b="0" i="0">
                          <a:solidFill>
                            <a:srgbClr val="262626"/>
                          </a:solidFill>
                          <a:latin typeface="Arial"/>
                          <a:ea typeface="Microsoft YaHei"/>
                        </a:rPr>
                        <a:t>Zhang et al. 2026</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IJMS</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等参子结构迁移学习；应力问题</a:t>
                      </a:r>
                    </a:p>
                  </a:txBody>
                  <a:tcPr marL="54864" marR="54864" marT="27432" marB="27432" anchor="ctr">
                    <a:solidFill>
                      <a:srgbClr val="F7F7F7"/>
                    </a:solidFill>
                  </a:tcPr>
                </a:tc>
              </a:tr>
            </a:tbl>
          </a:graphicData>
        </a:graphic>
      </p:graphicFrame>
      <p:sp>
        <p:nvSpPr>
          <p:cNvPr id="4" name="Rounded Rectangle 3"/>
          <p:cNvSpPr/>
          <p:nvPr/>
        </p:nvSpPr>
        <p:spPr>
          <a:xfrm>
            <a:off x="7498079" y="1051560"/>
            <a:ext cx="4233672" cy="214884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07807" y="1124712"/>
            <a:ext cx="4014215"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共同框架</a:t>
            </a:r>
          </a:p>
        </p:txBody>
      </p:sp>
      <p:sp>
        <p:nvSpPr>
          <p:cNvPr id="6" name="TextBox 5"/>
          <p:cNvSpPr txBox="1"/>
          <p:nvPr/>
        </p:nvSpPr>
        <p:spPr>
          <a:xfrm>
            <a:off x="7607807" y="1581912"/>
            <a:ext cx="4014215" cy="154533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每个子结构保留少量边界自由度（多为 8 个角点、24 个）</a:t>
            </a:r>
          </a:p>
          <a:p>
            <a:pPr algn="l" marL="228600" indent="-201168">
              <a:spcAft>
                <a:spcPts val="400"/>
              </a:spcAft>
              <a:buFont typeface="Arial"/>
              <a:buChar char="•"/>
            </a:pPr>
            <a:r>
              <a:rPr sz="1500" b="0" i="0">
                <a:solidFill>
                  <a:srgbClr val="262626"/>
                </a:solidFill>
                <a:latin typeface="Arial"/>
                <a:ea typeface="Microsoft YaHei"/>
              </a:rPr>
              <a:t>网络预测形函数 N，刚度取 </a:t>
            </a:r>
            <a:r>
              <a:rPr sz="1500" b="0" i="0">
                <a:solidFill>
                  <a:srgbClr val="262626"/>
                </a:solidFill>
                <a:latin typeface="Cambria Math"/>
                <a:ea typeface="Cambria Math"/>
              </a:rPr>
              <a:t>NᵀKN</a:t>
            </a:r>
          </a:p>
        </p:txBody>
      </p:sp>
      <p:sp>
        <p:nvSpPr>
          <p:cNvPr id="7" name="Rounded Rectangle 6"/>
          <p:cNvSpPr/>
          <p:nvPr/>
        </p:nvSpPr>
        <p:spPr>
          <a:xfrm>
            <a:off x="7498079" y="3383280"/>
            <a:ext cx="4233672" cy="2514600"/>
          </a:xfrm>
          <a:prstGeom prst="roundRect">
            <a:avLst>
              <a:gd name="adj" fmla="val 6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07807" y="3456432"/>
            <a:ext cx="4014215" cy="457200"/>
          </a:xfrm>
          <a:prstGeom prst="rect">
            <a:avLst/>
          </a:prstGeom>
          <a:noFill/>
        </p:spPr>
        <p:txBody>
          <a:bodyPr wrap="square" lIns="73152" rIns="73152" tIns="36576" bIns="36576" anchor="t">
            <a:spAutoFit/>
          </a:bodyPr>
          <a:lstStyle/>
          <a:p>
            <a:pPr algn="l">
              <a:spcAft>
                <a:spcPts val="600"/>
              </a:spcAft>
            </a:pPr>
            <a:r>
              <a:rPr sz="1700" b="1" i="0">
                <a:solidFill>
                  <a:srgbClr val="0070C0"/>
                </a:solidFill>
                <a:latin typeface="Arial"/>
                <a:ea typeface="Microsoft YaHei"/>
              </a:rPr>
              <a:t>他们的强项（导师可能问）</a:t>
            </a:r>
          </a:p>
        </p:txBody>
      </p:sp>
      <p:sp>
        <p:nvSpPr>
          <p:cNvPr id="9" name="TextBox 8"/>
          <p:cNvSpPr txBox="1"/>
          <p:nvPr/>
        </p:nvSpPr>
        <p:spPr>
          <a:xfrm>
            <a:off x="7607807" y="3913632"/>
            <a:ext cx="4014215" cy="1911095"/>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应用广：柔顺机构、应力、扭转盒、复杂域</a:t>
            </a:r>
          </a:p>
          <a:p>
            <a:pPr algn="l" marL="228600" indent="-201168">
              <a:spcAft>
                <a:spcPts val="400"/>
              </a:spcAft>
              <a:buFont typeface="Arial"/>
              <a:buChar char="•"/>
            </a:pPr>
            <a:r>
              <a:rPr sz="1500" b="0" i="0">
                <a:solidFill>
                  <a:srgbClr val="262626"/>
                </a:solidFill>
                <a:latin typeface="Arial"/>
                <a:ea typeface="Microsoft YaHei"/>
              </a:rPr>
              <a:t>规模大：串行 10⁹ 单元；并行版本 10¹⁰ 自由度</a:t>
            </a:r>
          </a:p>
          <a:p>
            <a:pPr algn="l" marL="228600" indent="-201168">
              <a:spcAft>
                <a:spcPts val="400"/>
              </a:spcAft>
              <a:buFont typeface="Arial"/>
              <a:buChar char="•"/>
            </a:pPr>
            <a:r>
              <a:rPr sz="1500" b="0" i="0">
                <a:solidFill>
                  <a:srgbClr val="262626"/>
                </a:solidFill>
                <a:latin typeface="Arial"/>
                <a:ea typeface="Microsoft YaHei"/>
              </a:rPr>
              <a:t>无数据训练、等变网络、Bézier 边界</a:t>
            </a:r>
          </a:p>
        </p:txBody>
      </p:sp>
      <p:sp>
        <p:nvSpPr>
          <p:cNvPr id="10" name="TextBox 9"/>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来源：review_r1/GUO_SERIES_COMPARISON_CN.md 第 1 节（六篇全文逐页核对）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PIML 体检一：边界一删，误差就和网络无关了</a:t>
            </a:r>
          </a:p>
        </p:txBody>
      </p:sp>
      <p:sp>
        <p:nvSpPr>
          <p:cNvPr id="3" name="Rounded Rectangle 2"/>
          <p:cNvSpPr/>
          <p:nvPr/>
        </p:nvSpPr>
        <p:spPr>
          <a:xfrm>
            <a:off x="457200" y="1097280"/>
            <a:ext cx="2612898" cy="173736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70432"/>
            <a:ext cx="2612898" cy="685800"/>
          </a:xfrm>
          <a:prstGeom prst="rect">
            <a:avLst/>
          </a:prstGeom>
          <a:noFill/>
        </p:spPr>
        <p:txBody>
          <a:bodyPr wrap="square" lIns="73152" rIns="73152" tIns="36576" bIns="36576" anchor="ctr">
            <a:spAutoFit/>
          </a:bodyPr>
          <a:lstStyle/>
          <a:p>
            <a:pPr algn="ctr">
              <a:spcAft>
                <a:spcPts val="600"/>
              </a:spcAft>
            </a:pPr>
            <a:r>
              <a:rPr sz="3200" b="1" i="0">
                <a:solidFill>
                  <a:srgbClr val="C00000"/>
                </a:solidFill>
                <a:latin typeface="Arial"/>
                <a:ea typeface="Microsoft YaHei"/>
              </a:rPr>
              <a:t>0.98–11.9%</a:t>
            </a:r>
          </a:p>
        </p:txBody>
      </p:sp>
      <p:sp>
        <p:nvSpPr>
          <p:cNvPr id="5" name="TextBox 4"/>
          <p:cNvSpPr txBox="1"/>
          <p:nvPr/>
        </p:nvSpPr>
        <p:spPr>
          <a:xfrm>
            <a:off x="548640" y="1847088"/>
            <a:ext cx="2430018" cy="960119"/>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精确内部、只限制边界时的位移误差</a:t>
            </a:r>
          </a:p>
        </p:txBody>
      </p:sp>
      <p:sp>
        <p:nvSpPr>
          <p:cNvPr id="6" name="TextBox 5"/>
          <p:cNvSpPr txBox="1"/>
          <p:nvPr/>
        </p:nvSpPr>
        <p:spPr>
          <a:xfrm>
            <a:off x="457200" y="2852928"/>
            <a:ext cx="2612898" cy="320040"/>
          </a:xfrm>
          <a:prstGeom prst="rect">
            <a:avLst/>
          </a:prstGeom>
          <a:noFill/>
        </p:spPr>
        <p:txBody>
          <a:bodyPr wrap="square" lIns="73152" rIns="73152" tIns="36576" bIns="36576" anchor="t">
            <a:spAutoFit/>
          </a:bodyPr>
          <a:lstStyle/>
          <a:p>
            <a:pPr algn="ctr">
              <a:spcAft>
                <a:spcPts val="600"/>
              </a:spcAft>
            </a:pPr>
            <a:r>
              <a:rPr sz="1100" b="0" i="0">
                <a:solidFill>
                  <a:srgbClr val="595959"/>
                </a:solidFill>
                <a:latin typeface="Arial"/>
                <a:ea typeface="Microsoft YaHei"/>
              </a:rPr>
              <a:t>JMPS 2024, Table 2, p.5</a:t>
            </a:r>
          </a:p>
        </p:txBody>
      </p:sp>
      <p:sp>
        <p:nvSpPr>
          <p:cNvPr id="7" name="Rounded Rectangle 6"/>
          <p:cNvSpPr/>
          <p:nvPr/>
        </p:nvSpPr>
        <p:spPr>
          <a:xfrm>
            <a:off x="3344418" y="1097280"/>
            <a:ext cx="2612898" cy="173736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1170432"/>
            <a:ext cx="2612898" cy="685800"/>
          </a:xfrm>
          <a:prstGeom prst="rect">
            <a:avLst/>
          </a:prstGeom>
          <a:noFill/>
        </p:spPr>
        <p:txBody>
          <a:bodyPr wrap="square" lIns="73152" rIns="73152" tIns="36576" bIns="36576" anchor="ctr">
            <a:spAutoFit/>
          </a:bodyPr>
          <a:lstStyle/>
          <a:p>
            <a:pPr algn="ctr">
              <a:spcAft>
                <a:spcPts val="600"/>
              </a:spcAft>
            </a:pPr>
            <a:r>
              <a:rPr sz="3200" b="1" i="0">
                <a:solidFill>
                  <a:srgbClr val="C00000"/>
                </a:solidFill>
                <a:latin typeface="Arial"/>
                <a:ea typeface="Microsoft YaHei"/>
              </a:rPr>
              <a:t>63% / 15%</a:t>
            </a:r>
          </a:p>
        </p:txBody>
      </p:sp>
      <p:sp>
        <p:nvSpPr>
          <p:cNvPr id="9" name="TextBox 8"/>
          <p:cNvSpPr txBox="1"/>
          <p:nvPr/>
        </p:nvSpPr>
        <p:spPr>
          <a:xfrm>
            <a:off x="3435858" y="1847088"/>
            <a:ext cx="2430018" cy="960119"/>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集中载荷下的柔度误差（线性 / Bézier 边界）</a:t>
            </a:r>
          </a:p>
        </p:txBody>
      </p:sp>
      <p:sp>
        <p:nvSpPr>
          <p:cNvPr id="10" name="TextBox 9"/>
          <p:cNvSpPr txBox="1"/>
          <p:nvPr/>
        </p:nvSpPr>
        <p:spPr>
          <a:xfrm>
            <a:off x="3344418" y="2852928"/>
            <a:ext cx="2612898" cy="320040"/>
          </a:xfrm>
          <a:prstGeom prst="rect">
            <a:avLst/>
          </a:prstGeom>
          <a:noFill/>
        </p:spPr>
        <p:txBody>
          <a:bodyPr wrap="square" lIns="73152" rIns="73152" tIns="36576" bIns="36576" anchor="t">
            <a:spAutoFit/>
          </a:bodyPr>
          <a:lstStyle/>
          <a:p>
            <a:pPr algn="ctr">
              <a:spcAft>
                <a:spcPts val="600"/>
              </a:spcAft>
            </a:pPr>
            <a:r>
              <a:rPr sz="1100" b="0" i="0">
                <a:solidFill>
                  <a:srgbClr val="595959"/>
                </a:solidFill>
                <a:latin typeface="Arial"/>
                <a:ea typeface="Microsoft YaHei"/>
              </a:rPr>
              <a:t>CMAME 2026, p.15–17</a:t>
            </a:r>
          </a:p>
        </p:txBody>
      </p:sp>
      <p:sp>
        <p:nvSpPr>
          <p:cNvPr id="11" name="Rounded Rectangle 10"/>
          <p:cNvSpPr/>
          <p:nvPr/>
        </p:nvSpPr>
        <p:spPr>
          <a:xfrm>
            <a:off x="6231636" y="1097280"/>
            <a:ext cx="2612898" cy="173736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1636" y="1170432"/>
            <a:ext cx="2612898" cy="685800"/>
          </a:xfrm>
          <a:prstGeom prst="rect">
            <a:avLst/>
          </a:prstGeom>
          <a:noFill/>
        </p:spPr>
        <p:txBody>
          <a:bodyPr wrap="square" lIns="73152" rIns="73152" tIns="36576" bIns="36576" anchor="ctr">
            <a:spAutoFit/>
          </a:bodyPr>
          <a:lstStyle/>
          <a:p>
            <a:pPr algn="ctr">
              <a:spcAft>
                <a:spcPts val="600"/>
              </a:spcAft>
            </a:pPr>
            <a:r>
              <a:rPr sz="3200" b="1" i="0">
                <a:solidFill>
                  <a:srgbClr val="C00000"/>
                </a:solidFill>
                <a:latin typeface="Arial"/>
                <a:ea typeface="Microsoft YaHei"/>
              </a:rPr>
              <a:t>≈5.3×</a:t>
            </a:r>
          </a:p>
        </p:txBody>
      </p:sp>
      <p:sp>
        <p:nvSpPr>
          <p:cNvPr id="13" name="TextBox 12"/>
          <p:cNvSpPr txBox="1"/>
          <p:nvPr/>
        </p:nvSpPr>
        <p:spPr>
          <a:xfrm>
            <a:off x="6323075" y="1847088"/>
            <a:ext cx="2430018" cy="960119"/>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应力 p 范数被低估（0.00913 对细网格 0.04820）</a:t>
            </a:r>
          </a:p>
        </p:txBody>
      </p:sp>
      <p:sp>
        <p:nvSpPr>
          <p:cNvPr id="14" name="TextBox 13"/>
          <p:cNvSpPr txBox="1"/>
          <p:nvPr/>
        </p:nvSpPr>
        <p:spPr>
          <a:xfrm>
            <a:off x="6231636" y="2852928"/>
            <a:ext cx="2612898" cy="320040"/>
          </a:xfrm>
          <a:prstGeom prst="rect">
            <a:avLst/>
          </a:prstGeom>
          <a:noFill/>
        </p:spPr>
        <p:txBody>
          <a:bodyPr wrap="square" lIns="73152" rIns="73152" tIns="36576" bIns="36576" anchor="t">
            <a:spAutoFit/>
          </a:bodyPr>
          <a:lstStyle/>
          <a:p>
            <a:pPr algn="ctr">
              <a:spcAft>
                <a:spcPts val="600"/>
              </a:spcAft>
            </a:pPr>
            <a:r>
              <a:rPr sz="1100" b="0" i="0">
                <a:solidFill>
                  <a:srgbClr val="595959"/>
                </a:solidFill>
                <a:latin typeface="Arial"/>
                <a:ea typeface="Microsoft YaHei"/>
              </a:rPr>
              <a:t>IJMS 2026, p.13</a:t>
            </a:r>
          </a:p>
        </p:txBody>
      </p:sp>
      <p:sp>
        <p:nvSpPr>
          <p:cNvPr id="15" name="Rounded Rectangle 14"/>
          <p:cNvSpPr/>
          <p:nvPr/>
        </p:nvSpPr>
        <p:spPr>
          <a:xfrm>
            <a:off x="9118854" y="1097280"/>
            <a:ext cx="2612898" cy="173736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18854" y="1170432"/>
            <a:ext cx="2612898" cy="685800"/>
          </a:xfrm>
          <a:prstGeom prst="rect">
            <a:avLst/>
          </a:prstGeom>
          <a:noFill/>
        </p:spPr>
        <p:txBody>
          <a:bodyPr wrap="square" lIns="73152" rIns="73152" tIns="36576" bIns="36576" anchor="ctr">
            <a:spAutoFit/>
          </a:bodyPr>
          <a:lstStyle/>
          <a:p>
            <a:pPr algn="ctr">
              <a:spcAft>
                <a:spcPts val="600"/>
              </a:spcAft>
            </a:pPr>
            <a:r>
              <a:rPr sz="3200" b="1" i="0">
                <a:solidFill>
                  <a:srgbClr val="C00000"/>
                </a:solidFill>
                <a:latin typeface="Arial"/>
                <a:ea typeface="Microsoft YaHei"/>
              </a:rPr>
              <a:t>−20.7%</a:t>
            </a:r>
          </a:p>
        </p:txBody>
      </p:sp>
      <p:sp>
        <p:nvSpPr>
          <p:cNvPr id="17" name="TextBox 16"/>
          <p:cNvSpPr txBox="1"/>
          <p:nvPr/>
        </p:nvSpPr>
        <p:spPr>
          <a:xfrm>
            <a:off x="9210294" y="1847088"/>
            <a:ext cx="2430018" cy="960119"/>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中等规模算例柔度相对全尺度 FEA</a:t>
            </a:r>
          </a:p>
        </p:txBody>
      </p:sp>
      <p:sp>
        <p:nvSpPr>
          <p:cNvPr id="18" name="TextBox 17"/>
          <p:cNvSpPr txBox="1"/>
          <p:nvPr/>
        </p:nvSpPr>
        <p:spPr>
          <a:xfrm>
            <a:off x="9118854" y="2852928"/>
            <a:ext cx="2612898" cy="320040"/>
          </a:xfrm>
          <a:prstGeom prst="rect">
            <a:avLst/>
          </a:prstGeom>
          <a:noFill/>
        </p:spPr>
        <p:txBody>
          <a:bodyPr wrap="square" lIns="73152" rIns="73152" tIns="36576" bIns="36576" anchor="t">
            <a:spAutoFit/>
          </a:bodyPr>
          <a:lstStyle/>
          <a:p>
            <a:pPr algn="ctr">
              <a:spcAft>
                <a:spcPts val="600"/>
              </a:spcAft>
            </a:pPr>
            <a:r>
              <a:rPr sz="1100" b="0" i="0">
                <a:solidFill>
                  <a:srgbClr val="595959"/>
                </a:solidFill>
                <a:latin typeface="Arial"/>
                <a:ea typeface="Microsoft YaHei"/>
              </a:rPr>
              <a:t>IJMS 2026, App. C, p.20</a:t>
            </a:r>
          </a:p>
        </p:txBody>
      </p:sp>
      <p:sp>
        <p:nvSpPr>
          <p:cNvPr id="19" name="TextBox 18"/>
          <p:cNvSpPr txBox="1"/>
          <p:nvPr/>
        </p:nvSpPr>
        <p:spPr>
          <a:xfrm>
            <a:off x="457200" y="3337560"/>
            <a:ext cx="11274552" cy="960120"/>
          </a:xfrm>
          <a:prstGeom prst="rect">
            <a:avLst/>
          </a:prstGeom>
          <a:solidFill>
            <a:srgbClr val="F2F2F2"/>
          </a:solidFill>
        </p:spPr>
        <p:txBody>
          <a:bodyPr wrap="square" lIns="182880" rIns="182880" tIns="36576" bIns="36576" anchor="ctr">
            <a:spAutoFit/>
          </a:bodyPr>
          <a:lstStyle/>
          <a:p>
            <a:pPr algn="l">
              <a:spcAft>
                <a:spcPts val="600"/>
              </a:spcAft>
            </a:pPr>
            <a:r>
              <a:rPr sz="1500" b="1" i="0">
                <a:solidFill>
                  <a:srgbClr val="C00000"/>
                </a:solidFill>
                <a:latin typeface="Arial"/>
                <a:ea typeface="Microsoft YaHei"/>
              </a:rPr>
              <a:t>作者原话：</a:t>
            </a:r>
            <a:r>
              <a:rPr sz="1500" b="0" i="1">
                <a:solidFill>
                  <a:srgbClr val="262626"/>
                </a:solidFill>
                <a:latin typeface="Arial"/>
                <a:ea typeface="Microsoft YaHei"/>
              </a:rPr>
              <a:t>"any algorithm that assumes the substructure boundary displacements will inevitably lead to an overly stiff numerical response"</a:t>
            </a:r>
            <a:r>
              <a:rPr sz="1300" b="0" i="0">
                <a:solidFill>
                  <a:srgbClr val="595959"/>
                </a:solidFill>
                <a:latin typeface="Arial"/>
                <a:ea typeface="Microsoft YaHei"/>
              </a:rPr>
              <a:t>（CMAME 2026, p.17）</a:t>
            </a:r>
          </a:p>
        </p:txBody>
      </p:sp>
      <p:sp>
        <p:nvSpPr>
          <p:cNvPr id="20" name="TextBox 19"/>
          <p:cNvSpPr txBox="1"/>
          <p:nvPr/>
        </p:nvSpPr>
        <p:spPr>
          <a:xfrm>
            <a:off x="457200" y="4480560"/>
            <a:ext cx="11274552" cy="1463040"/>
          </a:xfrm>
          <a:prstGeom prst="rect">
            <a:avLst/>
          </a:prstGeom>
          <a:noFill/>
        </p:spPr>
        <p:txBody>
          <a:bodyPr wrap="square" lIns="73152" rIns="73152" tIns="36576" bIns="36576" anchor="t">
            <a:spAutoFit/>
          </a:bodyPr>
          <a:lstStyle/>
          <a:p>
            <a:pPr algn="l">
              <a:spcAft>
                <a:spcPts val="800"/>
              </a:spcAft>
            </a:pPr>
            <a:r>
              <a:rPr sz="1600" b="1" i="0">
                <a:solidFill>
                  <a:srgbClr val="262626"/>
                </a:solidFill>
                <a:latin typeface="Arial"/>
                <a:ea typeface="Microsoft YaHei"/>
              </a:rPr>
              <a:t>经细网格复核的柔度全部偏刚：</a:t>
            </a:r>
            <a:r>
              <a:rPr sz="1600" b="0" i="0">
                <a:solidFill>
                  <a:srgbClr val="262626"/>
                </a:solidFill>
                <a:latin typeface="Arial"/>
                <a:ea typeface="Microsoft YaHei"/>
              </a:rPr>
              <a:t>−4.7%（JMPS）；−9.17%、−2.79%、−3.14%（CS 2026）；−20.7%（IJMS）</a:t>
            </a:r>
          </a:p>
          <a:p>
            <a:pPr algn="l">
              <a:spcAft>
                <a:spcPts val="800"/>
              </a:spcAft>
            </a:pPr>
            <a:r>
              <a:rPr sz="1600" b="0" i="0">
                <a:solidFill>
                  <a:srgbClr val="262626"/>
                </a:solidFill>
                <a:latin typeface="Arial"/>
                <a:ea typeface="Microsoft YaHei"/>
              </a:rPr>
              <a:t>他们只"观察到"，没有解释、没有界。</a:t>
            </a:r>
            <a:r>
              <a:rPr sz="1600" b="1" i="0">
                <a:solidFill>
                  <a:srgbClr val="0070C0"/>
                </a:solidFill>
                <a:latin typeface="Arial"/>
                <a:ea typeface="Microsoft YaHei"/>
              </a:rPr>
              <a:t>我们的 Ritz 恒等式 </a:t>
            </a:r>
            <a:r>
              <a:rPr sz="1600" b="1" i="0">
                <a:solidFill>
                  <a:srgbClr val="0070C0"/>
                </a:solidFill>
                <a:latin typeface="Cambria Math"/>
                <a:ea typeface="Cambria Math"/>
              </a:rPr>
              <a:t>Ŝ − S = HᵀAH ⪰ 0</a:t>
            </a:r>
            <a:r>
              <a:rPr sz="1600" b="1" i="0">
                <a:solidFill>
                  <a:srgbClr val="0070C0"/>
                </a:solidFill>
                <a:latin typeface="Arial"/>
                <a:ea typeface="Microsoft YaHei"/>
              </a:rPr>
              <a:t> 正好解释这一点。</a:t>
            </a:r>
          </a:p>
        </p:txBody>
      </p:sp>
      <p:sp>
        <p:nvSpPr>
          <p:cNvPr id="21" name="TextBox 20"/>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来源：GUO_SERIES_COMPARISON_CN.md 第 1、3(b) 节；页码为期刊版面页</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PIML 体检二：参考解和加速比的口径</a:t>
            </a:r>
          </a:p>
        </p:txBody>
      </p:sp>
      <p:sp>
        <p:nvSpPr>
          <p:cNvPr id="3" name="Rounded Rectangle 2"/>
          <p:cNvSpPr/>
          <p:nvPr/>
        </p:nvSpPr>
        <p:spPr>
          <a:xfrm>
            <a:off x="457200" y="1097280"/>
            <a:ext cx="3611880" cy="48006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3392424"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参考解经常不是细网格</a:t>
            </a:r>
          </a:p>
        </p:txBody>
      </p:sp>
      <p:sp>
        <p:nvSpPr>
          <p:cNvPr id="5" name="TextBox 4"/>
          <p:cNvSpPr txBox="1"/>
          <p:nvPr/>
        </p:nvSpPr>
        <p:spPr>
          <a:xfrm>
            <a:off x="566928" y="1627631"/>
            <a:ext cx="3392424" cy="419709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CS 2026 Table 3、IJMS 2026 主体：以"同一线性边界下的精确子结构法"为参考 → 只量网络误差，边界误差不计</a:t>
            </a:r>
          </a:p>
          <a:p>
            <a:pPr algn="l" marL="228600" indent="-201168">
              <a:spcAft>
                <a:spcPts val="400"/>
              </a:spcAft>
              <a:buFont typeface="Arial"/>
              <a:buChar char="•"/>
            </a:pPr>
            <a:r>
              <a:rPr sz="1500" b="0" i="0">
                <a:solidFill>
                  <a:srgbClr val="262626"/>
                </a:solidFill>
                <a:latin typeface="Arial"/>
                <a:ea typeface="Microsoft YaHei"/>
              </a:rPr>
              <a:t>CMAME 2026 的优化设计全部没有细网格复核</a:t>
            </a:r>
          </a:p>
        </p:txBody>
      </p:sp>
      <p:sp>
        <p:nvSpPr>
          <p:cNvPr id="6" name="Rounded Rectangle 5"/>
          <p:cNvSpPr/>
          <p:nvPr/>
        </p:nvSpPr>
        <p:spPr>
          <a:xfrm>
            <a:off x="4288536" y="1097280"/>
            <a:ext cx="3611880" cy="48006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98264" y="1170432"/>
            <a:ext cx="3392424"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基准偏弱或说不清</a:t>
            </a:r>
          </a:p>
        </p:txBody>
      </p:sp>
      <p:sp>
        <p:nvSpPr>
          <p:cNvPr id="8" name="TextBox 7"/>
          <p:cNvSpPr txBox="1"/>
          <p:nvPr/>
        </p:nvSpPr>
        <p:spPr>
          <a:xfrm>
            <a:off x="4398264" y="1627631"/>
            <a:ext cx="3392424" cy="419709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EML 2023 的 472×：只比经典 SIMP 前 10 步的平均时间</a:t>
            </a:r>
          </a:p>
          <a:p>
            <a:pPr algn="l" marL="228600" indent="-201168">
              <a:spcAft>
                <a:spcPts val="400"/>
              </a:spcAft>
              <a:buFont typeface="Arial"/>
              <a:buChar char="•"/>
            </a:pPr>
            <a:r>
              <a:rPr sz="1500" b="0" i="0">
                <a:solidFill>
                  <a:srgbClr val="262626"/>
                </a:solidFill>
                <a:latin typeface="Arial"/>
                <a:ea typeface="Microsoft YaHei"/>
              </a:rPr>
              <a:t>CMAME 2026：直接 FEM 未写求解器，串行单 CPU；2.69 M 自由度 1473 s，6.15 M 自由度只要 1262 s</a:t>
            </a:r>
          </a:p>
          <a:p>
            <a:pPr algn="l" marL="228600" indent="-201168">
              <a:spcAft>
                <a:spcPts val="400"/>
              </a:spcAft>
              <a:buFont typeface="Arial"/>
              <a:buChar char="•"/>
            </a:pPr>
            <a:r>
              <a:rPr sz="1500" b="0" i="0">
                <a:solidFill>
                  <a:srgbClr val="262626"/>
                </a:solidFill>
                <a:latin typeface="Arial"/>
                <a:ea typeface="Microsoft YaHei"/>
              </a:rPr>
              <a:t>JMPS 2024：Matlab 基准，0.8 M 自由度 1320 s</a:t>
            </a:r>
          </a:p>
        </p:txBody>
      </p:sp>
      <p:sp>
        <p:nvSpPr>
          <p:cNvPr id="9" name="Rounded Rectangle 8"/>
          <p:cNvSpPr/>
          <p:nvPr/>
        </p:nvSpPr>
        <p:spPr>
          <a:xfrm>
            <a:off x="8119872" y="1097280"/>
            <a:ext cx="3611880" cy="4800600"/>
          </a:xfrm>
          <a:prstGeom prst="roundRect">
            <a:avLst>
              <a:gd name="adj" fmla="val 6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170432"/>
            <a:ext cx="3392424"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数字前后不一</a:t>
            </a:r>
          </a:p>
        </p:txBody>
      </p:sp>
      <p:sp>
        <p:nvSpPr>
          <p:cNvPr id="11" name="TextBox 10"/>
          <p:cNvSpPr txBox="1"/>
          <p:nvPr/>
        </p:nvSpPr>
        <p:spPr>
          <a:xfrm>
            <a:off x="8229600" y="1627631"/>
            <a:ext cx="3392424" cy="419709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400" b="0" i="0">
                <a:solidFill>
                  <a:srgbClr val="262626"/>
                </a:solidFill>
                <a:latin typeface="Arial"/>
                <a:ea typeface="Microsoft YaHei"/>
              </a:rPr>
              <a:t>EML 2023：摘要"10⁴–10⁵ times"，正文 328–472×</a:t>
            </a:r>
          </a:p>
          <a:p>
            <a:pPr algn="l" marL="228600" indent="-201168">
              <a:spcAft>
                <a:spcPts val="400"/>
              </a:spcAft>
              <a:buFont typeface="Arial"/>
              <a:buChar char="•"/>
            </a:pPr>
            <a:r>
              <a:rPr sz="1400" b="0" i="0">
                <a:solidFill>
                  <a:srgbClr val="262626"/>
                </a:solidFill>
                <a:latin typeface="Arial"/>
                <a:ea typeface="Microsoft YaHei"/>
              </a:rPr>
              <a:t>JMPS 2024：Table 3 与正文两个时间写反</a:t>
            </a:r>
          </a:p>
          <a:p>
            <a:pPr algn="l" marL="228600" indent="-201168">
              <a:spcAft>
                <a:spcPts val="400"/>
              </a:spcAft>
              <a:buFont typeface="Arial"/>
              <a:buChar char="•"/>
            </a:pPr>
            <a:r>
              <a:rPr sz="1400" b="0" i="0">
                <a:solidFill>
                  <a:srgbClr val="262626"/>
                </a:solidFill>
                <a:latin typeface="Arial"/>
                <a:ea typeface="Microsoft YaHei"/>
              </a:rPr>
              <a:t>CMAME 2026：引言"2–3 个数量级"，表中设计迭代 7.4–63×，结论改称"one to two orders"；最大 722× 对应 13.53% 误差</a:t>
            </a:r>
          </a:p>
          <a:p>
            <a:pPr algn="l" marL="228600" indent="-201168">
              <a:spcAft>
                <a:spcPts val="400"/>
              </a:spcAft>
              <a:buFont typeface="Arial"/>
              <a:buChar char="•"/>
            </a:pPr>
            <a:r>
              <a:rPr sz="1400" b="0" i="0">
                <a:solidFill>
                  <a:srgbClr val="262626"/>
                </a:solidFill>
                <a:latin typeface="Arial"/>
                <a:ea typeface="Microsoft YaHei"/>
              </a:rPr>
              <a:t>10⁹ 单元算例串行 9–10 天，"laptop"实为 Xeon Gold 6256 + 512 GB</a:t>
            </a:r>
          </a:p>
        </p:txBody>
      </p:sp>
      <p:sp>
        <p:nvSpPr>
          <p:cNvPr id="12" name="TextBox 11"/>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来源：GUO_SERIES_COMPARISON_CN.md 第 3(c) 节与"其他可引用事实"</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PIML 体检三：他们撞墙的地方，正是我们出发的地方</a:t>
            </a:r>
          </a:p>
        </p:txBody>
      </p:sp>
      <p:graphicFrame>
        <p:nvGraphicFramePr>
          <p:cNvPr id="3" name="Table 2"/>
          <p:cNvGraphicFramePr>
            <a:graphicFrameLocks noGrp="1"/>
          </p:cNvGraphicFramePr>
          <p:nvPr/>
        </p:nvGraphicFramePr>
        <p:xfrm>
          <a:off x="457200" y="1051560"/>
          <a:ext cx="11274551" cy="4096512"/>
        </p:xfrm>
        <a:graphic>
          <a:graphicData uri="http://schemas.openxmlformats.org/drawingml/2006/table">
            <a:tbl>
              <a:tblPr firstRow="0" bandRow="0">
                <a:tableStyleId>{5940675A-B579-460E-94D1-54222C63F5DA}</a:tableStyleId>
              </a:tblPr>
              <a:tblGrid>
                <a:gridCol w="2383238"/>
                <a:gridCol w="4491488"/>
                <a:gridCol w="4399825"/>
              </a:tblGrid>
              <a:tr h="512064">
                <a:tc>
                  <a:txBody>
                    <a:bodyPr wrap="square"/>
                    <a:lstStyle/>
                    <a:p>
                      <a:r>
                        <a:rPr sz="1400" b="1" i="0">
                          <a:solidFill>
                            <a:srgbClr val="FFFFFF"/>
                          </a:solidFill>
                          <a:latin typeface="Arial"/>
                          <a:ea typeface="Microsoft YaHei"/>
                        </a:rPr>
                        <a:t/>
                      </a:r>
                    </a:p>
                  </a:txBody>
                  <a:tcPr marL="54864" marR="54864" marT="27432" marB="27432" anchor="ctr">
                    <a:solidFill>
                      <a:srgbClr val="C00000"/>
                    </a:solidFill>
                  </a:tcPr>
                </a:tc>
                <a:tc>
                  <a:txBody>
                    <a:bodyPr wrap="square"/>
                    <a:lstStyle/>
                    <a:p>
                      <a:r>
                        <a:rPr sz="1400" b="1" i="0">
                          <a:solidFill>
                            <a:srgbClr val="FFFFFF"/>
                          </a:solidFill>
                          <a:latin typeface="Arial"/>
                          <a:ea typeface="Microsoft YaHei"/>
                        </a:rPr>
                        <a:t>CMAME 2026"保留全部边界节点"方案</a:t>
                      </a:r>
                    </a:p>
                  </a:txBody>
                  <a:tcPr marL="54864" marR="54864" marT="27432" marB="27432" anchor="ctr">
                    <a:solidFill>
                      <a:srgbClr val="C00000"/>
                    </a:solidFill>
                  </a:tcPr>
                </a:tc>
                <a:tc>
                  <a:txBody>
                    <a:bodyPr wrap="square"/>
                    <a:lstStyle/>
                    <a:p>
                      <a:r>
                        <a:rPr sz="1400" b="1" i="0">
                          <a:solidFill>
                            <a:srgbClr val="FFFFFF"/>
                          </a:solidFill>
                          <a:latin typeface="Arial"/>
                          <a:ea typeface="Microsoft YaHei"/>
                        </a:rPr>
                        <a:t>NICE（本文）</a:t>
                      </a:r>
                    </a:p>
                  </a:txBody>
                  <a:tcPr marL="54864" marR="54864" marT="27432" marB="27432" anchor="ctr">
                    <a:solidFill>
                      <a:srgbClr val="C00000"/>
                    </a:solidFill>
                  </a:tcPr>
                </a:tc>
              </a:tr>
              <a:tr h="512064">
                <a:tc>
                  <a:txBody>
                    <a:bodyPr wrap="square"/>
                    <a:lstStyle/>
                    <a:p>
                      <a:r>
                        <a:rPr sz="1400" b="0" i="0">
                          <a:solidFill>
                            <a:srgbClr val="262626"/>
                          </a:solidFill>
                          <a:latin typeface="Arial"/>
                          <a:ea typeface="Microsoft YaHei"/>
                        </a:rPr>
                        <a:t>每个子结构 / 胞的保留自由度</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456–1,806</a:t>
                      </a:r>
                    </a:p>
                  </a:txBody>
                  <a:tcPr marL="54864" marR="54864" marT="27432" marB="27432" anchor="ctr">
                    <a:solidFill>
                      <a:srgbClr val="FFFFFF"/>
                    </a:solidFill>
                  </a:tcPr>
                </a:tc>
                <a:tc>
                  <a:txBody>
                    <a:bodyPr wrap="square"/>
                    <a:lstStyle/>
                    <a:p>
                      <a:r>
                        <a:rPr sz="1400" b="1" i="0">
                          <a:solidFill>
                            <a:srgbClr val="0070C0"/>
                          </a:solidFill>
                          <a:latin typeface="Arial"/>
                          <a:ea typeface="Microsoft YaHei"/>
                        </a:rPr>
                        <a:t>2,679–45,900（中位 23,604）</a:t>
                      </a:r>
                    </a:p>
                  </a:txBody>
                  <a:tcPr marL="54864" marR="54864" marT="27432" marB="27432" anchor="ctr">
                    <a:solidFill>
                      <a:srgbClr val="FFFFFF"/>
                    </a:solidFill>
                  </a:tcPr>
                </a:tc>
              </a:tr>
              <a:tr h="512064">
                <a:tc>
                  <a:txBody>
                    <a:bodyPr wrap="square"/>
                    <a:lstStyle/>
                    <a:p>
                      <a:r>
                        <a:rPr sz="1400" b="0" i="0">
                          <a:solidFill>
                            <a:srgbClr val="262626"/>
                          </a:solidFill>
                          <a:latin typeface="Arial"/>
                          <a:ea typeface="Microsoft YaHei"/>
                        </a:rPr>
                        <a:t>加速</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7.3–7.5×</a:t>
                      </a:r>
                    </a:p>
                  </a:txBody>
                  <a:tcPr marL="54864" marR="54864" marT="27432" marB="27432" anchor="ctr">
                    <a:solidFill>
                      <a:srgbClr val="F7F7F7"/>
                    </a:solidFill>
                  </a:tcPr>
                </a:tc>
                <a:tc>
                  <a:txBody>
                    <a:bodyPr wrap="square"/>
                    <a:lstStyle/>
                    <a:p>
                      <a:r>
                        <a:rPr sz="1400" b="1" i="0">
                          <a:solidFill>
                            <a:srgbClr val="0070C0"/>
                          </a:solidFill>
                          <a:latin typeface="Arial"/>
                          <a:ea typeface="Microsoft YaHei"/>
                        </a:rPr>
                        <a:t>≈10×（16 线程）；57–77×（单线程）</a:t>
                      </a:r>
                    </a:p>
                  </a:txBody>
                  <a:tcPr marL="54864" marR="54864" marT="27432" marB="27432" anchor="ctr">
                    <a:solidFill>
                      <a:srgbClr val="F7F7F7"/>
                    </a:solidFill>
                  </a:tcPr>
                </a:tc>
              </a:tr>
              <a:tr h="512064">
                <a:tc>
                  <a:txBody>
                    <a:bodyPr wrap="square"/>
                    <a:lstStyle/>
                    <a:p>
                      <a:r>
                        <a:rPr sz="1400" b="0" i="0">
                          <a:solidFill>
                            <a:srgbClr val="262626"/>
                          </a:solidFill>
                          <a:latin typeface="Arial"/>
                          <a:ea typeface="Microsoft YaHei"/>
                        </a:rPr>
                        <a:t>精度</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位移误差 0.84%（5³）/ 3.46%（10³），子结构越大越差</a:t>
                      </a:r>
                    </a:p>
                  </a:txBody>
                  <a:tcPr marL="54864" marR="54864" marT="27432" marB="27432" anchor="ctr">
                    <a:solidFill>
                      <a:srgbClr val="FFFFFF"/>
                    </a:solidFill>
                  </a:tcPr>
                </a:tc>
                <a:tc>
                  <a:txBody>
                    <a:bodyPr wrap="square"/>
                    <a:lstStyle/>
                    <a:p>
                      <a:r>
                        <a:rPr sz="1400" b="1" i="0">
                          <a:solidFill>
                            <a:srgbClr val="0070C0"/>
                          </a:solidFill>
                          <a:latin typeface="Arial"/>
                          <a:ea typeface="Microsoft YaHei"/>
                        </a:rPr>
                        <a:t>八胞柔度 ≤0.015%，灵敏度 ≤0.14%</a:t>
                      </a:r>
                    </a:p>
                  </a:txBody>
                  <a:tcPr marL="54864" marR="54864" marT="27432" marB="27432" anchor="ctr">
                    <a:solidFill>
                      <a:srgbClr val="FFFFFF"/>
                    </a:solidFill>
                  </a:tcPr>
                </a:tc>
              </a:tr>
              <a:tr h="512064">
                <a:tc>
                  <a:txBody>
                    <a:bodyPr wrap="square"/>
                    <a:lstStyle/>
                    <a:p>
                      <a:r>
                        <a:rPr sz="1400" b="0" i="0">
                          <a:solidFill>
                            <a:srgbClr val="262626"/>
                          </a:solidFill>
                          <a:latin typeface="Arial"/>
                          <a:ea typeface="Microsoft YaHei"/>
                        </a:rPr>
                        <a:t>"输出变多，网络变差"</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无对策</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网络对保留位移精确线性；固定校正 𝒲 收掉内部误差</a:t>
                      </a:r>
                    </a:p>
                  </a:txBody>
                  <a:tcPr marL="54864" marR="54864" marT="27432" marB="27432" anchor="ctr">
                    <a:solidFill>
                      <a:srgbClr val="F7F7F7"/>
                    </a:solidFill>
                  </a:tcPr>
                </a:tc>
              </a:tr>
              <a:tr h="512064">
                <a:tc>
                  <a:txBody>
                    <a:bodyPr wrap="square"/>
                    <a:lstStyle/>
                    <a:p>
                      <a:r>
                        <a:rPr sz="1400" b="0" i="0">
                          <a:solidFill>
                            <a:srgbClr val="262626"/>
                          </a:solidFill>
                          <a:latin typeface="Arial"/>
                          <a:ea typeface="Microsoft YaHei"/>
                        </a:rPr>
                        <a:t>灵敏度误差</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整个系列未报告；JMPS"for ease of implementation"忽略 ∂N/∂ρ</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逐胞报告；推导完整导数 Eq. (10)</a:t>
                      </a:r>
                    </a:p>
                  </a:txBody>
                  <a:tcPr marL="54864" marR="54864" marT="27432" marB="27432" anchor="ctr">
                    <a:solidFill>
                      <a:srgbClr val="FFFFFF"/>
                    </a:solidFill>
                  </a:tcPr>
                </a:tc>
              </a:tr>
              <a:tr h="512064">
                <a:tc>
                  <a:txBody>
                    <a:bodyPr wrap="square"/>
                    <a:lstStyle/>
                    <a:p>
                      <a:r>
                        <a:rPr sz="1400" b="0" i="0">
                          <a:solidFill>
                            <a:srgbClr val="262626"/>
                          </a:solidFill>
                          <a:latin typeface="Arial"/>
                          <a:ea typeface="Microsoft YaHei"/>
                        </a:rPr>
                        <a:t>理论</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刚体不变性；收敛分析"forthcoming"</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Ritz 下界 + 份额加权界 + 灵敏度一次项</a:t>
                      </a:r>
                    </a:p>
                  </a:txBody>
                  <a:tcPr marL="54864" marR="54864" marT="27432" marB="27432" anchor="ctr">
                    <a:solidFill>
                      <a:srgbClr val="F7F7F7"/>
                    </a:solidFill>
                  </a:tcPr>
                </a:tc>
              </a:tr>
              <a:tr h="512064">
                <a:tc>
                  <a:txBody>
                    <a:bodyPr wrap="square"/>
                    <a:lstStyle/>
                    <a:p>
                      <a:r>
                        <a:rPr sz="1400" b="0" i="0">
                          <a:solidFill>
                            <a:srgbClr val="262626"/>
                          </a:solidFill>
                          <a:latin typeface="Arial"/>
                          <a:ea typeface="Microsoft YaHei"/>
                        </a:rPr>
                        <a:t>作者结论</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"no longer counted as an effective acceleration method"</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a:t>
                      </a:r>
                    </a:p>
                  </a:txBody>
                  <a:tcPr marL="54864" marR="54864" marT="27432" marB="27432" anchor="ctr">
                    <a:solidFill>
                      <a:srgbClr val="FFFFFF"/>
                    </a:solidFill>
                  </a:tcPr>
                </a:tc>
              </a:tr>
            </a:tbl>
          </a:graphicData>
        </a:graphic>
      </p:graphicFrame>
      <p:sp>
        <p:nvSpPr>
          <p:cNvPr id="4" name="TextBox 3"/>
          <p:cNvSpPr txBox="1"/>
          <p:nvPr/>
        </p:nvSpPr>
        <p:spPr>
          <a:xfrm>
            <a:off x="457200" y="5257800"/>
            <a:ext cx="11274552" cy="777240"/>
          </a:xfrm>
          <a:prstGeom prst="rect">
            <a:avLst/>
          </a:prstGeom>
          <a:solidFill>
            <a:srgbClr val="F2F2F2"/>
          </a:solidFill>
        </p:spPr>
        <p:txBody>
          <a:bodyPr wrap="square" lIns="182880" rIns="182880" tIns="36576" bIns="36576" anchor="ctr">
            <a:spAutoFit/>
          </a:bodyPr>
          <a:lstStyle/>
          <a:p>
            <a:pPr algn="l">
              <a:spcAft>
                <a:spcPts val="600"/>
              </a:spcAft>
            </a:pPr>
            <a:r>
              <a:rPr sz="1500" b="1" i="0">
                <a:solidFill>
                  <a:srgbClr val="C00000"/>
                </a:solidFill>
                <a:latin typeface="Arial"/>
                <a:ea typeface="Microsoft YaHei"/>
              </a:rPr>
              <a:t>口径提醒（导师问到要主动承认）：</a:t>
            </a:r>
            <a:r>
              <a:rPr sz="1500" b="0" i="0">
                <a:solidFill>
                  <a:srgbClr val="262626"/>
                </a:solidFill>
                <a:latin typeface="Arial"/>
                <a:ea typeface="Microsoft YaHei"/>
              </a:rPr>
              <a:t>他们的输入是随机模量体素场，比我们的低维参数族难；但体检一、二是方法和口径问题，不是任务难度问题。</a:t>
            </a:r>
          </a:p>
        </p:txBody>
      </p:sp>
      <p:sp>
        <p:nvSpPr>
          <p:cNvPr id="5" name="TextBox 4"/>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来源：CMAME 2026 Table 1–2（p.14–15）；GUO_SERIES_COMPARISON_CN.md 第 3(a)、3(d) 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核心想法：近似放在哪、刚度怎么形成，决定了结构</a:t>
            </a:r>
          </a:p>
        </p:txBody>
      </p:sp>
      <p:pic>
        <p:nvPicPr>
          <p:cNvPr id="3" name="Picture 2" descr="F01_method_overview.png"/>
          <p:cNvPicPr>
            <a:picLocks noChangeAspect="1"/>
          </p:cNvPicPr>
          <p:nvPr/>
        </p:nvPicPr>
        <p:blipFill>
          <a:blip r:embed="rId3"/>
          <a:stretch>
            <a:fillRect/>
          </a:stretch>
        </p:blipFill>
        <p:spPr>
          <a:xfrm>
            <a:off x="457200" y="963080"/>
            <a:ext cx="7406640" cy="3925998"/>
          </a:xfrm>
          <a:prstGeom prst="rect">
            <a:avLst/>
          </a:prstGeom>
        </p:spPr>
      </p:pic>
      <p:sp>
        <p:nvSpPr>
          <p:cNvPr id="4" name="TextBox 3"/>
          <p:cNvSpPr txBox="1"/>
          <p:nvPr/>
        </p:nvSpPr>
        <p:spPr>
          <a:xfrm>
            <a:off x="8092440" y="1051560"/>
            <a:ext cx="3657600" cy="4023360"/>
          </a:xfrm>
          <a:prstGeom prst="rect">
            <a:avLst/>
          </a:prstGeom>
          <a:noFill/>
        </p:spPr>
        <p:txBody>
          <a:bodyPr wrap="square" lIns="73152" rIns="73152" tIns="36576" bIns="36576" anchor="t">
            <a:spAutoFit/>
          </a:bodyPr>
          <a:lstStyle/>
          <a:p>
            <a:pPr algn="l">
              <a:spcAft>
                <a:spcPts val="600"/>
              </a:spcAft>
            </a:pPr>
            <a:r>
              <a:rPr sz="1600" b="1" i="0">
                <a:solidFill>
                  <a:srgbClr val="C00000"/>
                </a:solidFill>
                <a:latin typeface="Arial"/>
                <a:ea typeface="Microsoft YaHei"/>
              </a:rPr>
              <a:t>三处放置</a:t>
            </a:r>
          </a:p>
          <a:p>
            <a:pPr algn="l" marL="228600" indent="-201168">
              <a:spcAft>
                <a:spcPts val="600"/>
              </a:spcAft>
              <a:buFont typeface="Arial"/>
              <a:buChar char="•"/>
            </a:pPr>
            <a:r>
              <a:rPr sz="1600" b="0" i="0">
                <a:solidFill>
                  <a:srgbClr val="262626"/>
                </a:solidFill>
                <a:latin typeface="Arial"/>
                <a:ea typeface="Microsoft YaHei"/>
              </a:rPr>
              <a:t>近似只放在内部延拓</a:t>
            </a:r>
          </a:p>
          <a:p>
            <a:pPr algn="l" marL="228600" indent="-201168">
              <a:spcAft>
                <a:spcPts val="600"/>
              </a:spcAft>
              <a:buFont typeface="Arial"/>
              <a:buChar char="•"/>
            </a:pPr>
            <a:r>
              <a:rPr sz="1600" b="0" i="0">
                <a:solidFill>
                  <a:srgbClr val="262626"/>
                </a:solidFill>
                <a:latin typeface="Arial"/>
                <a:ea typeface="Microsoft YaHei"/>
              </a:rPr>
              <a:t>保留完整的迹（盒面 + 切割带）</a:t>
            </a:r>
          </a:p>
          <a:p>
            <a:pPr algn="l" marL="228600" indent="-201168">
              <a:spcAft>
                <a:spcPts val="600"/>
              </a:spcAft>
              <a:buFont typeface="Arial"/>
              <a:buChar char="•"/>
            </a:pPr>
            <a:r>
              <a:rPr sz="1600" b="0" i="0">
                <a:solidFill>
                  <a:srgbClr val="262626"/>
                </a:solidFill>
                <a:latin typeface="Arial"/>
                <a:ea typeface="Microsoft YaHei"/>
              </a:rPr>
              <a:t>刚度用能量形式 </a:t>
            </a:r>
            <a:r>
              <a:rPr sz="1600" b="0" i="0">
                <a:solidFill>
                  <a:srgbClr val="262626"/>
                </a:solidFill>
                <a:latin typeface="Cambria Math"/>
                <a:ea typeface="Cambria Math"/>
              </a:rPr>
              <a:t>Ŝ = FᵀKF</a:t>
            </a:r>
          </a:p>
          <a:p>
            <a:pPr algn="l">
              <a:spcAft>
                <a:spcPts val="600"/>
              </a:spcAft>
            </a:pPr>
            <a:r>
              <a:rPr sz="1600" b="1" i="0">
                <a:solidFill>
                  <a:srgbClr val="C00000"/>
                </a:solidFill>
                <a:latin typeface="Arial"/>
                <a:ea typeface="Microsoft YaHei"/>
              </a:rPr>
              <a:t>由构造得到（对任何输入成立）</a:t>
            </a:r>
          </a:p>
          <a:p>
            <a:pPr algn="l" marL="228600" indent="-201168">
              <a:spcAft>
                <a:spcPts val="600"/>
              </a:spcAft>
              <a:buFont typeface="Arial"/>
              <a:buChar char="•"/>
            </a:pPr>
            <a:r>
              <a:rPr sz="1600" b="0" i="0">
                <a:solidFill>
                  <a:srgbClr val="262626"/>
                </a:solidFill>
                <a:latin typeface="Arial"/>
                <a:ea typeface="Microsoft YaHei"/>
              </a:rPr>
              <a:t>对称半正定、刚体核</a:t>
            </a:r>
          </a:p>
          <a:p>
            <a:pPr algn="l" marL="228600" indent="-201168">
              <a:spcAft>
                <a:spcPts val="600"/>
              </a:spcAft>
              <a:buFont typeface="Arial"/>
              <a:buChar char="•"/>
            </a:pPr>
            <a:r>
              <a:rPr sz="1600" b="0" i="0">
                <a:solidFill>
                  <a:srgbClr val="262626"/>
                </a:solidFill>
                <a:latin typeface="Cambria Math"/>
                <a:ea typeface="Cambria Math"/>
              </a:rPr>
              <a:t>S ⪯ Ŝ</a:t>
            </a:r>
            <a:r>
              <a:rPr sz="1600" b="0" i="0">
                <a:solidFill>
                  <a:srgbClr val="262626"/>
                </a:solidFill>
                <a:latin typeface="Arial"/>
                <a:ea typeface="Microsoft YaHei"/>
              </a:rPr>
              <a:t>，误差为内部误差的二次型</a:t>
            </a:r>
          </a:p>
        </p:txBody>
      </p:sp>
      <p:sp>
        <p:nvSpPr>
          <p:cNvPr id="5" name="TextBox 4"/>
          <p:cNvSpPr txBox="1"/>
          <p:nvPr/>
        </p:nvSpPr>
        <p:spPr>
          <a:xfrm>
            <a:off x="457200" y="5120640"/>
            <a:ext cx="11274552" cy="868680"/>
          </a:xfrm>
          <a:prstGeom prst="rect">
            <a:avLst/>
          </a:prstGeom>
          <a:solidFill>
            <a:srgbClr val="EAF2FB"/>
          </a:solidFill>
        </p:spPr>
        <p:txBody>
          <a:bodyPr wrap="square" lIns="182880" rIns="182880" tIns="36576" bIns="36576" anchor="ctr">
            <a:spAutoFit/>
          </a:bodyPr>
          <a:lstStyle/>
          <a:p>
            <a:pPr algn="l">
              <a:spcAft>
                <a:spcPts val="600"/>
              </a:spcAft>
            </a:pPr>
            <a:r>
              <a:rPr sz="1500" b="1" i="0">
                <a:solidFill>
                  <a:srgbClr val="0070C0"/>
                </a:solidFill>
                <a:latin typeface="Arial"/>
                <a:ea typeface="Microsoft YaHei"/>
              </a:rPr>
              <a:t>固定的两层网格校正 𝒲</a:t>
            </a:r>
            <a:r>
              <a:rPr sz="1500" b="0" i="0">
                <a:solidFill>
                  <a:srgbClr val="262626"/>
                </a:solidFill>
                <a:latin typeface="Arial"/>
                <a:ea typeface="Microsoft YaHei"/>
              </a:rPr>
              <a:t>（Chebyshev 8 / 粗网格 Q₁(17) / Chebyshev 8）在能量内修正内部场；精确或非负平移的粗求解下，</a:t>
            </a:r>
            <a:r>
              <a:rPr sz="1500" b="0" i="0">
                <a:solidFill>
                  <a:srgbClr val="262626"/>
                </a:solidFill>
                <a:latin typeface="Cambria Math"/>
                <a:ea typeface="Cambria Math"/>
              </a:rPr>
              <a:t>Ŝ ⪯ Ŝ_net</a:t>
            </a:r>
            <a:r>
              <a:rPr sz="1500" b="0" i="0">
                <a:solidFill>
                  <a:srgbClr val="262626"/>
                </a:solidFill>
                <a:latin typeface="Arial"/>
                <a:ea typeface="Microsoft YaHei"/>
              </a:rPr>
              <a:t>，校正不会增大误差。</a:t>
            </a:r>
          </a:p>
        </p:txBody>
      </p:sp>
      <p:sp>
        <p:nvSpPr>
          <p:cNvPr id="6" name="TextBox 5"/>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2；理论：第 3、4 节，附录 B–D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误差链：柔度准不等于灵敏度准</a:t>
            </a:r>
          </a:p>
        </p:txBody>
      </p:sp>
      <p:sp>
        <p:nvSpPr>
          <p:cNvPr id="3" name="Rounded Rectangle 2"/>
          <p:cNvSpPr/>
          <p:nvPr/>
        </p:nvSpPr>
        <p:spPr>
          <a:xfrm>
            <a:off x="457200" y="1188720"/>
            <a:ext cx="2510028" cy="237744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61872"/>
            <a:ext cx="2290572"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① Ritz 恒等式</a:t>
            </a:r>
          </a:p>
        </p:txBody>
      </p:sp>
      <p:sp>
        <p:nvSpPr>
          <p:cNvPr id="5" name="TextBox 4"/>
          <p:cNvSpPr txBox="1"/>
          <p:nvPr/>
        </p:nvSpPr>
        <p:spPr>
          <a:xfrm>
            <a:off x="566928" y="1719072"/>
            <a:ext cx="2290572" cy="1773936"/>
          </a:xfrm>
          <a:prstGeom prst="rect">
            <a:avLst/>
          </a:prstGeom>
          <a:noFill/>
        </p:spPr>
        <p:txBody>
          <a:bodyPr wrap="square" lIns="73152" rIns="73152" tIns="36576" bIns="36576" anchor="t">
            <a:spAutoFit/>
          </a:bodyPr>
          <a:lstStyle/>
          <a:p>
            <a:pPr algn="l">
              <a:spcAft>
                <a:spcPts val="400"/>
              </a:spcAft>
            </a:pPr>
            <a:r>
              <a:rPr sz="1500" b="0" i="0">
                <a:solidFill>
                  <a:srgbClr val="262626"/>
                </a:solidFill>
                <a:latin typeface="Cambria Math"/>
                <a:ea typeface="Cambria Math"/>
              </a:rPr>
              <a:t>Ŝ − S = HᵀAH ⪰ 0</a:t>
            </a:r>
          </a:p>
          <a:p>
            <a:pPr algn="l">
              <a:spcAft>
                <a:spcPts val="400"/>
              </a:spcAft>
            </a:pPr>
            <a:r>
              <a:rPr sz="1500" b="0" i="0">
                <a:solidFill>
                  <a:srgbClr val="595959"/>
                </a:solidFill>
                <a:latin typeface="Arial"/>
                <a:ea typeface="Microsoft YaHei"/>
              </a:rPr>
              <a:t>单侧、二次</a:t>
            </a:r>
          </a:p>
        </p:txBody>
      </p:sp>
      <p:sp>
        <p:nvSpPr>
          <p:cNvPr id="6" name="Right Arrow 5"/>
          <p:cNvSpPr/>
          <p:nvPr/>
        </p:nvSpPr>
        <p:spPr>
          <a:xfrm>
            <a:off x="3031236" y="2194560"/>
            <a:ext cx="283464" cy="347472"/>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78708" y="1188720"/>
            <a:ext cx="2510028" cy="237744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8436" y="1261872"/>
            <a:ext cx="2290572"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② 份额加权</a:t>
            </a:r>
          </a:p>
        </p:txBody>
      </p:sp>
      <p:sp>
        <p:nvSpPr>
          <p:cNvPr id="9" name="TextBox 8"/>
          <p:cNvSpPr txBox="1"/>
          <p:nvPr/>
        </p:nvSpPr>
        <p:spPr>
          <a:xfrm>
            <a:off x="3488436" y="1719072"/>
            <a:ext cx="2290572" cy="1773936"/>
          </a:xfrm>
          <a:prstGeom prst="rect">
            <a:avLst/>
          </a:prstGeom>
          <a:noFill/>
        </p:spPr>
        <p:txBody>
          <a:bodyPr wrap="square" lIns="73152" rIns="73152" tIns="36576" bIns="36576" anchor="t">
            <a:spAutoFit/>
          </a:bodyPr>
          <a:lstStyle/>
          <a:p>
            <a:pPr algn="l">
              <a:spcAft>
                <a:spcPts val="400"/>
              </a:spcAft>
            </a:pPr>
            <a:r>
              <a:rPr sz="1500" b="0" i="0">
                <a:solidFill>
                  <a:srgbClr val="262626"/>
                </a:solidFill>
                <a:latin typeface="Arial"/>
                <a:ea typeface="Microsoft YaHei"/>
              </a:rPr>
              <a:t>柔度误差按各胞能量份额加权，Eq. (7)</a:t>
            </a:r>
          </a:p>
          <a:p>
            <a:pPr algn="l">
              <a:spcAft>
                <a:spcPts val="400"/>
              </a:spcAft>
            </a:pPr>
            <a:r>
              <a:rPr sz="1500" b="0" i="0">
                <a:solidFill>
                  <a:srgbClr val="595959"/>
                </a:solidFill>
                <a:latin typeface="Arial"/>
                <a:ea typeface="Microsoft YaHei"/>
              </a:rPr>
              <a:t>份额小 → 柔度"看起来"准</a:t>
            </a:r>
          </a:p>
        </p:txBody>
      </p:sp>
      <p:sp>
        <p:nvSpPr>
          <p:cNvPr id="10" name="Right Arrow 9"/>
          <p:cNvSpPr/>
          <p:nvPr/>
        </p:nvSpPr>
        <p:spPr>
          <a:xfrm>
            <a:off x="5952744" y="2194560"/>
            <a:ext cx="283464" cy="347472"/>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0216" y="1188720"/>
            <a:ext cx="2510028" cy="2377440"/>
          </a:xfrm>
          <a:prstGeom prst="roundRect">
            <a:avLst>
              <a:gd name="adj" fmla="val 6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261872"/>
            <a:ext cx="2290572"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③ 灵敏度一次项</a:t>
            </a:r>
          </a:p>
        </p:txBody>
      </p:sp>
      <p:sp>
        <p:nvSpPr>
          <p:cNvPr id="13" name="TextBox 12"/>
          <p:cNvSpPr txBox="1"/>
          <p:nvPr/>
        </p:nvSpPr>
        <p:spPr>
          <a:xfrm>
            <a:off x="6409944" y="1719072"/>
            <a:ext cx="2290572" cy="1773936"/>
          </a:xfrm>
          <a:prstGeom prst="rect">
            <a:avLst/>
          </a:prstGeom>
          <a:noFill/>
        </p:spPr>
        <p:txBody>
          <a:bodyPr wrap="square" lIns="73152" rIns="73152" tIns="36576" bIns="36576" anchor="t">
            <a:spAutoFit/>
          </a:bodyPr>
          <a:lstStyle/>
          <a:p>
            <a:pPr algn="l">
              <a:spcAft>
                <a:spcPts val="400"/>
              </a:spcAft>
            </a:pPr>
            <a:r>
              <a:rPr sz="1500" b="0" i="0">
                <a:solidFill>
                  <a:srgbClr val="262626"/>
                </a:solidFill>
                <a:latin typeface="Arial"/>
                <a:ea typeface="Microsoft YaHei"/>
              </a:rPr>
              <a:t>场基灵敏度含线性交叉项，Eq. (9)</a:t>
            </a:r>
          </a:p>
          <a:p>
            <a:pPr algn="l">
              <a:spcAft>
                <a:spcPts val="400"/>
              </a:spcAft>
            </a:pPr>
            <a:r>
              <a:rPr sz="1500" b="0" i="0">
                <a:solidFill>
                  <a:srgbClr val="595959"/>
                </a:solidFill>
                <a:latin typeface="Arial"/>
                <a:ea typeface="Microsoft YaHei"/>
              </a:rPr>
              <a:t>能量误差管不住它</a:t>
            </a:r>
          </a:p>
        </p:txBody>
      </p:sp>
      <p:sp>
        <p:nvSpPr>
          <p:cNvPr id="14" name="Right Arrow 13"/>
          <p:cNvSpPr/>
          <p:nvPr/>
        </p:nvSpPr>
        <p:spPr>
          <a:xfrm>
            <a:off x="8874252" y="2194560"/>
            <a:ext cx="283464" cy="347472"/>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221724" y="1188720"/>
            <a:ext cx="2510028" cy="237744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31452" y="1261872"/>
            <a:ext cx="2290572"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④ ε = δ²κ</a:t>
            </a:r>
          </a:p>
        </p:txBody>
      </p:sp>
      <p:sp>
        <p:nvSpPr>
          <p:cNvPr id="17" name="TextBox 16"/>
          <p:cNvSpPr txBox="1"/>
          <p:nvPr/>
        </p:nvSpPr>
        <p:spPr>
          <a:xfrm>
            <a:off x="9331452" y="1719072"/>
            <a:ext cx="2290572" cy="1773936"/>
          </a:xfrm>
          <a:prstGeom prst="rect">
            <a:avLst/>
          </a:prstGeom>
          <a:noFill/>
        </p:spPr>
        <p:txBody>
          <a:bodyPr wrap="square" lIns="73152" rIns="73152" tIns="36576" bIns="36576" anchor="t">
            <a:spAutoFit/>
          </a:bodyPr>
          <a:lstStyle/>
          <a:p>
            <a:pPr algn="l">
              <a:spcAft>
                <a:spcPts val="400"/>
              </a:spcAft>
            </a:pPr>
            <a:r>
              <a:rPr sz="1500" b="0" i="0">
                <a:solidFill>
                  <a:srgbClr val="262626"/>
                </a:solidFill>
                <a:latin typeface="Arial"/>
                <a:ea typeface="Microsoft YaHei"/>
              </a:rPr>
              <a:t>1% 位移误差落在刚性方向</a:t>
            </a:r>
          </a:p>
          <a:p>
            <a:pPr algn="l">
              <a:spcAft>
                <a:spcPts val="400"/>
              </a:spcAft>
            </a:pPr>
            <a:r>
              <a:rPr sz="1500" b="0" i="0">
                <a:solidFill>
                  <a:srgbClr val="595959"/>
                </a:solidFill>
                <a:latin typeface="Arial"/>
                <a:ea typeface="Microsoft YaHei"/>
              </a:rPr>
              <a:t>→ 1.8–35% 能量误差</a:t>
            </a:r>
          </a:p>
        </p:txBody>
      </p:sp>
      <p:sp>
        <p:nvSpPr>
          <p:cNvPr id="18" name="TextBox 17"/>
          <p:cNvSpPr txBox="1"/>
          <p:nvPr/>
        </p:nvSpPr>
        <p:spPr>
          <a:xfrm>
            <a:off x="457200" y="3886200"/>
            <a:ext cx="11274552" cy="914400"/>
          </a:xfrm>
          <a:prstGeom prst="rect">
            <a:avLst/>
          </a:prstGeom>
          <a:solidFill>
            <a:srgbClr val="FBEDED"/>
          </a:solidFill>
        </p:spPr>
        <p:txBody>
          <a:bodyPr wrap="square" lIns="182880" rIns="182880" tIns="36576" bIns="36576" anchor="ctr">
            <a:spAutoFit/>
          </a:bodyPr>
          <a:lstStyle/>
          <a:p>
            <a:pPr algn="l">
              <a:spcAft>
                <a:spcPts val="600"/>
              </a:spcAft>
            </a:pPr>
            <a:r>
              <a:rPr sz="1900" b="1" i="0">
                <a:solidFill>
                  <a:srgbClr val="C00000"/>
                </a:solidFill>
                <a:latin typeface="Arial"/>
                <a:ea typeface="Microsoft YaHei"/>
              </a:rPr>
              <a:t>结论：</a:t>
            </a:r>
            <a:r>
              <a:rPr sz="1900" b="1" i="0">
                <a:solidFill>
                  <a:srgbClr val="262626"/>
                </a:solidFill>
                <a:latin typeface="Arial"/>
                <a:ea typeface="Microsoft YaHei"/>
              </a:rPr>
              <a:t>柔度准不保证灵敏度准；设计用途的判据是两者同时准。</a:t>
            </a:r>
          </a:p>
        </p:txBody>
      </p:sp>
      <p:sp>
        <p:nvSpPr>
          <p:cNvPr id="19" name="TextBox 18"/>
          <p:cNvSpPr txBox="1"/>
          <p:nvPr/>
        </p:nvSpPr>
        <p:spPr>
          <a:xfrm>
            <a:off x="457200" y="4983480"/>
            <a:ext cx="11274552" cy="1005840"/>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体检一里 PIML 经细网格复核的柔度全部偏刚，正是第①环的直接后果（边界受限时下界为 LᵀSL）</a:t>
            </a:r>
          </a:p>
          <a:p>
            <a:pPr algn="l" marL="228600" indent="-201168">
              <a:spcAft>
                <a:spcPts val="400"/>
              </a:spcAft>
              <a:buFont typeface="Arial"/>
              <a:buChar char="•"/>
            </a:pPr>
            <a:r>
              <a:rPr sz="1500" b="0" i="0">
                <a:solidFill>
                  <a:srgbClr val="262626"/>
                </a:solidFill>
                <a:latin typeface="Arial"/>
                <a:ea typeface="Microsoft YaHei"/>
              </a:rPr>
              <a:t>第③环在 PIML 系列里从未量化：没有一篇报告灵敏度误差</a:t>
            </a:r>
          </a:p>
        </p:txBody>
      </p:sp>
      <p:sp>
        <p:nvSpPr>
          <p:cNvPr id="20" name="TextBox 19"/>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论文第 3 节；附录 B、C、H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网络：对保留位移精确线性，一个网络服务所有保留集</a:t>
            </a:r>
          </a:p>
        </p:txBody>
      </p:sp>
      <p:pic>
        <p:nvPicPr>
          <p:cNvPr id="3" name="Picture 2" descr="F11_network_architecture.png"/>
          <p:cNvPicPr>
            <a:picLocks noChangeAspect="1"/>
          </p:cNvPicPr>
          <p:nvPr/>
        </p:nvPicPr>
        <p:blipFill>
          <a:blip r:embed="rId3"/>
          <a:stretch>
            <a:fillRect/>
          </a:stretch>
        </p:blipFill>
        <p:spPr>
          <a:xfrm>
            <a:off x="457200" y="972050"/>
            <a:ext cx="4206240" cy="5142499"/>
          </a:xfrm>
          <a:prstGeom prst="rect">
            <a:avLst/>
          </a:prstGeom>
        </p:spPr>
      </p:pic>
      <p:sp>
        <p:nvSpPr>
          <p:cNvPr id="4" name="Rounded Rectangle 3"/>
          <p:cNvSpPr/>
          <p:nvPr/>
        </p:nvSpPr>
        <p:spPr>
          <a:xfrm>
            <a:off x="5120640" y="1097280"/>
            <a:ext cx="3154680" cy="13716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20640" y="1170432"/>
            <a:ext cx="3154680"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6×10⁵</a:t>
            </a:r>
          </a:p>
        </p:txBody>
      </p:sp>
      <p:sp>
        <p:nvSpPr>
          <p:cNvPr id="6" name="TextBox 5"/>
          <p:cNvSpPr txBox="1"/>
          <p:nvPr/>
        </p:nvSpPr>
        <p:spPr>
          <a:xfrm>
            <a:off x="5212079" y="1847088"/>
            <a:ext cx="2971800" cy="59436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网络参数（不随保留自由度增长）</a:t>
            </a:r>
          </a:p>
        </p:txBody>
      </p:sp>
      <p:sp>
        <p:nvSpPr>
          <p:cNvPr id="7" name="Rounded Rectangle 6"/>
          <p:cNvSpPr/>
          <p:nvPr/>
        </p:nvSpPr>
        <p:spPr>
          <a:xfrm>
            <a:off x="8549640" y="1097280"/>
            <a:ext cx="3154680" cy="13716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49640" y="1170432"/>
            <a:ext cx="3154680" cy="685800"/>
          </a:xfrm>
          <a:prstGeom prst="rect">
            <a:avLst/>
          </a:prstGeom>
          <a:noFill/>
        </p:spPr>
        <p:txBody>
          <a:bodyPr wrap="square" lIns="73152" rIns="73152" tIns="36576" bIns="36576" anchor="ctr">
            <a:spAutoFit/>
          </a:bodyPr>
          <a:lstStyle/>
          <a:p>
            <a:pPr algn="ctr">
              <a:spcAft>
                <a:spcPts val="600"/>
              </a:spcAft>
            </a:pPr>
            <a:r>
              <a:rPr sz="2800" b="1" i="0">
                <a:solidFill>
                  <a:srgbClr val="C00000"/>
                </a:solidFill>
                <a:latin typeface="Arial"/>
                <a:ea typeface="Microsoft YaHei"/>
              </a:rPr>
              <a:t>2,679–45,900</a:t>
            </a:r>
          </a:p>
        </p:txBody>
      </p:sp>
      <p:sp>
        <p:nvSpPr>
          <p:cNvPr id="9" name="TextBox 8"/>
          <p:cNvSpPr txBox="1"/>
          <p:nvPr/>
        </p:nvSpPr>
        <p:spPr>
          <a:xfrm>
            <a:off x="8641080" y="1847088"/>
            <a:ext cx="2971800" cy="59436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同一网络服务的保留自由度范围</a:t>
            </a:r>
          </a:p>
        </p:txBody>
      </p:sp>
      <p:sp>
        <p:nvSpPr>
          <p:cNvPr id="10" name="TextBox 9"/>
          <p:cNvSpPr txBox="1"/>
          <p:nvPr/>
        </p:nvSpPr>
        <p:spPr>
          <a:xfrm>
            <a:off x="5120640" y="2697480"/>
            <a:ext cx="6583680" cy="3291840"/>
          </a:xfrm>
          <a:prstGeom prst="rect">
            <a:avLst/>
          </a:prstGeom>
          <a:noFill/>
        </p:spPr>
        <p:txBody>
          <a:bodyPr wrap="square" lIns="73152" rIns="73152" tIns="36576" bIns="36576" anchor="t">
            <a:spAutoFit/>
          </a:bodyPr>
          <a:lstStyle/>
          <a:p>
            <a:pPr algn="l" marL="228600" indent="-201168">
              <a:spcAft>
                <a:spcPts val="800"/>
              </a:spcAft>
              <a:buFont typeface="Arial"/>
              <a:buChar char="•"/>
            </a:pPr>
            <a:r>
              <a:rPr sz="1600" b="0" i="0">
                <a:solidFill>
                  <a:srgbClr val="262626"/>
                </a:solidFill>
                <a:latin typeface="Arial"/>
                <a:ea typeface="Microsoft YaHei"/>
              </a:rPr>
              <a:t>几何条件化：输入是背景单元上的材料矩，不是设计参数</a:t>
            </a:r>
          </a:p>
          <a:p>
            <a:pPr algn="l" marL="228600" indent="-201168">
              <a:spcAft>
                <a:spcPts val="800"/>
              </a:spcAft>
              <a:buFont typeface="Arial"/>
              <a:buChar char="•"/>
            </a:pPr>
            <a:r>
              <a:rPr sz="1600" b="0" i="0">
                <a:solidFill>
                  <a:srgbClr val="262626"/>
                </a:solidFill>
                <a:latin typeface="Arial"/>
                <a:ea typeface="Microsoft YaHei"/>
              </a:rPr>
              <a:t>对保留位移精确线性 → 凝聚算子线性、可组装</a:t>
            </a:r>
          </a:p>
          <a:p>
            <a:pPr algn="l" marL="228600" indent="-201168">
              <a:spcAft>
                <a:spcPts val="800"/>
              </a:spcAft>
              <a:buFont typeface="Arial"/>
              <a:buChar char="•"/>
            </a:pPr>
            <a:r>
              <a:rPr sz="1600" b="0" i="0">
                <a:solidFill>
                  <a:srgbClr val="262626"/>
                </a:solidFill>
                <a:latin typeface="Arial"/>
                <a:ea typeface="Microsoft YaHei"/>
              </a:rPr>
              <a:t>权重作用在模板、通道和网格层级（65/33/17/9）上，不对应单个自由度</a:t>
            </a:r>
          </a:p>
          <a:p>
            <a:pPr algn="l" marL="228600" indent="-201168">
              <a:spcAft>
                <a:spcPts val="800"/>
              </a:spcAft>
              <a:buFont typeface="Arial"/>
              <a:buChar char="•"/>
            </a:pPr>
            <a:r>
              <a:rPr sz="1600" b="0" i="0">
                <a:solidFill>
                  <a:srgbClr val="262626"/>
                </a:solidFill>
                <a:latin typeface="Arial"/>
                <a:ea typeface="Microsoft YaHei"/>
              </a:rPr>
              <a:t>不形成显式矩阵：中位尺寸胞的显式延拓需 4.3 GiB（双精度）</a:t>
            </a:r>
          </a:p>
          <a:p>
            <a:pPr algn="l" marL="228600" indent="-201168">
              <a:spcAft>
                <a:spcPts val="800"/>
              </a:spcAft>
              <a:buFont typeface="Arial"/>
              <a:buChar char="•"/>
            </a:pPr>
            <a:r>
              <a:rPr sz="1600" b="0" i="0">
                <a:solidFill>
                  <a:srgbClr val="262626"/>
                </a:solidFill>
                <a:latin typeface="Arial"/>
                <a:ea typeface="Microsoft YaHei"/>
              </a:rPr>
              <a:t>训练：691 个几何（591 训练 + 100 验证），一次性约 60 GPU-h</a:t>
            </a:r>
          </a:p>
        </p:txBody>
      </p:sp>
      <p:sp>
        <p:nvSpPr>
          <p:cNvPr id="11" name="TextBox 10"/>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3；第 4.4–4.6 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校正：网络固定不变，部署后仍可继续改进</a:t>
            </a:r>
          </a:p>
        </p:txBody>
      </p:sp>
      <p:pic>
        <p:nvPicPr>
          <p:cNvPr id="3" name="Picture 2" descr="F04_correction.png"/>
          <p:cNvPicPr>
            <a:picLocks noChangeAspect="1"/>
          </p:cNvPicPr>
          <p:nvPr/>
        </p:nvPicPr>
        <p:blipFill>
          <a:blip r:embed="rId3"/>
          <a:stretch>
            <a:fillRect/>
          </a:stretch>
        </p:blipFill>
        <p:spPr>
          <a:xfrm>
            <a:off x="457200" y="1144828"/>
            <a:ext cx="6400800" cy="4659782"/>
          </a:xfrm>
          <a:prstGeom prst="rect">
            <a:avLst/>
          </a:prstGeom>
        </p:spPr>
      </p:pic>
      <p:sp>
        <p:nvSpPr>
          <p:cNvPr id="4" name="TextBox 3"/>
          <p:cNvSpPr txBox="1"/>
          <p:nvPr/>
        </p:nvSpPr>
        <p:spPr>
          <a:xfrm>
            <a:off x="7132320" y="1051560"/>
            <a:ext cx="4572000" cy="41148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同一网络、只加校正（能量误差）</a:t>
            </a:r>
          </a:p>
        </p:txBody>
      </p:sp>
      <p:graphicFrame>
        <p:nvGraphicFramePr>
          <p:cNvPr id="5" name="Table 4"/>
          <p:cNvGraphicFramePr>
            <a:graphicFrameLocks noGrp="1"/>
          </p:cNvGraphicFramePr>
          <p:nvPr/>
        </p:nvGraphicFramePr>
        <p:xfrm>
          <a:off x="7132320" y="1554480"/>
          <a:ext cx="4599430" cy="1371600"/>
        </p:xfrm>
        <a:graphic>
          <a:graphicData uri="http://schemas.openxmlformats.org/drawingml/2006/table">
            <a:tbl>
              <a:tblPr firstRow="0" bandRow="0">
                <a:tableStyleId>{5940675A-B579-460E-94D1-54222C63F5DA}</a:tableStyleId>
              </a:tblPr>
              <a:tblGrid>
                <a:gridCol w="919886"/>
                <a:gridCol w="1195852"/>
                <a:gridCol w="1287840"/>
                <a:gridCol w="1195852"/>
              </a:tblGrid>
              <a:tr h="457200">
                <a:tc>
                  <a:txBody>
                    <a:bodyPr wrap="square"/>
                    <a:lstStyle/>
                    <a:p>
                      <a:r>
                        <a:rPr sz="1500" b="1" i="0">
                          <a:solidFill>
                            <a:srgbClr val="FFFFFF"/>
                          </a:solidFill>
                          <a:latin typeface="Arial"/>
                          <a:ea typeface="Microsoft YaHei"/>
                        </a:rPr>
                        <a:t>几何</a:t>
                      </a:r>
                    </a:p>
                  </a:txBody>
                  <a:tcPr marL="54864" marR="54864" marT="27432" marB="27432" anchor="ctr">
                    <a:solidFill>
                      <a:srgbClr val="C00000"/>
                    </a:solidFill>
                  </a:tcPr>
                </a:tc>
                <a:tc>
                  <a:txBody>
                    <a:bodyPr wrap="square"/>
                    <a:lstStyle/>
                    <a:p>
                      <a:r>
                        <a:rPr sz="1500" b="1" i="0">
                          <a:solidFill>
                            <a:srgbClr val="FFFFFF"/>
                          </a:solidFill>
                          <a:latin typeface="Arial"/>
                          <a:ea typeface="Microsoft YaHei"/>
                        </a:rPr>
                        <a:t>基础网络</a:t>
                      </a:r>
                    </a:p>
                  </a:txBody>
                  <a:tcPr marL="54864" marR="54864" marT="27432" marB="27432" anchor="ctr">
                    <a:solidFill>
                      <a:srgbClr val="C00000"/>
                    </a:solidFill>
                  </a:tcPr>
                </a:tc>
                <a:tc>
                  <a:txBody>
                    <a:bodyPr wrap="square"/>
                    <a:lstStyle/>
                    <a:p>
                      <a:r>
                        <a:rPr sz="1500" b="1" i="0">
                          <a:solidFill>
                            <a:srgbClr val="FFFFFF"/>
                          </a:solidFill>
                          <a:latin typeface="Arial"/>
                          <a:ea typeface="Microsoft YaHei"/>
                        </a:rPr>
                        <a:t>仅光滑 8 步</a:t>
                      </a:r>
                    </a:p>
                  </a:txBody>
                  <a:tcPr marL="54864" marR="54864" marT="27432" marB="27432" anchor="ctr">
                    <a:solidFill>
                      <a:srgbClr val="C00000"/>
                    </a:solidFill>
                  </a:tcPr>
                </a:tc>
                <a:tc>
                  <a:txBody>
                    <a:bodyPr wrap="square"/>
                    <a:lstStyle/>
                    <a:p>
                      <a:r>
                        <a:rPr sz="1500" b="1" i="0">
                          <a:solidFill>
                            <a:srgbClr val="FFFFFF"/>
                          </a:solidFill>
                          <a:latin typeface="Arial"/>
                          <a:ea typeface="Microsoft YaHei"/>
                        </a:rPr>
                        <a:t>完整校正</a:t>
                      </a:r>
                    </a:p>
                  </a:txBody>
                  <a:tcPr marL="54864" marR="54864" marT="27432" marB="27432" anchor="ctr">
                    <a:solidFill>
                      <a:srgbClr val="C00000"/>
                    </a:solidFill>
                  </a:tcPr>
                </a:tc>
              </a:tr>
              <a:tr h="457200">
                <a:tc>
                  <a:txBody>
                    <a:bodyPr wrap="square"/>
                    <a:lstStyle/>
                    <a:p>
                      <a:r>
                        <a:rPr sz="1500" b="0" i="0">
                          <a:solidFill>
                            <a:srgbClr val="262626"/>
                          </a:solidFill>
                          <a:latin typeface="Arial"/>
                          <a:ea typeface="Microsoft YaHei"/>
                        </a:rPr>
                        <a:t>H2</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35.0%</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0.205%</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a:t>
                      </a:r>
                    </a:p>
                  </a:txBody>
                  <a:tcPr marL="54864" marR="54864" marT="27432" marB="27432" anchor="ctr">
                    <a:solidFill>
                      <a:srgbClr val="FFFFFF"/>
                    </a:solidFill>
                  </a:tcPr>
                </a:tc>
              </a:tr>
              <a:tr h="457200">
                <a:tc>
                  <a:txBody>
                    <a:bodyPr wrap="square"/>
                    <a:lstStyle/>
                    <a:p>
                      <a:r>
                        <a:rPr sz="1500" b="0" i="0">
                          <a:solidFill>
                            <a:srgbClr val="262626"/>
                          </a:solidFill>
                          <a:latin typeface="Arial"/>
                          <a:ea typeface="Microsoft YaHei"/>
                        </a:rPr>
                        <a:t>M1</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13.5%</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4.69%</a:t>
                      </a:r>
                    </a:p>
                  </a:txBody>
                  <a:tcPr marL="54864" marR="54864" marT="27432" marB="27432" anchor="ctr">
                    <a:solidFill>
                      <a:srgbClr val="F7F7F7"/>
                    </a:solidFill>
                  </a:tcPr>
                </a:tc>
                <a:tc>
                  <a:txBody>
                    <a:bodyPr wrap="square"/>
                    <a:lstStyle/>
                    <a:p>
                      <a:r>
                        <a:rPr sz="1500" b="1" i="0">
                          <a:solidFill>
                            <a:srgbClr val="0070C0"/>
                          </a:solidFill>
                          <a:latin typeface="Arial"/>
                          <a:ea typeface="Microsoft YaHei"/>
                        </a:rPr>
                        <a:t>0.186%</a:t>
                      </a:r>
                    </a:p>
                  </a:txBody>
                  <a:tcPr marL="54864" marR="54864" marT="27432" marB="27432" anchor="ctr">
                    <a:solidFill>
                      <a:srgbClr val="F7F7F7"/>
                    </a:solidFill>
                  </a:tcPr>
                </a:tc>
              </a:tr>
            </a:tbl>
          </a:graphicData>
        </a:graphic>
      </p:graphicFrame>
      <p:sp>
        <p:nvSpPr>
          <p:cNvPr id="6" name="TextBox 5"/>
          <p:cNvSpPr txBox="1"/>
          <p:nvPr/>
        </p:nvSpPr>
        <p:spPr>
          <a:xfrm>
            <a:off x="7132320" y="3154680"/>
            <a:ext cx="4572000" cy="2834640"/>
          </a:xfrm>
          <a:prstGeom prst="rect">
            <a:avLst/>
          </a:prstGeom>
          <a:noFill/>
        </p:spPr>
        <p:txBody>
          <a:bodyPr wrap="square" lIns="73152" rIns="73152" tIns="36576" bIns="36576" anchor="t">
            <a:spAutoFit/>
          </a:bodyPr>
          <a:lstStyle/>
          <a:p>
            <a:pPr algn="l" marL="228600" indent="-201168">
              <a:spcAft>
                <a:spcPts val="800"/>
              </a:spcAft>
              <a:buFont typeface="Arial"/>
              <a:buChar char="•"/>
            </a:pPr>
            <a:r>
              <a:rPr sz="1500" b="0" i="0">
                <a:solidFill>
                  <a:srgbClr val="262626"/>
                </a:solidFill>
                <a:latin typeface="Arial"/>
                <a:ea typeface="Microsoft YaHei"/>
              </a:rPr>
              <a:t>M1：最低 200 个模态（全部低于光滑区间下端）含 24.5% 的误差能量 → 需要粗网格校正</a:t>
            </a:r>
          </a:p>
          <a:p>
            <a:pPr algn="l" marL="228600" indent="-201168">
              <a:spcAft>
                <a:spcPts val="800"/>
              </a:spcAft>
              <a:buFont typeface="Arial"/>
              <a:buChar char="•"/>
            </a:pPr>
            <a:r>
              <a:rPr sz="1500" b="0" i="0">
                <a:solidFill>
                  <a:srgbClr val="262626"/>
                </a:solidFill>
                <a:latin typeface="Arial"/>
                <a:ea typeface="Microsoft YaHei"/>
              </a:rPr>
              <a:t>同一校正作用在零初值或调和延拓上远不够（Table 3）：网络承担了大部分精度</a:t>
            </a:r>
          </a:p>
          <a:p>
            <a:pPr algn="l" marL="228600" indent="-201168">
              <a:spcAft>
                <a:spcPts val="800"/>
              </a:spcAft>
              <a:buFont typeface="Arial"/>
              <a:buChar char="•"/>
            </a:pPr>
            <a:r>
              <a:rPr sz="1500" b="0" i="0">
                <a:solidFill>
                  <a:srgbClr val="262626"/>
                </a:solidFill>
                <a:latin typeface="Arial"/>
                <a:ea typeface="Microsoft YaHei"/>
              </a:rPr>
              <a:t>校正预算可以在部署时加大，不用重训</a:t>
            </a:r>
          </a:p>
        </p:txBody>
      </p:sp>
      <p:sp>
        <p:nvSpPr>
          <p:cNvPr id="7" name="TextBox 6"/>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7；第 5.4–5.5 节，Table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单胞精度：80 个验证几何平均 0.074%</a:t>
            </a:r>
          </a:p>
        </p:txBody>
      </p:sp>
      <p:pic>
        <p:nvPicPr>
          <p:cNvPr id="3" name="Picture 2" descr="F02_validation.png"/>
          <p:cNvPicPr>
            <a:picLocks noChangeAspect="1"/>
          </p:cNvPicPr>
          <p:nvPr/>
        </p:nvPicPr>
        <p:blipFill>
          <a:blip r:embed="rId3"/>
          <a:stretch>
            <a:fillRect/>
          </a:stretch>
        </p:blipFill>
        <p:spPr>
          <a:xfrm>
            <a:off x="457200" y="1243017"/>
            <a:ext cx="7498079" cy="4554844"/>
          </a:xfrm>
          <a:prstGeom prst="rect">
            <a:avLst/>
          </a:prstGeom>
        </p:spPr>
      </p:pic>
      <p:sp>
        <p:nvSpPr>
          <p:cNvPr id="4" name="Rounded Rectangle 3"/>
          <p:cNvSpPr/>
          <p:nvPr/>
        </p:nvSpPr>
        <p:spPr>
          <a:xfrm>
            <a:off x="8229600" y="1051560"/>
            <a:ext cx="3502152"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0" y="1124712"/>
            <a:ext cx="3502152"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0.074%</a:t>
            </a:r>
          </a:p>
        </p:txBody>
      </p:sp>
      <p:sp>
        <p:nvSpPr>
          <p:cNvPr id="6" name="TextBox 5"/>
          <p:cNvSpPr txBox="1"/>
          <p:nvPr/>
        </p:nvSpPr>
        <p:spPr>
          <a:xfrm>
            <a:off x="8321040" y="1801367"/>
            <a:ext cx="3319272" cy="502919"/>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NICE 平均能量误差（一致面力）</a:t>
            </a:r>
          </a:p>
        </p:txBody>
      </p:sp>
      <p:sp>
        <p:nvSpPr>
          <p:cNvPr id="7" name="Rounded Rectangle 6"/>
          <p:cNvSpPr/>
          <p:nvPr/>
        </p:nvSpPr>
        <p:spPr>
          <a:xfrm>
            <a:off x="8229600" y="2514600"/>
            <a:ext cx="3502152"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0" y="2587752"/>
            <a:ext cx="3502152"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64–102×</a:t>
            </a:r>
          </a:p>
        </p:txBody>
      </p:sp>
      <p:sp>
        <p:nvSpPr>
          <p:cNvPr id="9" name="TextBox 8"/>
          <p:cNvSpPr txBox="1"/>
          <p:nvPr/>
        </p:nvSpPr>
        <p:spPr>
          <a:xfrm>
            <a:off x="8321040" y="3264408"/>
            <a:ext cx="3319272" cy="502919"/>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各分层平均低于未校正延续</a:t>
            </a:r>
          </a:p>
        </p:txBody>
      </p:sp>
      <p:sp>
        <p:nvSpPr>
          <p:cNvPr id="10" name="TextBox 9"/>
          <p:cNvSpPr txBox="1"/>
          <p:nvPr/>
        </p:nvSpPr>
        <p:spPr>
          <a:xfrm>
            <a:off x="8229600" y="3977639"/>
            <a:ext cx="3502152" cy="2011680"/>
          </a:xfrm>
          <a:prstGeom prst="rect">
            <a:avLst/>
          </a:prstGeom>
          <a:noFill/>
        </p:spPr>
        <p:txBody>
          <a:bodyPr wrap="square" lIns="73152" rIns="73152" tIns="36576" bIns="36576" anchor="t">
            <a:spAutoFit/>
          </a:bodyPr>
          <a:lstStyle/>
          <a:p>
            <a:pPr algn="l" marL="228600" indent="-201168">
              <a:spcAft>
                <a:spcPts val="600"/>
              </a:spcAft>
              <a:buFont typeface="Arial"/>
              <a:buChar char="•"/>
            </a:pPr>
            <a:r>
              <a:rPr sz="1500" b="0" i="0">
                <a:solidFill>
                  <a:srgbClr val="262626"/>
                </a:solidFill>
                <a:latin typeface="Arial"/>
                <a:ea typeface="Microsoft YaHei"/>
              </a:rPr>
              <a:t>5,120 个方向：95 分位 0.33%，最大 1.24%</a:t>
            </a:r>
          </a:p>
          <a:p>
            <a:pPr algn="l" marL="228600" indent="-201168">
              <a:spcAft>
                <a:spcPts val="600"/>
              </a:spcAft>
              <a:buFont typeface="Arial"/>
              <a:buChar char="•"/>
            </a:pPr>
            <a:r>
              <a:rPr sz="1500" b="0" i="0">
                <a:solidFill>
                  <a:srgbClr val="262626"/>
                </a:solidFill>
                <a:latin typeface="Arial"/>
                <a:ea typeface="Microsoft YaHei"/>
              </a:rPr>
              <a:t>60 个非选择几何上基本不变</a:t>
            </a:r>
          </a:p>
          <a:p>
            <a:pPr algn="l" marL="228600" indent="-201168">
              <a:spcAft>
                <a:spcPts val="600"/>
              </a:spcAft>
              <a:buFont typeface="Arial"/>
              <a:buChar char="•"/>
            </a:pPr>
            <a:r>
              <a:rPr sz="1500" b="0" i="0">
                <a:solidFill>
                  <a:srgbClr val="262626"/>
                </a:solidFill>
                <a:latin typeface="Arial"/>
                <a:ea typeface="Microsoft YaHei"/>
              </a:rPr>
              <a:t>未切割 → 重度切割仍增约 7 倍</a:t>
            </a:r>
          </a:p>
        </p:txBody>
      </p:sp>
      <p:sp>
        <p:nvSpPr>
          <p:cNvPr id="11" name="TextBox 10"/>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4；第 5.3 节，Table ST03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装配后：柔度准，灵敏度不一定准</a:t>
            </a:r>
          </a:p>
        </p:txBody>
      </p:sp>
      <p:pic>
        <p:nvPicPr>
          <p:cNvPr id="3" name="Picture 2" descr="F05_assembly.png"/>
          <p:cNvPicPr>
            <a:picLocks noChangeAspect="1"/>
          </p:cNvPicPr>
          <p:nvPr/>
        </p:nvPicPr>
        <p:blipFill>
          <a:blip r:embed="rId3"/>
          <a:stretch>
            <a:fillRect/>
          </a:stretch>
        </p:blipFill>
        <p:spPr>
          <a:xfrm>
            <a:off x="537369" y="960120"/>
            <a:ext cx="5234621" cy="5120640"/>
          </a:xfrm>
          <a:prstGeom prst="rect">
            <a:avLst/>
          </a:prstGeom>
        </p:spPr>
      </p:pic>
      <p:sp>
        <p:nvSpPr>
          <p:cNvPr id="4" name="Rounded Rectangle 3"/>
          <p:cNvSpPr/>
          <p:nvPr/>
        </p:nvSpPr>
        <p:spPr>
          <a:xfrm>
            <a:off x="6172200" y="1097280"/>
            <a:ext cx="5559552" cy="2057400"/>
          </a:xfrm>
          <a:prstGeom prst="roundRect">
            <a:avLst>
              <a:gd name="adj" fmla="val 6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81928" y="1170432"/>
            <a:ext cx="5340096"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不完整的校正</a:t>
            </a:r>
          </a:p>
        </p:txBody>
      </p:sp>
      <p:sp>
        <p:nvSpPr>
          <p:cNvPr id="6" name="TextBox 5"/>
          <p:cNvSpPr txBox="1"/>
          <p:nvPr/>
        </p:nvSpPr>
        <p:spPr>
          <a:xfrm>
            <a:off x="6281928" y="1627631"/>
            <a:ext cx="5340096" cy="1453895"/>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未校正延续：灵敏度最高 11.4%，4 个配置越过 3% 线</a:t>
            </a:r>
          </a:p>
          <a:p>
            <a:pPr algn="l" marL="228600" indent="-201168">
              <a:spcAft>
                <a:spcPts val="400"/>
              </a:spcAft>
              <a:buFont typeface="Arial"/>
              <a:buChar char="•"/>
            </a:pPr>
            <a:r>
              <a:rPr sz="1500" b="0" i="0">
                <a:solidFill>
                  <a:srgbClr val="262626"/>
                </a:solidFill>
                <a:latin typeface="Arial"/>
                <a:ea typeface="Microsoft YaHei"/>
              </a:rPr>
              <a:t>仅光滑训练：同样 4 个配置 3.15–4.43%</a:t>
            </a:r>
          </a:p>
        </p:txBody>
      </p:sp>
      <p:sp>
        <p:nvSpPr>
          <p:cNvPr id="7" name="Rounded Rectangle 6"/>
          <p:cNvSpPr/>
          <p:nvPr/>
        </p:nvSpPr>
        <p:spPr>
          <a:xfrm>
            <a:off x="6172200" y="3337560"/>
            <a:ext cx="5559552" cy="2606040"/>
          </a:xfrm>
          <a:prstGeom prst="roundRect">
            <a:avLst>
              <a:gd name="adj" fmla="val 6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81928" y="3410712"/>
            <a:ext cx="5340096" cy="457200"/>
          </a:xfrm>
          <a:prstGeom prst="rect">
            <a:avLst/>
          </a:prstGeom>
          <a:noFill/>
        </p:spPr>
        <p:txBody>
          <a:bodyPr wrap="square" lIns="73152" rIns="73152" tIns="36576" bIns="36576" anchor="t">
            <a:spAutoFit/>
          </a:bodyPr>
          <a:lstStyle/>
          <a:p>
            <a:pPr algn="l">
              <a:spcAft>
                <a:spcPts val="600"/>
              </a:spcAft>
            </a:pPr>
            <a:r>
              <a:rPr sz="1700" b="1" i="0">
                <a:solidFill>
                  <a:srgbClr val="0070C0"/>
                </a:solidFill>
                <a:latin typeface="Arial"/>
                <a:ea typeface="Microsoft YaHei"/>
              </a:rPr>
              <a:t>NICE</a:t>
            </a:r>
          </a:p>
        </p:txBody>
      </p:sp>
      <p:sp>
        <p:nvSpPr>
          <p:cNvPr id="9" name="TextBox 8"/>
          <p:cNvSpPr txBox="1"/>
          <p:nvPr/>
        </p:nvSpPr>
        <p:spPr>
          <a:xfrm>
            <a:off x="6281928" y="3867911"/>
            <a:ext cx="5340096" cy="200253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14 个选择配置 + 18 个留出配置全部低于两条 3% 线</a:t>
            </a:r>
          </a:p>
          <a:p>
            <a:pPr algn="l" marL="228600" indent="-201168">
              <a:spcAft>
                <a:spcPts val="400"/>
              </a:spcAft>
              <a:buFont typeface="Arial"/>
              <a:buChar char="•"/>
            </a:pPr>
            <a:r>
              <a:rPr sz="1500" b="0" i="0">
                <a:solidFill>
                  <a:srgbClr val="262626"/>
                </a:solidFill>
                <a:latin typeface="Arial"/>
                <a:ea typeface="Microsoft YaHei"/>
              </a:rPr>
              <a:t>最大：柔度 </a:t>
            </a:r>
            <a:r>
              <a:rPr sz="1500" b="1" i="0">
                <a:solidFill>
                  <a:srgbClr val="0070C0"/>
                </a:solidFill>
                <a:latin typeface="Arial"/>
                <a:ea typeface="Microsoft YaHei"/>
              </a:rPr>
              <a:t>0.28%</a:t>
            </a:r>
            <a:r>
              <a:rPr sz="1500" b="0" i="0">
                <a:solidFill>
                  <a:srgbClr val="262626"/>
                </a:solidFill>
                <a:latin typeface="Arial"/>
                <a:ea typeface="Microsoft YaHei"/>
              </a:rPr>
              <a:t>，灵敏度 </a:t>
            </a:r>
            <a:r>
              <a:rPr sz="1500" b="1" i="0">
                <a:solidFill>
                  <a:srgbClr val="0070C0"/>
                </a:solidFill>
                <a:latin typeface="Arial"/>
                <a:ea typeface="Microsoft YaHei"/>
              </a:rPr>
              <a:t>1.49%</a:t>
            </a:r>
          </a:p>
          <a:p>
            <a:pPr algn="l" marL="228600" indent="-201168">
              <a:spcAft>
                <a:spcPts val="400"/>
              </a:spcAft>
              <a:buFont typeface="Arial"/>
              <a:buChar char="•"/>
            </a:pPr>
            <a:r>
              <a:rPr sz="1500" b="0" i="0">
                <a:solidFill>
                  <a:srgbClr val="262626"/>
                </a:solidFill>
                <a:latin typeface="Arial"/>
                <a:ea typeface="Microsoft YaHei"/>
              </a:rPr>
              <a:t>基础网络部署时加校正（不重训）也全部低于 3% 线</a:t>
            </a:r>
          </a:p>
        </p:txBody>
      </p:sp>
      <p:sp>
        <p:nvSpPr>
          <p:cNvPr id="10" name="TextBox 9"/>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9；第 5.6 节，Table 4，Table ST08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消融：压缩边界对柔度尚可，对局部灵敏度不行</a:t>
            </a:r>
          </a:p>
        </p:txBody>
      </p:sp>
      <p:pic>
        <p:nvPicPr>
          <p:cNvPr id="3" name="Picture 2" descr="F06_bernstein.png"/>
          <p:cNvPicPr>
            <a:picLocks noChangeAspect="1"/>
          </p:cNvPicPr>
          <p:nvPr/>
        </p:nvPicPr>
        <p:blipFill>
          <a:blip r:embed="rId3"/>
          <a:stretch>
            <a:fillRect/>
          </a:stretch>
        </p:blipFill>
        <p:spPr>
          <a:xfrm>
            <a:off x="3103483" y="960120"/>
            <a:ext cx="5981984" cy="3017520"/>
          </a:xfrm>
          <a:prstGeom prst="rect">
            <a:avLst/>
          </a:prstGeom>
        </p:spPr>
      </p:pic>
      <p:sp>
        <p:nvSpPr>
          <p:cNvPr id="4" name="Rounded Rectangle 3"/>
          <p:cNvSpPr/>
          <p:nvPr/>
        </p:nvSpPr>
        <p:spPr>
          <a:xfrm>
            <a:off x="457200" y="4114800"/>
            <a:ext cx="3575304" cy="146304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187952"/>
            <a:ext cx="3575304"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78–85%</a:t>
            </a:r>
          </a:p>
        </p:txBody>
      </p:sp>
      <p:sp>
        <p:nvSpPr>
          <p:cNvPr id="6" name="TextBox 5"/>
          <p:cNvSpPr txBox="1"/>
          <p:nvPr/>
        </p:nvSpPr>
        <p:spPr>
          <a:xfrm>
            <a:off x="548640" y="4864608"/>
            <a:ext cx="3392424" cy="68580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全部盒面 r = 1：柔度误差</a:t>
            </a:r>
          </a:p>
        </p:txBody>
      </p:sp>
      <p:sp>
        <p:nvSpPr>
          <p:cNvPr id="7" name="Rounded Rectangle 6"/>
          <p:cNvSpPr/>
          <p:nvPr/>
        </p:nvSpPr>
        <p:spPr>
          <a:xfrm>
            <a:off x="4306824" y="4114800"/>
            <a:ext cx="3575304" cy="146304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06824" y="4187952"/>
            <a:ext cx="3575304"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24–64%</a:t>
            </a:r>
          </a:p>
        </p:txBody>
      </p:sp>
      <p:sp>
        <p:nvSpPr>
          <p:cNvPr id="9" name="TextBox 8"/>
          <p:cNvSpPr txBox="1"/>
          <p:nvPr/>
        </p:nvSpPr>
        <p:spPr>
          <a:xfrm>
            <a:off x="4398264" y="4864608"/>
            <a:ext cx="3392424" cy="68580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全部盒面 r = 8：柔度已 0.49–0.74%，邻载灵敏度误差仍</a:t>
            </a:r>
          </a:p>
        </p:txBody>
      </p:sp>
      <p:sp>
        <p:nvSpPr>
          <p:cNvPr id="10" name="Rounded Rectangle 9"/>
          <p:cNvSpPr/>
          <p:nvPr/>
        </p:nvSpPr>
        <p:spPr>
          <a:xfrm>
            <a:off x="8156448" y="4114800"/>
            <a:ext cx="3575304" cy="146304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8" y="4187952"/>
            <a:ext cx="3575304"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8–21%</a:t>
            </a:r>
          </a:p>
        </p:txBody>
      </p:sp>
      <p:sp>
        <p:nvSpPr>
          <p:cNvPr id="12" name="TextBox 11"/>
          <p:cNvSpPr txBox="1"/>
          <p:nvPr/>
        </p:nvSpPr>
        <p:spPr>
          <a:xfrm>
            <a:off x="8247888" y="4864608"/>
            <a:ext cx="3392424" cy="68580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只限制界面 r = 3：柔度 0.17–0.44%，邻载灵敏度误差</a:t>
            </a:r>
          </a:p>
        </p:txBody>
      </p:sp>
      <p:sp>
        <p:nvSpPr>
          <p:cNvPr id="13" name="TextBox 12"/>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11；第 5.7 节，Table ST11（精确胞算子，只改保留表示）</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八胞格栅：全部是学习胞，而且都是训练中没见过的胞</a:t>
            </a:r>
          </a:p>
        </p:txBody>
      </p:sp>
      <p:graphicFrame>
        <p:nvGraphicFramePr>
          <p:cNvPr id="3" name="Table 2"/>
          <p:cNvGraphicFramePr>
            <a:graphicFrameLocks noGrp="1"/>
          </p:cNvGraphicFramePr>
          <p:nvPr/>
        </p:nvGraphicFramePr>
        <p:xfrm>
          <a:off x="457200" y="1097280"/>
          <a:ext cx="6949440" cy="3291840"/>
        </p:xfrm>
        <a:graphic>
          <a:graphicData uri="http://schemas.openxmlformats.org/drawingml/2006/table">
            <a:tbl>
              <a:tblPr firstRow="0" bandRow="0">
                <a:tableStyleId>{5940675A-B579-460E-94D1-54222C63F5DA}</a:tableStyleId>
              </a:tblPr>
              <a:tblGrid>
                <a:gridCol w="2286000"/>
                <a:gridCol w="2331720"/>
                <a:gridCol w="2331720"/>
              </a:tblGrid>
              <a:tr h="548640">
                <a:tc>
                  <a:txBody>
                    <a:bodyPr wrap="square"/>
                    <a:lstStyle/>
                    <a:p>
                      <a:r>
                        <a:rPr sz="1300" b="1" i="0">
                          <a:solidFill>
                            <a:srgbClr val="FFFFFF"/>
                          </a:solidFill>
                          <a:latin typeface="Arial"/>
                          <a:ea typeface="Microsoft YaHei"/>
                        </a:rPr>
                        <a:t/>
                      </a:r>
                    </a:p>
                  </a:txBody>
                  <a:tcPr marL="54864" marR="54864" marT="27432" marB="27432" anchor="ctr">
                    <a:solidFill>
                      <a:srgbClr val="C00000"/>
                    </a:solidFill>
                  </a:tcPr>
                </a:tc>
                <a:tc>
                  <a:txBody>
                    <a:bodyPr wrap="square"/>
                    <a:lstStyle/>
                    <a:p>
                      <a:r>
                        <a:rPr sz="1300" b="1" i="0">
                          <a:solidFill>
                            <a:srgbClr val="FFFFFF"/>
                          </a:solidFill>
                          <a:latin typeface="Arial"/>
                          <a:ea typeface="Microsoft YaHei"/>
                        </a:rPr>
                        <a:t>2×2×2 块体（4 胞切割）</a:t>
                      </a:r>
                    </a:p>
                  </a:txBody>
                  <a:tcPr marL="54864" marR="54864" marT="27432" marB="27432" anchor="ctr">
                    <a:solidFill>
                      <a:srgbClr val="C00000"/>
                    </a:solidFill>
                  </a:tcPr>
                </a:tc>
                <a:tc>
                  <a:txBody>
                    <a:bodyPr wrap="square"/>
                    <a:lstStyle/>
                    <a:p>
                      <a:r>
                        <a:rPr sz="1300" b="1" i="0">
                          <a:solidFill>
                            <a:srgbClr val="FFFFFF"/>
                          </a:solidFill>
                          <a:latin typeface="Arial"/>
                          <a:ea typeface="Microsoft YaHei"/>
                        </a:rPr>
                        <a:t>3×3×1 层（3 胞切割）</a:t>
                      </a:r>
                    </a:p>
                  </a:txBody>
                  <a:tcPr marL="54864" marR="54864" marT="27432" marB="27432" anchor="ctr">
                    <a:solidFill>
                      <a:srgbClr val="C00000"/>
                    </a:solidFill>
                  </a:tcPr>
                </a:tc>
              </a:tr>
              <a:tr h="548640">
                <a:tc>
                  <a:txBody>
                    <a:bodyPr wrap="square"/>
                    <a:lstStyle/>
                    <a:p>
                      <a:r>
                        <a:rPr sz="1300" b="0" i="0">
                          <a:solidFill>
                            <a:srgbClr val="262626"/>
                          </a:solidFill>
                          <a:latin typeface="Arial"/>
                          <a:ea typeface="Microsoft YaHei"/>
                        </a:rPr>
                        <a:t>柔度误差（三个面载）</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0.014 / 0.011 / 0.0094%</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0.015 / 0.013 / 0.010%</a:t>
                      </a:r>
                    </a:p>
                  </a:txBody>
                  <a:tcPr marL="54864" marR="54864" marT="27432" marB="27432" anchor="ctr">
                    <a:solidFill>
                      <a:srgbClr val="FFFFFF"/>
                    </a:solidFill>
                  </a:tcPr>
                </a:tc>
              </a:tr>
              <a:tr h="548640">
                <a:tc>
                  <a:txBody>
                    <a:bodyPr wrap="square"/>
                    <a:lstStyle/>
                    <a:p>
                      <a:r>
                        <a:rPr sz="1300" b="0" i="0">
                          <a:solidFill>
                            <a:srgbClr val="262626"/>
                          </a:solidFill>
                          <a:latin typeface="Arial"/>
                          <a:ea typeface="Microsoft YaHei"/>
                        </a:rPr>
                        <a:t>柔度误差（随机载荷，最大）</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0.069%</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0.056%</a:t>
                      </a:r>
                    </a:p>
                  </a:txBody>
                  <a:tcPr marL="54864" marR="54864" marT="27432" marB="27432" anchor="ctr">
                    <a:solidFill>
                      <a:srgbClr val="F7F7F7"/>
                    </a:solidFill>
                  </a:tcPr>
                </a:tc>
              </a:tr>
              <a:tr h="548640">
                <a:tc>
                  <a:txBody>
                    <a:bodyPr wrap="square"/>
                    <a:lstStyle/>
                    <a:p>
                      <a:r>
                        <a:rPr sz="1300" b="0" i="0">
                          <a:solidFill>
                            <a:srgbClr val="262626"/>
                          </a:solidFill>
                          <a:latin typeface="Arial"/>
                          <a:ea typeface="Microsoft YaHei"/>
                        </a:rPr>
                        <a:t>灵敏度最大误差（面载 / 随机）</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0.14% / 0.45%</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0.14% / 0.43%</a:t>
                      </a:r>
                    </a:p>
                  </a:txBody>
                  <a:tcPr marL="54864" marR="54864" marT="27432" marB="27432" anchor="ctr">
                    <a:solidFill>
                      <a:srgbClr val="FFFFFF"/>
                    </a:solidFill>
                  </a:tcPr>
                </a:tc>
              </a:tr>
              <a:tr h="548640">
                <a:tc>
                  <a:txBody>
                    <a:bodyPr wrap="square"/>
                    <a:lstStyle/>
                    <a:p>
                      <a:r>
                        <a:rPr sz="1300" b="0" i="0">
                          <a:solidFill>
                            <a:srgbClr val="262626"/>
                          </a:solidFill>
                          <a:latin typeface="Arial"/>
                          <a:ea typeface="Microsoft YaHei"/>
                        </a:rPr>
                        <a:t>装配保留解差异</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0.13%</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0.12%</a:t>
                      </a:r>
                    </a:p>
                  </a:txBody>
                  <a:tcPr marL="54864" marR="54864" marT="27432" marB="27432" anchor="ctr">
                    <a:solidFill>
                      <a:srgbClr val="F7F7F7"/>
                    </a:solidFill>
                  </a:tcPr>
                </a:tc>
              </a:tr>
              <a:tr h="548640">
                <a:tc>
                  <a:txBody>
                    <a:bodyPr wrap="square"/>
                    <a:lstStyle/>
                    <a:p>
                      <a:r>
                        <a:rPr sz="1300" b="0" i="0">
                          <a:solidFill>
                            <a:srgbClr val="262626"/>
                          </a:solidFill>
                          <a:latin typeface="Arial"/>
                          <a:ea typeface="Microsoft YaHei"/>
                        </a:rPr>
                        <a:t>各胞能量误差（面载）</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0.006–0.026%</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0.005–0.052%</a:t>
                      </a:r>
                    </a:p>
                  </a:txBody>
                  <a:tcPr marL="54864" marR="54864" marT="27432" marB="27432" anchor="ctr">
                    <a:solidFill>
                      <a:srgbClr val="FFFFFF"/>
                    </a:solidFill>
                  </a:tcPr>
                </a:tc>
              </a:tr>
            </a:tbl>
          </a:graphicData>
        </a:graphic>
      </p:graphicFrame>
      <p:sp>
        <p:nvSpPr>
          <p:cNvPr id="4" name="Rounded Rectangle 3"/>
          <p:cNvSpPr/>
          <p:nvPr/>
        </p:nvSpPr>
        <p:spPr>
          <a:xfrm>
            <a:off x="7772400" y="1097280"/>
            <a:ext cx="3959352" cy="1371600"/>
          </a:xfrm>
          <a:prstGeom prst="roundRect">
            <a:avLst>
              <a:gd name="adj" fmla="val 8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0" y="1170432"/>
            <a:ext cx="3959352" cy="685800"/>
          </a:xfrm>
          <a:prstGeom prst="rect">
            <a:avLst/>
          </a:prstGeom>
          <a:noFill/>
        </p:spPr>
        <p:txBody>
          <a:bodyPr wrap="square" lIns="73152" rIns="73152" tIns="36576" bIns="36576" anchor="ctr">
            <a:spAutoFit/>
          </a:bodyPr>
          <a:lstStyle/>
          <a:p>
            <a:pPr algn="ctr">
              <a:spcAft>
                <a:spcPts val="600"/>
              </a:spcAft>
            </a:pPr>
            <a:r>
              <a:rPr sz="3600" b="1" i="0">
                <a:solidFill>
                  <a:srgbClr val="0070C0"/>
                </a:solidFill>
                <a:latin typeface="Arial"/>
                <a:ea typeface="Microsoft YaHei"/>
              </a:rPr>
              <a:t>≤0.015%</a:t>
            </a:r>
          </a:p>
        </p:txBody>
      </p:sp>
      <p:sp>
        <p:nvSpPr>
          <p:cNvPr id="6" name="TextBox 5"/>
          <p:cNvSpPr txBox="1"/>
          <p:nvPr/>
        </p:nvSpPr>
        <p:spPr>
          <a:xfrm>
            <a:off x="7863840" y="1847088"/>
            <a:ext cx="3776472" cy="59436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面载下格栅柔度误差</a:t>
            </a:r>
          </a:p>
        </p:txBody>
      </p:sp>
      <p:sp>
        <p:nvSpPr>
          <p:cNvPr id="7" name="Rounded Rectangle 6"/>
          <p:cNvSpPr/>
          <p:nvPr/>
        </p:nvSpPr>
        <p:spPr>
          <a:xfrm>
            <a:off x="7772400" y="2651760"/>
            <a:ext cx="3959352" cy="1371600"/>
          </a:xfrm>
          <a:prstGeom prst="roundRect">
            <a:avLst>
              <a:gd name="adj" fmla="val 8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2724912"/>
            <a:ext cx="3959352" cy="685800"/>
          </a:xfrm>
          <a:prstGeom prst="rect">
            <a:avLst/>
          </a:prstGeom>
          <a:noFill/>
        </p:spPr>
        <p:txBody>
          <a:bodyPr wrap="square" lIns="73152" rIns="73152" tIns="36576" bIns="36576" anchor="ctr">
            <a:spAutoFit/>
          </a:bodyPr>
          <a:lstStyle/>
          <a:p>
            <a:pPr algn="ctr">
              <a:spcAft>
                <a:spcPts val="600"/>
              </a:spcAft>
            </a:pPr>
            <a:r>
              <a:rPr sz="3600" b="1" i="0">
                <a:solidFill>
                  <a:srgbClr val="0070C0"/>
                </a:solidFill>
                <a:latin typeface="Arial"/>
                <a:ea typeface="Microsoft YaHei"/>
              </a:rPr>
              <a:t>≤0.14%</a:t>
            </a:r>
          </a:p>
        </p:txBody>
      </p:sp>
      <p:sp>
        <p:nvSpPr>
          <p:cNvPr id="9" name="TextBox 8"/>
          <p:cNvSpPr txBox="1"/>
          <p:nvPr/>
        </p:nvSpPr>
        <p:spPr>
          <a:xfrm>
            <a:off x="7863840" y="3401568"/>
            <a:ext cx="3776472" cy="59436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面载下灵敏度最大误差</a:t>
            </a:r>
          </a:p>
        </p:txBody>
      </p:sp>
      <p:sp>
        <p:nvSpPr>
          <p:cNvPr id="10" name="TextBox 9"/>
          <p:cNvSpPr txBox="1"/>
          <p:nvPr/>
        </p:nvSpPr>
        <p:spPr>
          <a:xfrm>
            <a:off x="7772400" y="4206240"/>
            <a:ext cx="3959352" cy="1737360"/>
          </a:xfrm>
          <a:prstGeom prst="rect">
            <a:avLst/>
          </a:prstGeom>
          <a:noFill/>
        </p:spPr>
        <p:txBody>
          <a:bodyPr wrap="square" lIns="73152" rIns="73152" tIns="36576" bIns="36576" anchor="t">
            <a:spAutoFit/>
          </a:bodyPr>
          <a:lstStyle/>
          <a:p>
            <a:pPr algn="l" marL="228600" indent="-201168">
              <a:spcAft>
                <a:spcPts val="600"/>
              </a:spcAft>
              <a:buFont typeface="Arial"/>
              <a:buChar char="•"/>
            </a:pPr>
            <a:r>
              <a:rPr sz="1400" b="0" i="0">
                <a:solidFill>
                  <a:srgbClr val="262626"/>
                </a:solidFill>
                <a:latin typeface="Arial"/>
                <a:ea typeface="Microsoft YaHei"/>
              </a:rPr>
              <a:t>份额加权界 β 与实际柔度误差之差 &lt; β 的 0.4%（面载）</a:t>
            </a:r>
          </a:p>
          <a:p>
            <a:pPr algn="l" marL="228600" indent="-201168">
              <a:spcAft>
                <a:spcPts val="600"/>
              </a:spcAft>
              <a:buFont typeface="Arial"/>
              <a:buChar char="•"/>
            </a:pPr>
            <a:r>
              <a:rPr sz="1400" b="0" i="0">
                <a:solidFill>
                  <a:srgbClr val="262626"/>
                </a:solidFill>
                <a:latin typeface="Arial"/>
                <a:ea typeface="Microsoft YaHei"/>
              </a:rPr>
              <a:t>格栅误差低于两胞最大误差：Eq. (7) 按能量份额加权</a:t>
            </a:r>
          </a:p>
        </p:txBody>
      </p:sp>
      <p:sp>
        <p:nvSpPr>
          <p:cNvPr id="11" name="TextBox 10"/>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论文第 5.8 节；参考解：装配精确凝聚矩阵，相对残差 ≤1.3×10⁻¹⁰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成本：约为 16 线程直接解的 1/10，单线程口径 57–77×</a:t>
            </a:r>
          </a:p>
        </p:txBody>
      </p:sp>
      <p:graphicFrame>
        <p:nvGraphicFramePr>
          <p:cNvPr id="3" name="Chart 2"/>
          <p:cNvGraphicFramePr>
            <a:graphicFrameLocks noGrp="1"/>
          </p:cNvGraphicFramePr>
          <p:nvPr/>
        </p:nvGraphicFramePr>
        <p:xfrm>
          <a:off x="457200" y="1005840"/>
          <a:ext cx="7223760" cy="5029200"/>
        </p:xfrm>
        <a:graphic>
          <a:graphicData uri="http://schemas.openxmlformats.org/drawingml/2006/chart">
            <c:chart xmlns:c="http://schemas.openxmlformats.org/drawingml/2006/chart" r:id="rId3"/>
          </a:graphicData>
        </a:graphic>
      </p:graphicFrame>
      <p:sp>
        <p:nvSpPr>
          <p:cNvPr id="4" name="Rounded Rectangle 3"/>
          <p:cNvSpPr/>
          <p:nvPr/>
        </p:nvSpPr>
        <p:spPr>
          <a:xfrm>
            <a:off x="8001000" y="1097280"/>
            <a:ext cx="3730752" cy="13716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01000" y="1170432"/>
            <a:ext cx="3730752"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≈10×</a:t>
            </a:r>
          </a:p>
        </p:txBody>
      </p:sp>
      <p:sp>
        <p:nvSpPr>
          <p:cNvPr id="6" name="TextBox 5"/>
          <p:cNvSpPr txBox="1"/>
          <p:nvPr/>
        </p:nvSpPr>
        <p:spPr>
          <a:xfrm>
            <a:off x="8092440" y="1847088"/>
            <a:ext cx="3547872" cy="59436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相对 16 线程直接解（868 / 1,042 s 对 79 / 105 s）</a:t>
            </a:r>
          </a:p>
        </p:txBody>
      </p:sp>
      <p:sp>
        <p:nvSpPr>
          <p:cNvPr id="7" name="Rounded Rectangle 6"/>
          <p:cNvSpPr/>
          <p:nvPr/>
        </p:nvSpPr>
        <p:spPr>
          <a:xfrm>
            <a:off x="8001000" y="2651760"/>
            <a:ext cx="3730752" cy="13716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1000" y="2724912"/>
            <a:ext cx="3730752"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57–77×</a:t>
            </a:r>
          </a:p>
        </p:txBody>
      </p:sp>
      <p:sp>
        <p:nvSpPr>
          <p:cNvPr id="9" name="TextBox 8"/>
          <p:cNvSpPr txBox="1"/>
          <p:nvPr/>
        </p:nvSpPr>
        <p:spPr>
          <a:xfrm>
            <a:off x="8092440" y="3401568"/>
            <a:ext cx="3547872" cy="59436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单线程口径（与 PIML 的串行基准一致）</a:t>
            </a:r>
          </a:p>
        </p:txBody>
      </p:sp>
      <p:sp>
        <p:nvSpPr>
          <p:cNvPr id="10" name="Rounded Rectangle 9"/>
          <p:cNvSpPr/>
          <p:nvPr/>
        </p:nvSpPr>
        <p:spPr>
          <a:xfrm>
            <a:off x="8001000" y="4206240"/>
            <a:ext cx="3730752" cy="13716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4279392"/>
            <a:ext cx="3730752" cy="685800"/>
          </a:xfrm>
          <a:prstGeom prst="rect">
            <a:avLst/>
          </a:prstGeom>
          <a:noFill/>
        </p:spPr>
        <p:txBody>
          <a:bodyPr wrap="square" lIns="73152" rIns="73152" tIns="36576" bIns="36576" anchor="ctr">
            <a:spAutoFit/>
          </a:bodyPr>
          <a:lstStyle/>
          <a:p>
            <a:pPr algn="ctr">
              <a:spcAft>
                <a:spcPts val="600"/>
              </a:spcAft>
            </a:pPr>
            <a:r>
              <a:rPr sz="3000" b="1" i="0">
                <a:solidFill>
                  <a:srgbClr val="C00000"/>
                </a:solidFill>
                <a:latin typeface="Arial"/>
                <a:ea typeface="Microsoft YaHei"/>
              </a:rPr>
              <a:t>66–81 GiB</a:t>
            </a:r>
          </a:p>
        </p:txBody>
      </p:sp>
      <p:sp>
        <p:nvSpPr>
          <p:cNvPr id="12" name="TextBox 11"/>
          <p:cNvSpPr txBox="1"/>
          <p:nvPr/>
        </p:nvSpPr>
        <p:spPr>
          <a:xfrm>
            <a:off x="8092440" y="4956048"/>
            <a:ext cx="3547872" cy="59436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八胞直接法 Cholesky 因子；NICE 显存峰值 9.2 GiB</a:t>
            </a:r>
          </a:p>
        </p:txBody>
      </p:sp>
      <p:sp>
        <p:nvSpPr>
          <p:cNvPr id="13" name="TextBox 12"/>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论文第 5.9 节，Table 5，Table ST12b；不同处理器：一块 GPU 对 16 个 CPU 线程，比较的是各自的部署方式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怎么读加速比：他们的 10²× 是拿两个数量级的误差换的</a:t>
            </a:r>
          </a:p>
        </p:txBody>
      </p:sp>
      <p:graphicFrame>
        <p:nvGraphicFramePr>
          <p:cNvPr id="3" name="Table 2"/>
          <p:cNvGraphicFramePr>
            <a:graphicFrameLocks noGrp="1"/>
          </p:cNvGraphicFramePr>
          <p:nvPr/>
        </p:nvGraphicFramePr>
        <p:xfrm>
          <a:off x="457200" y="1051560"/>
          <a:ext cx="11274549" cy="4096512"/>
        </p:xfrm>
        <a:graphic>
          <a:graphicData uri="http://schemas.openxmlformats.org/drawingml/2006/table">
            <a:tbl>
              <a:tblPr firstRow="0" bandRow="0">
                <a:tableStyleId>{5940675A-B579-460E-94D1-54222C63F5DA}</a:tableStyleId>
              </a:tblPr>
              <a:tblGrid>
                <a:gridCol w="2383238"/>
                <a:gridCol w="2658227"/>
                <a:gridCol w="3666520"/>
                <a:gridCol w="2566564"/>
              </a:tblGrid>
              <a:tr h="512064">
                <a:tc>
                  <a:txBody>
                    <a:bodyPr wrap="square"/>
                    <a:lstStyle/>
                    <a:p>
                      <a:r>
                        <a:rPr sz="1400" b="1" i="0">
                          <a:solidFill>
                            <a:srgbClr val="FFFFFF"/>
                          </a:solidFill>
                          <a:latin typeface="Arial"/>
                          <a:ea typeface="Microsoft YaHei"/>
                        </a:rPr>
                        <a:t>工作</a:t>
                      </a:r>
                    </a:p>
                  </a:txBody>
                  <a:tcPr marL="54864" marR="54864" marT="27432" marB="27432" anchor="ctr">
                    <a:solidFill>
                      <a:srgbClr val="C00000"/>
                    </a:solidFill>
                  </a:tcPr>
                </a:tc>
                <a:tc>
                  <a:txBody>
                    <a:bodyPr wrap="square"/>
                    <a:lstStyle/>
                    <a:p>
                      <a:r>
                        <a:rPr sz="1400" b="1" i="0">
                          <a:solidFill>
                            <a:srgbClr val="FFFFFF"/>
                          </a:solidFill>
                          <a:latin typeface="Arial"/>
                          <a:ea typeface="Microsoft YaHei"/>
                        </a:rPr>
                        <a:t>加速比</a:t>
                      </a:r>
                    </a:p>
                  </a:txBody>
                  <a:tcPr marL="54864" marR="54864" marT="27432" marB="27432" anchor="ctr">
                    <a:solidFill>
                      <a:srgbClr val="C00000"/>
                    </a:solidFill>
                  </a:tcPr>
                </a:tc>
                <a:tc>
                  <a:txBody>
                    <a:bodyPr wrap="square"/>
                    <a:lstStyle/>
                    <a:p>
                      <a:r>
                        <a:rPr sz="1400" b="1" i="0">
                          <a:solidFill>
                            <a:srgbClr val="FFFFFF"/>
                          </a:solidFill>
                          <a:latin typeface="Arial"/>
                          <a:ea typeface="Microsoft YaHei"/>
                        </a:rPr>
                        <a:t>相对细网格的精度</a:t>
                      </a:r>
                    </a:p>
                  </a:txBody>
                  <a:tcPr marL="54864" marR="54864" marT="27432" marB="27432" anchor="ctr">
                    <a:solidFill>
                      <a:srgbClr val="C00000"/>
                    </a:solidFill>
                  </a:tcPr>
                </a:tc>
                <a:tc>
                  <a:txBody>
                    <a:bodyPr wrap="square"/>
                    <a:lstStyle/>
                    <a:p>
                      <a:r>
                        <a:rPr sz="1400" b="1" i="0">
                          <a:solidFill>
                            <a:srgbClr val="FFFFFF"/>
                          </a:solidFill>
                          <a:latin typeface="Arial"/>
                          <a:ea typeface="Microsoft YaHei"/>
                        </a:rPr>
                        <a:t>基准</a:t>
                      </a:r>
                    </a:p>
                  </a:txBody>
                  <a:tcPr marL="54864" marR="54864" marT="27432" marB="27432" anchor="ctr">
                    <a:solidFill>
                      <a:srgbClr val="C00000"/>
                    </a:solidFill>
                  </a:tcPr>
                </a:tc>
              </a:tr>
              <a:tr h="512064">
                <a:tc>
                  <a:txBody>
                    <a:bodyPr wrap="square"/>
                    <a:lstStyle/>
                    <a:p>
                      <a:r>
                        <a:rPr sz="1400" b="0" i="0">
                          <a:solidFill>
                            <a:srgbClr val="262626"/>
                          </a:solidFill>
                          <a:latin typeface="Arial"/>
                          <a:ea typeface="Microsoft YaHei"/>
                        </a:rPr>
                        <a:t>EML 2023</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328–472×</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无全尺度误差表</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SIMP 前 10 步的平均</a:t>
                      </a:r>
                    </a:p>
                  </a:txBody>
                  <a:tcPr marL="54864" marR="54864" marT="27432" marB="27432" anchor="ctr">
                    <a:solidFill>
                      <a:srgbClr val="FFFFFF"/>
                    </a:solidFill>
                  </a:tcPr>
                </a:tc>
              </a:tr>
              <a:tr h="512064">
                <a:tc>
                  <a:txBody>
                    <a:bodyPr wrap="square"/>
                    <a:lstStyle/>
                    <a:p>
                      <a:r>
                        <a:rPr sz="1400" b="0" i="0">
                          <a:solidFill>
                            <a:srgbClr val="262626"/>
                          </a:solidFill>
                          <a:latin typeface="Arial"/>
                          <a:ea typeface="Microsoft YaHei"/>
                        </a:rPr>
                        <a:t>JMPS 2024</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&gt;230×</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柔度 −4.7%，位移 6.3%</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Matlab，串行</a:t>
                      </a:r>
                    </a:p>
                  </a:txBody>
                  <a:tcPr marL="54864" marR="54864" marT="27432" marB="27432" anchor="ctr">
                    <a:solidFill>
                      <a:srgbClr val="F7F7F7"/>
                    </a:solidFill>
                  </a:tcPr>
                </a:tc>
              </a:tr>
              <a:tr h="512064">
                <a:tc>
                  <a:txBody>
                    <a:bodyPr wrap="square"/>
                    <a:lstStyle/>
                    <a:p>
                      <a:r>
                        <a:rPr sz="1400" b="0" i="0">
                          <a:solidFill>
                            <a:srgbClr val="262626"/>
                          </a:solidFill>
                          <a:latin typeface="Arial"/>
                          <a:ea typeface="Microsoft YaHei"/>
                        </a:rPr>
                        <a:t>CMAME 2026</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设计迭代 7.4–63×</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位移 1.3–13.6%；集中载荷柔度 15–63%</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求解器未说明，串行</a:t>
                      </a:r>
                    </a:p>
                  </a:txBody>
                  <a:tcPr marL="54864" marR="54864" marT="27432" marB="27432" anchor="ctr">
                    <a:solidFill>
                      <a:srgbClr val="FFFFFF"/>
                    </a:solidFill>
                  </a:tcPr>
                </a:tc>
              </a:tr>
              <a:tr h="512064">
                <a:tc>
                  <a:txBody>
                    <a:bodyPr wrap="square"/>
                    <a:lstStyle/>
                    <a:p>
                      <a:r>
                        <a:rPr sz="1400" b="0" i="0">
                          <a:solidFill>
                            <a:srgbClr val="262626"/>
                          </a:solidFill>
                          <a:latin typeface="Arial"/>
                          <a:ea typeface="Microsoft YaHei"/>
                        </a:rPr>
                        <a:t>CMAME 2026 全节点方案</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7.3–7.5×</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位移 0.84–3.46%</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同上</a:t>
                      </a:r>
                    </a:p>
                  </a:txBody>
                  <a:tcPr marL="54864" marR="54864" marT="27432" marB="27432" anchor="ctr">
                    <a:solidFill>
                      <a:srgbClr val="F7F7F7"/>
                    </a:solidFill>
                  </a:tcPr>
                </a:tc>
              </a:tr>
              <a:tr h="512064">
                <a:tc>
                  <a:txBody>
                    <a:bodyPr wrap="square"/>
                    <a:lstStyle/>
                    <a:p>
                      <a:r>
                        <a:rPr sz="1400" b="0" i="0">
                          <a:solidFill>
                            <a:srgbClr val="262626"/>
                          </a:solidFill>
                          <a:latin typeface="Arial"/>
                          <a:ea typeface="Microsoft YaHei"/>
                        </a:rPr>
                        <a:t>CS 2026</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46×</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柔度 2.8–9.2%</a:t>
                      </a:r>
                    </a:p>
                  </a:txBody>
                  <a:tcPr marL="54864" marR="54864" marT="27432" marB="27432" anchor="ctr">
                    <a:solidFill>
                      <a:srgbClr val="FFFFFF"/>
                    </a:solidFill>
                  </a:tcPr>
                </a:tc>
                <a:tc>
                  <a:txBody>
                    <a:bodyPr wrap="square"/>
                    <a:lstStyle/>
                    <a:p>
                      <a:r>
                        <a:rPr sz="1400" b="0" i="0">
                          <a:solidFill>
                            <a:srgbClr val="262626"/>
                          </a:solidFill>
                          <a:latin typeface="Arial"/>
                          <a:ea typeface="Microsoft YaHei"/>
                        </a:rPr>
                        <a:t>PCG + 不完全 Cholesky</a:t>
                      </a:r>
                    </a:p>
                  </a:txBody>
                  <a:tcPr marL="54864" marR="54864" marT="27432" marB="27432" anchor="ctr">
                    <a:solidFill>
                      <a:srgbClr val="FFFFFF"/>
                    </a:solidFill>
                  </a:tcPr>
                </a:tc>
              </a:tr>
              <a:tr h="512064">
                <a:tc>
                  <a:txBody>
                    <a:bodyPr wrap="square"/>
                    <a:lstStyle/>
                    <a:p>
                      <a:r>
                        <a:rPr sz="1400" b="0" i="0">
                          <a:solidFill>
                            <a:srgbClr val="262626"/>
                          </a:solidFill>
                          <a:latin typeface="Arial"/>
                          <a:ea typeface="Microsoft YaHei"/>
                        </a:rPr>
                        <a:t>IJMS 2026</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70–129×</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柔度 −20.7%，应力约低估 5.3 倍</a:t>
                      </a:r>
                    </a:p>
                  </a:txBody>
                  <a:tcPr marL="54864" marR="54864" marT="27432" marB="27432" anchor="ctr">
                    <a:solidFill>
                      <a:srgbClr val="F7F7F7"/>
                    </a:solidFill>
                  </a:tcPr>
                </a:tc>
                <a:tc>
                  <a:txBody>
                    <a:bodyPr wrap="square"/>
                    <a:lstStyle/>
                    <a:p>
                      <a:r>
                        <a:rPr sz="1400" b="0" i="0">
                          <a:solidFill>
                            <a:srgbClr val="262626"/>
                          </a:solidFill>
                          <a:latin typeface="Arial"/>
                          <a:ea typeface="Microsoft YaHei"/>
                        </a:rPr>
                        <a:t>OptiStruct 32 核</a:t>
                      </a:r>
                    </a:p>
                  </a:txBody>
                  <a:tcPr marL="54864" marR="54864" marT="27432" marB="27432" anchor="ctr">
                    <a:solidFill>
                      <a:srgbClr val="F7F7F7"/>
                    </a:solidFill>
                  </a:tcPr>
                </a:tc>
              </a:tr>
              <a:tr h="512064">
                <a:tc>
                  <a:txBody>
                    <a:bodyPr wrap="square"/>
                    <a:lstStyle/>
                    <a:p>
                      <a:r>
                        <a:rPr sz="1400" b="1" i="0">
                          <a:solidFill>
                            <a:srgbClr val="0070C0"/>
                          </a:solidFill>
                          <a:latin typeface="Arial"/>
                          <a:ea typeface="Microsoft YaHei"/>
                        </a:rPr>
                        <a:t>NICE</a:t>
                      </a:r>
                    </a:p>
                  </a:txBody>
                  <a:tcPr marL="54864" marR="54864" marT="27432" marB="27432" anchor="ctr">
                    <a:solidFill>
                      <a:srgbClr val="EAF2FB"/>
                    </a:solidFill>
                  </a:tcPr>
                </a:tc>
                <a:tc>
                  <a:txBody>
                    <a:bodyPr wrap="square"/>
                    <a:lstStyle/>
                    <a:p>
                      <a:r>
                        <a:rPr sz="1400" b="1" i="0">
                          <a:solidFill>
                            <a:srgbClr val="262626"/>
                          </a:solidFill>
                          <a:latin typeface="Arial"/>
                          <a:ea typeface="Microsoft YaHei"/>
                        </a:rPr>
                        <a:t>≈10×（16 线程）；57–77×（单线程）</a:t>
                      </a:r>
                    </a:p>
                  </a:txBody>
                  <a:tcPr marL="54864" marR="54864" marT="27432" marB="27432" anchor="ctr">
                    <a:solidFill>
                      <a:srgbClr val="EAF2FB"/>
                    </a:solidFill>
                  </a:tcPr>
                </a:tc>
                <a:tc>
                  <a:txBody>
                    <a:bodyPr wrap="square"/>
                    <a:lstStyle/>
                    <a:p>
                      <a:r>
                        <a:rPr sz="1400" b="1" i="0">
                          <a:solidFill>
                            <a:srgbClr val="262626"/>
                          </a:solidFill>
                          <a:latin typeface="Arial"/>
                          <a:ea typeface="Microsoft YaHei"/>
                        </a:rPr>
                        <a:t>柔度 ≤0.015%，灵敏度 ≤0.14%</a:t>
                      </a:r>
                    </a:p>
                  </a:txBody>
                  <a:tcPr marL="54864" marR="54864" marT="27432" marB="27432" anchor="ctr">
                    <a:solidFill>
                      <a:srgbClr val="EAF2FB"/>
                    </a:solidFill>
                  </a:tcPr>
                </a:tc>
                <a:tc>
                  <a:txBody>
                    <a:bodyPr wrap="square"/>
                    <a:lstStyle/>
                    <a:p>
                      <a:r>
                        <a:rPr sz="1400" b="1" i="0">
                          <a:solidFill>
                            <a:srgbClr val="262626"/>
                          </a:solidFill>
                          <a:latin typeface="Arial"/>
                          <a:ea typeface="Microsoft YaHei"/>
                        </a:rPr>
                        <a:t>MKL PARDISO Cholesky + 常规精确凝聚</a:t>
                      </a:r>
                    </a:p>
                  </a:txBody>
                  <a:tcPr marL="54864" marR="54864" marT="27432" marB="27432" anchor="ctr">
                    <a:solidFill>
                      <a:srgbClr val="EAF2FB"/>
                    </a:solidFill>
                  </a:tcPr>
                </a:tc>
              </a:tr>
            </a:tbl>
          </a:graphicData>
        </a:graphic>
      </p:graphicFrame>
      <p:sp>
        <p:nvSpPr>
          <p:cNvPr id="4" name="TextBox 3"/>
          <p:cNvSpPr txBox="1"/>
          <p:nvPr/>
        </p:nvSpPr>
        <p:spPr>
          <a:xfrm>
            <a:off x="457200" y="5349240"/>
            <a:ext cx="11274552" cy="640080"/>
          </a:xfrm>
          <a:prstGeom prst="rect">
            <a:avLst/>
          </a:prstGeom>
          <a:solidFill>
            <a:srgbClr val="F2F2F2"/>
          </a:solidFill>
        </p:spPr>
        <p:txBody>
          <a:bodyPr wrap="square" lIns="182880" rIns="182880" tIns="36576" bIns="36576" anchor="ctr">
            <a:spAutoFit/>
          </a:bodyPr>
          <a:lstStyle/>
          <a:p>
            <a:pPr algn="l">
              <a:spcAft>
                <a:spcPts val="600"/>
              </a:spcAft>
            </a:pPr>
            <a:r>
              <a:rPr sz="1500" b="1" i="0">
                <a:solidFill>
                  <a:srgbClr val="C00000"/>
                </a:solidFill>
                <a:latin typeface="Arial"/>
                <a:ea typeface="Microsoft YaHei"/>
              </a:rPr>
              <a:t>要点：</a:t>
            </a:r>
            <a:r>
              <a:rPr sz="1500" b="0" i="0">
                <a:solidFill>
                  <a:srgbClr val="262626"/>
                </a:solidFill>
                <a:latin typeface="Arial"/>
                <a:ea typeface="Microsoft YaHei"/>
              </a:rPr>
              <a:t>同一精度档（全节点方案）他们只有 7×；正文不比 PIML 数值，被审稿人问到时按此表答（RESPONSE_PREP_SPEEDUP_CN.md）。</a:t>
            </a:r>
          </a:p>
        </p:txBody>
      </p:sp>
      <p:sp>
        <p:nvSpPr>
          <p:cNvPr id="5" name="TextBox 4"/>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来源：GUO_SERIES_COMPARISON_CN.md 第 2 节；本文 Table 5、ST12b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优化算例 A：与精确凝聚的孪生运行几乎重合</a:t>
            </a:r>
          </a:p>
        </p:txBody>
      </p:sp>
      <p:pic>
        <p:nvPicPr>
          <p:cNvPr id="3" name="Picture 2" descr="F13_optimisation.png"/>
          <p:cNvPicPr>
            <a:picLocks noChangeAspect="1"/>
          </p:cNvPicPr>
          <p:nvPr/>
        </p:nvPicPr>
        <p:blipFill>
          <a:blip r:embed="rId3"/>
          <a:srcRect r="50000"/>
          <a:stretch>
            <a:fillRect/>
          </a:stretch>
        </p:blipFill>
        <p:spPr>
          <a:xfrm>
            <a:off x="1116709" y="960120"/>
            <a:ext cx="5356100" cy="5120640"/>
          </a:xfrm>
          <a:prstGeom prst="rect">
            <a:avLst/>
          </a:prstGeom>
        </p:spPr>
      </p:pic>
      <p:sp>
        <p:nvSpPr>
          <p:cNvPr id="4" name="Rounded Rectangle 3"/>
          <p:cNvSpPr/>
          <p:nvPr/>
        </p:nvSpPr>
        <p:spPr>
          <a:xfrm>
            <a:off x="7406640" y="1051560"/>
            <a:ext cx="4325112" cy="1325880"/>
          </a:xfrm>
          <a:prstGeom prst="roundRect">
            <a:avLst>
              <a:gd name="adj" fmla="val 8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0" y="1124712"/>
            <a:ext cx="4325112" cy="685800"/>
          </a:xfrm>
          <a:prstGeom prst="rect">
            <a:avLst/>
          </a:prstGeom>
          <a:noFill/>
        </p:spPr>
        <p:txBody>
          <a:bodyPr wrap="square" lIns="73152" rIns="73152" tIns="36576" bIns="36576" anchor="ctr">
            <a:spAutoFit/>
          </a:bodyPr>
          <a:lstStyle/>
          <a:p>
            <a:pPr algn="ctr">
              <a:spcAft>
                <a:spcPts val="600"/>
              </a:spcAft>
            </a:pPr>
            <a:r>
              <a:rPr sz="3600" b="1" i="0">
                <a:solidFill>
                  <a:srgbClr val="0070C0"/>
                </a:solidFill>
                <a:latin typeface="Arial"/>
                <a:ea typeface="Microsoft YaHei"/>
              </a:rPr>
              <a:t>0.0051</a:t>
            </a:r>
          </a:p>
        </p:txBody>
      </p:sp>
      <p:sp>
        <p:nvSpPr>
          <p:cNvPr id="6" name="TextBox 5"/>
          <p:cNvSpPr txBox="1"/>
          <p:nvPr/>
        </p:nvSpPr>
        <p:spPr>
          <a:xfrm>
            <a:off x="7498079" y="1801367"/>
            <a:ext cx="4142232" cy="54864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与孪生设计的最大角点参数差</a:t>
            </a:r>
          </a:p>
        </p:txBody>
      </p:sp>
      <p:sp>
        <p:nvSpPr>
          <p:cNvPr id="7" name="TextBox 6"/>
          <p:cNvSpPr txBox="1"/>
          <p:nvPr/>
        </p:nvSpPr>
        <p:spPr>
          <a:xfrm>
            <a:off x="7406640" y="2560320"/>
            <a:ext cx="4325112" cy="3474720"/>
          </a:xfrm>
          <a:prstGeom prst="rect">
            <a:avLst/>
          </a:prstGeom>
          <a:noFill/>
        </p:spPr>
        <p:txBody>
          <a:bodyPr wrap="square" lIns="73152" rIns="73152" tIns="36576" bIns="36576" anchor="t">
            <a:spAutoFit/>
          </a:bodyPr>
          <a:lstStyle/>
          <a:p>
            <a:pPr algn="l" marL="228600" indent="-201168">
              <a:spcAft>
                <a:spcPts val="800"/>
              </a:spcAft>
              <a:buFont typeface="Arial"/>
              <a:buChar char="•"/>
            </a:pPr>
            <a:r>
              <a:rPr sz="1500" b="0" i="0">
                <a:solidFill>
                  <a:srgbClr val="262626"/>
                </a:solidFill>
                <a:latin typeface="Arial"/>
                <a:ea typeface="Microsoft YaHei"/>
              </a:rPr>
              <a:t>24 / 23 次迭代停止；柔度都降 2.0%，用料少 20%</a:t>
            </a:r>
          </a:p>
          <a:p>
            <a:pPr algn="l" marL="228600" indent="-201168">
              <a:spcAft>
                <a:spcPts val="800"/>
              </a:spcAft>
              <a:buFont typeface="Arial"/>
              <a:buChar char="•"/>
            </a:pPr>
            <a:r>
              <a:rPr sz="1500" b="0" i="0">
                <a:solidFill>
                  <a:srgbClr val="262626"/>
                </a:solidFill>
                <a:latin typeface="Arial"/>
                <a:ea typeface="Microsoft YaHei"/>
              </a:rPr>
              <a:t>柔度比精确值低 0.011–0.028%（符号由 Eq. (7) 给出）</a:t>
            </a:r>
          </a:p>
          <a:p>
            <a:pPr algn="l" marL="228600" indent="-201168">
              <a:spcAft>
                <a:spcPts val="800"/>
              </a:spcAft>
              <a:buFont typeface="Arial"/>
              <a:buChar char="•"/>
            </a:pPr>
            <a:r>
              <a:rPr sz="1500" b="0" i="0">
                <a:solidFill>
                  <a:srgbClr val="262626"/>
                </a:solidFill>
                <a:latin typeface="Arial"/>
                <a:ea typeface="Microsoft YaHei"/>
              </a:rPr>
              <a:t>梯度误差 ≤0.33%，余弦 ≥0.999996，每个分量符号正确</a:t>
            </a:r>
          </a:p>
          <a:p>
            <a:pPr algn="l" marL="228600" indent="-201168">
              <a:spcAft>
                <a:spcPts val="800"/>
              </a:spcAft>
              <a:buFont typeface="Arial"/>
              <a:buChar char="•"/>
            </a:pPr>
            <a:r>
              <a:rPr sz="1500" b="0" i="0">
                <a:solidFill>
                  <a:srgbClr val="262626"/>
                </a:solidFill>
                <a:latin typeface="Arial"/>
                <a:ea typeface="Microsoft YaHei"/>
              </a:rPr>
              <a:t>每对相邻迭代之间离散模型都发生切换，仍收敛到同一设计</a:t>
            </a:r>
          </a:p>
        </p:txBody>
      </p:sp>
      <p:sp>
        <p:nvSpPr>
          <p:cNvPr id="8" name="TextBox 7"/>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12a；第 5.10 节，Table ST16–ST17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切割固支板：均匀化低估柔度 27%，设计在真实几何上更软</a:t>
            </a:r>
          </a:p>
        </p:txBody>
      </p:sp>
      <p:pic>
        <p:nvPicPr>
          <p:cNvPr id="3" name="Picture 2" descr="F13_optimisation.png"/>
          <p:cNvPicPr>
            <a:picLocks noChangeAspect="1"/>
          </p:cNvPicPr>
          <p:nvPr/>
        </p:nvPicPr>
        <p:blipFill>
          <a:blip r:embed="rId3"/>
          <a:srcRect l="50000"/>
          <a:stretch>
            <a:fillRect/>
          </a:stretch>
        </p:blipFill>
        <p:spPr>
          <a:xfrm>
            <a:off x="1670085" y="960120"/>
            <a:ext cx="3060628" cy="2926080"/>
          </a:xfrm>
          <a:prstGeom prst="rect">
            <a:avLst/>
          </a:prstGeom>
        </p:spPr>
      </p:pic>
      <p:pic>
        <p:nvPicPr>
          <p:cNvPr id="4" name="Picture 3" descr="F14_designs_scale.png"/>
          <p:cNvPicPr>
            <a:picLocks noChangeAspect="1"/>
          </p:cNvPicPr>
          <p:nvPr/>
        </p:nvPicPr>
        <p:blipFill>
          <a:blip r:embed="rId4"/>
          <a:srcRect r="34000"/>
          <a:stretch>
            <a:fillRect/>
          </a:stretch>
        </p:blipFill>
        <p:spPr>
          <a:xfrm>
            <a:off x="1067454" y="3931920"/>
            <a:ext cx="4265891" cy="2194560"/>
          </a:xfrm>
          <a:prstGeom prst="rect">
            <a:avLst/>
          </a:prstGeom>
        </p:spPr>
      </p:pic>
      <p:sp>
        <p:nvSpPr>
          <p:cNvPr id="5" name="Rounded Rectangle 4"/>
          <p:cNvSpPr/>
          <p:nvPr/>
        </p:nvSpPr>
        <p:spPr>
          <a:xfrm>
            <a:off x="6263640" y="1051560"/>
            <a:ext cx="2606040" cy="141732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1124712"/>
            <a:ext cx="2606040"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27.0%</a:t>
            </a:r>
          </a:p>
        </p:txBody>
      </p:sp>
      <p:sp>
        <p:nvSpPr>
          <p:cNvPr id="7" name="TextBox 6"/>
          <p:cNvSpPr txBox="1"/>
          <p:nvPr/>
        </p:nvSpPr>
        <p:spPr>
          <a:xfrm>
            <a:off x="6355079" y="1801367"/>
            <a:ext cx="2423160" cy="64008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均匀化在初始设计上低估柔度</a:t>
            </a:r>
          </a:p>
        </p:txBody>
      </p:sp>
      <p:sp>
        <p:nvSpPr>
          <p:cNvPr id="8" name="Rounded Rectangle 7"/>
          <p:cNvSpPr/>
          <p:nvPr/>
        </p:nvSpPr>
        <p:spPr>
          <a:xfrm>
            <a:off x="9125712" y="1051560"/>
            <a:ext cx="2606040" cy="1417320"/>
          </a:xfrm>
          <a:prstGeom prst="roundRect">
            <a:avLst>
              <a:gd name="adj" fmla="val 8000"/>
            </a:avLst>
          </a:prstGeom>
          <a:solidFill>
            <a:srgbClr val="FB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25712" y="1124712"/>
            <a:ext cx="2606040"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2.44%</a:t>
            </a:r>
          </a:p>
        </p:txBody>
      </p:sp>
      <p:sp>
        <p:nvSpPr>
          <p:cNvPr id="10" name="TextBox 9"/>
          <p:cNvSpPr txBox="1"/>
          <p:nvPr/>
        </p:nvSpPr>
        <p:spPr>
          <a:xfrm>
            <a:off x="9217152" y="1801367"/>
            <a:ext cx="2423160" cy="64008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均匀化设计在切割几何上更软</a:t>
            </a:r>
          </a:p>
        </p:txBody>
      </p:sp>
      <p:sp>
        <p:nvSpPr>
          <p:cNvPr id="11" name="TextBox 10"/>
          <p:cNvSpPr txBox="1"/>
          <p:nvPr/>
        </p:nvSpPr>
        <p:spPr>
          <a:xfrm>
            <a:off x="6263640" y="2697480"/>
            <a:ext cx="5468112" cy="3291840"/>
          </a:xfrm>
          <a:prstGeom prst="rect">
            <a:avLst/>
          </a:prstGeom>
          <a:noFill/>
        </p:spPr>
        <p:txBody>
          <a:bodyPr wrap="square" lIns="73152" rIns="73152" tIns="36576" bIns="36576" anchor="t">
            <a:spAutoFit/>
          </a:bodyPr>
          <a:lstStyle/>
          <a:p>
            <a:pPr algn="l" marL="228600" indent="-201168">
              <a:spcAft>
                <a:spcPts val="700"/>
              </a:spcAft>
              <a:buFont typeface="Arial"/>
              <a:buChar char="•"/>
            </a:pPr>
            <a:r>
              <a:rPr sz="1500" b="0" i="0">
                <a:solidFill>
                  <a:srgbClr val="262626"/>
                </a:solidFill>
                <a:latin typeface="Arial"/>
                <a:ea typeface="Microsoft YaHei"/>
              </a:rPr>
              <a:t>24 胞（16 未切割 + 8 切割），切割带全部自由度固支：保留切割带直接表示，不重训</a:t>
            </a:r>
          </a:p>
          <a:p>
            <a:pPr algn="l" marL="228600" indent="-201168">
              <a:spcAft>
                <a:spcPts val="700"/>
              </a:spcAft>
              <a:buFont typeface="Arial"/>
              <a:buChar char="•"/>
            </a:pPr>
            <a:r>
              <a:rPr sz="1500" b="0" i="0">
                <a:solidFill>
                  <a:srgbClr val="262626"/>
                </a:solidFill>
                <a:latin typeface="Arial"/>
                <a:ea typeface="Microsoft YaHei"/>
              </a:rPr>
              <a:t>精确柔度：均匀化设计 80.198，NICE 设计 78.287；用 NICE 或精确凝聚评估结论相同</a:t>
            </a:r>
          </a:p>
          <a:p>
            <a:pPr algn="l" marL="228600" indent="-201168">
              <a:spcAft>
                <a:spcPts val="700"/>
              </a:spcAft>
              <a:buFont typeface="Arial"/>
              <a:buChar char="•"/>
            </a:pPr>
            <a:r>
              <a:rPr sz="1500" b="0" i="0">
                <a:solidFill>
                  <a:srgbClr val="262626"/>
                </a:solidFill>
                <a:latin typeface="Arial"/>
                <a:ea typeface="Microsoft YaHei"/>
              </a:rPr>
              <a:t>两设计角点参数最多相差 0.26（相关系数 0.95）</a:t>
            </a:r>
          </a:p>
          <a:p>
            <a:pPr algn="l" marL="228600" indent="-201168">
              <a:spcAft>
                <a:spcPts val="700"/>
              </a:spcAft>
              <a:buFont typeface="Arial"/>
              <a:buChar char="•"/>
            </a:pPr>
            <a:r>
              <a:rPr sz="1500" b="0" i="0">
                <a:solidFill>
                  <a:srgbClr val="262626"/>
                </a:solidFill>
                <a:latin typeface="Arial"/>
                <a:ea typeface="Microsoft YaHei"/>
              </a:rPr>
              <a:t>NICE 柔度误差 ≤0.030%，梯度误差 ≤0.30%；24 次迭代共 1.3 h</a:t>
            </a:r>
          </a:p>
        </p:txBody>
      </p:sp>
      <p:sp>
        <p:nvSpPr>
          <p:cNvPr id="12" name="TextBox 11"/>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图：论文 Fig. 12b、Fig. 13a,b；第 5.10 节，Table ST18c、ST21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规模：每次设计迭代耗时与胞数成正比，每胞约 10.7 s</a:t>
            </a:r>
          </a:p>
        </p:txBody>
      </p:sp>
      <p:graphicFrame>
        <p:nvGraphicFramePr>
          <p:cNvPr id="3" name="Chart 2"/>
          <p:cNvGraphicFramePr>
            <a:graphicFrameLocks noGrp="1"/>
          </p:cNvGraphicFramePr>
          <p:nvPr/>
        </p:nvGraphicFramePr>
        <p:xfrm>
          <a:off x="457200" y="1005840"/>
          <a:ext cx="6766560" cy="5029200"/>
        </p:xfrm>
        <a:graphic>
          <a:graphicData uri="http://schemas.openxmlformats.org/drawingml/2006/chart">
            <c:chart xmlns:c="http://schemas.openxmlformats.org/drawingml/2006/chart" r:id="rId3"/>
          </a:graphicData>
        </a:graphic>
      </p:graphicFrame>
      <p:sp>
        <p:nvSpPr>
          <p:cNvPr id="4" name="Rounded Rectangle 3"/>
          <p:cNvSpPr/>
          <p:nvPr/>
        </p:nvSpPr>
        <p:spPr>
          <a:xfrm>
            <a:off x="7498079" y="1051560"/>
            <a:ext cx="4233672"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79" y="1124712"/>
            <a:ext cx="4233672"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10.7 s / 胞</a:t>
            </a:r>
          </a:p>
        </p:txBody>
      </p:sp>
      <p:sp>
        <p:nvSpPr>
          <p:cNvPr id="6" name="TextBox 5"/>
          <p:cNvSpPr txBox="1"/>
          <p:nvPr/>
        </p:nvSpPr>
        <p:spPr>
          <a:xfrm>
            <a:off x="7589519" y="1801367"/>
            <a:ext cx="4050791" cy="54864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每次设计迭代（10.1–10.9 s）</a:t>
            </a:r>
          </a:p>
        </p:txBody>
      </p:sp>
      <p:sp>
        <p:nvSpPr>
          <p:cNvPr id="7" name="Rounded Rectangle 6"/>
          <p:cNvSpPr/>
          <p:nvPr/>
        </p:nvSpPr>
        <p:spPr>
          <a:xfrm>
            <a:off x="7498079" y="2560320"/>
            <a:ext cx="4233672"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2633472"/>
            <a:ext cx="4233672" cy="685800"/>
          </a:xfrm>
          <a:prstGeom prst="rect">
            <a:avLst/>
          </a:prstGeom>
          <a:noFill/>
        </p:spPr>
        <p:txBody>
          <a:bodyPr wrap="square" lIns="73152" rIns="73152" tIns="36576" bIns="36576" anchor="ctr">
            <a:spAutoFit/>
          </a:bodyPr>
          <a:lstStyle/>
          <a:p>
            <a:pPr algn="ctr">
              <a:spcAft>
                <a:spcPts val="600"/>
              </a:spcAft>
            </a:pPr>
            <a:r>
              <a:rPr sz="3600" b="1" i="0">
                <a:solidFill>
                  <a:srgbClr val="C00000"/>
                </a:solidFill>
                <a:latin typeface="Arial"/>
                <a:ea typeface="Microsoft YaHei"/>
              </a:rPr>
              <a:t>0.7 GiB / 胞</a:t>
            </a:r>
          </a:p>
        </p:txBody>
      </p:sp>
      <p:sp>
        <p:nvSpPr>
          <p:cNvPr id="9" name="TextBox 8"/>
          <p:cNvSpPr txBox="1"/>
          <p:nvPr/>
        </p:nvSpPr>
        <p:spPr>
          <a:xfrm>
            <a:off x="7589519" y="3310127"/>
            <a:ext cx="4050791" cy="548640"/>
          </a:xfrm>
          <a:prstGeom prst="rect">
            <a:avLst/>
          </a:prstGeom>
          <a:noFill/>
        </p:spPr>
        <p:txBody>
          <a:bodyPr wrap="square" lIns="73152" rIns="73152" tIns="36576" bIns="36576" anchor="t">
            <a:spAutoFit/>
          </a:bodyPr>
          <a:lstStyle/>
          <a:p>
            <a:pPr algn="ctr">
              <a:spcAft>
                <a:spcPts val="600"/>
              </a:spcAft>
            </a:pPr>
            <a:r>
              <a:rPr sz="1400" b="0" i="0">
                <a:solidFill>
                  <a:srgbClr val="595959"/>
                </a:solidFill>
                <a:latin typeface="Arial"/>
                <a:ea typeface="Microsoft YaHei"/>
              </a:rPr>
              <a:t>CPU 内存线性增长</a:t>
            </a:r>
          </a:p>
        </p:txBody>
      </p:sp>
      <p:sp>
        <p:nvSpPr>
          <p:cNvPr id="10" name="TextBox 9"/>
          <p:cNvSpPr txBox="1"/>
          <p:nvPr/>
        </p:nvSpPr>
        <p:spPr>
          <a:xfrm>
            <a:off x="7498079" y="4069080"/>
            <a:ext cx="4233672" cy="1920240"/>
          </a:xfrm>
          <a:prstGeom prst="rect">
            <a:avLst/>
          </a:prstGeom>
          <a:noFill/>
        </p:spPr>
        <p:txBody>
          <a:bodyPr wrap="square" lIns="73152" rIns="73152" tIns="36576" bIns="36576" anchor="t">
            <a:spAutoFit/>
          </a:bodyPr>
          <a:lstStyle/>
          <a:p>
            <a:pPr algn="l" marL="228600" indent="-201168">
              <a:spcAft>
                <a:spcPts val="600"/>
              </a:spcAft>
              <a:buFont typeface="Arial"/>
              <a:buChar char="•"/>
            </a:pPr>
            <a:r>
              <a:rPr sz="1400" b="0" i="0">
                <a:solidFill>
                  <a:srgbClr val="262626"/>
                </a:solidFill>
                <a:latin typeface="Arial"/>
                <a:ea typeface="Microsoft YaHei"/>
              </a:rPr>
              <a:t>650 万–3270 万自由度，凝聚为 39 万–162 万自由保留自由度</a:t>
            </a:r>
          </a:p>
          <a:p>
            <a:pPr algn="l" marL="228600" indent="-201168">
              <a:spcAft>
                <a:spcPts val="600"/>
              </a:spcAft>
              <a:buFont typeface="Arial"/>
              <a:buChar char="•"/>
            </a:pPr>
            <a:r>
              <a:rPr sz="1400" b="0" i="0">
                <a:solidFill>
                  <a:srgbClr val="262626"/>
                </a:solidFill>
                <a:latin typeface="Arial"/>
                <a:ea typeface="Microsoft YaHei"/>
              </a:rPr>
              <a:t>上限在预条件子里 K_PP 的直接分解，不在学习胞</a:t>
            </a:r>
          </a:p>
          <a:p>
            <a:pPr algn="l" marL="228600" indent="-201168">
              <a:spcAft>
                <a:spcPts val="600"/>
              </a:spcAft>
              <a:buFont typeface="Arial"/>
              <a:buChar char="•"/>
            </a:pPr>
            <a:r>
              <a:rPr sz="1400" b="0" i="0">
                <a:solidFill>
                  <a:srgbClr val="262626"/>
                </a:solidFill>
                <a:latin typeface="Arial"/>
                <a:ea typeface="Microsoft YaHei"/>
              </a:rPr>
              <a:t>24 胞以上没有做精确核对</a:t>
            </a:r>
          </a:p>
        </p:txBody>
      </p:sp>
      <p:sp>
        <p:nvSpPr>
          <p:cNvPr id="11" name="TextBox 10"/>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论文第 5.10 节，Fig. 13c，Table ST20（每个规模跑前 4 次设计迭代）</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局限与审稿人可能的追问</a:t>
            </a:r>
          </a:p>
        </p:txBody>
      </p:sp>
      <p:sp>
        <p:nvSpPr>
          <p:cNvPr id="3" name="Rounded Rectangle 2"/>
          <p:cNvSpPr/>
          <p:nvPr/>
        </p:nvSpPr>
        <p:spPr>
          <a:xfrm>
            <a:off x="457200" y="1097280"/>
            <a:ext cx="5440680" cy="35661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5221224"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局限（6.4 节已如实写出）</a:t>
            </a:r>
          </a:p>
        </p:txBody>
      </p:sp>
      <p:sp>
        <p:nvSpPr>
          <p:cNvPr id="5" name="TextBox 4"/>
          <p:cNvSpPr txBox="1"/>
          <p:nvPr/>
        </p:nvSpPr>
        <p:spPr>
          <a:xfrm>
            <a:off x="566928" y="1627631"/>
            <a:ext cx="5221224" cy="29626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一种胞族（Schwarz-P）、一种离散（n = 32）；网络不等变</a:t>
            </a:r>
          </a:p>
          <a:p>
            <a:pPr algn="l" marL="228600" indent="-201168">
              <a:spcAft>
                <a:spcPts val="400"/>
              </a:spcAft>
              <a:buFont typeface="Arial"/>
              <a:buChar char="•"/>
            </a:pPr>
            <a:r>
              <a:rPr sz="1500" b="0" i="0">
                <a:solidFill>
                  <a:srgbClr val="262626"/>
                </a:solidFill>
                <a:latin typeface="Arial"/>
                <a:ea typeface="Microsoft YaHei"/>
              </a:rPr>
              <a:t>没有认证误差界，只有可计算残差</a:t>
            </a:r>
          </a:p>
          <a:p>
            <a:pPr algn="l" marL="228600" indent="-201168">
              <a:spcAft>
                <a:spcPts val="400"/>
              </a:spcAft>
              <a:buFont typeface="Arial"/>
              <a:buChar char="•"/>
            </a:pPr>
            <a:r>
              <a:rPr sz="1500" b="0" i="0">
                <a:solidFill>
                  <a:srgbClr val="262626"/>
                </a:solidFill>
                <a:latin typeface="Arial"/>
                <a:ea typeface="Microsoft YaHei"/>
              </a:rPr>
              <a:t>灵敏度为场基估计，省略延拓的设计导数</a:t>
            </a:r>
          </a:p>
          <a:p>
            <a:pPr algn="l" marL="228600" indent="-201168">
              <a:spcAft>
                <a:spcPts val="400"/>
              </a:spcAft>
              <a:buFont typeface="Arial"/>
              <a:buChar char="•"/>
            </a:pPr>
            <a:r>
              <a:rPr sz="1500" b="0" i="0">
                <a:solidFill>
                  <a:srgbClr val="262626"/>
                </a:solidFill>
                <a:latin typeface="Arial"/>
                <a:ea typeface="Microsoft YaHei"/>
              </a:rPr>
              <a:t>24 胞以上无精确核对；未与 AMG、BDDC 比较</a:t>
            </a:r>
          </a:p>
          <a:p>
            <a:pPr algn="l" marL="228600" indent="-201168">
              <a:spcAft>
                <a:spcPts val="400"/>
              </a:spcAft>
              <a:buFont typeface="Arial"/>
              <a:buChar char="•"/>
            </a:pPr>
            <a:r>
              <a:rPr sz="1500" b="0" i="0">
                <a:solidFill>
                  <a:srgbClr val="262626"/>
                </a:solidFill>
                <a:latin typeface="Arial"/>
                <a:ea typeface="Microsoft YaHei"/>
              </a:rPr>
              <a:t>训练对比只用一个随机种子</a:t>
            </a:r>
          </a:p>
        </p:txBody>
      </p:sp>
      <p:sp>
        <p:nvSpPr>
          <p:cNvPr id="6" name="Rounded Rectangle 5"/>
          <p:cNvSpPr/>
          <p:nvPr/>
        </p:nvSpPr>
        <p:spPr>
          <a:xfrm>
            <a:off x="6291072" y="1097280"/>
            <a:ext cx="5440680" cy="3566160"/>
          </a:xfrm>
          <a:prstGeom prst="roundRect">
            <a:avLst>
              <a:gd name="adj" fmla="val 6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170432"/>
            <a:ext cx="5221224" cy="457200"/>
          </a:xfrm>
          <a:prstGeom prst="rect">
            <a:avLst/>
          </a:prstGeom>
          <a:noFill/>
        </p:spPr>
        <p:txBody>
          <a:bodyPr wrap="square" lIns="73152" rIns="73152" tIns="36576" bIns="36576" anchor="t">
            <a:spAutoFit/>
          </a:bodyPr>
          <a:lstStyle/>
          <a:p>
            <a:pPr algn="l">
              <a:spcAft>
                <a:spcPts val="600"/>
              </a:spcAft>
            </a:pPr>
            <a:r>
              <a:rPr sz="1700" b="1" i="0">
                <a:solidFill>
                  <a:srgbClr val="0070C0"/>
                </a:solidFill>
                <a:latin typeface="Arial"/>
                <a:ea typeface="Microsoft YaHei"/>
              </a:rPr>
              <a:t>可能的追问 → 已备答复</a:t>
            </a:r>
          </a:p>
        </p:txBody>
      </p:sp>
      <p:sp>
        <p:nvSpPr>
          <p:cNvPr id="8" name="TextBox 7"/>
          <p:cNvSpPr txBox="1"/>
          <p:nvPr/>
        </p:nvSpPr>
        <p:spPr>
          <a:xfrm>
            <a:off x="6400800" y="1627631"/>
            <a:ext cx="5221224" cy="29626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1" i="0">
                <a:solidFill>
                  <a:srgbClr val="262626"/>
                </a:solidFill>
                <a:latin typeface="Arial"/>
                <a:ea typeface="Microsoft YaHei"/>
              </a:rPr>
              <a:t>"加速只有 10×"</a:t>
            </a:r>
            <a:r>
              <a:rPr sz="1500" b="0" i="0">
                <a:solidFill>
                  <a:srgbClr val="262626"/>
                </a:solidFill>
                <a:latin typeface="Arial"/>
                <a:ea typeface="Microsoft YaHei"/>
              </a:rPr>
              <a:t>→ 精度层级不同；同精度档他们 7×；基准强度不同（单线程口径 57–77×）</a:t>
            </a:r>
          </a:p>
          <a:p>
            <a:pPr algn="l" marL="228600" indent="-201168">
              <a:spcAft>
                <a:spcPts val="400"/>
              </a:spcAft>
              <a:buFont typeface="Arial"/>
              <a:buChar char="•"/>
            </a:pPr>
            <a:r>
              <a:rPr sz="1500" b="1" i="0">
                <a:solidFill>
                  <a:srgbClr val="262626"/>
                </a:solidFill>
                <a:latin typeface="Arial"/>
                <a:ea typeface="Microsoft YaHei"/>
              </a:rPr>
              <a:t>"只有一种胞族"</a:t>
            </a:r>
            <a:r>
              <a:rPr sz="1500" b="0" i="0">
                <a:solidFill>
                  <a:srgbClr val="262626"/>
                </a:solidFill>
                <a:latin typeface="Arial"/>
                <a:ea typeface="Microsoft YaHei"/>
              </a:rPr>
              <a:t>→ 构造与误差关系通用，网络适用范围 6.4 节写明</a:t>
            </a:r>
          </a:p>
          <a:p>
            <a:pPr algn="l" marL="228600" indent="-201168">
              <a:spcAft>
                <a:spcPts val="400"/>
              </a:spcAft>
              <a:buFont typeface="Arial"/>
              <a:buChar char="•"/>
            </a:pPr>
            <a:r>
              <a:rPr sz="1500" b="1" i="0">
                <a:solidFill>
                  <a:srgbClr val="262626"/>
                </a:solidFill>
                <a:latin typeface="Arial"/>
                <a:ea typeface="Microsoft YaHei"/>
              </a:rPr>
              <a:t>"一个种子"</a:t>
            </a:r>
            <a:r>
              <a:rPr sz="1500" b="0" i="0">
                <a:solidFill>
                  <a:srgbClr val="262626"/>
                </a:solidFill>
                <a:latin typeface="Arial"/>
                <a:ea typeface="Microsoft YaHei"/>
              </a:rPr>
              <a:t>→ 如实写出；被要求可补多种子（GPU 约 1–2 天）</a:t>
            </a:r>
          </a:p>
          <a:p>
            <a:pPr algn="l" marL="228600" indent="-201168">
              <a:spcAft>
                <a:spcPts val="400"/>
              </a:spcAft>
              <a:buFont typeface="Arial"/>
              <a:buChar char="•"/>
            </a:pPr>
            <a:r>
              <a:rPr sz="1500" b="1" i="0">
                <a:solidFill>
                  <a:srgbClr val="262626"/>
                </a:solidFill>
                <a:latin typeface="Arial"/>
                <a:ea typeface="Microsoft YaHei"/>
              </a:rPr>
              <a:t>"没比 AMG / BDDC"</a:t>
            </a:r>
            <a:r>
              <a:rPr sz="1500" b="0" i="0">
                <a:solidFill>
                  <a:srgbClr val="262626"/>
                </a:solidFill>
                <a:latin typeface="Arial"/>
                <a:ea typeface="Microsoft YaHei"/>
              </a:rPr>
              <a:t>→ 已写明；属于后续"精确求解器加速"方向</a:t>
            </a:r>
          </a:p>
        </p:txBody>
      </p:sp>
      <p:sp>
        <p:nvSpPr>
          <p:cNvPr id="9" name="TextBox 8"/>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论文第 6.4 节；review_r1/RESPONSE_PREP_SPEEDUP_CN.md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投稿计划：CMAME，同时挂 arXiv</a:t>
            </a:r>
          </a:p>
        </p:txBody>
      </p:sp>
      <p:sp>
        <p:nvSpPr>
          <p:cNvPr id="3" name="Rounded Rectangle 2"/>
          <p:cNvSpPr/>
          <p:nvPr/>
        </p:nvSpPr>
        <p:spPr>
          <a:xfrm>
            <a:off x="457200" y="1371600"/>
            <a:ext cx="2510028" cy="22860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444752"/>
            <a:ext cx="2290572" cy="457200"/>
          </a:xfrm>
          <a:prstGeom prst="rect">
            <a:avLst/>
          </a:prstGeom>
          <a:noFill/>
        </p:spPr>
        <p:txBody>
          <a:bodyPr wrap="square" lIns="73152" rIns="73152" tIns="36576" bIns="36576" anchor="t">
            <a:spAutoFit/>
          </a:bodyPr>
          <a:lstStyle/>
          <a:p>
            <a:pPr algn="l">
              <a:spcAft>
                <a:spcPts val="600"/>
              </a:spcAft>
            </a:pPr>
            <a:r>
              <a:rPr sz="1600" b="1" i="0">
                <a:solidFill>
                  <a:srgbClr val="C00000"/>
                </a:solidFill>
                <a:latin typeface="Arial"/>
                <a:ea typeface="Microsoft YaHei"/>
              </a:rPr>
              <a:t>1  作者信息与声明</a:t>
            </a:r>
          </a:p>
        </p:txBody>
      </p:sp>
      <p:sp>
        <p:nvSpPr>
          <p:cNvPr id="5" name="TextBox 4"/>
          <p:cNvSpPr txBox="1"/>
          <p:nvPr/>
        </p:nvSpPr>
        <p:spPr>
          <a:xfrm>
            <a:off x="566928" y="1901952"/>
            <a:ext cx="2290572" cy="1682495"/>
          </a:xfrm>
          <a:prstGeom prst="rect">
            <a:avLst/>
          </a:prstGeom>
          <a:noFill/>
        </p:spPr>
        <p:txBody>
          <a:bodyPr wrap="square" lIns="73152" rIns="73152" tIns="36576" bIns="36576" anchor="t">
            <a:spAutoFit/>
          </a:bodyPr>
          <a:lstStyle/>
          <a:p>
            <a:pPr algn="l">
              <a:spcAft>
                <a:spcPts val="400"/>
              </a:spcAft>
            </a:pPr>
            <a:r>
              <a:rPr sz="1500" b="0" i="0">
                <a:solidFill>
                  <a:srgbClr val="262626"/>
                </a:solidFill>
                <a:latin typeface="Arial"/>
                <a:ea typeface="Microsoft YaHei"/>
              </a:rPr>
              <a:t>作者、单位、CRediT、利益冲突、致谢、AI 使用声明（作者本人填写）</a:t>
            </a:r>
          </a:p>
        </p:txBody>
      </p:sp>
      <p:sp>
        <p:nvSpPr>
          <p:cNvPr id="6" name="Right Arrow 5"/>
          <p:cNvSpPr/>
          <p:nvPr/>
        </p:nvSpPr>
        <p:spPr>
          <a:xfrm>
            <a:off x="3031236" y="2331720"/>
            <a:ext cx="283464" cy="347472"/>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78708" y="1371600"/>
            <a:ext cx="2510028" cy="22860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88436" y="1444752"/>
            <a:ext cx="2290572" cy="457200"/>
          </a:xfrm>
          <a:prstGeom prst="rect">
            <a:avLst/>
          </a:prstGeom>
          <a:noFill/>
        </p:spPr>
        <p:txBody>
          <a:bodyPr wrap="square" lIns="73152" rIns="73152" tIns="36576" bIns="36576" anchor="t">
            <a:spAutoFit/>
          </a:bodyPr>
          <a:lstStyle/>
          <a:p>
            <a:pPr algn="l">
              <a:spcAft>
                <a:spcPts val="600"/>
              </a:spcAft>
            </a:pPr>
            <a:r>
              <a:rPr sz="1600" b="1" i="0">
                <a:solidFill>
                  <a:srgbClr val="C00000"/>
                </a:solidFill>
                <a:latin typeface="Arial"/>
                <a:ea typeface="Microsoft YaHei"/>
              </a:rPr>
              <a:t>2  通读定稿</a:t>
            </a:r>
          </a:p>
        </p:txBody>
      </p:sp>
      <p:sp>
        <p:nvSpPr>
          <p:cNvPr id="9" name="TextBox 8"/>
          <p:cNvSpPr txBox="1"/>
          <p:nvPr/>
        </p:nvSpPr>
        <p:spPr>
          <a:xfrm>
            <a:off x="3488436" y="1901952"/>
            <a:ext cx="2290572" cy="1682495"/>
          </a:xfrm>
          <a:prstGeom prst="rect">
            <a:avLst/>
          </a:prstGeom>
          <a:noFill/>
        </p:spPr>
        <p:txBody>
          <a:bodyPr wrap="square" lIns="73152" rIns="73152" tIns="36576" bIns="36576" anchor="t">
            <a:spAutoFit/>
          </a:bodyPr>
          <a:lstStyle/>
          <a:p>
            <a:pPr algn="l">
              <a:spcAft>
                <a:spcPts val="400"/>
              </a:spcAft>
            </a:pPr>
            <a:r>
              <a:rPr sz="1500" b="0" i="0">
                <a:solidFill>
                  <a:srgbClr val="262626"/>
                </a:solidFill>
                <a:latin typeface="Arial"/>
                <a:ea typeface="Microsoft YaHei"/>
              </a:rPr>
              <a:t>中英文版、Word 版均已就绪，可分工通读</a:t>
            </a:r>
          </a:p>
        </p:txBody>
      </p:sp>
      <p:sp>
        <p:nvSpPr>
          <p:cNvPr id="10" name="Right Arrow 9"/>
          <p:cNvSpPr/>
          <p:nvPr/>
        </p:nvSpPr>
        <p:spPr>
          <a:xfrm>
            <a:off x="5952744" y="2331720"/>
            <a:ext cx="283464" cy="347472"/>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0216" y="1371600"/>
            <a:ext cx="2510028" cy="22860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444752"/>
            <a:ext cx="2290572" cy="457200"/>
          </a:xfrm>
          <a:prstGeom prst="rect">
            <a:avLst/>
          </a:prstGeom>
          <a:noFill/>
        </p:spPr>
        <p:txBody>
          <a:bodyPr wrap="square" lIns="73152" rIns="73152" tIns="36576" bIns="36576" anchor="t">
            <a:spAutoFit/>
          </a:bodyPr>
          <a:lstStyle/>
          <a:p>
            <a:pPr algn="l">
              <a:spcAft>
                <a:spcPts val="600"/>
              </a:spcAft>
            </a:pPr>
            <a:r>
              <a:rPr sz="1600" b="1" i="0">
                <a:solidFill>
                  <a:srgbClr val="C00000"/>
                </a:solidFill>
                <a:latin typeface="Arial"/>
                <a:ea typeface="Microsoft YaHei"/>
              </a:rPr>
              <a:t>3  （可选）预投稿咨询</a:t>
            </a:r>
          </a:p>
        </p:txBody>
      </p:sp>
      <p:sp>
        <p:nvSpPr>
          <p:cNvPr id="13" name="TextBox 12"/>
          <p:cNvSpPr txBox="1"/>
          <p:nvPr/>
        </p:nvSpPr>
        <p:spPr>
          <a:xfrm>
            <a:off x="6409944" y="1901952"/>
            <a:ext cx="2290572" cy="1682495"/>
          </a:xfrm>
          <a:prstGeom prst="rect">
            <a:avLst/>
          </a:prstGeom>
          <a:noFill/>
        </p:spPr>
        <p:txBody>
          <a:bodyPr wrap="square" lIns="73152" rIns="73152" tIns="36576" bIns="36576" anchor="t">
            <a:spAutoFit/>
          </a:bodyPr>
          <a:lstStyle/>
          <a:p>
            <a:pPr algn="l">
              <a:spcAft>
                <a:spcPts val="400"/>
              </a:spcAft>
            </a:pPr>
            <a:r>
              <a:rPr sz="1500" b="0" i="0">
                <a:solidFill>
                  <a:srgbClr val="262626"/>
                </a:solidFill>
                <a:latin typeface="Arial"/>
                <a:ea typeface="Microsoft YaHei"/>
              </a:rPr>
              <a:t>Nature Computational Science，1–2 周回复；预期建议转专业期刊</a:t>
            </a:r>
          </a:p>
        </p:txBody>
      </p:sp>
      <p:sp>
        <p:nvSpPr>
          <p:cNvPr id="14" name="Right Arrow 13"/>
          <p:cNvSpPr/>
          <p:nvPr/>
        </p:nvSpPr>
        <p:spPr>
          <a:xfrm>
            <a:off x="8874252" y="2331720"/>
            <a:ext cx="283464" cy="347472"/>
          </a:xfrm>
          <a:prstGeom prst="right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221724" y="1371600"/>
            <a:ext cx="2510028" cy="2286000"/>
          </a:xfrm>
          <a:prstGeom prst="roundRect">
            <a:avLst>
              <a:gd name="adj" fmla="val 6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31452" y="1444752"/>
            <a:ext cx="2290572" cy="457200"/>
          </a:xfrm>
          <a:prstGeom prst="rect">
            <a:avLst/>
          </a:prstGeom>
          <a:noFill/>
        </p:spPr>
        <p:txBody>
          <a:bodyPr wrap="square" lIns="73152" rIns="73152" tIns="36576" bIns="36576" anchor="t">
            <a:spAutoFit/>
          </a:bodyPr>
          <a:lstStyle/>
          <a:p>
            <a:pPr algn="l">
              <a:spcAft>
                <a:spcPts val="600"/>
              </a:spcAft>
            </a:pPr>
            <a:r>
              <a:rPr sz="1600" b="1" i="0">
                <a:solidFill>
                  <a:srgbClr val="0070C0"/>
                </a:solidFill>
                <a:latin typeface="Arial"/>
                <a:ea typeface="Microsoft YaHei"/>
              </a:rPr>
              <a:t>4  投 CMAME + arXiv</a:t>
            </a:r>
          </a:p>
        </p:txBody>
      </p:sp>
      <p:sp>
        <p:nvSpPr>
          <p:cNvPr id="17" name="TextBox 16"/>
          <p:cNvSpPr txBox="1"/>
          <p:nvPr/>
        </p:nvSpPr>
        <p:spPr>
          <a:xfrm>
            <a:off x="9331452" y="1901952"/>
            <a:ext cx="2290572" cy="1682495"/>
          </a:xfrm>
          <a:prstGeom prst="rect">
            <a:avLst/>
          </a:prstGeom>
          <a:noFill/>
        </p:spPr>
        <p:txBody>
          <a:bodyPr wrap="square" lIns="73152" rIns="73152" tIns="36576" bIns="36576" anchor="t">
            <a:spAutoFit/>
          </a:bodyPr>
          <a:lstStyle/>
          <a:p>
            <a:pPr algn="l">
              <a:spcAft>
                <a:spcPts val="400"/>
              </a:spcAft>
            </a:pPr>
            <a:r>
              <a:rPr sz="1500" b="0" i="0">
                <a:solidFill>
                  <a:srgbClr val="262626"/>
                </a:solidFill>
                <a:latin typeface="Arial"/>
                <a:ea typeface="Microsoft YaHei"/>
              </a:rPr>
              <a:t>同时挂预印本，确立 NICE、单侧界、平衡校正的优先权</a:t>
            </a:r>
          </a:p>
        </p:txBody>
      </p:sp>
      <p:sp>
        <p:nvSpPr>
          <p:cNvPr id="18" name="TextBox 17"/>
          <p:cNvSpPr txBox="1"/>
          <p:nvPr/>
        </p:nvSpPr>
        <p:spPr>
          <a:xfrm>
            <a:off x="457200" y="4023360"/>
            <a:ext cx="11274552" cy="1188720"/>
          </a:xfrm>
          <a:prstGeom prst="rect">
            <a:avLst/>
          </a:prstGeom>
          <a:solidFill>
            <a:srgbClr val="F2F2F2"/>
          </a:solidFill>
        </p:spPr>
        <p:txBody>
          <a:bodyPr wrap="square" lIns="182880" rIns="182880" tIns="36576" bIns="36576" anchor="ctr">
            <a:spAutoFit/>
          </a:bodyPr>
          <a:lstStyle/>
          <a:p>
            <a:pPr algn="l">
              <a:spcAft>
                <a:spcPts val="600"/>
              </a:spcAft>
            </a:pPr>
            <a:r>
              <a:rPr sz="1600" b="1" i="0">
                <a:solidFill>
                  <a:srgbClr val="C00000"/>
                </a:solidFill>
                <a:latin typeface="Arial"/>
                <a:ea typeface="Microsoft YaHei"/>
              </a:rPr>
              <a:t>为什么是 CMAME：</a:t>
            </a:r>
            <a:r>
              <a:rPr sz="1600" b="0" i="0">
                <a:solidFill>
                  <a:srgbClr val="262626"/>
                </a:solidFill>
                <a:latin typeface="Arial"/>
                <a:ea typeface="Microsoft YaHei"/>
              </a:rPr>
              <a:t>论文的强项（变分结构、可组装、误差链、严格的精确凝聚核对）在 CMAME 最被看重；冲更高需要新工作（第二胞族、更大规模、实验），放到后续论文。</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后续路线：不比加速比，比"可行与不可行"</a:t>
            </a:r>
          </a:p>
        </p:txBody>
      </p:sp>
      <p:sp>
        <p:nvSpPr>
          <p:cNvPr id="3" name="Rounded Rectangle 2"/>
          <p:cNvSpPr/>
          <p:nvPr/>
        </p:nvSpPr>
        <p:spPr>
          <a:xfrm>
            <a:off x="457200" y="1143000"/>
            <a:ext cx="2612898" cy="31089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16152"/>
            <a:ext cx="2393441" cy="457200"/>
          </a:xfrm>
          <a:prstGeom prst="rect">
            <a:avLst/>
          </a:prstGeom>
          <a:noFill/>
        </p:spPr>
        <p:txBody>
          <a:bodyPr wrap="square" lIns="73152" rIns="73152" tIns="36576" bIns="36576" anchor="t">
            <a:spAutoFit/>
          </a:bodyPr>
          <a:lstStyle/>
          <a:p>
            <a:pPr algn="l">
              <a:spcAft>
                <a:spcPts val="600"/>
              </a:spcAft>
            </a:pPr>
            <a:r>
              <a:rPr sz="1600" b="1" i="0">
                <a:solidFill>
                  <a:srgbClr val="C00000"/>
                </a:solidFill>
                <a:latin typeface="Arial"/>
                <a:ea typeface="Microsoft YaHei"/>
              </a:rPr>
              <a:t>P2  局部量设计</a:t>
            </a:r>
          </a:p>
        </p:txBody>
      </p:sp>
      <p:sp>
        <p:nvSpPr>
          <p:cNvPr id="5" name="TextBox 4"/>
          <p:cNvSpPr txBox="1"/>
          <p:nvPr/>
        </p:nvSpPr>
        <p:spPr>
          <a:xfrm>
            <a:off x="566928" y="1673352"/>
            <a:ext cx="2393441"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带误差控制的局部量（应力）设计</a:t>
            </a:r>
          </a:p>
          <a:p>
            <a:pPr algn="l" marL="228600" indent="-201168">
              <a:spcAft>
                <a:spcPts val="400"/>
              </a:spcAft>
              <a:buFont typeface="Arial"/>
              <a:buChar char="•"/>
            </a:pPr>
            <a:r>
              <a:rPr sz="1500" b="0" i="0">
                <a:solidFill>
                  <a:srgbClr val="262626"/>
                </a:solidFill>
                <a:latin typeface="Arial"/>
                <a:ea typeface="Microsoft YaHei"/>
              </a:rPr>
              <a:t>后验误差估计与自适应校正</a:t>
            </a:r>
          </a:p>
          <a:p>
            <a:pPr algn="l" marL="228600" indent="-201168">
              <a:spcAft>
                <a:spcPts val="400"/>
              </a:spcAft>
              <a:buFont typeface="Arial"/>
              <a:buChar char="•"/>
            </a:pPr>
            <a:r>
              <a:rPr sz="1500" b="0" i="0">
                <a:solidFill>
                  <a:srgbClr val="262626"/>
                </a:solidFill>
                <a:latin typeface="Arial"/>
                <a:ea typeface="Microsoft YaHei"/>
              </a:rPr>
              <a:t>规模（K_PP 多层粗解）作支撑</a:t>
            </a:r>
          </a:p>
        </p:txBody>
      </p:sp>
      <p:sp>
        <p:nvSpPr>
          <p:cNvPr id="6" name="Rounded Rectangle 5"/>
          <p:cNvSpPr/>
          <p:nvPr/>
        </p:nvSpPr>
        <p:spPr>
          <a:xfrm>
            <a:off x="3344418" y="1143000"/>
            <a:ext cx="2612898" cy="31089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54146" y="1216152"/>
            <a:ext cx="2393441" cy="457200"/>
          </a:xfrm>
          <a:prstGeom prst="rect">
            <a:avLst/>
          </a:prstGeom>
          <a:noFill/>
        </p:spPr>
        <p:txBody>
          <a:bodyPr wrap="square" lIns="73152" rIns="73152" tIns="36576" bIns="36576" anchor="t">
            <a:spAutoFit/>
          </a:bodyPr>
          <a:lstStyle/>
          <a:p>
            <a:pPr algn="l">
              <a:spcAft>
                <a:spcPts val="600"/>
              </a:spcAft>
            </a:pPr>
            <a:r>
              <a:rPr sz="1600" b="1" i="0">
                <a:solidFill>
                  <a:srgbClr val="C00000"/>
                </a:solidFill>
                <a:latin typeface="Arial"/>
                <a:ea typeface="Microsoft YaHei"/>
              </a:rPr>
              <a:t>P3  跨胞族泛化</a:t>
            </a:r>
          </a:p>
        </p:txBody>
      </p:sp>
      <p:sp>
        <p:nvSpPr>
          <p:cNvPr id="8" name="TextBox 7"/>
          <p:cNvSpPr txBox="1"/>
          <p:nvPr/>
        </p:nvSpPr>
        <p:spPr>
          <a:xfrm>
            <a:off x="3454146" y="1673352"/>
            <a:ext cx="2393441"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一网多族、映射几何、对称内建</a:t>
            </a:r>
          </a:p>
          <a:p>
            <a:pPr algn="l" marL="228600" indent="-201168">
              <a:spcAft>
                <a:spcPts val="400"/>
              </a:spcAft>
              <a:buFont typeface="Arial"/>
              <a:buChar char="•"/>
            </a:pPr>
            <a:r>
              <a:rPr sz="1500" b="0" i="0">
                <a:solidFill>
                  <a:srgbClr val="262626"/>
                </a:solidFill>
                <a:latin typeface="Arial"/>
                <a:ea typeface="Microsoft YaHei"/>
              </a:rPr>
              <a:t>B 样条拉扭单胞作第二胞族</a:t>
            </a:r>
          </a:p>
          <a:p>
            <a:pPr algn="l" marL="228600" indent="-201168">
              <a:spcAft>
                <a:spcPts val="400"/>
              </a:spcAft>
              <a:buFont typeface="Arial"/>
              <a:buChar char="•"/>
            </a:pPr>
            <a:r>
              <a:rPr sz="1500" b="0" i="0">
                <a:solidFill>
                  <a:srgbClr val="262626"/>
                </a:solidFill>
                <a:latin typeface="Arial"/>
                <a:ea typeface="Microsoft YaHei"/>
              </a:rPr>
              <a:t>有限尺寸的非经典（拉扭）响应</a:t>
            </a:r>
          </a:p>
        </p:txBody>
      </p:sp>
      <p:sp>
        <p:nvSpPr>
          <p:cNvPr id="9" name="Rounded Rectangle 8"/>
          <p:cNvSpPr/>
          <p:nvPr/>
        </p:nvSpPr>
        <p:spPr>
          <a:xfrm>
            <a:off x="6231636" y="1143000"/>
            <a:ext cx="2612898" cy="3108960"/>
          </a:xfrm>
          <a:prstGeom prst="roundRect">
            <a:avLst>
              <a:gd name="adj" fmla="val 6000"/>
            </a:avLst>
          </a:prstGeom>
          <a:solidFill>
            <a:srgbClr val="EAF2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1364" y="1216152"/>
            <a:ext cx="2393441" cy="457200"/>
          </a:xfrm>
          <a:prstGeom prst="rect">
            <a:avLst/>
          </a:prstGeom>
          <a:noFill/>
        </p:spPr>
        <p:txBody>
          <a:bodyPr wrap="square" lIns="73152" rIns="73152" tIns="36576" bIns="36576" anchor="t">
            <a:spAutoFit/>
          </a:bodyPr>
          <a:lstStyle/>
          <a:p>
            <a:pPr algn="l">
              <a:spcAft>
                <a:spcPts val="600"/>
              </a:spcAft>
            </a:pPr>
            <a:r>
              <a:rPr sz="1600" b="1" i="0">
                <a:solidFill>
                  <a:srgbClr val="0070C0"/>
                </a:solidFill>
                <a:latin typeface="Arial"/>
                <a:ea typeface="Microsoft YaHei"/>
              </a:rPr>
              <a:t>NC  有限尺寸设计</a:t>
            </a:r>
          </a:p>
        </p:txBody>
      </p:sp>
      <p:sp>
        <p:nvSpPr>
          <p:cNvPr id="11" name="TextBox 10"/>
          <p:cNvSpPr txBox="1"/>
          <p:nvPr/>
        </p:nvSpPr>
        <p:spPr>
          <a:xfrm>
            <a:off x="6341364" y="1673352"/>
            <a:ext cx="2393441"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局部量驱动、上千胞的真实零件</a:t>
            </a:r>
          </a:p>
          <a:p>
            <a:pPr algn="l" marL="228600" indent="-201168">
              <a:spcAft>
                <a:spcPts val="400"/>
              </a:spcAft>
              <a:buFont typeface="Arial"/>
              <a:buChar char="•"/>
            </a:pPr>
            <a:r>
              <a:rPr sz="1500" b="0" i="0">
                <a:solidFill>
                  <a:srgbClr val="262626"/>
                </a:solidFill>
                <a:latin typeface="Arial"/>
                <a:ea typeface="Microsoft YaHei"/>
              </a:rPr>
              <a:t>NICE 设计 vs 均匀化设计打印对照、破坏试验</a:t>
            </a:r>
          </a:p>
          <a:p>
            <a:pPr algn="l" marL="228600" indent="-201168">
              <a:spcAft>
                <a:spcPts val="400"/>
              </a:spcAft>
              <a:buFont typeface="Arial"/>
              <a:buChar char="•"/>
            </a:pPr>
            <a:r>
              <a:rPr sz="1500" b="0" i="0">
                <a:solidFill>
                  <a:srgbClr val="262626"/>
                </a:solidFill>
                <a:latin typeface="Arial"/>
                <a:ea typeface="Microsoft YaHei"/>
              </a:rPr>
              <a:t>卖点：直接法放不下，我们能算</a:t>
            </a:r>
          </a:p>
        </p:txBody>
      </p:sp>
      <p:sp>
        <p:nvSpPr>
          <p:cNvPr id="12" name="Rounded Rectangle 11"/>
          <p:cNvSpPr/>
          <p:nvPr/>
        </p:nvSpPr>
        <p:spPr>
          <a:xfrm>
            <a:off x="9118854" y="1143000"/>
            <a:ext cx="2612898" cy="31089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28582" y="1216152"/>
            <a:ext cx="2393441" cy="457200"/>
          </a:xfrm>
          <a:prstGeom prst="rect">
            <a:avLst/>
          </a:prstGeom>
          <a:noFill/>
        </p:spPr>
        <p:txBody>
          <a:bodyPr wrap="square" lIns="73152" rIns="73152" tIns="36576" bIns="36576" anchor="t">
            <a:spAutoFit/>
          </a:bodyPr>
          <a:lstStyle/>
          <a:p>
            <a:pPr algn="l">
              <a:spcAft>
                <a:spcPts val="600"/>
              </a:spcAft>
            </a:pPr>
            <a:r>
              <a:rPr sz="1600" b="1" i="0">
                <a:solidFill>
                  <a:srgbClr val="595959"/>
                </a:solidFill>
                <a:latin typeface="Arial"/>
                <a:ea typeface="Microsoft YaHei"/>
              </a:rPr>
              <a:t>并行小篇（低投入）</a:t>
            </a:r>
          </a:p>
        </p:txBody>
      </p:sp>
      <p:sp>
        <p:nvSpPr>
          <p:cNvPr id="14" name="TextBox 13"/>
          <p:cNvSpPr txBox="1"/>
          <p:nvPr/>
        </p:nvSpPr>
        <p:spPr>
          <a:xfrm>
            <a:off x="9228582" y="1673352"/>
            <a:ext cx="2393441"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切割胞数据集</a:t>
            </a:r>
          </a:p>
          <a:p>
            <a:pPr algn="l" marL="228600" indent="-201168">
              <a:spcAft>
                <a:spcPts val="400"/>
              </a:spcAft>
              <a:buFont typeface="Arial"/>
              <a:buChar char="•"/>
            </a:pPr>
            <a:r>
              <a:rPr sz="1500" b="0" i="0">
                <a:solidFill>
                  <a:srgbClr val="262626"/>
                </a:solidFill>
                <a:latin typeface="Arial"/>
                <a:ea typeface="Microsoft YaHei"/>
              </a:rPr>
              <a:t>CutFEM 方法</a:t>
            </a:r>
          </a:p>
          <a:p>
            <a:pPr algn="l" marL="228600" indent="-201168">
              <a:spcAft>
                <a:spcPts val="400"/>
              </a:spcAft>
              <a:buFont typeface="Arial"/>
              <a:buChar char="•"/>
            </a:pPr>
            <a:r>
              <a:rPr sz="1500" b="0" i="0">
                <a:solidFill>
                  <a:srgbClr val="262626"/>
                </a:solidFill>
                <a:latin typeface="Arial"/>
                <a:ea typeface="Microsoft YaHei"/>
              </a:rPr>
              <a:t>均匀化在切割边界失效的定量研究 + 实测</a:t>
            </a:r>
          </a:p>
        </p:txBody>
      </p:sp>
      <p:sp>
        <p:nvSpPr>
          <p:cNvPr id="15" name="TextBox 14"/>
          <p:cNvSpPr txBox="1"/>
          <p:nvPr/>
        </p:nvSpPr>
        <p:spPr>
          <a:xfrm>
            <a:off x="457200" y="4526280"/>
            <a:ext cx="11274552" cy="1143000"/>
          </a:xfrm>
          <a:prstGeom prst="rect">
            <a:avLst/>
          </a:prstGeom>
          <a:solidFill>
            <a:srgbClr val="F2F2F2"/>
          </a:solidFill>
        </p:spPr>
        <p:txBody>
          <a:bodyPr wrap="square" lIns="182880" rIns="182880" tIns="36576" bIns="36576" anchor="ctr">
            <a:spAutoFit/>
          </a:bodyPr>
          <a:lstStyle/>
          <a:p>
            <a:pPr algn="l">
              <a:spcAft>
                <a:spcPts val="600"/>
              </a:spcAft>
            </a:pPr>
            <a:r>
              <a:rPr sz="1500" b="1" i="0">
                <a:solidFill>
                  <a:srgbClr val="C00000"/>
                </a:solidFill>
                <a:latin typeface="Arial"/>
                <a:ea typeface="Microsoft YaHei"/>
              </a:rPr>
              <a:t>先做共享前置：</a:t>
            </a:r>
            <a:r>
              <a:rPr sz="1500" b="0" i="0">
                <a:solidFill>
                  <a:srgbClr val="262626"/>
                </a:solidFill>
                <a:latin typeface="Arial"/>
                <a:ea typeface="Microsoft YaHei"/>
              </a:rPr>
              <a:t>K_PP 多层粗解、后验估计 + 最坏方向诊断、质量 / 几何刚度凝聚、第二胞族。</a:t>
            </a:r>
          </a:p>
          <a:p>
            <a:pPr algn="l">
              <a:spcAft>
                <a:spcPts val="600"/>
              </a:spcAft>
            </a:pPr>
            <a:r>
              <a:rPr sz="1500" b="1" i="0">
                <a:solidFill>
                  <a:srgbClr val="C00000"/>
                </a:solidFill>
                <a:latin typeface="Arial"/>
                <a:ea typeface="Microsoft YaHei"/>
              </a:rPr>
              <a:t>依据：</a:t>
            </a:r>
            <a:r>
              <a:rPr sz="1500" b="0" i="0">
                <a:solidFill>
                  <a:srgbClr val="262626"/>
                </a:solidFill>
                <a:latin typeface="Arial"/>
                <a:ea typeface="Microsoft YaHei"/>
              </a:rPr>
              <a:t>直接法 Cholesky 因子超线性增长（四胞 29–32 → 八胞 66–81 GiB），NICE 每胞约 0.7 GiB、线性增长。</a:t>
            </a:r>
          </a:p>
        </p:txBody>
      </p:sp>
      <p:sp>
        <p:nvSpPr>
          <p:cNvPr id="16" name="TextBox 15"/>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详见 docs/followup/ROADMAP_20261003_CN.pdf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需要老师拍板的四件事</a:t>
            </a:r>
          </a:p>
        </p:txBody>
      </p:sp>
      <p:sp>
        <p:nvSpPr>
          <p:cNvPr id="3" name="Oval 2"/>
          <p:cNvSpPr/>
          <p:nvPr/>
        </p:nvSpPr>
        <p:spPr>
          <a:xfrm>
            <a:off x="457200" y="1234440"/>
            <a:ext cx="777240" cy="77724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Arial"/>
                <a:ea typeface="Microsoft YaHei"/>
              </a:rPr>
              <a:t>1</a:t>
            </a:r>
          </a:p>
        </p:txBody>
      </p:sp>
      <p:sp>
        <p:nvSpPr>
          <p:cNvPr id="4" name="TextBox 3"/>
          <p:cNvSpPr txBox="1"/>
          <p:nvPr/>
        </p:nvSpPr>
        <p:spPr>
          <a:xfrm>
            <a:off x="1463040" y="1161288"/>
            <a:ext cx="10241280" cy="457200"/>
          </a:xfrm>
          <a:prstGeom prst="rect">
            <a:avLst/>
          </a:prstGeom>
          <a:noFill/>
        </p:spPr>
        <p:txBody>
          <a:bodyPr wrap="square" lIns="73152" rIns="73152" tIns="36576" bIns="36576" anchor="t">
            <a:spAutoFit/>
          </a:bodyPr>
          <a:lstStyle/>
          <a:p>
            <a:pPr algn="l">
              <a:spcAft>
                <a:spcPts val="600"/>
              </a:spcAft>
            </a:pPr>
            <a:r>
              <a:rPr sz="1900" b="1" i="0">
                <a:solidFill>
                  <a:srgbClr val="C00000"/>
                </a:solidFill>
                <a:latin typeface="Arial"/>
                <a:ea typeface="Microsoft YaHei"/>
              </a:rPr>
              <a:t>投稿去向</a:t>
            </a:r>
          </a:p>
        </p:txBody>
      </p:sp>
      <p:sp>
        <p:nvSpPr>
          <p:cNvPr id="5" name="TextBox 4"/>
          <p:cNvSpPr txBox="1"/>
          <p:nvPr/>
        </p:nvSpPr>
        <p:spPr>
          <a:xfrm>
            <a:off x="1463040" y="1618488"/>
            <a:ext cx="10241280" cy="548640"/>
          </a:xfrm>
          <a:prstGeom prst="rect">
            <a:avLst/>
          </a:prstGeom>
          <a:noFill/>
        </p:spPr>
        <p:txBody>
          <a:bodyPr wrap="square" lIns="73152" rIns="73152" tIns="36576" bIns="36576" anchor="t">
            <a:spAutoFit/>
          </a:bodyPr>
          <a:lstStyle/>
          <a:p>
            <a:pPr algn="l">
              <a:spcAft>
                <a:spcPts val="600"/>
              </a:spcAft>
            </a:pPr>
            <a:r>
              <a:rPr sz="1700" b="0" i="0">
                <a:solidFill>
                  <a:srgbClr val="262626"/>
                </a:solidFill>
                <a:latin typeface="Arial"/>
                <a:ea typeface="Microsoft YaHei"/>
              </a:rPr>
              <a:t>直接投 CMAME，还是先发 Nat. Comput. Sci. 预投稿咨询？</a:t>
            </a:r>
          </a:p>
        </p:txBody>
      </p:sp>
      <p:sp>
        <p:nvSpPr>
          <p:cNvPr id="6" name="Oval 5"/>
          <p:cNvSpPr/>
          <p:nvPr/>
        </p:nvSpPr>
        <p:spPr>
          <a:xfrm>
            <a:off x="457200" y="2450592"/>
            <a:ext cx="777240" cy="77724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Arial"/>
                <a:ea typeface="Microsoft YaHei"/>
              </a:rPr>
              <a:t>2</a:t>
            </a:r>
          </a:p>
        </p:txBody>
      </p:sp>
      <p:sp>
        <p:nvSpPr>
          <p:cNvPr id="7" name="TextBox 6"/>
          <p:cNvSpPr txBox="1"/>
          <p:nvPr/>
        </p:nvSpPr>
        <p:spPr>
          <a:xfrm>
            <a:off x="1463040" y="2377440"/>
            <a:ext cx="10241280" cy="457200"/>
          </a:xfrm>
          <a:prstGeom prst="rect">
            <a:avLst/>
          </a:prstGeom>
          <a:noFill/>
        </p:spPr>
        <p:txBody>
          <a:bodyPr wrap="square" lIns="73152" rIns="73152" tIns="36576" bIns="36576" anchor="t">
            <a:spAutoFit/>
          </a:bodyPr>
          <a:lstStyle/>
          <a:p>
            <a:pPr algn="l">
              <a:spcAft>
                <a:spcPts val="600"/>
              </a:spcAft>
            </a:pPr>
            <a:r>
              <a:rPr sz="1900" b="1" i="0">
                <a:solidFill>
                  <a:srgbClr val="C00000"/>
                </a:solidFill>
                <a:latin typeface="Arial"/>
                <a:ea typeface="Microsoft YaHei"/>
              </a:rPr>
              <a:t>实验条件</a:t>
            </a:r>
          </a:p>
        </p:txBody>
      </p:sp>
      <p:sp>
        <p:nvSpPr>
          <p:cNvPr id="8" name="TextBox 7"/>
          <p:cNvSpPr txBox="1"/>
          <p:nvPr/>
        </p:nvSpPr>
        <p:spPr>
          <a:xfrm>
            <a:off x="1463040" y="2834640"/>
            <a:ext cx="10241280" cy="548640"/>
          </a:xfrm>
          <a:prstGeom prst="rect">
            <a:avLst/>
          </a:prstGeom>
          <a:noFill/>
        </p:spPr>
        <p:txBody>
          <a:bodyPr wrap="square" lIns="73152" rIns="73152" tIns="36576" bIns="36576" anchor="t">
            <a:spAutoFit/>
          </a:bodyPr>
          <a:lstStyle/>
          <a:p>
            <a:pPr algn="l">
              <a:spcAft>
                <a:spcPts val="600"/>
              </a:spcAft>
            </a:pPr>
            <a:r>
              <a:rPr sz="1700" b="0" i="0">
                <a:solidFill>
                  <a:srgbClr val="262626"/>
                </a:solidFill>
                <a:latin typeface="Arial"/>
                <a:ea typeface="Microsoft YaHei"/>
              </a:rPr>
              <a:t>能否打印金属 / 聚合物 TPMS 试件？有无 DIC？有无激光测振？</a:t>
            </a:r>
          </a:p>
        </p:txBody>
      </p:sp>
      <p:sp>
        <p:nvSpPr>
          <p:cNvPr id="9" name="Oval 8"/>
          <p:cNvSpPr/>
          <p:nvPr/>
        </p:nvSpPr>
        <p:spPr>
          <a:xfrm>
            <a:off x="457200" y="3666744"/>
            <a:ext cx="777240" cy="77724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Arial"/>
                <a:ea typeface="Microsoft YaHei"/>
              </a:rPr>
              <a:t>3</a:t>
            </a:r>
          </a:p>
        </p:txBody>
      </p:sp>
      <p:sp>
        <p:nvSpPr>
          <p:cNvPr id="10" name="TextBox 9"/>
          <p:cNvSpPr txBox="1"/>
          <p:nvPr/>
        </p:nvSpPr>
        <p:spPr>
          <a:xfrm>
            <a:off x="1463040" y="3593592"/>
            <a:ext cx="10241280" cy="457200"/>
          </a:xfrm>
          <a:prstGeom prst="rect">
            <a:avLst/>
          </a:prstGeom>
          <a:noFill/>
        </p:spPr>
        <p:txBody>
          <a:bodyPr wrap="square" lIns="73152" rIns="73152" tIns="36576" bIns="36576" anchor="t">
            <a:spAutoFit/>
          </a:bodyPr>
          <a:lstStyle/>
          <a:p>
            <a:pPr algn="l">
              <a:spcAft>
                <a:spcPts val="600"/>
              </a:spcAft>
            </a:pPr>
            <a:r>
              <a:rPr sz="1900" b="1" i="0">
                <a:solidFill>
                  <a:srgbClr val="C00000"/>
                </a:solidFill>
                <a:latin typeface="Arial"/>
                <a:ea typeface="Microsoft YaHei"/>
              </a:rPr>
              <a:t>方向与时间</a:t>
            </a:r>
          </a:p>
        </p:txBody>
      </p:sp>
      <p:sp>
        <p:nvSpPr>
          <p:cNvPr id="11" name="TextBox 10"/>
          <p:cNvSpPr txBox="1"/>
          <p:nvPr/>
        </p:nvSpPr>
        <p:spPr>
          <a:xfrm>
            <a:off x="1463040" y="4050791"/>
            <a:ext cx="10241280" cy="548640"/>
          </a:xfrm>
          <a:prstGeom prst="rect">
            <a:avLst/>
          </a:prstGeom>
          <a:noFill/>
        </p:spPr>
        <p:txBody>
          <a:bodyPr wrap="square" lIns="73152" rIns="73152" tIns="36576" bIns="36576" anchor="t">
            <a:spAutoFit/>
          </a:bodyPr>
          <a:lstStyle/>
          <a:p>
            <a:pPr algn="l">
              <a:spcAft>
                <a:spcPts val="600"/>
              </a:spcAft>
            </a:pPr>
            <a:r>
              <a:rPr sz="1700" b="0" i="0">
                <a:solidFill>
                  <a:srgbClr val="262626"/>
                </a:solidFill>
                <a:latin typeface="Arial"/>
                <a:ea typeface="Microsoft YaHei"/>
              </a:rPr>
              <a:t>两年内主线选哪 3–4 个？NC 方向 1 约需 4–6 个月（前置完成后）</a:t>
            </a:r>
          </a:p>
        </p:txBody>
      </p:sp>
      <p:sp>
        <p:nvSpPr>
          <p:cNvPr id="12" name="Oval 11"/>
          <p:cNvSpPr/>
          <p:nvPr/>
        </p:nvSpPr>
        <p:spPr>
          <a:xfrm>
            <a:off x="457200" y="4882896"/>
            <a:ext cx="777240" cy="77724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Arial"/>
                <a:ea typeface="Microsoft YaHei"/>
              </a:rPr>
              <a:t>4</a:t>
            </a:r>
          </a:p>
        </p:txBody>
      </p:sp>
      <p:sp>
        <p:nvSpPr>
          <p:cNvPr id="13" name="TextBox 12"/>
          <p:cNvSpPr txBox="1"/>
          <p:nvPr/>
        </p:nvSpPr>
        <p:spPr>
          <a:xfrm>
            <a:off x="1463040" y="4809744"/>
            <a:ext cx="10241280" cy="457200"/>
          </a:xfrm>
          <a:prstGeom prst="rect">
            <a:avLst/>
          </a:prstGeom>
          <a:noFill/>
        </p:spPr>
        <p:txBody>
          <a:bodyPr wrap="square" lIns="73152" rIns="73152" tIns="36576" bIns="36576" anchor="t">
            <a:spAutoFit/>
          </a:bodyPr>
          <a:lstStyle/>
          <a:p>
            <a:pPr algn="l">
              <a:spcAft>
                <a:spcPts val="600"/>
              </a:spcAft>
            </a:pPr>
            <a:r>
              <a:rPr sz="1900" b="1" i="0">
                <a:solidFill>
                  <a:srgbClr val="C00000"/>
                </a:solidFill>
                <a:latin typeface="Arial"/>
                <a:ea typeface="Microsoft YaHei"/>
              </a:rPr>
              <a:t>算力</a:t>
            </a:r>
          </a:p>
        </p:txBody>
      </p:sp>
      <p:sp>
        <p:nvSpPr>
          <p:cNvPr id="14" name="TextBox 13"/>
          <p:cNvSpPr txBox="1"/>
          <p:nvPr/>
        </p:nvSpPr>
        <p:spPr>
          <a:xfrm>
            <a:off x="1463040" y="5266944"/>
            <a:ext cx="10241280" cy="548640"/>
          </a:xfrm>
          <a:prstGeom prst="rect">
            <a:avLst/>
          </a:prstGeom>
          <a:noFill/>
        </p:spPr>
        <p:txBody>
          <a:bodyPr wrap="square" lIns="73152" rIns="73152" tIns="36576" bIns="36576" anchor="t">
            <a:spAutoFit/>
          </a:bodyPr>
          <a:lstStyle/>
          <a:p>
            <a:pPr algn="l">
              <a:spcAft>
                <a:spcPts val="600"/>
              </a:spcAft>
            </a:pPr>
            <a:r>
              <a:rPr sz="1700" b="0" i="0">
                <a:solidFill>
                  <a:srgbClr val="262626"/>
                </a:solidFill>
                <a:latin typeface="Arial"/>
                <a:ea typeface="Microsoft YaHei"/>
              </a:rPr>
              <a:t>是否增租 GPU（P2 规模、P3 新胞族数据都需要）？</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备用页</a:t>
            </a:r>
          </a:p>
        </p:txBody>
      </p:sp>
      <p:sp>
        <p:nvSpPr>
          <p:cNvPr id="3" name="TextBox 2"/>
          <p:cNvSpPr txBox="1"/>
          <p:nvPr/>
        </p:nvSpPr>
        <p:spPr>
          <a:xfrm>
            <a:off x="457200" y="2377440"/>
            <a:ext cx="11274552" cy="1645920"/>
          </a:xfrm>
          <a:prstGeom prst="rect">
            <a:avLst/>
          </a:prstGeom>
          <a:noFill/>
        </p:spPr>
        <p:txBody>
          <a:bodyPr wrap="square" lIns="73152" rIns="73152" tIns="36576" bIns="36576" anchor="t">
            <a:spAutoFit/>
          </a:bodyPr>
          <a:lstStyle/>
          <a:p>
            <a:pPr algn="ctr">
              <a:spcAft>
                <a:spcPts val="1000"/>
              </a:spcAft>
            </a:pPr>
            <a:r>
              <a:rPr sz="2000" b="0" i="0">
                <a:solidFill>
                  <a:srgbClr val="595959"/>
                </a:solidFill>
                <a:latin typeface="Arial"/>
                <a:ea typeface="Microsoft YaHei"/>
              </a:rPr>
              <a:t>B1  排序条件与离散切换</a:t>
            </a:r>
          </a:p>
          <a:p>
            <a:pPr algn="ctr">
              <a:spcAft>
                <a:spcPts val="1000"/>
              </a:spcAft>
            </a:pPr>
            <a:r>
              <a:rPr sz="2000" b="0" i="0">
                <a:solidFill>
                  <a:srgbClr val="595959"/>
                </a:solidFill>
                <a:latin typeface="Arial"/>
                <a:ea typeface="Microsoft YaHei"/>
              </a:rPr>
              <a:t>B2  参考解误差与训练成本</a:t>
            </a:r>
          </a:p>
          <a:p>
            <a:pPr algn="ctr">
              <a:spcAft>
                <a:spcPts val="1000"/>
              </a:spcAft>
            </a:pPr>
            <a:r>
              <a:rPr sz="2000" b="0" i="0">
                <a:solidFill>
                  <a:srgbClr val="595959"/>
                </a:solidFill>
                <a:latin typeface="Arial"/>
                <a:ea typeface="Microsoft YaHei"/>
              </a:rPr>
              <a:t>B3  映射单胞零样本测试（后续工作前期结果）</a:t>
            </a:r>
          </a:p>
          <a:p>
            <a:pPr algn="ctr">
              <a:spcAft>
                <a:spcPts val="1000"/>
              </a:spcAft>
            </a:pPr>
            <a:r>
              <a:rPr sz="2000" b="0" i="0">
                <a:solidFill>
                  <a:srgbClr val="595959"/>
                </a:solidFill>
                <a:latin typeface="Arial"/>
                <a:ea typeface="Microsoft YaHei"/>
              </a:rPr>
              <a:t>B4  PIML 六篇完整对照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B1  排序条件与离散切换</a:t>
            </a:r>
          </a:p>
        </p:txBody>
      </p:sp>
      <p:sp>
        <p:nvSpPr>
          <p:cNvPr id="3" name="Rounded Rectangle 2"/>
          <p:cNvSpPr/>
          <p:nvPr/>
        </p:nvSpPr>
        <p:spPr>
          <a:xfrm>
            <a:off x="457200" y="1097280"/>
            <a:ext cx="5440680" cy="31089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5221224"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校正的排序条件（附录 C、D）</a:t>
            </a:r>
          </a:p>
        </p:txBody>
      </p:sp>
      <p:sp>
        <p:nvSpPr>
          <p:cNvPr id="5" name="TextBox 4"/>
          <p:cNvSpPr txBox="1"/>
          <p:nvPr/>
        </p:nvSpPr>
        <p:spPr>
          <a:xfrm>
            <a:off x="566928" y="1627631"/>
            <a:ext cx="5221224"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Cambria Math"/>
                <a:ea typeface="Cambria Math"/>
              </a:rPr>
              <a:t>S ⪯ Ŝ ⪯ Ŝ_net</a:t>
            </a:r>
          </a:p>
          <a:p>
            <a:pPr algn="l" marL="228600" indent="-201168">
              <a:spcAft>
                <a:spcPts val="400"/>
              </a:spcAft>
              <a:buFont typeface="Arial"/>
              <a:buChar char="•"/>
            </a:pPr>
            <a:r>
              <a:rPr sz="1500" b="0" i="0">
                <a:solidFill>
                  <a:srgbClr val="262626"/>
                </a:solidFill>
                <a:latin typeface="Arial"/>
                <a:ea typeface="Microsoft YaHei"/>
              </a:rPr>
              <a:t>条件：粗求解精确或非负平移；Jacobi 尺度化谱落在 (0, b]</a:t>
            </a:r>
          </a:p>
          <a:p>
            <a:pPr algn="l" marL="228600" indent="-201168">
              <a:spcAft>
                <a:spcPts val="400"/>
              </a:spcAft>
              <a:buFont typeface="Arial"/>
              <a:buChar char="•"/>
            </a:pPr>
            <a:r>
              <a:rPr sz="1500" b="0" i="0">
                <a:solidFill>
                  <a:srgbClr val="262626"/>
                </a:solidFill>
                <a:latin typeface="Arial"/>
                <a:ea typeface="Microsoft YaHei"/>
              </a:rPr>
              <a:t>光滑区间上端点 b 从上方界住谱；下端点 a = b/30</a:t>
            </a:r>
          </a:p>
          <a:p>
            <a:pPr algn="l" marL="228600" indent="-201168">
              <a:spcAft>
                <a:spcPts val="400"/>
              </a:spcAft>
              <a:buFont typeface="Arial"/>
              <a:buChar char="•"/>
            </a:pPr>
            <a:r>
              <a:rPr sz="1500" b="0" i="0">
                <a:solidFill>
                  <a:srgbClr val="262626"/>
                </a:solidFill>
                <a:latin typeface="Arial"/>
                <a:ea typeface="Microsoft YaHei"/>
              </a:rPr>
              <a:t>满足时校正不会增大误差；实测中加大预算误差持续下降（Table ST07）</a:t>
            </a:r>
          </a:p>
        </p:txBody>
      </p:sp>
      <p:sp>
        <p:nvSpPr>
          <p:cNvPr id="6" name="Rounded Rectangle 5"/>
          <p:cNvSpPr/>
          <p:nvPr/>
        </p:nvSpPr>
        <p:spPr>
          <a:xfrm>
            <a:off x="6291072" y="1097280"/>
            <a:ext cx="5440680" cy="310896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0" y="1170432"/>
            <a:ext cx="5221224" cy="457200"/>
          </a:xfrm>
          <a:prstGeom prst="rect">
            <a:avLst/>
          </a:prstGeom>
          <a:noFill/>
        </p:spPr>
        <p:txBody>
          <a:bodyPr wrap="square" lIns="73152" rIns="73152" tIns="36576" bIns="36576" anchor="t">
            <a:spAutoFit/>
          </a:bodyPr>
          <a:lstStyle/>
          <a:p>
            <a:pPr algn="l">
              <a:spcAft>
                <a:spcPts val="600"/>
              </a:spcAft>
            </a:pPr>
            <a:r>
              <a:rPr sz="1700" b="1" i="0">
                <a:solidFill>
                  <a:srgbClr val="C00000"/>
                </a:solidFill>
                <a:latin typeface="Arial"/>
                <a:ea typeface="Microsoft YaHei"/>
              </a:rPr>
              <a:t>离散模型切换（第 3.3 节，附录 B.1）</a:t>
            </a:r>
          </a:p>
        </p:txBody>
      </p:sp>
      <p:sp>
        <p:nvSpPr>
          <p:cNvPr id="8" name="TextBox 7"/>
          <p:cNvSpPr txBox="1"/>
          <p:nvPr/>
        </p:nvSpPr>
        <p:spPr>
          <a:xfrm>
            <a:off x="6400800" y="1627631"/>
            <a:ext cx="5221224" cy="2505456"/>
          </a:xfrm>
          <a:prstGeom prst="rect">
            <a:avLst/>
          </a:prstGeom>
          <a:noFill/>
        </p:spPr>
        <p:txBody>
          <a:bodyPr wrap="square" lIns="73152" rIns="73152" tIns="36576" bIns="36576" anchor="t">
            <a:spAutoFit/>
          </a:bodyPr>
          <a:lstStyle/>
          <a:p>
            <a:pPr algn="l" marL="228600" indent="-201168">
              <a:spcAft>
                <a:spcPts val="400"/>
              </a:spcAft>
              <a:buFont typeface="Arial"/>
              <a:buChar char="•"/>
            </a:pPr>
            <a:r>
              <a:rPr sz="1500" b="0" i="0">
                <a:solidFill>
                  <a:srgbClr val="262626"/>
                </a:solidFill>
                <a:latin typeface="Arial"/>
                <a:ea typeface="Microsoft YaHei"/>
              </a:rPr>
              <a:t>几何变化时活跃单元、保留集会跳变：目标函数在设计迭代之间改变</a:t>
            </a:r>
          </a:p>
          <a:p>
            <a:pPr algn="l" marL="228600" indent="-201168">
              <a:spcAft>
                <a:spcPts val="400"/>
              </a:spcAft>
              <a:buFont typeface="Arial"/>
              <a:buChar char="•"/>
            </a:pPr>
            <a:r>
              <a:rPr sz="1500" b="0" i="0">
                <a:solidFill>
                  <a:srgbClr val="262626"/>
                </a:solidFill>
                <a:latin typeface="Arial"/>
                <a:ea typeface="Microsoft YaHei"/>
              </a:rPr>
              <a:t>因此停止判据用目标相对变化 &lt; 10⁻⁴ 连续 3 次，不用 KKT 残差</a:t>
            </a:r>
          </a:p>
          <a:p>
            <a:pPr algn="l" marL="228600" indent="-201168">
              <a:spcAft>
                <a:spcPts val="400"/>
              </a:spcAft>
              <a:buFont typeface="Arial"/>
              <a:buChar char="•"/>
            </a:pPr>
            <a:r>
              <a:rPr sz="1500" b="0" i="0">
                <a:solidFill>
                  <a:srgbClr val="262626"/>
                </a:solidFill>
                <a:latin typeface="Arial"/>
                <a:ea typeface="Microsoft YaHei"/>
              </a:rPr>
              <a:t>算例 A 每对相邻迭代至少 3/8 个胞切换；板至少 11/24 个胞</a:t>
            </a:r>
          </a:p>
          <a:p>
            <a:pPr algn="l" marL="228600" indent="-201168">
              <a:spcAft>
                <a:spcPts val="400"/>
              </a:spcAft>
              <a:buFont typeface="Arial"/>
              <a:buChar char="•"/>
            </a:pPr>
            <a:r>
              <a:rPr sz="1500" b="0" i="0">
                <a:solidFill>
                  <a:srgbClr val="262626"/>
                </a:solidFill>
                <a:latin typeface="Arial"/>
                <a:ea typeface="Microsoft YaHei"/>
              </a:rPr>
              <a:t>残差功始终 ≤5.4×10⁻⁸ 倍柔度</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B2  参考解误差与训练成本</a:t>
            </a:r>
          </a:p>
        </p:txBody>
      </p:sp>
      <p:graphicFrame>
        <p:nvGraphicFramePr>
          <p:cNvPr id="3" name="Table 2"/>
          <p:cNvGraphicFramePr>
            <a:graphicFrameLocks noGrp="1"/>
          </p:cNvGraphicFramePr>
          <p:nvPr/>
        </p:nvGraphicFramePr>
        <p:xfrm>
          <a:off x="457200" y="1097280"/>
          <a:ext cx="11274551" cy="3401568"/>
        </p:xfrm>
        <a:graphic>
          <a:graphicData uri="http://schemas.openxmlformats.org/drawingml/2006/table">
            <a:tbl>
              <a:tblPr firstRow="0" bandRow="0">
                <a:tableStyleId>{5940675A-B579-460E-94D1-54222C63F5DA}</a:tableStyleId>
              </a:tblPr>
              <a:tblGrid>
                <a:gridCol w="3849847"/>
                <a:gridCol w="4216499"/>
                <a:gridCol w="3208205"/>
              </a:tblGrid>
              <a:tr h="566928">
                <a:tc>
                  <a:txBody>
                    <a:bodyPr wrap="square"/>
                    <a:lstStyle/>
                    <a:p>
                      <a:r>
                        <a:rPr sz="1500" b="1" i="0">
                          <a:solidFill>
                            <a:srgbClr val="FFFFFF"/>
                          </a:solidFill>
                          <a:latin typeface="Arial"/>
                          <a:ea typeface="Microsoft YaHei"/>
                        </a:rPr>
                        <a:t>项目</a:t>
                      </a:r>
                    </a:p>
                  </a:txBody>
                  <a:tcPr marL="54864" marR="54864" marT="27432" marB="27432" anchor="ctr">
                    <a:solidFill>
                      <a:srgbClr val="C00000"/>
                    </a:solidFill>
                  </a:tcPr>
                </a:tc>
                <a:tc>
                  <a:txBody>
                    <a:bodyPr wrap="square"/>
                    <a:lstStyle/>
                    <a:p>
                      <a:r>
                        <a:rPr sz="1500" b="1" i="0">
                          <a:solidFill>
                            <a:srgbClr val="FFFFFF"/>
                          </a:solidFill>
                          <a:latin typeface="Arial"/>
                          <a:ea typeface="Microsoft YaHei"/>
                        </a:rPr>
                        <a:t>数值</a:t>
                      </a:r>
                    </a:p>
                  </a:txBody>
                  <a:tcPr marL="54864" marR="54864" marT="27432" marB="27432" anchor="ctr">
                    <a:solidFill>
                      <a:srgbClr val="C00000"/>
                    </a:solidFill>
                  </a:tcPr>
                </a:tc>
                <a:tc>
                  <a:txBody>
                    <a:bodyPr wrap="square"/>
                    <a:lstStyle/>
                    <a:p>
                      <a:r>
                        <a:rPr sz="1500" b="1" i="0">
                          <a:solidFill>
                            <a:srgbClr val="FFFFFF"/>
                          </a:solidFill>
                          <a:latin typeface="Arial"/>
                          <a:ea typeface="Microsoft YaHei"/>
                        </a:rPr>
                        <a:t>出处</a:t>
                      </a:r>
                    </a:p>
                  </a:txBody>
                  <a:tcPr marL="54864" marR="54864" marT="27432" marB="27432" anchor="ctr">
                    <a:solidFill>
                      <a:srgbClr val="C00000"/>
                    </a:solidFill>
                  </a:tcPr>
                </a:tc>
              </a:tr>
              <a:tr h="566928">
                <a:tc>
                  <a:txBody>
                    <a:bodyPr wrap="square"/>
                    <a:lstStyle/>
                    <a:p>
                      <a:r>
                        <a:rPr sz="1500" b="0" i="0">
                          <a:solidFill>
                            <a:srgbClr val="262626"/>
                          </a:solidFill>
                          <a:latin typeface="Arial"/>
                          <a:ea typeface="Microsoft YaHei"/>
                        </a:rPr>
                        <a:t>参考解 n = 32 相对 n = 64（除 H2）</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柔度 ≤0.28%，灵敏度 ≤0.44%</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第 5.2 节，Table ST10</a:t>
                      </a:r>
                    </a:p>
                  </a:txBody>
                  <a:tcPr marL="54864" marR="54864" marT="27432" marB="27432" anchor="ctr">
                    <a:solidFill>
                      <a:srgbClr val="FFFFFF"/>
                    </a:solidFill>
                  </a:tcPr>
                </a:tc>
              </a:tr>
              <a:tr h="566928">
                <a:tc>
                  <a:txBody>
                    <a:bodyPr wrap="square"/>
                    <a:lstStyle/>
                    <a:p>
                      <a:r>
                        <a:rPr sz="1500" b="0" i="0">
                          <a:solidFill>
                            <a:srgbClr val="262626"/>
                          </a:solidFill>
                          <a:latin typeface="Arial"/>
                          <a:ea typeface="Microsoft YaHei"/>
                        </a:rPr>
                        <a:t>参考解 n = 32 相对 n = 64（H2）</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柔度约 1%，灵敏度约 3.6%</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同上</a:t>
                      </a:r>
                    </a:p>
                  </a:txBody>
                  <a:tcPr marL="54864" marR="54864" marT="27432" marB="27432" anchor="ctr">
                    <a:solidFill>
                      <a:srgbClr val="F7F7F7"/>
                    </a:solidFill>
                  </a:tcPr>
                </a:tc>
              </a:tr>
              <a:tr h="566928">
                <a:tc>
                  <a:txBody>
                    <a:bodyPr wrap="square"/>
                    <a:lstStyle/>
                    <a:p>
                      <a:r>
                        <a:rPr sz="1500" b="0" i="0">
                          <a:solidFill>
                            <a:srgbClr val="262626"/>
                          </a:solidFill>
                          <a:latin typeface="Arial"/>
                          <a:ea typeface="Microsoft YaHei"/>
                        </a:rPr>
                        <a:t>ghost 罚系数 10⁻⁵–10⁻³、体积积分加密</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柔度与灵敏度变化 ≤0.12%</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第 5.2 节，补充说明 S1</a:t>
                      </a:r>
                    </a:p>
                  </a:txBody>
                  <a:tcPr marL="54864" marR="54864" marT="27432" marB="27432" anchor="ctr">
                    <a:solidFill>
                      <a:srgbClr val="FFFFFF"/>
                    </a:solidFill>
                  </a:tcPr>
                </a:tc>
              </a:tr>
              <a:tr h="566928">
                <a:tc>
                  <a:txBody>
                    <a:bodyPr wrap="square"/>
                    <a:lstStyle/>
                    <a:p>
                      <a:r>
                        <a:rPr sz="1500" b="0" i="0">
                          <a:solidFill>
                            <a:srgbClr val="262626"/>
                          </a:solidFill>
                          <a:latin typeface="Arial"/>
                          <a:ea typeface="Microsoft YaHei"/>
                        </a:rPr>
                        <a:t>训练几何</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691 个（591 训练 + 100 验证）</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Table ST01</a:t>
                      </a:r>
                    </a:p>
                  </a:txBody>
                  <a:tcPr marL="54864" marR="54864" marT="27432" marB="27432" anchor="ctr">
                    <a:solidFill>
                      <a:srgbClr val="F7F7F7"/>
                    </a:solidFill>
                  </a:tcPr>
                </a:tc>
              </a:tr>
              <a:tr h="566928">
                <a:tc>
                  <a:txBody>
                    <a:bodyPr wrap="square"/>
                    <a:lstStyle/>
                    <a:p>
                      <a:r>
                        <a:rPr sz="1500" b="0" i="0">
                          <a:solidFill>
                            <a:srgbClr val="262626"/>
                          </a:solidFill>
                          <a:latin typeface="Arial"/>
                          <a:ea typeface="Microsoft YaHei"/>
                        </a:rPr>
                        <a:t>数据生成 / 训练</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约 42 GPU-h / 4.6 h + 3.5 h，总计约 60 GPU-h</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第 5.1 节</a:t>
                      </a:r>
                    </a:p>
                  </a:txBody>
                  <a:tcPr marL="54864" marR="54864" marT="27432" marB="27432"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B3  映射单胞零样本：结构始终成立，拉伸是唯一明显失效</a:t>
            </a:r>
          </a:p>
        </p:txBody>
      </p:sp>
      <p:graphicFrame>
        <p:nvGraphicFramePr>
          <p:cNvPr id="3" name="Table 2"/>
          <p:cNvGraphicFramePr>
            <a:graphicFrameLocks noGrp="1"/>
          </p:cNvGraphicFramePr>
          <p:nvPr/>
        </p:nvGraphicFramePr>
        <p:xfrm>
          <a:off x="457200" y="1097280"/>
          <a:ext cx="11274549" cy="3520440"/>
        </p:xfrm>
        <a:graphic>
          <a:graphicData uri="http://schemas.openxmlformats.org/drawingml/2006/table">
            <a:tbl>
              <a:tblPr firstRow="0" bandRow="0">
                <a:tableStyleId>{5940675A-B579-460E-94D1-54222C63F5DA}</a:tableStyleId>
              </a:tblPr>
              <a:tblGrid>
                <a:gridCol w="3299868"/>
                <a:gridCol w="3299868"/>
                <a:gridCol w="2016586"/>
                <a:gridCol w="2658227"/>
              </a:tblGrid>
              <a:tr h="502920">
                <a:tc>
                  <a:txBody>
                    <a:bodyPr wrap="square"/>
                    <a:lstStyle/>
                    <a:p>
                      <a:r>
                        <a:rPr sz="1500" b="1" i="0">
                          <a:solidFill>
                            <a:srgbClr val="FFFFFF"/>
                          </a:solidFill>
                          <a:latin typeface="Arial"/>
                          <a:ea typeface="Microsoft YaHei"/>
                        </a:rPr>
                        <a:t>映射</a:t>
                      </a:r>
                    </a:p>
                  </a:txBody>
                  <a:tcPr marL="54864" marR="54864" marT="27432" marB="27432" anchor="ctr">
                    <a:solidFill>
                      <a:srgbClr val="C00000"/>
                    </a:solidFill>
                  </a:tcPr>
                </a:tc>
                <a:tc>
                  <a:txBody>
                    <a:bodyPr wrap="square"/>
                    <a:lstStyle/>
                    <a:p>
                      <a:r>
                        <a:rPr sz="1500" b="1" i="0">
                          <a:solidFill>
                            <a:srgbClr val="FFFFFF"/>
                          </a:solidFill>
                          <a:latin typeface="Arial"/>
                          <a:ea typeface="Microsoft YaHei"/>
                        </a:rPr>
                        <a:t>平均能量误差（共转拉回）</a:t>
                      </a:r>
                    </a:p>
                  </a:txBody>
                  <a:tcPr marL="54864" marR="54864" marT="27432" marB="27432" anchor="ctr">
                    <a:solidFill>
                      <a:srgbClr val="C00000"/>
                    </a:solidFill>
                  </a:tcPr>
                </a:tc>
                <a:tc>
                  <a:txBody>
                    <a:bodyPr wrap="square"/>
                    <a:lstStyle/>
                    <a:p>
                      <a:r>
                        <a:rPr sz="1500" b="1" i="0">
                          <a:solidFill>
                            <a:srgbClr val="FFFFFF"/>
                          </a:solidFill>
                          <a:latin typeface="Arial"/>
                          <a:ea typeface="Microsoft YaHei"/>
                        </a:rPr>
                        <a:t>最差胞</a:t>
                      </a:r>
                    </a:p>
                  </a:txBody>
                  <a:tcPr marL="54864" marR="54864" marT="27432" marB="27432" anchor="ctr">
                    <a:solidFill>
                      <a:srgbClr val="C00000"/>
                    </a:solidFill>
                  </a:tcPr>
                </a:tc>
                <a:tc>
                  <a:txBody>
                    <a:bodyPr wrap="square"/>
                    <a:lstStyle/>
                    <a:p>
                      <a:r>
                        <a:rPr sz="1500" b="1" i="0">
                          <a:solidFill>
                            <a:srgbClr val="FFFFFF"/>
                          </a:solidFill>
                          <a:latin typeface="Arial"/>
                          <a:ea typeface="Microsoft YaHei"/>
                        </a:rPr>
                        <a:t>最坏方向 μ−1 中位数</a:t>
                      </a:r>
                    </a:p>
                  </a:txBody>
                  <a:tcPr marL="54864" marR="54864" marT="27432" marB="27432" anchor="ctr">
                    <a:solidFill>
                      <a:srgbClr val="C00000"/>
                    </a:solidFill>
                  </a:tcPr>
                </a:tc>
              </a:tr>
              <a:tr h="502920">
                <a:tc>
                  <a:txBody>
                    <a:bodyPr wrap="square"/>
                    <a:lstStyle/>
                    <a:p>
                      <a:r>
                        <a:rPr sz="1500" b="0" i="0">
                          <a:solidFill>
                            <a:srgbClr val="262626"/>
                          </a:solidFill>
                          <a:latin typeface="Arial"/>
                          <a:ea typeface="Microsoft YaHei"/>
                        </a:rPr>
                        <a:t>恒等（即 P1）</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0.072%</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0.29%</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0.23%</a:t>
                      </a:r>
                    </a:p>
                  </a:txBody>
                  <a:tcPr marL="54864" marR="54864" marT="27432" marB="27432" anchor="ctr">
                    <a:solidFill>
                      <a:srgbClr val="FFFFFF"/>
                    </a:solidFill>
                  </a:tcPr>
                </a:tc>
              </a:tr>
              <a:tr h="502920">
                <a:tc>
                  <a:txBody>
                    <a:bodyPr wrap="square"/>
                    <a:lstStyle/>
                    <a:p>
                      <a:r>
                        <a:rPr sz="1500" b="0" i="0">
                          <a:solidFill>
                            <a:srgbClr val="262626"/>
                          </a:solidFill>
                          <a:latin typeface="Arial"/>
                          <a:ea typeface="Microsoft YaHei"/>
                        </a:rPr>
                        <a:t>整胞转 30°</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0.074%（直接用 3.72%）</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0.30%</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0.31%</a:t>
                      </a:r>
                    </a:p>
                  </a:txBody>
                  <a:tcPr marL="54864" marR="54864" marT="27432" marB="27432" anchor="ctr">
                    <a:solidFill>
                      <a:srgbClr val="F7F7F7"/>
                    </a:solidFill>
                  </a:tcPr>
                </a:tc>
              </a:tr>
              <a:tr h="502920">
                <a:tc>
                  <a:txBody>
                    <a:bodyPr wrap="square"/>
                    <a:lstStyle/>
                    <a:p>
                      <a:r>
                        <a:rPr sz="1500" b="0" i="0">
                          <a:solidFill>
                            <a:srgbClr val="262626"/>
                          </a:solidFill>
                          <a:latin typeface="Arial"/>
                          <a:ea typeface="Microsoft YaHei"/>
                        </a:rPr>
                        <a:t>扭转 10° / 胞</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0.089%</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0.33%</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0.85%</a:t>
                      </a:r>
                    </a:p>
                  </a:txBody>
                  <a:tcPr marL="54864" marR="54864" marT="27432" marB="27432" anchor="ctr">
                    <a:solidFill>
                      <a:srgbClr val="FFFFFF"/>
                    </a:solidFill>
                  </a:tcPr>
                </a:tc>
              </a:tr>
              <a:tr h="502920">
                <a:tc>
                  <a:txBody>
                    <a:bodyPr wrap="square"/>
                    <a:lstStyle/>
                    <a:p>
                      <a:r>
                        <a:rPr sz="1500" b="0" i="0">
                          <a:solidFill>
                            <a:srgbClr val="262626"/>
                          </a:solidFill>
                          <a:latin typeface="Arial"/>
                          <a:ea typeface="Microsoft YaHei"/>
                        </a:rPr>
                        <a:t>扭转 30° / 胞</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0.27%</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0.88%</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18%</a:t>
                      </a:r>
                    </a:p>
                  </a:txBody>
                  <a:tcPr marL="54864" marR="54864" marT="27432" marB="27432" anchor="ctr">
                    <a:solidFill>
                      <a:srgbClr val="F7F7F7"/>
                    </a:solidFill>
                  </a:tcPr>
                </a:tc>
              </a:tr>
              <a:tr h="502920">
                <a:tc>
                  <a:txBody>
                    <a:bodyPr wrap="square"/>
                    <a:lstStyle/>
                    <a:p>
                      <a:r>
                        <a:rPr sz="1500" b="0" i="0">
                          <a:solidFill>
                            <a:srgbClr val="262626"/>
                          </a:solidFill>
                          <a:latin typeface="Arial"/>
                          <a:ea typeface="Microsoft YaHei"/>
                        </a:rPr>
                        <a:t>弯曲 R/L = 5</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0.097%</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0.43%</a:t>
                      </a:r>
                    </a:p>
                  </a:txBody>
                  <a:tcPr marL="54864" marR="54864" marT="27432" marB="27432" anchor="ctr">
                    <a:solidFill>
                      <a:srgbClr val="FFFFFF"/>
                    </a:solidFill>
                  </a:tcPr>
                </a:tc>
                <a:tc>
                  <a:txBody>
                    <a:bodyPr wrap="square"/>
                    <a:lstStyle/>
                    <a:p>
                      <a:r>
                        <a:rPr sz="1500" b="0" i="0">
                          <a:solidFill>
                            <a:srgbClr val="262626"/>
                          </a:solidFill>
                          <a:latin typeface="Arial"/>
                          <a:ea typeface="Microsoft YaHei"/>
                        </a:rPr>
                        <a:t>0.27%</a:t>
                      </a:r>
                    </a:p>
                  </a:txBody>
                  <a:tcPr marL="54864" marR="54864" marT="27432" marB="27432" anchor="ctr">
                    <a:solidFill>
                      <a:srgbClr val="FFFFFF"/>
                    </a:solidFill>
                  </a:tcPr>
                </a:tc>
              </a:tr>
              <a:tr h="502920">
                <a:tc>
                  <a:txBody>
                    <a:bodyPr wrap="square"/>
                    <a:lstStyle/>
                    <a:p>
                      <a:r>
                        <a:rPr sz="1500" b="0" i="0">
                          <a:solidFill>
                            <a:srgbClr val="262626"/>
                          </a:solidFill>
                          <a:latin typeface="Arial"/>
                          <a:ea typeface="Microsoft YaHei"/>
                        </a:rPr>
                        <a:t>拉伸 ×0.5（cond J = 2）</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3.9%</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8.9%</a:t>
                      </a:r>
                    </a:p>
                  </a:txBody>
                  <a:tcPr marL="54864" marR="54864" marT="27432" marB="27432" anchor="ctr">
                    <a:solidFill>
                      <a:srgbClr val="F7F7F7"/>
                    </a:solidFill>
                  </a:tcPr>
                </a:tc>
                <a:tc>
                  <a:txBody>
                    <a:bodyPr wrap="square"/>
                    <a:lstStyle/>
                    <a:p>
                      <a:r>
                        <a:rPr sz="1500" b="0" i="0">
                          <a:solidFill>
                            <a:srgbClr val="262626"/>
                          </a:solidFill>
                          <a:latin typeface="Arial"/>
                          <a:ea typeface="Microsoft YaHei"/>
                        </a:rPr>
                        <a:t>215%</a:t>
                      </a:r>
                    </a:p>
                  </a:txBody>
                  <a:tcPr marL="54864" marR="54864" marT="27432" marB="27432" anchor="ctr">
                    <a:solidFill>
                      <a:srgbClr val="F7F7F7"/>
                    </a:solidFill>
                  </a:tcPr>
                </a:tc>
              </a:tr>
            </a:tbl>
          </a:graphicData>
        </a:graphic>
      </p:graphicFrame>
      <p:sp>
        <p:nvSpPr>
          <p:cNvPr id="4" name="TextBox 3"/>
          <p:cNvSpPr txBox="1"/>
          <p:nvPr/>
        </p:nvSpPr>
        <p:spPr>
          <a:xfrm>
            <a:off x="457200" y="4800600"/>
            <a:ext cx="11274552" cy="1188720"/>
          </a:xfrm>
          <a:prstGeom prst="rect">
            <a:avLst/>
          </a:prstGeom>
          <a:noFill/>
        </p:spPr>
        <p:txBody>
          <a:bodyPr wrap="square" lIns="73152" rIns="73152" tIns="36576" bIns="36576" anchor="t">
            <a:spAutoFit/>
          </a:bodyPr>
          <a:lstStyle/>
          <a:p>
            <a:pPr algn="l" marL="228600" indent="-201168">
              <a:spcAft>
                <a:spcPts val="600"/>
              </a:spcAft>
              <a:buFont typeface="Arial"/>
              <a:buChar char="•"/>
            </a:pPr>
            <a:r>
              <a:rPr sz="1500" b="0" i="0">
                <a:solidFill>
                  <a:srgbClr val="262626"/>
                </a:solidFill>
                <a:latin typeface="Arial"/>
                <a:ea typeface="Microsoft YaHei"/>
              </a:rPr>
              <a:t>384 对全部保持 Ŝ ⪰ S 与对称半正定；刚体基须在物理坐标里分离</a:t>
            </a:r>
          </a:p>
          <a:p>
            <a:pPr algn="l" marL="228600" indent="-201168">
              <a:spcAft>
                <a:spcPts val="600"/>
              </a:spcAft>
              <a:buFont typeface="Arial"/>
              <a:buChar char="•"/>
            </a:pPr>
            <a:r>
              <a:rPr sz="1500" b="0" i="0">
                <a:solidFill>
                  <a:srgbClr val="262626"/>
                </a:solidFill>
                <a:latin typeface="Arial"/>
                <a:ea typeface="Microsoft YaHei"/>
              </a:rPr>
              <a:t>最坏方向（只是下界）远大于平均：恒等映射下重切胞 2012 的 μ−1 ≥ 44.5% —— 待查清是否会在装配中被激发</a:t>
            </a:r>
          </a:p>
        </p:txBody>
      </p:sp>
      <p:sp>
        <p:nvSpPr>
          <p:cNvPr id="5" name="TextBox 4"/>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来源：docs/followup/A/full16/SUMMARY.md；STEP0_PLAN_CN.md 第 10 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C00000"/>
                </a:solidFill>
              </a:rPr>
              <a:t>B4  PIML 六篇完整对照</a:t>
            </a:r>
          </a:p>
        </p:txBody>
      </p:sp>
      <p:graphicFrame>
        <p:nvGraphicFramePr>
          <p:cNvPr id="3" name="Table 2"/>
          <p:cNvGraphicFramePr>
            <a:graphicFrameLocks noGrp="1"/>
          </p:cNvGraphicFramePr>
          <p:nvPr/>
        </p:nvGraphicFramePr>
        <p:xfrm>
          <a:off x="457200" y="1051560"/>
          <a:ext cx="11274549" cy="3968496"/>
        </p:xfrm>
        <a:graphic>
          <a:graphicData uri="http://schemas.openxmlformats.org/drawingml/2006/table">
            <a:tbl>
              <a:tblPr firstRow="0" bandRow="0">
                <a:tableStyleId>{5940675A-B579-460E-94D1-54222C63F5DA}</a:tableStyleId>
              </a:tblPr>
              <a:tblGrid>
                <a:gridCol w="1466608"/>
                <a:gridCol w="2016586"/>
                <a:gridCol w="1833260"/>
                <a:gridCol w="1649934"/>
                <a:gridCol w="1833260"/>
                <a:gridCol w="2474901"/>
              </a:tblGrid>
              <a:tr h="566928">
                <a:tc>
                  <a:txBody>
                    <a:bodyPr wrap="square"/>
                    <a:lstStyle/>
                    <a:p>
                      <a:r>
                        <a:rPr sz="1300" b="1" i="0">
                          <a:solidFill>
                            <a:srgbClr val="FFFFFF"/>
                          </a:solidFill>
                          <a:latin typeface="Arial"/>
                          <a:ea typeface="Microsoft YaHei"/>
                        </a:rPr>
                        <a:t>维度</a:t>
                      </a:r>
                    </a:p>
                  </a:txBody>
                  <a:tcPr marL="54864" marR="54864" marT="27432" marB="27432" anchor="ctr">
                    <a:solidFill>
                      <a:srgbClr val="C00000"/>
                    </a:solidFill>
                  </a:tcPr>
                </a:tc>
                <a:tc>
                  <a:txBody>
                    <a:bodyPr wrap="square"/>
                    <a:lstStyle/>
                    <a:p>
                      <a:r>
                        <a:rPr sz="1300" b="1" i="0">
                          <a:solidFill>
                            <a:srgbClr val="FFFFFF"/>
                          </a:solidFill>
                          <a:latin typeface="Arial"/>
                          <a:ea typeface="Microsoft YaHei"/>
                        </a:rPr>
                        <a:t>EML 2023 / JMPS 2024</a:t>
                      </a:r>
                    </a:p>
                  </a:txBody>
                  <a:tcPr marL="54864" marR="54864" marT="27432" marB="27432" anchor="ctr">
                    <a:solidFill>
                      <a:srgbClr val="C00000"/>
                    </a:solidFill>
                  </a:tcPr>
                </a:tc>
                <a:tc>
                  <a:txBody>
                    <a:bodyPr wrap="square"/>
                    <a:lstStyle/>
                    <a:p>
                      <a:r>
                        <a:rPr sz="1300" b="1" i="0">
                          <a:solidFill>
                            <a:srgbClr val="FFFFFF"/>
                          </a:solidFill>
                          <a:latin typeface="Arial"/>
                          <a:ea typeface="Microsoft YaHei"/>
                        </a:rPr>
                        <a:t>CMAME 2026</a:t>
                      </a:r>
                    </a:p>
                  </a:txBody>
                  <a:tcPr marL="54864" marR="54864" marT="27432" marB="27432" anchor="ctr">
                    <a:solidFill>
                      <a:srgbClr val="C00000"/>
                    </a:solidFill>
                  </a:tcPr>
                </a:tc>
                <a:tc>
                  <a:txBody>
                    <a:bodyPr wrap="square"/>
                    <a:lstStyle/>
                    <a:p>
                      <a:r>
                        <a:rPr sz="1300" b="1" i="0">
                          <a:solidFill>
                            <a:srgbClr val="FFFFFF"/>
                          </a:solidFill>
                          <a:latin typeface="Arial"/>
                          <a:ea typeface="Microsoft YaHei"/>
                        </a:rPr>
                        <a:t>CS 2026</a:t>
                      </a:r>
                    </a:p>
                  </a:txBody>
                  <a:tcPr marL="54864" marR="54864" marT="27432" marB="27432" anchor="ctr">
                    <a:solidFill>
                      <a:srgbClr val="C00000"/>
                    </a:solidFill>
                  </a:tcPr>
                </a:tc>
                <a:tc>
                  <a:txBody>
                    <a:bodyPr wrap="square"/>
                    <a:lstStyle/>
                    <a:p>
                      <a:r>
                        <a:rPr sz="1300" b="1" i="0">
                          <a:solidFill>
                            <a:srgbClr val="FFFFFF"/>
                          </a:solidFill>
                          <a:latin typeface="Arial"/>
                          <a:ea typeface="Microsoft YaHei"/>
                        </a:rPr>
                        <a:t>IJMS 2026</a:t>
                      </a:r>
                    </a:p>
                  </a:txBody>
                  <a:tcPr marL="54864" marR="54864" marT="27432" marB="27432" anchor="ctr">
                    <a:solidFill>
                      <a:srgbClr val="C00000"/>
                    </a:solidFill>
                  </a:tcPr>
                </a:tc>
                <a:tc>
                  <a:txBody>
                    <a:bodyPr wrap="square"/>
                    <a:lstStyle/>
                    <a:p>
                      <a:r>
                        <a:rPr sz="1300" b="1" i="0">
                          <a:solidFill>
                            <a:srgbClr val="FFFFFF"/>
                          </a:solidFill>
                          <a:latin typeface="Arial"/>
                          <a:ea typeface="Microsoft YaHei"/>
                        </a:rPr>
                        <a:t>NICE</a:t>
                      </a:r>
                    </a:p>
                  </a:txBody>
                  <a:tcPr marL="54864" marR="54864" marT="27432" marB="27432" anchor="ctr">
                    <a:solidFill>
                      <a:srgbClr val="C00000"/>
                    </a:solidFill>
                  </a:tcPr>
                </a:tc>
              </a:tr>
              <a:tr h="566928">
                <a:tc>
                  <a:txBody>
                    <a:bodyPr wrap="square"/>
                    <a:lstStyle/>
                    <a:p>
                      <a:r>
                        <a:rPr sz="1300" b="0" i="0">
                          <a:solidFill>
                            <a:srgbClr val="262626"/>
                          </a:solidFill>
                          <a:latin typeface="Arial"/>
                          <a:ea typeface="Microsoft YaHei"/>
                        </a:rPr>
                        <a:t>边界自由度</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24</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168（Bézier）</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24</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24</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2,679–45,900</a:t>
                      </a:r>
                    </a:p>
                  </a:txBody>
                  <a:tcPr marL="54864" marR="54864" marT="27432" marB="27432" anchor="ctr">
                    <a:solidFill>
                      <a:srgbClr val="FFFFFF"/>
                    </a:solidFill>
                  </a:tcPr>
                </a:tc>
              </a:tr>
              <a:tr h="566928">
                <a:tc>
                  <a:txBody>
                    <a:bodyPr wrap="square"/>
                    <a:lstStyle/>
                    <a:p>
                      <a:r>
                        <a:rPr sz="1300" b="0" i="0">
                          <a:solidFill>
                            <a:srgbClr val="262626"/>
                          </a:solidFill>
                          <a:latin typeface="Arial"/>
                          <a:ea typeface="Microsoft YaHei"/>
                        </a:rPr>
                        <a:t>训练</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监督 / 无数据</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监督</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监督</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监督（迁移）</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能量对数比 + 灵敏度项</a:t>
                      </a:r>
                    </a:p>
                  </a:txBody>
                  <a:tcPr marL="54864" marR="54864" marT="27432" marB="27432" anchor="ctr">
                    <a:solidFill>
                      <a:srgbClr val="F7F7F7"/>
                    </a:solidFill>
                  </a:tcPr>
                </a:tc>
              </a:tr>
              <a:tr h="566928">
                <a:tc>
                  <a:txBody>
                    <a:bodyPr wrap="square"/>
                    <a:lstStyle/>
                    <a:p>
                      <a:r>
                        <a:rPr sz="1300" b="0" i="0">
                          <a:solidFill>
                            <a:srgbClr val="262626"/>
                          </a:solidFill>
                          <a:latin typeface="Arial"/>
                          <a:ea typeface="Microsoft YaHei"/>
                        </a:rPr>
                        <a:t>灵敏度</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场基，忽略 ∂N/∂ρ</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未说明</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未说明</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场基；应力问题反传</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场基 + 完整导数；逐胞报告</a:t>
                      </a:r>
                    </a:p>
                  </a:txBody>
                  <a:tcPr marL="54864" marR="54864" marT="27432" marB="27432" anchor="ctr">
                    <a:solidFill>
                      <a:srgbClr val="FFFFFF"/>
                    </a:solidFill>
                  </a:tcPr>
                </a:tc>
              </a:tr>
              <a:tr h="566928">
                <a:tc>
                  <a:txBody>
                    <a:bodyPr wrap="square"/>
                    <a:lstStyle/>
                    <a:p>
                      <a:r>
                        <a:rPr sz="1300" b="0" i="0">
                          <a:solidFill>
                            <a:srgbClr val="262626"/>
                          </a:solidFill>
                          <a:latin typeface="Arial"/>
                          <a:ea typeface="Microsoft YaHei"/>
                        </a:rPr>
                        <a:t>理论</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刚体不变性</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插值不变性</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误差放大估计</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刚体不变性</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Ritz 下界、份额界、校正排序</a:t>
                      </a:r>
                    </a:p>
                  </a:txBody>
                  <a:tcPr marL="54864" marR="54864" marT="27432" marB="27432" anchor="ctr">
                    <a:solidFill>
                      <a:srgbClr val="F7F7F7"/>
                    </a:solidFill>
                  </a:tcPr>
                </a:tc>
              </a:tr>
              <a:tr h="566928">
                <a:tc>
                  <a:txBody>
                    <a:bodyPr wrap="square"/>
                    <a:lstStyle/>
                    <a:p>
                      <a:r>
                        <a:rPr sz="1300" b="0" i="0">
                          <a:solidFill>
                            <a:srgbClr val="262626"/>
                          </a:solidFill>
                          <a:latin typeface="Arial"/>
                          <a:ea typeface="Microsoft YaHei"/>
                        </a:rPr>
                        <a:t>校正</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无</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无</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投影（rank-6）</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无（转细网格）</a:t>
                      </a:r>
                    </a:p>
                  </a:txBody>
                  <a:tcPr marL="54864" marR="54864" marT="27432" marB="27432" anchor="ctr">
                    <a:solidFill>
                      <a:srgbClr val="FFFFFF"/>
                    </a:solidFill>
                  </a:tcPr>
                </a:tc>
                <a:tc>
                  <a:txBody>
                    <a:bodyPr wrap="square"/>
                    <a:lstStyle/>
                    <a:p>
                      <a:r>
                        <a:rPr sz="1300" b="0" i="0">
                          <a:solidFill>
                            <a:srgbClr val="262626"/>
                          </a:solidFill>
                          <a:latin typeface="Arial"/>
                          <a:ea typeface="Microsoft YaHei"/>
                        </a:rPr>
                        <a:t>固定两层网格校正 𝒲</a:t>
                      </a:r>
                    </a:p>
                  </a:txBody>
                  <a:tcPr marL="54864" marR="54864" marT="27432" marB="27432" anchor="ctr">
                    <a:solidFill>
                      <a:srgbClr val="FFFFFF"/>
                    </a:solidFill>
                  </a:tcPr>
                </a:tc>
              </a:tr>
              <a:tr h="566928">
                <a:tc>
                  <a:txBody>
                    <a:bodyPr wrap="square"/>
                    <a:lstStyle/>
                    <a:p>
                      <a:r>
                        <a:rPr sz="1300" b="0" i="0">
                          <a:solidFill>
                            <a:srgbClr val="262626"/>
                          </a:solidFill>
                          <a:latin typeface="Arial"/>
                          <a:ea typeface="Microsoft YaHei"/>
                        </a:rPr>
                        <a:t>参考解</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细网格 / EMsFEM</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细网格（设计未复核）</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同边界子结构</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同边界子结构</a:t>
                      </a:r>
                    </a:p>
                  </a:txBody>
                  <a:tcPr marL="54864" marR="54864" marT="27432" marB="27432" anchor="ctr">
                    <a:solidFill>
                      <a:srgbClr val="F7F7F7"/>
                    </a:solidFill>
                  </a:tcPr>
                </a:tc>
                <a:tc>
                  <a:txBody>
                    <a:bodyPr wrap="square"/>
                    <a:lstStyle/>
                    <a:p>
                      <a:r>
                        <a:rPr sz="1300" b="0" i="0">
                          <a:solidFill>
                            <a:srgbClr val="262626"/>
                          </a:solidFill>
                          <a:latin typeface="Arial"/>
                          <a:ea typeface="Microsoft YaHei"/>
                        </a:rPr>
                        <a:t>同一离散的精确凝聚</a:t>
                      </a:r>
                    </a:p>
                  </a:txBody>
                  <a:tcPr marL="54864" marR="54864" marT="27432" marB="27432" anchor="ctr">
                    <a:solidFill>
                      <a:srgbClr val="F7F7F7"/>
                    </a:solidFill>
                  </a:tcPr>
                </a:tc>
              </a:tr>
            </a:tbl>
          </a:graphicData>
        </a:graphic>
      </p:graphicFrame>
      <p:sp>
        <p:nvSpPr>
          <p:cNvPr id="4" name="TextBox 3"/>
          <p:cNvSpPr txBox="1"/>
          <p:nvPr/>
        </p:nvSpPr>
        <p:spPr>
          <a:xfrm>
            <a:off x="73152" y="6217920"/>
            <a:ext cx="10972800" cy="274320"/>
          </a:xfrm>
          <a:prstGeom prst="rect">
            <a:avLst/>
          </a:prstGeom>
          <a:noFill/>
        </p:spPr>
        <p:txBody>
          <a:bodyPr wrap="square" lIns="73152" rIns="73152" tIns="36576" bIns="36576" anchor="t">
            <a:spAutoFit/>
          </a:bodyPr>
          <a:lstStyle/>
          <a:p>
            <a:pPr algn="l">
              <a:spcAft>
                <a:spcPts val="600"/>
              </a:spcAft>
            </a:pPr>
            <a:r>
              <a:rPr sz="1100" b="0" i="0">
                <a:solidFill>
                  <a:srgbClr val="595959"/>
                </a:solidFill>
                <a:latin typeface="Arial"/>
                <a:ea typeface="Microsoft YaHei"/>
              </a:rPr>
              <a:t>来源：GUO_SERIES_COMPARISON_CN.md 第 2 节</a:t>
            </a:r>
          </a:p>
        </p:txBody>
      </p:sp>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800000"/>
      </a:dk2>
      <a:lt2>
        <a:srgbClr val="333333"/>
      </a:lt2>
      <a:accent1>
        <a:srgbClr val="EB6743"/>
      </a:accent1>
      <a:accent2>
        <a:srgbClr val="D3A911"/>
      </a:accent2>
      <a:accent3>
        <a:srgbClr val="FFFFFF"/>
      </a:accent3>
      <a:accent4>
        <a:srgbClr val="000000"/>
      </a:accent4>
      <a:accent5>
        <a:srgbClr val="F3B8B0"/>
      </a:accent5>
      <a:accent6>
        <a:srgbClr val="BF990E"/>
      </a:accent6>
      <a:hlink>
        <a:srgbClr val="7B9B63"/>
      </a:hlink>
      <a:folHlink>
        <a:srgbClr val="38A3B2"/>
      </a:folHlink>
    </a:clrScheme>
    <a:fontScheme name="奥斯汀">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noFill/>
        </a:ln>
      </a:spPr>
      <a:bodyPr anchor="ctr">
        <a:spAutoFit/>
      </a:bodyPr>
      <a:lstStyle>
        <a:defPPr>
          <a:defRPr sz="2800" b="1">
            <a:solidFill>
              <a:srgbClr val="0070C0"/>
            </a:solidFill>
            <a:latin typeface="Microsoft YaHei" panose="020B0503020204020204" pitchFamily="34" charset="-122"/>
            <a:ea typeface="Microsoft YaHei" panose="020B0503020204020204" pitchFamily="34"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en-US" sz="1800" b="1" i="0" u="none" strike="noStrike" cap="none" normalizeH="0" baseline="0" smtClean="0">
            <a:ln>
              <a:noFill/>
            </a:ln>
            <a:solidFill>
              <a:schemeClr val="tx1"/>
            </a:solidFill>
            <a:effectLst/>
            <a:latin typeface="Arial" panose="020B0604020202090204" pitchFamily="34" charset="0"/>
          </a:defRPr>
        </a:defPPr>
      </a:lstStyle>
    </a:lnDef>
  </a:objectDefaults>
  <a:extraClrSchemeLst>
    <a:extraClrScheme>
      <a:clrScheme name="Default Design 1">
        <a:dk1>
          <a:srgbClr val="000000"/>
        </a:dk1>
        <a:lt1>
          <a:srgbClr val="FFFFFF"/>
        </a:lt1>
        <a:dk2>
          <a:srgbClr val="800000"/>
        </a:dk2>
        <a:lt2>
          <a:srgbClr val="333333"/>
        </a:lt2>
        <a:accent1>
          <a:srgbClr val="EB6743"/>
        </a:accent1>
        <a:accent2>
          <a:srgbClr val="D3A911"/>
        </a:accent2>
        <a:accent3>
          <a:srgbClr val="FFFFFF"/>
        </a:accent3>
        <a:accent4>
          <a:srgbClr val="000000"/>
        </a:accent4>
        <a:accent5>
          <a:srgbClr val="F3B8B0"/>
        </a:accent5>
        <a:accent6>
          <a:srgbClr val="BF990E"/>
        </a:accent6>
        <a:hlink>
          <a:srgbClr val="7B9B63"/>
        </a:hlink>
        <a:folHlink>
          <a:srgbClr val="38A3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2E507A"/>
        </a:dk2>
        <a:lt2>
          <a:srgbClr val="333333"/>
        </a:lt2>
        <a:accent1>
          <a:srgbClr val="5A90C2"/>
        </a:accent1>
        <a:accent2>
          <a:srgbClr val="8AC246"/>
        </a:accent2>
        <a:accent3>
          <a:srgbClr val="FFFFFF"/>
        </a:accent3>
        <a:accent4>
          <a:srgbClr val="000000"/>
        </a:accent4>
        <a:accent5>
          <a:srgbClr val="B5C6DD"/>
        </a:accent5>
        <a:accent6>
          <a:srgbClr val="7DB03F"/>
        </a:accent6>
        <a:hlink>
          <a:srgbClr val="F6831A"/>
        </a:hlink>
        <a:folHlink>
          <a:srgbClr val="EFC821"/>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A82A9F"/>
        </a:dk2>
        <a:lt2>
          <a:srgbClr val="4D4D4D"/>
        </a:lt2>
        <a:accent1>
          <a:srgbClr val="12B4D4"/>
        </a:accent1>
        <a:accent2>
          <a:srgbClr val="F1C23D"/>
        </a:accent2>
        <a:accent3>
          <a:srgbClr val="FFFFFF"/>
        </a:accent3>
        <a:accent4>
          <a:srgbClr val="000000"/>
        </a:accent4>
        <a:accent5>
          <a:srgbClr val="AAD6E6"/>
        </a:accent5>
        <a:accent6>
          <a:srgbClr val="DAB036"/>
        </a:accent6>
        <a:hlink>
          <a:srgbClr val="8CA62C"/>
        </a:hlink>
        <a:folHlink>
          <a:srgbClr val="808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item1.xml><?xml version="1.0" encoding="utf-8"?>
<s:customData xmlns="http://www.wps.cn/officeDocument/2013/wpsCustomData" xmlns:s="http://www.wps.cn/officeDocument/2013/wpsCustomData">
  <extobjs>
    <extobj name="ECB019B1-382A-4266-B25C-5B523AA43C14-1">
      <extobjdata type="ECB019B1-382A-4266-B25C-5B523AA43C14" data="ewoJIkZpbGVJZCIgOiAiNTA3NzgzNTM2NTQwIiwKCSJHcm91cElkIiA6ICI5ODIxNTE3NjAiLAoJIkltYWdlIiA6ICJpVkJPUncwS0dnb0FBQUFOU1VoRVVnQUFBY2dBQUFXR0NBSUFBQUNFM3FLeUFBQUFBWE5TUjBJQXJzNGM2UUFBSUFCSlJFRlVlSnpzM1hrZ2xOdi9CL0F6RzJQZnMwZVdTbEVoTFpaUVVWYzNsTFpiVXFuVWJkT2VTMXB1V3BSdW14YVJiRzJLTHFYaXRtKzB1QzJTSllrc0ViSXpHRE8vUDg3Mysvem1PeVRxWVdyNnZQNmFPWFBtZVk3QmU4NXpudk9jaDhMbGNoRUFBQUR5VUFYZEFBQUFFRFlRckFBQVFESUlWZ0FBSUJrRUt3QUFrQXlDRlFBQVNBYkJDZ0FBSklOZ0JRQUFra0d3QWdBQXlTQllBUUNBWkJDc0FBQkFNZ2hXQUFBZ0dRUXJBQUNRRElJVkFBQklCc0VLQUFBa2cyQUZBQUNTUWJBQ0FBREpJRmdCQUlCa0VLd0FBRUF5Q0ZZQUFDQVpCQ3NBQUpBTWdoVUFBRWdHd1FvQUFDU0RZQVVBQUpKQnNBSUFBTWtnV0FFQWdHUVFyQUFBUURJSVZnQUFJQmtFS3dBQWtBeUNGUUFBU0FiQkNnQUFKSU5nQlFBQWtrR3dBZ0FBeVNCWUFRQ0FaQkNzQUFCQU1naFdBQUFnR1Yyd3U2K3ByYjE1KzI3KyswTEJOZ1AwQUhWMTFiRTIxckt5TW9KdUNBRGRUc0RCK3Z6bHErMjcvNnFvK0NUWVpvQWVJQ3NqSXlraE1kNXVqS0FiQWtDM0UvQlFRRmxaT2FUcVQ2S3F1dnJEaDFKQnR3S0FuaURnSGl2Qm9IOWYrekcyZ200RjZCWjM3ajE4L2pKTjBLMEFvT2Q4TDhFNm9IOC96NldMQmQwSzBDMXFhbW9oV01GUEJXWUZBQUFBeVNCWUFRQ0FaQkNzQUFCQU1naFdBQUFnR1FRckFBQ1FESUlWQUFCSUp2ekIydExTSXVnbUFBQitMa0llck1YRnhUWTJOamR2M3VRdC9QVHBVMmw3cXFxcVByZWRZOGVPV1Z0Ykp5Y245MGlyMjdGbzBhSUpFeWFVbFpVSnFnRUFnTTc3WGk0UTZDYUJnWUVVQ2tWT1R1NzE2OWNJSVRVMU5WbFoyU1ZMbHJ4NTg2WnRaU3NycS8zNzk3ZTduYlMwdExxNnVxeXNySkVqUjNhcEFVMU5UVFFhalU3L3BzK1p6V2EvZXZXS3hXS1ZsSlFvS1NsOXk2YStLQ3NyYStiTW1iTm56MTY1Y21XMzdnZ0FJU2JNd2ZycTFhdkV4RVFtazdsczJUSXVsOXZVMU9UcjYrdnM3QndRRU1CaXNieTl2YlcxdFQwOFBIRGxMVnUyU0VwS2ZtNVRXN2R1VFV0THM3UzA3RklEQWdNRHo1NDlHeE1UbzZ5cy9DMC9DSjFPRHdzTHE2cXFNakl5K3BidGRNYUZDeGNRUXBNblQrN3VIUUVneElRMldHdHFhdjc0NDQrUkkwY2VPblNJUXFIczNMbnp6cDA3MXRiV0NDRU5EUTAybS8zeDQ4ZGZmdmxGVDA4UDEyOXRiWldRa1BqYzFoUVZGVzF0dTd5VXdZc1hMeG9iRzcvdDUvZ1BmWDE5VXJiVHNZYUdobXZYcnBtWm1mWHUzYnNIZGdlQXNCTE9NVll1bDd0eDQ4YUtpb3JmZnZzdEl5UGovUG56Rnk1Y21EZHYzb2NQSHlvckt4RkNjWEZ4ZFhWMW8wZVBibWhvUUFnVkZCUzhlL2V1dTQreXZ3Nlh5KzJ4VFYyOWVyV2hvY0hGeFlXc1BRTHdjeExPWUcxdGJlVnl1WEp5Y2w1ZVhxdFhydzRJQ0pDVWxEeDU4dVM4ZWZPU2twSmlZMk4zNzk2OWVQSGlYcjE2V1ZsWkRSOCszTm5aR1NFMGV2VG96MjF3Ky9idHBxYW1qeDQ5d2srdlg3OXVhbXA2OE9EQndzTEN0V3ZYV2x0YlcxaFlyRnk1c3JpNEdGY0lDQWd3TlRYOTk5OS9FVUlPRGc2bXBxYkxsaTBqdG5idDJqVTNOemR6YzNOcmEydFBUOC9NekV6aUpXTExLU2twVTZaTUdUcDA2TzNidC9HeHVhbXBLWnZOSm1xeTJlem82T2c1YytaWVdWbU5IRGx5NnRTcElTRWhMQmJyaTV2cVFFeE1qTHk4L0ZmMHpRRUF2SVJ6S0lCT3B4ODZkR2pac21VR0JnWkxseTUxZFhWMWNIQ1lPWFBtakJrejNyNTllK2ZPblZXclZrMmZQcDFDb1V5ZVBEa2pJOFBSMGRIYzNGeERRNk5MZXlrcks1c3paNDZXbHRhb1VhUCsvZmZmZS9mdXZYLy8vdHk1Y3d3R3c5all1TFcxOWViTm0rWGw1Uk1uVGhRVEUrdlRwdzkrMTRFREJ5SWlJcFNVbEJ3Y0hPcnI2Mi9kdXZYMDZkUGc0T0FCQXdid2JubmR1bldXbHBhREJnMXFkK1MzcGFWbHhZb1ZqeDgvVmxKU3NyVzFwVkFvVDU4K1BYcjA2TDE3OTRLQ2dwaE1adWMzUlhqMTZsVldWdGE4ZWZPKzhWUWJBT0NuK3hmUzFkWGRzR0hEK2ZQbkowNmNHQmNYSnlVbFZWbFpPVzNhdEsvWTFKVXJWelpzMklEZlcxZFg1K2JtbHArZm41eWNQR3JVcURGanhvd1pNeVluSjZlOHZQejMzMzhuVGw0bEp5ZEhSRVFZR1JrRkJnYmltSHYrL1BuOCtmUDM3Tmx6OHVSSllzdUppWW1iTjIrZU1HSEM1M1lkRkJUMCtQRmpXMXZiSFR0MmlJaUk0S2pkc0dIRG5UdDNRa0pDZUh2SFg5d1VJU1ltQm4vVGZNVkhBUURnSlp4REFZVFRwMC9iMmRsbFoyY2ZQWHJVenM0dU56Y1hJVVNqMGU3ZnY2K2lva0tqMGI1bDR3WUdCa1FpUzBwSzR2RUUzdVA2ZHR1REVQTDI5aVk2ajBPR0RCazhlUERMbHk5NVo5R3FxcW82T0RoOGJpTjRFSURKWkhwNWVlRlVSUWd4R0l4MTY5YlJhTFNMRnkveVZ1NTRVNFM2dXJxa3BLUVJJMGFvcWFsOXNUSUFvR05DM21NMU16TWJQWHIwOGVQSEJ3MGFOR0xFaUdQSGppR0VhbXRybno1OXl1RndMQ3dzMkd3Mm04MjJzTERBOWYzOC9Eby93amh3NEVEZXAzZ2tvYmEydG9PM3ZIejVrazZuLy9QUFAvLzg4dzlSV0ZOVGd4QXFMQ3lVbFpYRkpZTUdEYUpRS0ovYlNHNXVibjE5dlltSmlhS2lJbSs1cXFxcXVycjYrL2Z2UzB0TGlUNXl4NXNpSkNRa3NGaXNLVk9tZkxFbUFPQ0xoRHhZOWZYMUhSMGRvNk9qRFEwTkhSMGRjWWZ4MnJWcnJhMnR2cjYrb3FLaTE2NWRlL255NWZyMTYzRjkzb0hPTCtLYm5vVkhOanM0ODk3YTJscFhWNGNRQ2cwTmJmdHFVMU1UOFpndk1mbmd2bTI3YzJNVkZSWGZ2MzlmWDEvZnlVMFJZbUppbEpTVXJLeXNPbE1aQU5BeElRL1cwdExTWjgrZU5UUTBGQlVWUFh2MkRNOHF2WEhqaHJXMXRhT2pJNzdRS0RzN2U5eTRjVDNRR0JxTkppSWlRcVZTNzkrLzMzRXZzdU5YeGNYRjhWbXB0aTlWVkZRZ2hLU2xwVHU1S2V6NTgrZHYzNzcxOFBENHhyRVJBQUFtek1IS1lySHUzTG1UbXBwYVhsNmVrSkJ3Ky9idDh2SnlQQmVxNHdOMnN1QlE0M0E0UkltK3ZuNTZlbnBtWnFhQmdjRlhiMVpQVDA5RVJPVDE2OWVWbFpWeWNuSkVlVWxKU1ZGUmtacWFXaWQ3cVlTWW1CZ3FsWXJIaUFFQTMwNllUMTVWVjFjdldyUW9JU0ZCWDEvZnc4TWpJU0VCejNrYU4yN2NsQ2xUTEN3c0xDd3NUcDA2VlZKU1l2RmZpeFl0SXJFQk9QWHk4L09KRW53ZXlkL2Z2N3E2bWlnc0x5OVBUVTN0L0dhWlRLYVRrMU5EUThPT0hUdUl0YnNhR3h0MzdkckZack5uelpyVnBVWldWMWRmdjM3ZDB0THlHNis3QlFBUWhMYkh5bWF6Mzc5L3I2S2kwdmFsVFpzMkVZLzV4bGlKMDBla01ETXp1Mzc5K3ViTm02MnNyS1NscFZlc1dERmx5cFFiTjI3OCsrKy9reWRQSGpwMHFJS0NRa0ZCd2VQSGo5M2QzVTFOVFR1LzVSVXJWcng2OWVybXpadU9qbzdEaGcxanNWZ3ZYcndvS3l1enM3T2JQbjE2bHhwNTZkS2w1dVptT0cwRkFJbUVObGlmUEhuQ1pyTU5EUTNidnNRN290cXRZNnpPenM1NWVYbUppWWxYcmx6QjgwUHBkSHBnWUdCRVJNUzFhOWZ1M0xraklTR2hxcXI2KysrL2R6WFh4TVhGUTBKQ1RwMDZkZTNhdGFTa0pCcU5wcWVudDNqeFlpY25wODRNcXZLS2pZMVZWVlh0NnFwZEFJQU9DRzJ3eHNURURCbzBxRmV2WGdnaFEwUEQrdnI2Ky9mdnYzLy92dU9yano3SHg4Zkh4OGVIZURwMjdOaTJCKy9tNXVaOGhYUTZmZTNhdFd2WHJ1VXRGQlVWWGJodzRjS0ZDOXZkVWJ0Ynh2SEhWOEprTXVmUG56OS8vdnpQdGZsem0rTDE1TW1UL1B6OHBVdVhVcW5DUENnRVFBOFR6bUJsczlrc0Ztdng0c1g0NmVqUm8zLy8vWGNLaFdKb2FJZ1h1QUpZVEV3TW5VN0hFeVFBQUdRUnptREZSOXpFMDJIRGhxV21wbks1M0xhSHlTdFdyRml4WWtXUE4vQzd3T1Z5Ky9idE8zTGt5SzdPSWdBQWRFdzRnN1ZkWFIxOEZIb1VDc1hkM1YzUXJRQkFDTUhJR2dBQWtBeUNGUUFBU0FiQkNnQUFKSU5nQlFBQWtrR3dkanMybTUyWGw4ZTc0bFMzN3F1cmI4RUxiZ0VBU1BRVHpRcm9qUHI2ZXQ1TCt6dFBTMHVMV0VVd1BqN2UzdDZldUQ5S1JVV0ZpNHZMamgwN2VLL3Z1bno1OHRpeFkzbnZvVkpWVlpXVmxkWEozY25MeTdlOWIrdnExYXNsSlNYLy9QUFB6amY3dzRjUHMyYk5tak5uenB3NWN6ci9MZ0JBeDM3NFlKMDhlVElSaFRRYVRWVlYxZFRVZE9IQ2hhcXFxa1NkN2R1M3g4YkdCZ1FFZkhFUjY0eU1qSzliaHlVb0tHam8wS0Y0RldwL2YvK29xS2pkdTNkcmEydTNyZG5jM0x4dDI3WXJWNjdVMU5UTW5EbVRLSC85K3ZYeTVjczd1YnZSbzBmdjJiT0hyM0R3NE1FSER4NmNQWHMyYitZZVAzNzgvUG56ZkRWbnpKaUJMOWxTVlZWMWMzTTdlUEFnaDhPWk4yOWVZbUtpdDdkM0IvdDFkWFZkdFdwVkp4c0p3RS9yaHc5V2JPVElrVFFhcmE2dUxpY25KeTR1N3NhTkcrSGg0ZTNtV3NjR0RCaUFGOE1tL1B2dnZ3RUJBY0hCd1VTSDFNM05iZmJzMlhaMmRyelZORFUxOFFNZEhaMndzTEMxYTllNnVibnQyTEhEMHRLU3QxcHhjZkg2OWV2ZnZIbXpmdjM2ZGxkTENRd01OREV4NmJpUnZPdFhwYVNrRkJZVzRzYzBHazFjWFB6S2xTdnE2dXE0Wk9EQWdmWDE5UTBORFc1dWJyZ2tOemYzK3ZYcnhKcFlDS0c1YytmUzZmU2pSNDlhV2xyMjc5OS96Wm8xbjl2dm9VT0hPbTRZQUFBVGttRGR1WE9ubEpRVVhqMXYzYnAxeWNuSmtaR1J2cjYrWGQyT3VMaDR2Mzc5ZUV2d0hhMzc5ZXRIQkN1SHcxRldWdWFyeGt0Zlh6ODhQSHpGaWhVZlBuemdleWtsSmFXeXNqSWtKTVRJeUtqZDl6SVlERkZSMFk0YnlYdWx3NjFidCs3ZnYwODhsWmFXVGtwS0lwN2lQQlVYRnllNjRYLzg4UWVGUWhrL2ZqeEM2TUdEQjc2K3ZxR2hvYTZ1cnBNblQ4YnJaMnRwYVgxdXYwRkJRUjAzREFDQUNVbXdFc1RFeEZ4Y1hKS1RrejkrL1BoMVcyaHFhbnIrL0RueE5EczdHeUgwN05rekJvT0JTemdjVG41Ky9xTkhqNGc2SmlZbURBYWp1cnI2NXMyYlJLR2pveU8rdFI5ZVZQdnAwNmNORFEwVUNtWE9uRGs1T1RrNU9UbTRtcG1aR2U5dHR6MDlQYjk0OStuNitucWlNLzdISDMrVWw1Y0hCZ2F1V3JWS1JrWUdGMTY3ZGkwbEpXWE5talZTVWxMNzl1MGozbGhhV25yanhvMnhZOGZpdHpjM04xZFhWK1B6WFRoVkFRQ2tFTFpnSlc0SmhkZTAvZ29WRlJWTGxpemhLL1QwOU9SOWV1Yk1tVE5uemhCUEV4TVRGUlVWS3lvcTJ2YnA4SkU0UXVqNjlldjM3dDFydXp0NWVYbmVZSjA1YytZWFc4NTNTRTZuMCsvZXZjdmxjcmR1M1lwelB5UWtSRlJVdEcxV25qMTdsc1BoZkc0UU9UMDluZmRtQndSOWZYM2VrMndBZ0M4U3RtQXRLaW9LRFEyVmtwTDY3YmZmdm1VN1c3WnNHVFpzR0VJb0xpNHVMQ3lNdUtkMFZWWFZ6Smt6TjIvZVBIejRjSVRRblR0My9QMzk4VXM2T2pyWHJsM2ozY2lWSzFmOC9mMm5UWnNXSFIxdGEydXJyYTA5Y2VKRTNwdXB0RFY4K0hCOEVxd0RKaVltdkwxYVdWblpaY3VXYmQrKzNkSFIwZFRVTkNFaElTOHZMeXdzak84R1ZqVTFOUmN1WFBqMTExOC9GOXdlSGg0c0ZxdHQrYmx6NS9UMDlEcHVFZ0NBbDVBRXE0K1BENTFPLy9UcFUwWkd4cUJCZy83NjZ5L2VXUUZmUVZaV0Z0K3FwTEd4VVVaR2hyaHRDYjVWdFphV0ZpNGhqcjc1Wkdkbjc5dTNMeTB0YmRPbVRZTUhENDZPam01cWFrcE1URHg4K0xDTmpZMkxpNHVabVZtN2k4SXNYNzY4azB1anVyaTRMRm15Qkkrb1VxblVJVU9HdkgvL3ZxaW82Tml4WTNwNmVybTV1Ym01dWJ4M0ZUeDc5bXhEUTBQSE4yNlpPM2V1dmIwOThUUTNOM2ZqeG8yZGFRd0FnSmVRQk91REJ3K0l4OW5aMmFkUG4xNnpaczNYclduTnA3Q3drUGRtVUNVbEpYaVdVcnVWMld4MmNuTHl1WFBua3BPVGh3d1pjdmJzV1EwTmpkTFNVb1RRcUZHanRtL2YvdXJWcXpObnppeGZ2bHhGUldYcTFLbU9qbzVFOXVIN1pzK2JONitEMDBjRWIyOXZDb1hTMk5oNDVNZ1JvcEFZaUtpcXFzTGwydHJheEVtMlVhTkcvZjMzMzE1ZVhzZU9IVk5TVW1wM3M3MTY5ZUk5S2RmYTJ0cTVEd2tBOEQrRUpGaHYzNzR0SlNWVlgxLy8vdjM3aUlpSStQajRkKy9lblR4NThodVhDbVN6Mlk4ZlAyNW9hRGg5K2pTZWMvcnc0VVBjalcxYk9TNHVidCsrZmJXMXRacWFtanQzN3JTenM4TjdsNVdWRFFnSUdEaHdJTDZYd2ZidDIxZXVYQmtWRlJVVUZIVDA2RkVQRHc4OE9SOWZtbVZqWTlPM2I5OHZ0Z29oSkNJaUlpY254emY0MEJaeDhxcC8vLzRoSVNGejU4NzE4dklLRGc2R1d3WUEwSDJFSkZneENRa0pBd09EN2R1M0Z4UVVwS1dsUFhyMGFNU0lFZCt5d1FjUEh0VFYxVGs3TysvZHUvZmR1M2ZyMXEyN2UvY3VuVTVmdUhEaGtTTkgrRVllTFMwdEh6OStQSDc4ZUhOemM5N3h6ZGV2WDY5ZnYvN1FvVVA0UGpFSUlTVWxwVldyVnJtN3UwZEZSZW5vNk9CQ0hLeTRsMjFuWjRkUGVmSFp2SG16dmIwOURsYmloTkt6Wjg4cUtpcmFWdTdUcDQrdXJpNXZpWnFhbXJlMzk1bzFhKzdmdno5cTFLaHYrV1FBQUIwUXFtREZxRlNxa1pGUlJrWkdYbDdldHdScmEydHJZR0NnbnA2ZXI2K3ZrWkZSY0hEdzJiTm5TMHBLOXUvZkh4WVc1dUhoRVJ3Y3pGdS91Ymw1K1BEaGxaV1ZDUWtKdk9WcGFXa2NEaWN6TTdQdEREQk5UVTNpUHJKRlJVVVVDZ1dmMm1wb2FMQzN0K2U5QnFHeHNYSDkrdlU0VXZIMGZtSzY2NGtUSng0OWVpUWlJc0s3WlJhTDVlN3V2blRwVXI0OTJ0all5TXJLUG56NHNOMWc1WEE0dktzTndGQUFBRjlIQ0lNVmh4UkNDRjh5OE5XQ2c0TnpjM01QSGp5STc3ZHFhbW82Yjk0OFkyTmpLeXNyRXhPVGhRc1hMbG15aFBmcXFjek1UR0tHQUsrbXBpWThSNnJkU1VzZUhoNzRDdFRNek16ZXZYdUxpWW5oOHQ2OWU1dWJteFBWOEdSWTNnM3lYa2RnWldYMTExOS84VzRXWHdMUUxqazV1ZXJxNm5aZkNnZ0lDQWdJK1B4SEFnRG9GQ0VNMWt1WExqMTQ4SURKWkg3TExaMFRFeE92WHIzcTVPUmtZV0dCTzRDK3ZyNzE5ZlZlWGw1NHpPSGd3WU1iTjI3azdTZmEydHJ5bmtQRGlvcUtKaytlcktPams1MmQ3ZXZyKzdtOGEycHFTa3RMNDAzUzh2SnkzalZaZUVjRzhLU29yNXZTWDFKU1VsQlE4TGx4QUh0N2UxTlRVNzVDWWdRREFOQkpRaEtzZi96eEI0MUdhMjV1TGlnbytQRGhBNVZLOWZiMmxwZVg1NjBUSEJ3Y0V4UERXK0xsNWNVN09aL1hzR0hEeE1YRmlUdFgzN2x6NTlXclY1czJiU0xHVlJVVkZZOGRPNWFZbU5oQnF4b2JHMzE4Zk1URXhBSURBdzhjT0xCNTgyWW1rMmxqWTlPMjV0MjdkK3ZxNm5qdklIdjI3Tm16WjgrMnUxazhvdHJ4ZkZnKzI3WnRlLzc4dVlTRVJGNWVIa0xvMTE5L2JWdkh3OFBEek14c3dJQUJuZDhzQUtCZFFoS3N5Y25KK0lHTWpJeU5qYzNjdVhQYlhvemZkbEcrRHRaSWxaT1Q0MTNuYWR5NGNicTZ1bTNueWVNUnlYYm5IdVRtNXZyNit1Yms1UHoxMTE4S0NncmUzdDZWbFpWcjFxeHhkblpldVhJbDd6QUZsOHVOaUlnUUZ4Y25NdGZDd3NMR3hzYkt5b3B2bTNpZ0FGOXh5enNycTd5OC9OYXRXN3cxbTV1YmVaK2FtSmprNWVXMXRMUllXRmhNbno2ZE9HUEdxK09WQTV1Ym0xa3NGdDlJN3JkSVMzOHRLaW9xS2lJaUtTa2hMeWNIdDNvRXd1U0hEOWJZMk5ndjF2SHg4Zkh4OGZuR0hSR3BpcSs0bDVDUW9GQW8wZEhSZERxZDl6SUJOcHVkbXBvYUh4K2ZsSlFrTHk4ZkdCaG9abWFHVCtJZk9IQWdLQ2pvNU1tVFY2OWVIVE5taklPRHc4Q0JBNldscGUvZnYvLzY5V3QzZDNkaUVIYjM3dDI4dXo1NjlDaStUa0ZFUk9Uang0K3hzYkg2K3ZyRUVsYjRhbFNpYzkydUNSTW1USmd3b2FzL2NsNWVYa0pDZ29pSUNJUEJTRTFOWmJQWmJSZUIvV3JMVjIrZzBXZ01PbDFVVkZSVFUzM1lVQk1yODVGOXRMODhoeGVBNzk4UEg2dzlqMHFsN3QyN0Z6K1drSkJZdFdvVnZzQTBQajcrOHVYTDZlbnBMQlpMVGs1dXdZSUZycTZ1eEpwWStJMi8vLzY3bzZOamVIaDRmSHo4bFN0WEVFTEd4c2FIRHgvKzVaZGY4QUtwN1Nvc0xDVG1xOUxwOUVHREJ2M3h4eC9FcTlMUzBoTW5UdHl5WlF2dlcxeGRYYi94M0IzK01nZ05EY1dQeGNYRm5aeWN4b3daODQzYkpGUldWclZ5V2x0Yk9TMHRMV25wcjY5YyswZEVST1NYY1dNWHpKMnRwNnNqU2w3WEdJQ2VSOEVYL0FoS3pOK1gxbmx2UWdpNU9FL2NzNk1MUzk5M0h6YWIvZkhqUjNsNStZNVhIbUd6MlZ3dWwxanlDbC94dFdQSERpTWpJM056Y3pNenM0NFhxV3BvYUVoTlRVMUpTYkd4c2NGZDJvNXhPSnltcGlZT2h5TW1KdGJ6Yy90YlcxdjVWaDdva20wNzk1eU1QSTBROHZWYU44L3RQMnQ3LzNQemRrTkRRME5EWTBGUjhmdUNnbmQ1K1JtWjJRZ2hjVEd4ZVc0elo4MllwcUlNSjgzQWp3cDZyUHpvZExxYW1scG5xdkdWOU8zYk55d3NySk43RVJjWHQ3S3lhanVLK2psVUtwV1lpZFh6dmlWVlA4ZHU5SDhHbExsY2JsMTlmVVhGcDZlcHp5TE9uRXQvblJsOE1xS3dxSGpiWmg5Sm52NCtBRDhRdUs0UkNCaUZRcEdTbE5UVzZqMWxzdFBKb01CUkZpUFo3TmE0eTFkRHdpTGhDZ1h3ZzRKZ0JkOFJCWG41dy92M3pKZzZtVTZuSHp3Y0ZISDZuS0JiQk1EWGdHQUYzeGR4Y1hIUHBZdEhXMXNoaEU2ZnUxQlFXQ1RvRmdIUVpSQ3M0THVqcEtnd2UrWjBLU21wd3FMaVczZnVkK0lkQUh4ZjRPUlZOL3I0OGVQVHAwLzVDZ2NPSEVpbFV2SDlZOXJWcjE4L0V1ZmgvNkNHbWhvUDZOLzMwWlBVZjErOG1PYmlCUGVHQVQ4V0NOWnVsSldWNWV2cmEyaG9TSlJrWjJldlhMbnkrZlBudlBkUzVYUHAwcVhPVEVzUWJxSWlJdE5kSmoxNmt2b21KN2Voc1JHQ0ZmeFlJRmk3RjRQQkNBOFBKNTVPbmp3WkliUjkrL1p0MjdiaGt0R2pSM3Q0ZU15WU1ZT284OFc3dFA0a0xNeEhVQ2lVbkxkdkd4b2E1THV5TUFJQUFnZi93OTJMeStYeUx0U0NWeWVnVXFsNGtuOVZWVlY5ZmIyT2pnNkVhVnRLaWdvcXlzb2ZTa29LQ29zMWVLN2ZCZUQ3Qi8vUDNZdk5acDgrZlpwNGl1OUZpRmMrYldwcXdrL2o0K09KSlZSV3JGang3WmVpQ2cxTkRiVVBKU1VmeThvRTNSQUF1Z2FDdFh1MU94U0FFTHA0OGVLRUNSTk1URXhNVEV4d1NWVlYxZkhqeHhjc1dBREJTcENUbFVVSWxaVzNjK01aQUw1bkVLemRDNi9VUnp6RmExUmorSkpXWDE5Zk9UbTUxYXRYRnhRVUhEOStYRUROL0U3aFc5aFdWSHdTZEVNQTZCb0kxbTVFcFZJbEpDU09IVHRHbFBqNCtQQmRkODlpc2ZBOXJFQmJERG9kSWRUY0RKOFArTUZBc0hZWEZvczFjT0RBK1BoNDNzS1RKMDhTZHdQRXVGd3UzSWthQUNFRHdkcGR6cHc1RXhnWTJPNUx2UGNjcksrdi83cTdWd0VBdmxzUXJOMWw4dVRKdHJhMitQSGJ0Mi9YcjE4ZkZSV0ZsLzVUVWxJaXFoVVhGL1BlNmdvQUlBVGdJTFM3eU1qSWNEZ2NGeGNYR28ybXFxcUs3MUtscmEydHJhMU4zRmFncEtTa3NMQlFXVmxaMEkwRkFKQUpnclViVlZkWDg5NU8xYzdPenNMQ3dzTENvcXlzN01DQkEwWkdSbmdtbHErdmIyeHNySktTMHBFalI3cDA3MVVBd1BjSmhnSzZVWDUrUGtMbzNidDNlQ2FBbjUrZnFLZ283c3dPSFRyMHpKa3owZEhSM3Q3ZUh6OSszTEZqeC8zNzl6ZHYzZ3pMcndBZ0JDQll1MUY2ZWpxTlJ2UHg4Vm01Y2lWQ2FQanc0Zmc4VldwcWFraEl5T1BIajkzZDNWMWNYQkJDUTRjTzlmTHkrdTIzMy96OS9kdmV1QnNBOEdPQm9ZRHUwdExTY3ZQbVRYZDM5NzU5KytLYmIrUDdOcGFWbFhsN2U1ZVZsUjA2ZEdqcDBxVzRzcG1aMmFsVHB4UVZGVDk5Z3Nud0FQendvTWZhWFM1Y3VGQlZWVFY2OUdoM2QvZWdvS0RJeUVoSFI4ZWhRNGVxcUtqWTI5dXJxS2dVRmhaR1IwZmo5UVN3NGNPSHA2YW1Ta2xKRWRlNUFnQitSQkNzM1VWRFE4UFkyTGh2Mzc0SW9lWExsMCtiTnUyZmYvNTU4ZUxGczJmUEtpb3E2dXZybTV1YjJXdzJoOFBCTjlTajBXaDBPcDFPcDArYk5rM1FiUWNBZkJNSTF1NWlaV1dscWFsSlBGVldWbloxZFhWMWRSVm9vd0FBUFFIR1dMdVJ0cmEyb0pzQUFCQUFDRllBQUNBWkJDc0FBSkFNZ2hVQUFFZ0d3UW9BQUNTRFlBVUFBSkpCc0FJQUFNbStsM21zcnpPekRodysxb21LNE1mejdFV2FvSnNBUUkvNlhvSTFJek03SXpOYjBLMEFBQUFTQ0hnb1FFRmVUa1pHV3JCdEFEMURVbEpTU1VsUjBLMEFvQ2NJdU1kcVlqeDQweC9yM3hjVUNyWVpQYW0wNUVOcHlRZUVrTEtLcXJLS3FxQ2IwM1BVMVZVdFJ3NFhkQ3NBNkFrQ0RsWnBLYWxKamhNRTI0WWVkdno0OGNRcmx4QkNpeFl0OHZEd0VIUnpBQURrZzFrQkFBQkFNZ2hXQUFBZ0dRUXJBQUNRRElJVkFBQklCc0VLQUFBa2cyQUZBQUNTUWJBQ0FBREpJRmdCQUlCa0VLd0FBRUF5Q0ZZQUFDQVpCQ3NBQUpBTWdoVUFBRWdHd1FvQUFDU0RZQVVBQUpKQnNBSUFBTWtnV0FFQWdHUVFyQUFBUURJSVZnQUFJQmtFS3dBQWtBeUNGUUFBU0FiQkNnQUFKSU5nQlFBQWtrR3dBZ0FBeVNCWUFRQ0FaQkNzQUFCQU1naFdBQUFnR1FRckFBQ1FESUlWQUFCSUJzRUtBQUFrZzJBRkFBQ1NRYkFDQUFESjZJSnVnSkJyYlcydHFLaGdzOWxFU1UxTkRaZkx4UStLaTR1SmNocU5wcWlvU0tQUkJOUlNBQUJwSUZpN0Y1ZkwzYlZyMTl1M2I0bVNtcG9hL0NBaEllSGV2WHRFdWFxcWFtQmdvQ0RhQ0FBZ0dRUnI5NkxUNmJxNnVuZnUzT0V0cEZBb09HR0prRVVJalJvMWlrNkhYd2NBd2dER1dMdmQrUEhqY1pMaURpd2ZYRTZsVWgwZEhRWGFUQUFBYVNCWXU1Mk9qazcvL3YwN3JxT3ZyNitucDlkVExRSUFkQzhJMW01SG9WQWNIQno0U29nK0xHWnZiODlYQWdENGNVR3c5Z1FyS3l0SlNjblB2U290TFQxeTVNaWViUkVBb0J0QnNQWUVPVGs1QXdPRHo3M2F2MzkvSlNXbG5tMFJBS0FiUWJEMkJIRnhjVU5EUTc1VFdQZ3hoVUl4TWpLU2xaVVZhQU1CQUdTQ1lPMEpWQ3JWME5CUVNrcUtieUNWUXFHSWlZa1pHaHBTcWZDTEFFQjR3UDl6RHpFeU1wS1RrMnRiTGlFaFlXUmtKSWdXQVFDNkN3UnJEMUZRVU1BQlNuUmE4UU1URTVOMkF4Y0E4T09DWU8wNUV5Wk1hRnZvN093c2lMWUFBTG9SQkd2UE1UWTI3dFdyRjM2TXU2dXFxcXJHeHNhQ2JoY0FnR1FRckQySHdXRFkyOXZ6amdhTUdUT0d3V0FJdWwwQUFKSkJzUGFvY2VQR2lZaUk0TWRNSnRQYTJsclFMUUlBa0ErQ3RVZXBxYW4xNmRNSFA5YlYxZFhRMEJCMGl3QUE1SU5nN1ZFU0VoS0dob2I0c2FHaElWd1hBSUJRZ21EdFVRd0dZOUNnUWVMaTRrd20wOGpJaUJnV0FBQUlFMWhadWFmaEt3VllMQmJSZFFVQUNCa0kxcDZtcGFYVnUzZnZwcVltVFUxTlFiY0ZBTkF0QkJ5czFkVTFDWWxKYjNQekJOdU1Ic1pxcFhCcG90dDJCUWk2SVQxS1MxUGpWNGR4OG5DWkdmZ0pDRGhZbno1N3ZpdmdRRjFkbldDYklSaDNId2k2QlQxS1hGeE1WbGJHY2NJdmdtNElBTjFPd0NldnFxcXFmOUpVL2ZrME5EUldWRlFLdWhVQTlJVHZaWXgxcU1tUWFTNlRCTjBLMEMzaUU2N2VmNWdpcUwyWGxWZmN2SDIzcFBTam9Cb0F2Z2VLaWdwamJVY3AvL2VhOHU3MnZRU3JWbS9OS1pQZ05xWENLU016UzREQmVpM3ArcDc5Z1hCZzlKTVRFMlBXMXRZdFhqQzNaM1lIODFpQmtNdDdYd0NwQ2hvYldXOXozL1hZN3I2WEhpc0EzVzJVcGJueFlGaFQvS2Z6T2lQcm41dTNlM2luRUt6Z1p6SEswdHpkYlphZ1d3RjYyb1dMOFQwZnJEQVVBQUFBSklOZ0JRQUFra0d3QWdBQXlTQllBUUFKVGovbkFBQWdBRWxFUVZTQVpCQ3NBQUJBTWdoV0FBQWdHUVFyQUFDUURJSVZBQUJJQnNFS3ZsOFNFdUlJb2RxNldrRTNCSUN1Z1dBRjM2OWV2WlFRUXNVZlNnVGRFQUM2Qm9JVmZMOTZLU2toaEdERlAvRERnV0FGM3k4VjVWNDBHaTB2LzMxcGFabWcyd0pBRndoL3NKYVhsejk4K0xDcXF1cnIzczVtczlQUzBrcExTeEZDVlZWVkhBN25pMitwcUtnb0tXbi82TFcwdEJSdml0ZmJ0Mi9iMXN6TnphMm9xUGk2TmlPRXFxdXJQOWZVVDU4K25UeDU4c09IRDErOThSNmpxcUtzcmRXYncrR2N2eGduNkxiMEJCYUwxZERRMEptYVZWVlZ0MjdkWXJQWnZJWHA2ZW54OGZINDhlZitBanZlKzFmL213QStRaGlzOWZYMXVibTV4TlBIang4dlg3NDhLeXZyNjdiVzFOUTBkKzdjaXhjdklvUThQVDNkM2QzNWNqQWxKZVgwNmRPOEpmdjI3VnU1Y2lYeHRMeThuTVZpNGNmYnRtM2J0bTBiYitYSGp4OVBtemJ0L3YzN2ZQdGR2WHIxMnJWclA5ZXF3c0pDL0IvNC9QbHpNek16M0tUaTR1S2NuQnhjd2RQVGMvbnk1ZTIrdDZ5c0xEQXc4UDM3OS9ocm8rcExPdjFSa1U5UlFkN00xQmdoZENYeG41STJYMGhDcHFTa1pNS0VDZnYyN2V0TTVYUG56cTFkdS9iZHUvOVpZUFRHalJ0YnQyNWxzOWw1ZVhsT1RrNDdkKzRrL3ZEdzloLytyOWJXVnVMVjV1Ym1tVE5uenBrenA0T2RzbGlza3BLU1Y2OWVYYjkrL2VUSmswK2ZQc1diVGZ0ZjJkblpYL1VCQ0JVaFhEWXdMaTV1Nzk2OWdZR0JJMGVPL1BhdE1abE1oQkR1L1czZHV0WGIyM3ZtekpuZTN0NU9UazY0UW54OGZHSmlJa0pvNXN5WmJkL2UxTlEwYnR5NDlldlhUNTgrdmQzdGg0ZUg2K3ZybTV1YmM3bmM2dXBxWEppWGwxZFFVT0RvNk1pWGEwd21rOGxrc3Ruc1JZc1dEUnc0Y1BmdTNWd3VsOFBoY0xuYzV1Ym05ZXZYTnpZMlJrZEhJNFN5czdNWExGand4Wi91K2ZQbml4WXQ2cUFDbFVwOTh1VEpGN2ZUVFpoTTVsQVQ0NHZ4Q1RsdmM4OUV4NnhZc29oR293bXFNU1I2OHVRSmIrUVJwS1dsWTJOakRRME41ZVhsMjc2cXE2dXJwcWFHQXk0Nk90cmUzbDVmWDUrM0F2NWJiV2xwMGRiVzl2ZjMzN1JwMDcvLy9oc1VGSVMzZHVmT25kMjdkL1BXdjNmdm5yaTRPSDRjRmhhV241K1BFRHAvL3Z6VXFWUDVkcDJhbXJwMDZkS1dsaGFpaEVxbERoMDZkT2pRb2RIUjBlSGg0YnlWdGJTMFltTmp2K3FERVI3Q0ZxeGNMamNtSmtaVlZYWDQ4T0drYkpCR285SHBkSHpNcGEydEhSNGVmdno0Y1RNek02TENsaTFieXNySzl1N2RLeTR1N3V6czNLV052M2p4SWlVbEpUQXdrRXFsVmxWVmpSa3podmZWdzRjUEh6NThtTGRrMmJKbDgrYk5vOVBwNjlldlg3MTY5ZW5UcHcwTURQQkxlL2Z1emMvUER3c0xvOUZvTDE2OGFHcHE2dnduY09EQUFTVWxwYmJsdDI3ZE9uSGlSSmQrSXRMWmpiYTVmRFh4OXQzNzBURi9HdzRjWURmYVJyRHRJWVdmbjE5aFllSG5YdjN6enovYkxTZStucU9qbyt2cTZwWXNXY0pYQVFkcmMzT3ptSmlZalkxTldGall4WXNYNVhqdU4wNmxVdS9jdVlNUTJySmxTM3A2dXBpWUdDNS84dVJKU0VqSTdObXpXMXBhOXUvZmIyUmsxTDkvZjk0dHM5bnNscFlXTHkrdlBuMzZ5TWpJeU12THk4bkpVYW4vT2Q2VmxaV05qSXpFajQ4ZE8vYnExYXV2L0Z5RWlMQUY2NDBiTi9MeThpWk1tUERpeFF0Y2dyK0gzNzU5S3lJaXdsZFpXVmtaZHdFUVF2Nysvc1Q0RkI4Mm0zM3ExS2x6NTg0UkpmalkvKysvLzFaU1VoSVJFZG16WjgvczJiTXZYTGp3NjYrLzB1bGQrRWdQSFRvMGN1VElrU05IVmxWVkpTVWxoWVNFME9sMExwZnI2ZWs1Y09EQXRuMUpGUlVWL01EYTJ0ckh4OGZHeGdiL2RBaWhRWU1HbVp1YjYrcnFJb1J1Mzc2TkVIcnc0RUZ5Y2pMeFhqMDlQVkZSMGFLaUlqekllKy9ldllLQ0Foa1pHWVNRam80TzhUbndldjM2ZGVkL2xtNGlKU1hwdDluSGVicHI2Y2N5NzAxL2xwV1Z6NXcrUmRDTitsWnhjWEVJb2FkUG4ycG9hRFEwTkZ5K2ZObmUzcDQzeTZxcnEyTmlZaFFWRlIwZEhaOCtmYXFzckt5cHFZbGZxcXVyQ3c4UG56eDVzcWFtWmtaR2hweWNIUEZYZ1lPeXFxcXFzcklTaitaTFNVbjUrZm1abUpoTW1EQUIxeEVYRjI5cGFVbEpTWmsrZlRxRlFzSC9JRjVlWHYzNjljTkovZkxseTJYTGxwMDRjVUpMUzR1djJTTkdqQ0NhUWFpcnE1T1FrQ0QrZmlRa0pMcnRZL3VSQ0ZXd3RyYTJIanQyRENHVWtKQ1FrSkRBKzlMZXZYdmIxbmQxZFYyMWFoViszTlRVaEJCcTk3ZzRORFJVUTBQRDN0NmVyNXo0RzVLVmxUMTgrTENTa2xLWFVqVXhNVEV0TFEzbjllSERoLy81NTUrNHVEZ1pHWm1VbEpTYW1wcFpzMllaR2JWL0g1SEl5TWhIang0aGhHN2V2RmxiVzRzUTJyRmpCejZtUzA1T1hydDJiV0ppb3FLaTRzMmJOM0g5TjIvZTRIL1J0Mi9mNGc0TFF1ak1tVE40S0JaM1dObzk5bnp6NWszbmY1enVvNmFxY21SL3dLcjFQa1hGeGR0Mjdzbkl6RnF5YUlGeUx5V2l4L1NEOHZUMFhMcDBxYkd4Y1dscHFZZUhoN3k4dkwyOS9iQmh3MjdjdUJFZkg2K25wN2Q0OFdLRTBNYU5HeWRObWtUOFpZYUVoT0N4b05iV1ZsOWYzK2JtNWlsVHB1RHZTenpVUG5ueVpGeVRUcWNyS2lxcXFLandkVDlUVWxMcTYrc2RIQnp3cjNqSmtpVVNFaElIRGh6QVBZOURodzR0WExod3pwdzVmbjUrbHBhV3ZHLzgrUEVqTVJSRHBWSnhvR2RuWnlzcksvZlVaL2JERUtwZ2pZcUtldmZ1M2Z6NTgzbEhWMU5TVWtKQ1F0YXNXVU1jTlJQNC9pQkVSVVhkM056YWJqWXVMazVEUTZQZGx3aTllL2Z1VWxNckt5c0RBZ0xjM055MHRiVXpNek12WHJ5NFpzMmFoSVNFMHRMUzFOUlVLcFdhbkp5Y2twS0NFREl3TUJnL2ZqenZlMVZVVlByMjdZdEgwL0JnbHJhMnRxeXNMRUpJU1VucDVzMmJwYVdsL3Y3K1k4ZU94YWZPeG8wYnQyVEpFbUpRT0NzcmErYk1tVWVPSEJrK2ZEZysvOEEzOUViZ1Bia2hXS2JHZy9mdDNyN0ZiOWZyekt4VDV5NDhTSGs4MFdIOEtNdVJBL3IzSTQ1bmYxQUdCZ2JidDI4dktTblp2WHYzaVJNbjhOaUxsWldWcjYrdmdvSUNYK1hNek16VHAwK3ZYYnRXVmxZMlBqNyszYnQzTzNmdWpJbUpxYSt2VjFaVzF0WFZMUzR1OXZUMEhESmtpSXFLaXFLaVlydmZQZGV2WHg4d1lFQ2ZQbjJ1WExteWE5Y3VKU1dsSTBlT0VOK3Nzckt5SVNFaDY5ZXY5L1QwSERkdTNPTEZpNG0vYlE4UEQySWpUQ2J6d1lNSFQ1NDhTVXRMVzdGaUJWSE9ZREFxS3l0WkxCWWVsL2hwQ1Urd3ZudjNMaWdvcUgvLy9vc1cvYzhwRGp5dlNGZFgxOWpZK091MkxDRWh3WHViejZ5c0xGVlZWV2xwNlJjdlhoQW43bWZQbnQxeDh2SzVkZXZXcDArZnpwMDdkL3IwNmVibVppMHRyYWxUcHg0NGNPRDE2OWNaR1JuOSsvZkh4L2pQbnordnFLamdDMVk3T3pzN083dUtpb3ExYTlmaVBuSkJRY0hnd1lPZG5KelliUGEwYWROdzV3SlhMaXNyUXdpcHFxcDIwSmp6NTg4VGgzSkpTVW54OGZHQmdZRzRPNE83eGdKSG9WQk1qUWNIQmU0N0VSWjE0ZS80dlB6M1I0NmZPSGZob3B5c2pLWDVDTE9oSm5xNk9qcmEvSWV1UDRSTGx5N0Z4Y1U5Zi81Y1IwZG42ZEtsdHJhMno1NDlpNDJOL2VXWFg2eXRyZm0rOCtMajQxdGJXMCtlUEJrVUZGUmJXenRzMkRCN2UzdmlXQ290TGUzZXZYc0dCZ2FEQmczcVlJLzM3OStmTUdGQ1ZsYlc1czJiaHc4ZnZuVHAwbzhmUC9KMk1uSnpjN2RzMlpLUWtCQVpHVGwxNmxRaVdNUEN3b2cvSkFxRmN2WHExVjI3ZGlrcksvT2VXaGc4ZVBDcFU2ZHNiVzFGUkVSOGZYM3h0L3RQU0VpQ3RhNnViczJhTlZ3dWQ5T21UVjk5NHJpcHFTa2lJb0szWk9USWtmcjYrdExTMHNUWmVTNlg2KzN0M2RUVUZCOGZyNnlzUEh2MmJId2czOWpZeVB2R0x4NmxXbHBhcmx5NVVrNU83dkhqeHdrSkNhdFhyNmJUNld2V3JBa0xDM3Z4NHNYKy9mdngyU1JYVjlkMjMzN3YzcjBkTzNZb0t5di8rZWVmcTFldjF0Ylc5dlB6ZS9ic21iR3hjWDUrdm9LQ0FqSDJpaCtvcTZ0MzhrTW9MeThuaGxiMTlmWDV6anNMRUlWQ1VWZFQzZVM5YnVaMGw1MEIrMSsrU3ErcHJmMVlWcGIxSnVkRWVCUkNpTUdnOTlIV1VwQ1RsNUFRbDVTU2xKS1FzTFcyc2pRZkllaUdmNEdFaE1UZ3dZTzl2THowOVBSd1NaOCtmU1pQbnB5VmxaV1RrNE9IUVFrVEpreVFsNWVYa1pGSlRFeE1UMC8zOXZibWZSV2ZwNnFzck9SeXVlWGw1WVdGaFFVRkJZV0ZoWVdGaGJ5VC9HYk1tQkVXRmpaOSt2VFEwTkNCQXdjZVBYbzBKaWFHR0RoQ0NDMVlzTURUMDNQQmdnV3VycTY4SFU5WldWbEZSVVhpYVdabXBxU2s1TjY5ZS9GSVBUWm16SmlEQnc5bVpXVlJxZFFoUTRhUS9XbjlNSVFrV05sc2RtTmpvN2UzZDc5Ky9iNTZDeXdXS3lnb2lDaGhzVmp5OHZMNit2cEtTa3JFM05VSER4N2s1ZVV0WHJ3WWp6SGhYaXJ2dS9DbXZqalkycXRYcjlteloxZFdWdTdidDgvZTN0N0N3Z0tuZG14czdJZ1JJOW85UjQ5eE9Cd2ZINStrcENRSEJ3Y2ZINStNakF5RTBQVHAwMGVQSHIxKy9mcmV2WHV2VzdjdU56ZVhPRE9ibVprcEl5UFRObGdURXhORFEwTi8vZlZYaEJEdjlCbzJtODFtczNGN0NLZFBuMjU3S2tOUTlIUjFUaHc5K09oSjZ1bHpGeDQrZWx4UjhRbVh0N1N3czkrOFJlai9aeG1uUEhrYWRLaFQwMElGNWNDQkEvaFA1ZXpacysxVzJMRmpCKy9FcklFREJ3NGNPUERObXpjQkFRR0xGeS9XMU5Ua2NEakZ4Y1U0US9IMDdUMTc5bXpkdWhXL2k4RmdxS3VyYTJobzhIN3h6NTA3OTlLbFM4ZU9IZU9iVXQxV3g0ZnpIaDRlSWlJaXljbkp2T2RJTVdWbFplSjAyYzlKU0lJVlQvaVFsSlJzZTJZL0xTME5qN1MydmVScDRzU0pSSStnb2FGQlhWMmRlSHR1YnU3VXFWUHhINWF5c25KNWVYbExTd3VEd1FnUEQ1ZVdscDR4WTBZSGpXbHBhV2s3QTZGZE8zYnN3Tk5vOE5PVWxKU2lvaUlYRjVlQ2dnSmMwdHpjM05EUVFEeVZrcEtTbFpYVjE5Y2ZPM2JzbURGanNyS3k3dDY5NitQam82S2lvcWVuRnhVVnBhbXBTYVZTNCtMaUxsNjhXRmxaS1NjbjkrVEprNEVEQnhJZnhkMjdkL0g1cTdpNE9BTURBend6Y2MyYU5jU0p1QWNQSHR5NmRXdmp4bzI4N2VUdHB3aGNYdjc3dzhkQ1VwKy9xS3F1Ym1qNC83eGdNT2hhbXBxeXNyS1NFdUxpRXVLUzR1S0RCeGtxOStvbDBNWjI1TUNCQTN5ajJBRUJBWldWbGR1MmJlTTk0dm56eno4WkRBYnh0TG01MmRmWFYxOWZIeDh0MWRYVjRkRnpKcE9wb2FIQlpESVZGQlJ3NW1wcWFuSzVYSGw1ZWI1OFpEQVlreVpOT243OHVLK3ZMLzVENWVzWGZ3N3ZuNzJDZ2tKb2FHaE1URXgxZGJXVWxCUnZDNnVycXdjTUdBREJLaVFVRlJWTFMwdTNidDNhN3F0OHgvaVlnNE1EMGJWc2FHakE1Mzh3L0EyUFQ3WDM3dDJidytFVUZoWm1abWIrKysrL0sxZXVsSktTNnFBbE5UVTFIVmZBTGx5NGNQUG1UVDgvUHpFeHNheXNyT0xpWWh5Z0J3OGVQSGp3SUZHTjkxUStuc1pnWjJmWDFOU1VrNU96WjgrZWdvS0Nnd2NQRXRjdk5qWTJTa2hJakJneGdzUGgzTHg1MDhMQ0lqTXpjOE9HRGZqVkxWdTI1T1hsNFpUY3VYT252YjM5bFN0WEtCU0trNU1UTVg1U1VWRngvLzc5Y2VQR2ZiSDlQYSttdGpibVlueGcwSW5LeWtvcWxTb2xKYW1vSUQvSzB0eDh4TEIrZmZYMWRYVUUzY0F1S0NzcjQvdTZldi8rZlc1dXJydTdPOStBT0o3TDNOVFVKQ29xaWhEYXRXdFhmbjcrMGFOSDA5UFQzNzU5UzZmVFQ1NDhxYWFtaHJlMmZQbnltcG9hRnhjWC9LdWNPM2V1bXBvYTN4RVZRcWhmdjM3TnpjMWxaV1hxNnVwNHZsUm4ycnhxMVNyaWZKcW9xS2lpb3VMbHk1ZnQ3T3ltVHAyNmRPbFNYRjVRVURCbHloUytJNTZma1BBRUt6NG5qaStDNG5YejVrMS9mLzlkdTNhMVBYbkZlOEJlVWxLaW9hRkJQTVVYak9JL09Id0tQams1T1RRMFZGZFg5N2ZmZnZ0Y0EvQWd3S2RQbjc0NFNhQ3VybTdQbmowVUN1WG8wYU8rdnI1Y0xsZFhWemM0T0hqVXFGRzgxZGF0VzZldXJrNWNJSXNIczFhdlhzMTd6Uzd2RlY4QkFRRzJ0cmJLeXNxREJ3OCtkKzVjVVZFUmhVSVpQWG8wZm5YT25EbjYrdnBVS25YbXpKbDRVeFVWRlRJeU1od09oN2hFbmNWaWNibGNQSXNMOTJVa0pTVTcvbGw2UnM3YjNEMzdBLys1Y1FzaHBLbWhQdGJXZW95dDlaQkJSdUxpUCtTc2dOMjdkL01PYXhKQ1EwTkRRMFBibGtkR1JnNFlNQ0F0TFEzUGdaMC9mejRleW5kMWRYVjBkQ1NxR1JrWmhZYUdOalkyMXRmWDQ1QnRkOG9IN2luajQ1WEt5a3JlUWRJT0RCOCtuRzhlcTdpNHVJT0RRM1IwdEp1YkcrNU03TjY5VzE1ZUh2ZW1mMlpDRmF4VUtyWHRRU3ZPQldscDZRNk9aMXRhV2dvTEMzbG43ZFhVMU9CRGJ6eC9YbFpXOXNDQkExd3VkLy8rL1o4YlAzMzc5bTFVVk5UR2pSdUxpNHUvZUJ3a0tTbHBaR1NrcUtpb3BhWFZwMDhmTFMwdFRVMU5TVWxKR1JtWjJOall0TFEwYjI5dkJvTWhLaW9xS1NrcEpTVzFiZHUyK2ZQbmEydHJJNFNDZzROcmEydmQzZDNOek14V3IxNk5OeGdmSHg4VUZFUk1LWnM2ZGVyR2pSdno4dkxHakJsRC9PRDRQNUIzMllUYzNOemV2WHRmdlhxVnI2ZHZZL09mQzV4VVZGVDRaZ1FMUlBycnpBMGJ0MlJrWllzd0dFNi9PbmdzbUt1bHFkR2xXY1BmSVNNakkzOS9mL3dZWDI5NjZOQWhIUjBkTHBkYlhGeE1ESXRuWldVUnM2MjF0YlVkSEJ6NjlPbEQvTTN3SG9QajA2MUJRVUdSa1pGLy8vMTNZMlBqb1VPSGRIVjFlUWY5ejU0OTI5RFFjTzNhTlVsSlNkeVR5TTdPeHRlVmRCS0h3eWtyS3lzdExXVXdHQVlHQmdzV0xMaDI3ZHJXclZ2MzdOa1RHQmo0OE9IRGdJQ0FuM3l1bGJBRjYxZkx6TXhzYlcwbHhpTHhNbFI0NkJibjlZQUJBeDQrZkxoaXhRcERRMFBjclZ1d1lNSHExYXROVEV5SUxadzdkMjdRb0VFNU9Ubk56YzE4VTdMYkZSSVMwcmF3dnI3K3lKRWpnd2NQNXYySGtaYVdMaXdzM0xKbHk1a3paMFJFUkdSbFpZOGZQLzdwMHljVEV4TjVlWGtxbFZwY1hCd1JFVEZseWhUaUlodzdPN3M5ZS9aVVYxZDNQQno4NXMwYmZPcVdTcVZHUlVYeHZYcmh3b1dIRHg5KzhRZnBidFUxTlI3TFYzMzRVQ0lsS2JuUTNXMkp4L3dmL2RJQWpNRmc0RWxPOWZYMWtaR1JMaTR1ZVA3MStmUG5qeDQ5R2hvYWlyOUhpWmx6K0p1ZTc0eFRYVjBkazhra2N0UEF3RUJhV2pvb0tLaFBuejdIangvWDBOQjQvUGl4dDdmMzBhTkhjWVg4L1B6WTJGaDFkWFUvUHo4Nm5mN2h3NGY4L1B6UExXU0IzYng1TXlrcENTSDB4eDkvVkZaV2xwV1Y0UTZ2azVQVHBrMmJsSldWTjJ6WXNIbno1b1VMRno1NzlzelQwOVBXMXJaN1ByQWZDUVFyd2hmQzRpbDQrQUdGUWpsMzdweUtpZ3FlTlgzbzBDR2NMOFNrcTNmdjNtVmtaRlJXVnVML0NoYUxkZmZ1M2FGRGgvcjUrWVdIaDR1S2lnNGVQTGlUdXk0cEtjbkl5SGoxNmxWK2ZuNUFRTUNKRXlmcTZ1cUlIZ3JHWURCOGZId1dMRmdRRkJTRTE2eHlkM2VuVUNoNzkrNk5qSXljUG4zNnVYUG5ORFEwZUplekNnd014RXU2NEFVSDhQQWNuOUxTMG95TWpIbno1dFhYMStOeE43NEszOE01cTZhbXBqOTM3UG53b1VTNWw5SkdyN1VUeHZOZi8vYWpxNjJ0WGJ0MmJVVkZoWldWMWFOSGoxZ3Nsb1NFQkpmTFhiWnNXVmhZV0x1L2dzTEN3aGN2WHJ4NDhlTGx5NWM1T1RuWHIxL0hQWUM3ZCs4ZVBIZ1FIMnd0WGJvVWQwano4dkx3YVV6ODNnMGJOaEJqN25qWkFkelA3YUNGNzkrL1QwOVB4MzhodXJxNnFxcXFxcXFxS2lvcXhEa0pVMU5URFEyTlo4K2VLU2twL2JRVFYva0lTYkMydHJaK2JpRkxQTytrc2JHUkdEZmtoVHVHMTY1ZE16TXpVMUZST1hqd0lCNmxaVEtaZm41K2RYVjFmbjUrLy96emo0T0RBNHZGaW95TTdOdTM3eSsvL0lJbk9lSGo3aXRYcmlDRWJHMXRkKzdjV1Y5Zkh4MGRQVzdjdUMrZURVaE9UZzRQRDgvT3pzYnhwNjZ1UG16WXNMUzB0TWpJeVBuejV4T2p2V3cyRzUreE5UWTJualJwVWtSRXhKZ3hZd1lNR0tDb3FMaHUzVG8zTjdmbHk1ZmpxM1duVDUvZTNOeU1EOEZPbno0ZEdSbHBibTV1WkdRVUZCVGs1ZVcxYytkTzR1Z01YN3hMb1ZEdzhhQ2xwV1hiZ2VudlI4cmpwOWR2M21ZdzZET21UaDV2TjZZVDcvakJORFUxUFgvK25NMW1lM3A2VXFsVUNRa0pDUWtKSlNXbHVycTZkZXZXaFlhRzhzNGNpSTZPRGc0Ty92VHBFMEpJVFUzTjFOUjAxcXhaNHVMaU4yN2NPSFhxMUlzWEwvVDE5ZmZ2M3g4UUVPRHY3Nit2cjYraG9mSG16UnRsWmVWMkEvckRody9uenAyenRiWHQrSlRBM0xsekRRd01saXhaTW5mdVhMNHgxaytmUGtWR1JwNDVjMFpjWE56TnpTMCtQbjdTcEVsVHBreHhkSFQ4Nm9tUHdrRklnalVySzZ2ajhmSTFhOWEwV3o1dDJqUlpXZG15c3JKMTY5WWhoTHk4dkR3OFBGcGJXOVhWMWQrL2Z6OXQyclNLaW9ybHk1ZlBuVHUzcnE2dXRMUjA0OGFOTVRFeHVibTVhbXBxK0dxbHNXUEh2bnYzRG85MTRnbmIrQkx2amtsS1NqSVlqQmt6WnVDWmlmakxmOW15WlZwYVd2UG56NCtLaW1JeW1WVlZWVy9mdmlWT3NIcDZlaFlWRlhHNVhEeWo1ZmJ0MitIaDRmbjUrWTZPampRYTdmejU4MWV2WG8yTmpRME9EajUzN3R6Z3dZUDM3Tm5EWkRMTHk4dGpZbUptelpxMVk4ZU81OCtmNStmblAzdjJESDl6aEllSFQ1dzRFWGRtT1J3Tzc1SmRHSWZESWNZV0JLSzF0ZlhSazlUYXVyb0IvZnZObWpGVk9OWU01S09vcUppWW1NamhjSmhNSnJHSUg1NVdGUmdZR0JJU2dpODd4bjhoNnVycWxwYVdRNGNPTlRVMXhiK2FzTEN3aVJNbmxwZVhxNm1wYmRxMGFlTEVpVlFxdFZldlh2aDZmenp4QXk4THdLZXVyczdUMDVQTDVYYm16N1d0NU9Ua21KaVllL2Z1Y1RnY1oyZm5aY3VXeWNqSXpKczM3L0Rod3pFeE1XZlBubFZTVXRxMWE5ZFBlNDJBa0FTcnVycjZGMmM3dDB0TFM2dTB0TlRDd2dJdjJTY3RMUzB0TFUyOFpHMXQ3ZVRraEFkTUpTVWxqeDgvSGhJU2N2WHFWUWFEUVp3MWtwT1R3eE5SVDU4Ky9mVHAwNENBQU42ckEwVkVSRUpDUXRxdUNXUmtaSFRvMENHK1FuOS8vL0x5Y2dhRGtaU1VsSjZlVHFmVERRME5pZkV2S1NtcG8wZVB0cmEyTGxteTVNbVRKMXd1MTlMU2N0dTJiWGhvMk5YVk5TTWpZL1BtelE4ZVBMQzF0ZDI2ZFN2dW9ucDVlY25JeUlTR2h1SkpPZGV1WFJNVEU1cy9mejZOUmhNWEYxKzRjQ0hlT0o2ZndOZWVTNWN1NGY5cVFTbXZxSGo4TkJVaE5ORmhuR0tiQytlRkJ1ODhQNEtJaUVoQlFjSHIxNjhaRE1hOGVmUHd0N2lGaFFYZlRDWVpHUmt0TFMwdkx5OXJhMnRpNkxsZnYzN2g0ZUY3OSs2Tmk0dlQxdGJtdmNhZmdHK0g0ZXZyUzF6eFJaQ1hsLy9pQ2d3RkJRVnBhV2x6NTg2ZFBIa3k4UWN2TFMzOXh4OS9MRnUyTENrcEtTTWpvK01yYTRVY1Y2QXVYSXp2WXpDa2o4R1F0WC80Q3JBWmpZMk5wR3pudzRjUHBHeW5ZK0hoNGVIaDRlM3VLeVVsSlRRMEZDOTl6ZXYyN2R2bDVlVjhoWGhtVlEvNGM4ZHUvRnNPRFQvVnBUZG1acjh4TUI3UngyQklZVkh4MSs5OTV4Njg5eFBoVVYrOUVhSFUwdElpd0xmM21QT3hjZjhObVUwOXRsTWg2YkYrSTdKbWgvVE1nWE1IcTcwTUh6NjgzZld0cmEydDJ4YTJlMGJydTFKYStwSEZZbWxxcUt1cmRiU0lEUGc2M3poZjdVZWY3dGF0aEdIYUNoQldoWVhGQ0NGSVZmRERnV0FGMzYrQ1lnaFc4RU9DWUFYZnI5cWFXb1NRdEpTMG9Cc0NRTmRBc0FJQUFNa2dXQUVBZ0dRUXJBQUFRRElJVmdBQUlCa0VLd0FBa0F5Q0ZRQUFTQWJCQ2dBQUpJT0wwc0RQNHU3OWgrMHVIUW1FMit1TXJFN1VJaGtFSy9oWjNMMy84TzU5d2Q4UUFmd01ZQ2dBQ0RrTmRiVWY5SWFEZ0VTaW9xSmF2ZmxYNyt3KzBHTUZRdTdYWDhZeG1hSWZQNVlMdWlGQWtCUVZGY2JhanVwRVJYSjhMOEZhL0tFazZjWXRRYmNDZEl2OGdrSUI3bDFKVWVHM3FTNENiQUQ0Q1gwdndacjg2RW55b3llQ2JnVUFBSkJBd0dPczBsSlNYN3dKQkJBT0lpSWlNakt3VGhYNEtRaTR4enJVZE1qS1pZdXozN3dWYkRONlV0V25pc3BQRlFnaE9Ya0ZXWG1odlk5VFd6cDl0RWRabWd1NkZRRDBCQUVIcTV5czdNSjVuNzNSaUZBNmZ2eDRVRkFRUXNoKzdLSjI3L0lHQVBqUndYUXJBQUFnR1FRckFBQ1FESUlWQUFCSUJzRUtBQUFrZzJBRkFBQ1NRYkFDQUFESklGZ0JBSUJrRUt3QUFFQXlDRllBQUNBWkJDc0FBSkFNZ2hVQUFFZ0d3UW9BQUNTRFlBVUFBSkpCc0FJQUFNa2dXQUVBZ0dRUXJBQUFRRElJVmdBQUlCa0VLd0FBa0F5Q0ZRQUFTQWJCQ2dBQUpJTmdCUUFBa2tHd0FnQUF5U0JZQVFDQVpCQ3NBQUJBTWdoV0FBQWdHUVFyQUFDUURJSVZBQUJJQnNFS0FBQWtnMkFGQUFDU1FiQUNBQURKSUZnQkFJQmtkRUUzUU1pMXRyWldWRlN3Mld5aXBLYW1oc3ZsNGdmRnhjVkVPWTFHVTFSVXBORm9BbW9wQUlBMEVLemRpOHZsN3RxMTYrM2J0MFJKVFUwTmZwQ1FrSER2M2oyaVhGVlZOVEF3VUJCdEJBQ1FESUsxZTlIcGRGMWQzVHQzN3ZBV1VpZ1VuTEJFeUNLRVJvMGFSYWZEcndNQVlRQmpyTjF1L1BqeE9FbHhCNVlQTHFkU3FZNk9qZ0p0SmdDQU5CQ3MzVTVIUjZkLy8vNGQxOUhYMTlmVDArdXBGZ0VBdWhjRWE3ZWpVQ2dPRGc1OEpVUWZGck8zdCtjckFRRDh1Q0JZZTRLVmxaV2twT1RuWHBXV2xoNDVjbVRQdGdnQTBJMGdXSHVDbkp5Y2dZSEI1MTd0MzcrL2twSlN6N1lJQU5DTklGaDdncmk0dUtHaElkOHBMUHlZUXFFWUdSbkp5c29LdElFQUFESkJzUFlFS3BWcWFHZ29KU1hGTjVCS29WREV4TVFNRFEycFZQaEZBQ0E4NFArNWh4Z1pHY25KeWJVdGw1Q1FNREl5RWtTTEFBRGRCWUsxaHlnb0tPQUFKVHF0K0lHSmlVbTdnUXNBK0hGQnNQYWNDUk1tdEMxMGRuWVdSRnNBQU4wSWdyWG5HQnNiOStyVkN6L0czVlZWVlZWalkyTkJ0d3NBUURJSTFwN0RZRERzN2UxNVJ3UEdqQm5EWURBRTNTNEFBTWtnV0h2VXVISGpSRVJFOEdNbWsybHRiUzNvRmdFQXlBZkIycVBVMU5UNjlPbURIK3ZxNm1wb2FBaTZSUUFBOGtHdzlpZ0pDUWxEUTBQODJORFFFSzRMQUVBb1FiRDJLQWFETVdqUUlIRnhjU2FUYVdSa1JBd0xBQUNFQ2F5czNOUHdsUUlzRm92b3VnSUFoQXdFYTAvVDB0THEzYnQzVTFPVHBxYW1vTnNDQU9nVzMxMndWbno2ZE92dS9hS2lENEp1U0RlaWlvaUwwcGtIRGdjSnVpSGRTRVc1MTlqUjFncnk4b0p1Q0FBQzhOMEY2KzE3RDNiNC8xVlZYUzNvaG5TL3BCdUNia0Uza3BTVXBEUG9MazRUQmQwUUFBVGd1enQ1VlZoWS9GT2txckNycTZzckxDenVSRVVBaE5CMzEyTWxERGN6SFRGc3FLQmJBYm9zNWZIVFIwOVNCZDBLQUFUcCt3M1dFY09HZWk1ZExPaFdnSzl3RElJVi9PUyt1NkVBQUFENDBVR3dBZ0FBeVNCWUFRQ0FaQkNzQUFCQU1naFdBQUFnR1FRckFBQ1FESUlWQUFCSUJzRUtBQUFrZzJBRkFBQ1NRYkFDQUFESklGZ0JBSUJrRUt3QUFFQXlDRllBQUNBWkJDc0FBSkFNZ2hVQUFFZ0d3UW9BQUNTRFlBVUFBSkpCc0FJQUFNbUVQMWlMaTR1cnFxcmFmU2svUDcvNmYyOWNXRk5UOC9Iang3WTEwOVBUR3hvYXVxMk4vNFBOWnVmbDVkWFgxL2ZNN3I1bjdGWTJRb2hHcHdtNklRQjBqYkFGYTBSRVJHcnEvOXh3eWQzZFBTUWtCRDl1YVdrcEx5OW5zOW40NmZUcDAyTmpZM2tyUjBWRk9lT2g4eFFBQUNBQVNVUkJWRHM3OHdWeGFXbXBtNXZieVpNbjIrNnV2cjcrOVZmaHpjMzQrSGdXaTBVOHJhaW9jSEZ4dVgvL1B1K09MbCsrekZ2bkoxRlRVNGNRa3BHV0VuUkRBT2lhNy9kbWdsK2h2cjcrNHNXTFFVRkJodzhmSGpKa1NOc0tUNTQ4V2I1OCtibHo1L1QwOU5xKzJ0alllUDc4ZVNjbkoxbFoyWmFXRmlMN3JsMjdoaEFhT1hJa1grQktTa3BtWkdRc1dyVG9LNW9hRkJRMGRPaFFoRkJ1YnE2L3YzOVVWTlR1M2J1MXRiWGIxbXh1YnQ2MmJkdVZLMWRxYW1wbXpwejV1UTJXbDVlUEd6Y09JZVRrNUxScDA2YTJGYXl0cmRsczlvTUhENzZ1dmtCVVZWY2hoT1RrWkFYWUJnQytnbEFGcTRTRXhPSERoK2ZPbmV2cDZSa1VGTlMvZi84dXZmM01tVE90cmEwTEZ5NUVDTjI1YzJmRGhnMjhyK0p5WG1GaFlRTUdERGg5K2pSdjRiLy8vaHNRRUJBY0hDd2hJWUZMM056Y1pzK2ViV2RueDF0TlUxTVRQOURSMFFrTEMxdTdkcTJibTl1T0hUc3NMUzE1cXhVWEY2OWZ2LzdObXpmcjE2K2ZQbjE2WjM2S3VMaTRYMy85MWNURXBKTS9kVmZyOTZTaUR5VUlJUVU1ZVVFM0JJQ3VFYXBnUlFpcHFhbnQzYnQzd1lJRmx5OWY3bEt3VmxWVlJVUkV6SnMzVDE1ZS91WExseHdPSnl3c0RDRlVWRlRrNCtQajd1NCthdFFvdnJmbzZ1cUtpNHYzNjllUHQ3QzR1QmdoMUs5ZlB5SllPUnlPc3JJeVh6VmUrdnI2NGVIaEsxYXMrUERoQTk5TEtTa3BsWldWSVNFaFJrWkduZmtwZXZYcVZWWld0bjM3OWpObnpvaUlpSkJldnlkOS9GaFdWRlJNb1ZDMHRYb0x1aTBBZEkyd0JTdEN5TWpJS0NJaW9vTWdhOWZodzRkbFpHUm16WnJGWnJQOS9QeWtwYVh4eU96ZHUzZEZSVVhkM055a3BOb2Y2V3RxYW5yKy9EbnhORHM3R3lIMDdOa3pCb09CU3pnY1RuNSsvcU5IajRnNkppWW1EQWFqdXJyNjVzMmJSS0dqb3lPTlJydDQ4V0p0YlMxQzZPblRwdzBORFJRS1pjNmNPVGs1T1RrNU9iaWFtWm1aaG9iRzUzNktYcjE2alJneElqNCsvdVRKazUwWm8raHEvWjUwOThGRERvZlRXMU5EWGw1TzBHMEJvR3VFTUZoeGg3Rkw5Vk5UVXk5ZXZIam8wQ0VSRVpIVHAwL241dWFlUEhseTM3NTlDS0dFaEFRNU9Ubmk5SmVkbloyaG9TSHZleXNxS3BZc1djSzNRVTlQVDk2blo4NmNPWFBtRFBFME1URlJVVkd4b3FJaUtDaUk3NDMxOWZWNCtzSDE2OWZ2M2J2WHRxbnk4dklkQkd0cmErdktsU3Z2M2JzWEdobzZidHk0ZGdkdHY2VitqMmxxYXJwd01SNGhwSytySXk0dUp1am1BTkExd2hPc0VSRVJrWkdSK0hGQVFNRGd3WU03Lzk2WW1CZ3VsK3ZsNWRYUzB0TFUxT1RrNU5TM2I5K1FrSkRDd3NMS3lzcmh3NGZuNWVXMXRyWW1KeWRyYTJ2ekJTdTJaY3VXWWNPRzRTSExzTEN3aXhjdjR2S3FxcXFaTTJkdTNyeDUrUERoZU9qVzM5OGZ2NlNqbzROUGl4R3VYTG5pNys4L2JkcTA2T2hvVzF0YmJXM3RpUk1ueXNsMXJiOG1JeU96ZHUxYUh4OGZQeisvNE9CZ0NvVkNidjJlOFNUMTJldk1iRHFkUG1Td2tiZ1lCQ3Y0d1FoUHNPSWsvZmp4NDVreloxcGFXbmhmK21KWXpKZ3h3OGpJU0U1T0xpb3E2djM3OTB1WExoVVZGVDF3NE1DeVpjc1FRa2VPSEVFSU5UUTBXRmxaZlc0THNyS3l5c3JLZUdxQmpJd01mb3dueGlLRXRMUzBjSW1NakV5N2I4L096dDYzYjE5YVd0cW1UWnNHRHg0Y0hSM2QxTlNVbUpoNCtQQmhHeHNiRnhjWE16T3p6a2ZlK1BIakV4SVNIajU4K1BmZmYwK2FOSW4wK3QydHFxcjZmR3hjWFYyZFZtOU51OUcyMzBuV0E5QjV3ak9QZGZEZ3dXNXViZzRPRG56bGJEYWJUdi9DOThlZ1FZTisrKzAzQlFXRmpJeU1GU3RXS0NnbzROTld5Y25Kdi83NmE1ZWFVVmhZU0tRcVFxaWtwQVFocEtxcTJtNWxOcHQ5Nzk2OVpjdVcvZmJiYjgzTnpXZlBuclczdDhjdmpSbzE2dFNwVXlkT25LRFQ2Y3VYTDNkMmRvNktpc0l4M1JuZTN0NU1KdlBBZ1FNVkZSWGRVYi83TkRheWpnYWZUUHpuQmtKbzZpUW5mVDBkd2JZSGdLOGdQTUg2T1MwdExaMDUzMTFmWDc5MTYxWVRFeE1YRnhkY2dxOGRNREl5S2lnb0tDZ29LQ29xUWdoVlZsWVcvRmZiR2Z0c052dng0OGZwNmVuRUhLeUhEeC9pYm16YlBjYkZ4WTBkTzNibHlwV0ZoWVU3ZCs0TUNRbkJnNmV5c3JJQkFRSEd4c1lJSVVORHcrM2J0MSsrZk5uR3hpWW9LT2lYWDM0SkR3L3Z6RSt0cXFxNlpNbVMydHJhZ0lDQTdxamZUU3FycWxhdDl6NFplYXE1cFdYS0pLY0Y3bTdRWFFVL0l1RVpDbWdYaDhPcHI2K1hscGIrWWswL1A3OVBuejRkUFhxMHRyYjIzYnQzSEE0SG40am5PMWQrK1BEaHc0Y1A0OGY3OSsvbkd4eDQ4T0JCWFYyZHM3UHozcjE3MzcxN3QyN2R1cnQzNzlMcDlJVUxGeDQ1Y29UdnFnUkxTOHZIangrUEh6L2UzTnljUnZ2L3F6WmZ2MzY5ZnYzNlE0Y085ZXJWQzVjb0tTbXRXclhLM2QwOUtpcEtSNmV6UGJnWk0yWmN2WG8xS1NscDRzU0o1dWJtcE5jbkM1ZkxiV3hrMWRUV1BudnhNamcwNGtYYUt5cVZPbXlvaWZlNlZTTC9uVmtCd0k5Rm1JT1Z6V2JYMU5Sd3Vkd3Zudjk1OE9CQlVsS1NwS1RrL1BuejhiSHd0R25UdkwyOWVYdWFqWTJOcnE2dXYvLysrOWl4WTNFSjd5RS9Qc01lR0Jpb3A2Zm42K3RyWkdRVUhCeDg5dXpaa3BLUy9mdjNoNFdGZVhoNEJBY0g4OVp2Ym00ZVBueDRaV1ZsUWtJQ2IzbGFXaHFIdzhuTXpHeTdhb0dtcHFhS2lrb25mM3dhamVicjZ6dDc5dXdkTzNaY3VIRGhpMTIvcnRiL1JuY2ZQR3hzWURXeVdCOCtsT1M5ZjUrVm5mUHlWVHBDU0VSRVpKcUw4N3paTTJWbDJ4K1BCdUQ3SjdUQm1wU1U5UEhqUnp5dnZvUDVTWmk2dXJxaG9XR2ZQbjIwdExUNjlPblR1M2R2RFEwTlBJQ3dmZnQyTFMwdFYxZFhQQXRLUVVHaHRyYjJ5SkVqdTNmdkZ2dmZzOVhCd2NHNXVia0hEeDVFQ0RrN081dWFtczZiTjgvWTJOakt5c3JFeEdUaHdvVkxsaXpodlhvcU16T1RtQ0hBcTZtcENTRjA2TkFoSnBQWjlsVVBEdzk5ZmYxT2ZnajkrdldiTld0V1JFUkVVRkFRblU3bk82ZjM3ZlcveFpvTkc5bXRyYTNzMWtZV3E3VzFGU0Vrd21CWW1JK1k0enBqcUxFeFRMRUNQelRoRE5iNCtQZ3JWNjZzWExreVBUMmRTcVcydXpJQUwyMXQ3WGJITHRQUzBtSmpZOWVzV2NOYktDc3IrL3o1ODcvKyttdno1czFFWVdKaTR0V3JWNTJjbkN3c0xCQkNMQmJMMTllM3ZyN2V5OHNMWDJ0NzhPREJqUnMzOG83MjJ0cmF0cjBTdjZpb2FQTGt5VG82T3RuWjJiNit2dVBIai8vYXorQS9GaTFhZE9QR2pWT25Ub21LaW5aSC9hOUdvOUZGUkVSb05Kb1NRMUZUUTkxaXhEQmI2MUY2dW4yNmRhY0E5QXhoQzFaOElKK1FrT0RxNmpwcjFxejU4K2NiR1JtSmk0dDM1cjJ0cmEzNStmbnA2ZW12WDcrV2xwWmV0R2pSM3IxN3RiVzFwMDJieGx0TlUxTnp3WUlGUjQ0Y3NiT3pJOFlpaHcwYkppNHV2bmJ0V3Z6MHpwMDdyMTY5MnJScEU1SHBpb3FLeDQ0ZFMweE03S0FCalkyTlBqNCtZbUppZ1lHQkJ3NGMyTHg1TTVQSnRMR3grZG9QQXlHRW1FeW10N2YzMHFWTEd4b2EydTBDZjJQOXJ4YTRiemVUS2NvVUZaV1NrbEpTVktCU2hmODhLdmg1Q0Z1dzR2RktUMDlQTnplM1I0OGV2WGp4NHM4Ly8veml1MDZkT3BXWW1KaVRrOVBVMUVTajBYUjFkU2RObWhRVkZaV1dsbmJzMkRFOFd3c3ZOb2hISHVmTW1YUHQyalUvUDcvbzZHaThCVGs1T1c5dmIyS0Q0OGFOMDlYVmJkdFQ1dDBJbjl6Y1hGOWYzNXljbkwvKytrdEJRY0hiMjd1eXNuTE5talhPenM0clY2NzgzQVcxblRGaXhJZ0pFeWJ3amVTU1dQL3JERFZwWi9reEFJU0RzQVhyMUtsVFRVeE1wazJiOXZIang4MmJOdzhZTU9DWFgzNzU0cnNZRElhNnVycTl2ZjNBZ1FNTkRBeVlUR1pqWStPRUNST2NuWjIxdGJVakl5TWxKQ1JldkhoQm5MQ2kwK2srUGo2UmtaRjRQTFJkUktxV2xwYmV1SEZEUWtLQ1FxRkVSMGZUNlhUZXl3VFliSFpxYW1wOGZIeFNVcEs4dkh4Z1lLQ1ptUm51T1I0NGNDQW9LT2preVpOWHIxNGRNMmFNZzRQRHdJRURQemZEUVZGUmtXOGhXbDUvL3ZrbjN4ZE1WK3NEQURwUDJJTFYxTlRVMU5RVUliUnIxeTRPaDdOcjF5N2VZMHdqSXlOaXVpaXZhZE9tOFIzdmk0bUpSVVJFeU1ySzR2TklyYTJ0VENiVHdjRUJYNW1LRUJveVpBaGU4aFV2WjlVQktwVzZkKzllL0ZoQ1FtTFZxbFc0Q3h3ZkgzLzU4dVgwOUhRV2l5VW5KN2Rnd1FKWFYxZGlUU3o4eHQ5Ly85M1IwVEU4UEJ5UEdpT0VqSTJOZzRLQ2VLZG5BUUMrTjhJV3JJUTllL1o4K3ZSSlNVbUp0MUJLU2dwUHZNZFNVbEk2MkFLUnY0OGZQKzZnV3E5ZXZTNWR1aVF2LzlrMVE1V1VsRkpUVTlsc05wZkxaZkJNek96ZnYzOXNiT3preVpQTnpjM056TXcrZDNtWXVycTZ0N2YzeXBVclUxTlRVMUpTYkd4c0lGVUIrTTRKYmJEU2FEUytWTzBtZERwZFRVMnRNOVg0U3ZyMjdZdVhmTzBNY1hGeEt5dXJEaFlyQUFCOFArQlVMQUFBa0F5Q0ZRQUFTQWJCQ2dBQUpJTmdCUUFBa2tHd0FnQUF5U0JZQVFDQVpCQ3NBQUJBTWdoV0FBQWdHUVFyQUFDUURJSVZBQUJJQnNFS0FBQWtnMkFGQUFDU1FiQUNBQURKSUZnQkFJQmtFS3dBL0I5Nzl4M1ExTlgzQWZ3bUpCQjIyRVAyRUZGQVFad01xMWEwNEo3VVhSK0sxb25XdlZ2M2FBc0tLbWhkcUNocVZSeFZhMFhGRGU2dFVBZklVTGFNUUJMeS9uSGU5NzU1QWxMSElRSDhmdjY2T2JtNTk1Y0FYODQ5OTl3YkFNb1FyQUFBbE5YZkcxMWZ2WjdDTUp0VVhRVjh0S3ZYVTFSZEFvQ0sxZDlndlpaODQxcnllNy90RGdDZzNxcDNRd0VXNW1ZNk9qcXFyZ0krbDVhV3BvVzVtYXFyQUZDTmV0ZGo3ZHJabjh2bHZzN01VblVoZFNVbk95c25PNHRoR0ROekN6TnpDMVdYVTFmTXpVeTdkdlpYZFJVQXFzR1J5V1NxcnVITEVoTVRFeDBkelRETTJMRmpRME5EVlYwT0FOQlg3NFlDQUFBYU9nUXJBQUJsQ0ZZQUFNb1FyQUFBbENGWUFRQW9RN0FDQUZDR1lBVUFvQXpCQ2dCQUdZSVZBSUF5QkNzQUFHVUlWZ0FBeWhDc0FBQ1VJVmdCQUNoRHNBSUFVSVpnQlFDZ0RNRUtBRUFaZ2hVQWdESUVLd0FBWlFoV0FBREtFS3dBQUpRaFdBRUFLRU93QWdCUWhtQUZBS0FNd1FvQVFCbUNGUUNBTWdRckFBQmxDRllBQU1vUXJBQUFsQ0ZZQVFBb1E3QUNBRkNHWUFVQW9JeW42Z0lhT2FsVW1wZVhKNUZJMkpiaTRtS1pURVlXTWpNejJYWTFOVFZqWTJNMU5UVVZWUW9BMUhESUh6blVFWWxFTW5QbXpMUzBOTGFsdUxpNHFLaUlZUmg5ZlgwOVBUMjIzY0xDSWpJeWtzZkR2enFBQmc5L3huV0x4K001T2pxZVAzOWV2cEhENFpDRUxTNHVaaHY5L2YyUnFnQ05BOFpZNjF5UEhqMUlraklNSTZ1R3RITzUzTjY5ZTZ1MFRBQ2dCc0ZhNXh3Y0hKbzFhMWI3T3M3T3prNU9Uc3FxQ0FEcUZvSzF6bkU0bk1EQVFJVVd0ZzlMQkFRRUtMUUFRTU9GWUZVR1B6OC9IUjJkOXoycnA2ZlhvVU1INVZZRUFIVUl3YW9NQmdZR3JxNnU3M3UyV2JObUppWW15cTBJQU9vUWdsVVp0TFMwM056Y0ZFNWhrV1VPaCtQdTdpNFVDbFZhSUFEUWhHQlZCaTZYNitibXBxdXJxekNReXVGd05EVTEzZHpjdUZ6OElBQWFEL3c5SzRtN3U3dUJnVUgxZG0xdGJYZDNkMVZVQkFCMUJjR3FKRVpHUmlSQTJVNHJXZkR5OHFveGNBR2c0VUt3S2s5UVVGRDF4cjU5KzZxaUZnQ29Rd2hXNWZIMDlEUTFOU1hMcEx0cVlXSGg2ZW1wNnJvQWdESUVxL0x3K2Z5QWdBRDUwWUN1WGJ2eStYeFYxd1VBbENGWWxhcDc5KzdxNnVwa1dTQVFkT3JVU2RVVkFRQjlDRmFsc3JTMHRMZTNKOHVPam81V1ZsYXFyZ2dBNkVPd0twVzJ0cmFibXh0WmRuTnp3M1VCQUkwU2dsV3ArSHkraDRlSGxwYVdRQ0J3ZDNkbmh3VUFvREhCblpXVmpWd3BJQktKMks0ckFEUXlDRlpsczdXMXRiR3hxYWlvc0xhMlZuVXRBRkFuNnQxM1h1WGw1eWRldVBqNmRaYXFDNmxEYVdscFZWVlZ6czdPcWk2a0RwbWJtWDdkcFpPUm9hR3FDd0ZRZ1hyWFl6MlhkR241cWw4TGk0cFVYVWpkTy8yM3FpdW9Rem82T2p3K2IwQ2ZYcW91QkVBRjZ0M0pxNHlNekM4aVZSdTdrcEtTakl6TUQxZ1JvQkdxZHoxV1ZyczJyZHUzOVZaMUZmRFJybDVQdVpaOFE5VlZBS2hTL1EzVzltMjlwMHdZcCtvcTRCTnNRckRDRjY3ZURRVUFBRFIwQ0ZZQUFNb1FyQUFBbENGWUFRQW9RN0FDQUZDR1lBVUFvQXpCQ2dCQUdZSVZBSUF5QkNzQUFHVUlWZ0FBeWhDc0FBQ1VJVmdCQUNoRHNBSUFVSVpnQlFDZ0RNRUtBRUFaZ2hVQWdESUVLd0FBWlFoV0FBREt2cXhnbGNsa0VvbUV5cWJLeXNwdTM3NU5aVk8xS0MwdHJldGRBQUIxOWZjN3IrckN5Wk1uVjZ4WXNYLy9mak16TTlJaWs4bmV2SGxUNDhvNk9qcmEydHJ2MjlUUFAvOTg4ZUxGdzRjUEd4c2JmMVFOdWJtNU4yN1UvSlZRUXFHd1hidDI3TVB3OFBEejU4OXYyclNKcmZaRHZIbnpKaVVsUmFHeFJZc1dYQzYzc0xEd2ZhOXljWEZSVjFmLzhMMEFRQzIrb0dBVmk4VWJObXl3czdQTHk4dkx5OHRqR01iSnlhbWlvaUl3TUxERzljUEN3a2FNR1BHK3JZMGJOeTR4TVhIRGhnMExGeTU4M3pweGNYRXltVXkrcFZ1M2JzK2VQWnM3ZDI2TjY3dTV1Y2tIYTNCdzhQbno1ME5EUTJOaVlzek16UHIzNy8veTVjdGEzbUJTVXBLV2x0YVRKMDhXTEZqZzV1Ykd0ajk5K2pRc0xPejI3ZHVuVDU5KzMydVBIajFxYVdsWnk4WS9YOHJOV3dLQlFGTWcwTlhWTlRZeTVISy9yS01sK0tKOFFjRWFGeGVYbVptWm41Ly8vZmZmU3lRU2lVUnk1TWdSUzB2TGZmdjJWVlpXamhneFl2TGt5VDQrUHFRYkd4d2NyS09qd3pCTVNVbEo5KzdkYTl5Z1ZDbzljdVRJcVZPbnFqLzErKysvTjJ2VzdOZGZmNjJxcXBKdmI5NjhPVm5Zc21XTHZiMjkvRk9MRnk4dUtDaVFiekUzTjkrOGVYTm9hR2hrWk9TU0pVdkdqQmxUWEZ4Y1l5VTNidHc0ZCs0Yys1RFA1Ky9Zc1lOOTJMOS9mNFpobGkxYnRtVEpFdExTcFV1WDBORFE0T0JnZGgwZXI4NS9FeVpPbmNYanFYRzVYRDZmYjIzVnhLZDkyODZkL0owYzdUL2dwUUFOekpjU3JQZnYzNCtLaXBvNGNlSjMzMzFYV1ZrNWV2Um9RME5EUzB0TExwZnI1T1QwNk5FamhtRzh2THljbkp4SW1ESU1ROFlCWkRLWlNDVHk4Zkh4OXZiK2tCMmxwcVllUDM2YzVHbHljakxibnBpWU9IMzZkS0ZRV0ZaV3hqQ01ycTZ1VUNoODl1elpqaDA3SmsyYVpHWm14dWZ6NWJjVEdocmFwRW1UUllzVzdkcTFTMHRMaTJHWW5qMTcxckpmK1dDVnlXVHljVThHYXJsY0x1a2tGaFlXbHBhV09qZzRLQ0ZNNVVtbGtvcktDcWxFV2k0U1BYL3g4c0xGeTcrczI5QzFzLytvWWQrNnQzRFYxTlJVWmpFQWRlcUxDTmFDZ29LWk0yZGFXVm0xYmR2MjRjT0hCdzRjZVBYcTFhUkpreDQvZnV6bzZLaWhvYkZ6NTA1TFMwdG5aMmV4V016bjh5OWN1TUF3akltSkNic0ZUMC9Qa1NOSGt1WHk4dkxnNE9CQmd3WU5IejY4K3I3T25EbHovUGh4OW1GcGFTa0o2TXpNVEE2SFkybHBtWm1aeVQ3Nzl1M2JQLy84Yy9UbzBkVkhVWXVMaS9YMTlSbUdJYW42VVNRU3laNDllK1EzUlJiV3JsMWJVVkZCSGlZa0pDUW1KcEwyeVpNbjYrcnFmdXhlUHRhdnE1YVZsNHZLeXN1enNySmZwcWMvZnZMczd2MEhmNTQ2Yys3OHhlREIvY2VNSE5ha2pzY2lBSlRtaXdqV2lvb0tjM1B6Ky9mdlQ1NDhtY2ZqNWVibUdoZ1lMRjY4T0RjM2Q4ZU9IVWVQSGoxNzl1ejY5ZXR2M0xneGVmSmtQcDh2Rm91dHJhM0pZYnVtcG1aNGVMajhZZnZmZi8rZGtaR2hwNmRYNDc1YXRXb1ZIaDV1WTJORFFuYnAwcVdIRHg4V0NvV1ptWmxtWm1hZmRvSW9OemMzS3l1cmVydSt2ajdaa1lJYWh3SVloamwwNkZCUVVKQ1hsNWVYbHhkcEtTd3NqSW1KQ1FrSlVVS3crdmwwWUpjcktpdkx5OHJ2UFhpNGJrUE16ZHQzZHU3ZTkvejV5L0MxSy9UcXZnd0FKZmdpZ3RYYzNIenIxcTN0MjdkZnZueTV1N3U3bjU5ZlZGU1VwYVhsVjE5OTlmZmZmMSs1Y21YOSt2VnQyN1o5OSs1ZG16WnRORFEwdW5idDJxVkxGdzBORFRMNDZPZm5KNysxWThlT0NRU0NybDI3MXJndlkyTmpkbjF2YjIrSlJMSjkrL2F3c0xEVTFGUXJLNnNhWDhMaGNHcXYvOFNKRXhFUkVkWGJ1M1Rwc21iTm11cnRZckdZREJZVElwR0lYZmJ6OC9QejgxdXdZSUdCZ2NHMGFkUFMwOU5qWW1KcTMzdGQwRkJYMTFCWDkvUHA0TjZpK1pLVmE0Ny9lZnBjMHFYd3lJMHpwMDRXQ0FUS3J3ZUFyaThpV0dzUkZCUTBjZUxFMmJObkh6MTZkTW1TSmVYbDVXWm1acjE3OTJaWFdMVnFWVUpDZ3Z4TFJDSVJoOE1KQ0Fpb1piTmR1blJac21TSlVDajg5dHR2ZCsvZUhSd2NmUC8rL1VHREJpbXNWbGxaeVRETWgzUmpkWFIwRkJLd3hrZ2xZNm5hMnRxYk5tMWlXK2JObTZlbXBxYndGc1JpOGIvdVZBbUVRdjJsaStZWkNJV3hjZkhiWStOTWpZM0hmVDlHMVVVQmZLNHZLMWhuelpwRnp0ajg4TU1QN0hRZm1VeDI5ZXJWWWNPRzFmZ1NmMzkvQ3dzTDl1SEJnd2N6TXpQSGpSdW5jSzVKZ1oyZEhWa1lNV0xFM3IxNzU4eVpJeEtKMnJkdnI3QWE2VXQrU0I5TlRVM054Y1ZGdnFYR09iWWlrYWhGaXhZSy93bTJiZHRHdXJGc2kwd21xeit6blRRMU5TZU5INXRmVUhqNDZQRjlCdzkzKzdxTG83MmRxb3NDK0N4ZlZyRDI2OWZQeXNwcStmTGx3Y0hCUXFGdzFhcFZETU5jdjM2OXJLeHMrL2J0c2JHeEZSVVZqeDQ5T25QbURGbi8rUEhqSFRwMDZORGhmd2NIbno1OXVtN2R1ajU5K3Z6blAvOGhRNS9IangvdjE2L2YrOFpiR1liUjA5TUxEZzdldW5XcnVycTZwNmVud3JOdjM3N2xjcmtHQmdhMDNtQmNYRnhrWkdTTlQ1RTNTNVNXbG43Q09iRzZvNituKyszZ0FZa1hrckt6Yzg2ZHYraGdaL3V2d3lNQTlkbVhGYXp0MjdkM2QzZGZ2bng1cDA2ZExDMHRTZFlrSkNSWVdWbU5IeitlWVpnTkd6YVltSml3eCt3S3ZjSmZmdmxGWFYxOTdOaXg1R0ZNVE16Qmd3ZnQ3ZTM5L2YxcjJlblFvVU8zYnQzcTR1SkNCbTNsdlhyMXl0RFE4TzNidC9LZDRzL1J2My8venAwN2srVzB0TFNaTTJmdTJyV0x6R1NTbitTUW1ablpxVk1uS251a3BhV0htMXR6MTB0WHJ0MjkvNkNpb2dJanJkQ2cxWmZqUWVWSVMwdTdlL2N1d3pCUG5qeTVkKzhlbVRDUWxKUVVIQnpjdlh2Mzd0MjdDNFhDSmsyYWRQOC84c2Y3Qnc4ZVRFbEpHVGR1bkttcEtjTXcvL3p6ejVFalI3cDI3VXBTbFV4OXJkR1ZLMWNZaG5uNDhPR3JWNjhVbnJwKy9YcHVibTVJU01pSEZDLzVid3JYZEJINit2cFZWVlVEQmd4UVUxTWpZVzFyYTJ0bloyZG5aOGYrazhqT3pzN0l5UGlveTJTVlFKM1BIenA0SU1Nd1Q1NCtLeTByVTNVNUFKL2xTK214VmxWVmljWGk3ZHUzazZ5TWlvb2k1M00wTkRUMjc5OVBab3pXSWowOVBUdzgzTlhWbFF6RnltU3k1Y3VYYTJ0cno1bzFpMkdZbEpTVXNMQ3czMzc3clUyYk5nb3ZsRXFsVzdac01UQXdLQ3NyMjdoeDQ0b1ZLNW8yYmJwa3lSSnpjL09VbEpTTWpBeG5aK2QzNzk0eERMTnc0VUtGeTdUa0ZSVVZ5Vi90U25UcDBxWEdOUm1HTVRBd0lKdnQxcTBiYVQ5OCtIQkVSSVNUazFOMGREVERNQXNXTEpnMmJWcGdZT0NHRFJzb2prVjhqblp0V3F1cHFmM3o0c1c3ZHlWR2hvYXFMZ2ZnMDMwcHdVcG14VWRHUmxwWldmbjUrYTFidDQ1TXQ3cDE2MVo0ZURpN21zSVk2NGdSSThhTkcxZGVYdjdqanovS1pMS2xTNWVTT042elo4K3RXN2RXckZoaFpHVEVNSXlIaDRlTmpjM3MyYk5qWTJNVnJyZy9jZUxFeTVjdjU4MmI5K3pacy9qNCtOR2pSN3U0dUFRR0JsWldWdjd5eXk5Q29UQWdJT0Rnd1lQa1dxd1hMMTc4OU5OUFlXRmgxV2VuQ2dTQ3FWT25LalRXT0grTDNFL2crZlBucE5TbFM1ZVNJUWg5ZlgxdmIrKzR1TGo0K1BpNWMrZStlZk5tK2ZMbEZ5OWVYTFJvVVQyNS9ZcWhvVUVUUzh0WDZla1pyelB0Ykd1WW53dlFVSHdwd1pxV2xzWXdUUFhqWHpzN08vbTdxQ2lNc1RvNE9FZ2trcmx6NTZhbHBhMVlzWUtjNjc5Mzc5NzY5ZXQ3OSs3TnpyaFNWMWRmdlhyMXNHSERmdnp4eDIzYnRySGpnNjlldlZxN2RxMlRrMU9mUG4zZXZuMzd4eDkvUkVWRnJWdTNUaUtSTEZpdzRPblRweXRXck1qTnpXWDNYbGhZZVA3OCtVR0RCaWtFcTZlbjV3OC8vREJ3NE1BUGVhY1BIanhRVTFPYk4yOWVXRmdZd3pEdDJyVWo1Nmx1M0xpeFpjdVc2OWV2anhrelpzQ0FBV1NhN2V6WnM3Lzk5dHRWcTFhNXU3dC82a2RMazRXNTZhdjA5TGR5bndsQVEvU2xCT3VWSzFlc3JLejA5ZlhML252OHpzREFRUDc0ZmMrZVBXU01sVzFadEdqUmhRc1hSbzhlVFdJME5UVjEyclJwZG5aMlpCQkFJcEdJUktMeThuS1pURFowNk5DWW1KaWZmLzU1K2ZMbDVNclg2ZE9uaTBTaXVYUG5xcW1wbVp1YkR4NDgyTkRRTURjM2QvNzgrY25KeVNFaElRRUJBWHYyN0dGdkVVdHVZRmc5L2QzZDNXc1BQdElmSjllTW5UMTdkc3lZTWFtcHFmUG16U09qRm1UNndkeTVjM1YxZGRldlg5K3hZMGZ5cWpadDJ1emV2WHZtekpuNStmazBQbU1LeUtERTI5dzhWUmNDOEZtK2lHQVZpVVRIamgzcjFhc1h1WktxVmF0VzZlbnAxNjVkSXhQdmEzK3RWQ3J0MWF2WHBFbVRHSWE1YytmT0R6LzhVRkZSVVZGUjBiMTdkNUZJVlAyMjJhZE9uV3JXck5uSWtTTlRVbExTMHRMbXpKblRzbVZMOHRUVXFWT1BIVHMyWk1pUWQrL2VUWjA2bGR4cXdOVFVORGMzTnlvcXlzVEU1UERod3dLQjRIMFhhQ21JajQvUHo4OVhWMWNYaVVUNzl1MnpzN1BqOC9seGNYR0ZoWVZkdW5RWk0yWk1kSFIwYkd4czc5Njl2YjI5emMzTkF3SUN6TTNOTXpJeTR1UGo1VStGdFd2WDdzYU5HN3E2dXV4MXJpcEVMbW5OeTZzdlFRL3dhYjZJWU0zTnpUVXpNL3YyMjIvSllidTN0L2VzV2JQNGZINi9mdjNNemMxcmYrMk1HVFBZOCtuTm16ZDNkblkyTkRRME16TVRDb1Y2ZW5xNnVybzZPanE2dXJyYTJ0cTZ1cm9DZ1dEaXhJbDc5KzRkTUdDQW41L2ZpaFVyNUMvUXVuUG56cElsUzJ4c2JINzU1WmRXclZxUnhrNmRPdm43KzhmR3hvckZZajA5dmFsVHAzN2dpT2ZqeDQrUEhEbENyb2kxdGJXZFAzOCtHWFgxOVBSczJyUXB3ekNUSmswYVBIandYMy85ZGVmT25WdTNidVhsNVpXV2xsWldWa29rRW5LV2pNUGhxS21wOFhnOEhvODNlUERnei9pQXFlR3BxVEVNSTVGSVZWMEl3T2VSMVRQaGtadnNYVnZadTdZS2o5eFlwenVxcXFxcWk4MitmdjI2cUtqb2ZjL2V2SG16c3JLUzR1NnFxcXFrVXFsOHkvUG56eWx1L3hPRVIyNzh2NS9ncG85OTdieEZTKzFkVy8yOGZFM2RsQWFnSkY5RWo3VkdkWFJ0VCszMzRhOSs4ZFZuNG5BNENtK0V2Wm9XQUZUbHk3cEFBQUJBQ1JDc0FBQ1VJVmdCQUNoRHNBSUFVSVpnQlFDZ0RNRUtBRUFaZ2hVQWdESUVLd0FBWlFoV0FBREtFS3dBQUpRaFdBRUFLRU93QWdCUWhtQUZBS0FNd1FvQVFCbUNGUUNBTWdRckFBQmw5ZmRHMTFldnB6RE1KbFZYQVIvdDZ2VVVWWmNBb0dMMU4xaXZKZCs0bG54RDFWVUFBSHkwZWpjVVlHRnU5cS9mbkFyMW41YVdwb1c1NHZkNEEzd2g2bDJQdFd0bmZ5Nlgrem96UzlXRjFKV2M3S3ljN0N5R1ljek1MY3pNTFZSZFRsMHhOelB0MnRsZjFWVUFxRWE5QzFZalE4T0IvWHFydW9vNkZCTVRjK3JFVVlaaHhvNGRHeG9hcXVweUFJQytlamNVOTk0OGpBQUFJQUJKUkVGVUFBRFEwQ0ZZQVFBb1E3QUNBRkNHWUFVQW9BekJDZ0JBR1lJVkFJQXlCQ3NBQUdVSVZnQUF5aENzQUFDVUlWZ0JBQ2hEc0FJQVVJWmdCUUNnRE1FS0FFQVpnaFVBZ0RJRUt3QUFaUWhXQUFES0VLd0FBSlFoV0FFQUtFT3dBZ0JRaG1BRkFLQU13UW9BUUJtQ0ZRQ0FNZ1FyQUFCbENGWUFBTW9RckFBQWxDRllBUUFvUTdBQ0FGQ0dZQVVBb0F6QkNnQkFHWUlWQUlBeUJDc0FBR1U4VlJmUXlFbWwwcnk4UElsRXdyWVVGeGZMWkRLeWtKbVp5YmFycWFrWkd4dXJxYW1wcUZJQW9BYkJXcmRrTXRuS2xTdlQwdExZbHVMaVlySncvUGp4cEtRa3R0M0N3aUl5TWxJVk5RSUFaUWpXdXNYajhSd2RIYytmUHkvZnlPRndTTUt5SWNzd2pMKy9QNCtISHdkQVk0QXgxanJYbzBjUGtxU2tBNnVBdEhPNTNONjllNnUwVEFDZ0JzRmE1eHdjSEpvMWExYjdPczdPems1T1RzcXFDQURxRm9LMXpuRTRuTURBUUlVV3RnOUxCQVFFS0xRQVFNT0ZZRlVHUHo4L0hSMmQ5ejJycDZmWG9VTUg1VllFQUhVSXdhb01CZ1lHcnE2dTczdTJXYk5tSmlZbXlxMElBT29RZ2xVWnRMUzAzTnpjRkU1aGtXVU9oK1B1N2k0VUNsVmFJQURRaEdCVkJpNlg2K2JtcHF1cnF6Q1F5dUZ3TkRVMTNkemN1Rno4SUFBYUQvdzlLNG03dTd1QmdVSDFkbTF0YlhkM2QxVlVCQUIxQmNHcUpFWkdSaVJBMlU0cldmRHk4cW94Y0FHZzRVS3dLazlRVUZEMXhyNTkrNnFpRmdDb1F3aFc1ZkgwOURRMU5TWExwTHRxWVdIaDZlbXA2cm9BZ0RJRXEvTHcrZnlBZ0FENTBZQ3VYYnZ5K1h4VjF3VUFsQ0ZZbGFwNzkrN3E2dXBrV1NBUWRPclVTZFVWQVFCOUNGYWxzclMwdExlM0o4dU9qbzVXVmxhcXJnZ0E2RU93S3BXMnRyYWJteHRaZG5OenczVUJBSTBTZ2xXcCtIeStoNGVIbHBhV1FDQndkM2RuaHdVQW9ESEJuWldWalZ3cElCS0oySzRyQURReUNGWmxzN1cxdGJHeHFhaW9zTGEyVm5VdEFGQW42bDJ3NXVYbkoxNjQrUHAxbHFvTHFVTmNkUzBObmlBaUtsclZoZFFoY3pQVHI3dDBNakkwVkhVaEFDcFE3NEwxWE5LbDVhdCtMU3dxVW5VaGRlLzAzNnF1b0E3cDZPancrTHdCZlhxcHVoQUFGYWgzSjY4eU1qSy9pRlJ0N0VwS1NqSXlNajlnUllCR3FONzFXRm50MnJSdTM5WmIxVlhBUjd0NlBlVmE4ZzFWVi9ILzN1Ym1uVDEzSVR2bmphb0xBVlV5TmpiNnVyTy8yZjlkVTE3WDZtK3d0bS9yUFdYQ09GVlhBWjlnVTcwSzFwT256NndKanl3cEtWRjFJYUJLbXBxQ2QrOUt4b1dNVnM3dTZ0MVFBQUJkTDE2bEkxV2h2RnlVOXM5enBlMnUvdlpZQWVqeTkrM28yUkwzRlAvaVBIejA1Syt6NTVTOFV3UXJmQ244ZlR1T0dUbE0xVldBc2gwNGxLRDhZTVZRQUFBQVpRaFdBQURLRUt3QUFKUWhXQUVBS0VPd0FnQlFobUFGQUtBTXdRb0FRQm1DRmVvUk5aNGF3ekJpaVZqVmhRQjhGZ1FyMUNNR1FpSERNSG41QmFvdUJPQ3pJRmloSGpFM04yVVlKak96TWQvbUhMNEVDRmFvUjB5TlRSaUdlWldSSVJaTFZGMEx3S2REc0VJOVltNXVxcU90WFZCUWVDMDVSZFcxQUh3NkJPdi8yN05uejcxNzkrUmJjbk56Zi92dHQ0eU1qRS9iWUZGUlVWcGFHcVhxdmdobXBxWXRQZHdZaHRsMzRKQkU4Z1YxV25OemM5KzgrWWhiY1JjV0ZpWW1KaXA4UkE4ZVBFaElTQ0RMMmRuWkgxdURTQ1FxTEN6ODJGZEJqUkNzLzIvMzd0MEt3WnFRa0xCcjE2NmlULzJxbUpNblR3WUhCOWV5d2ovLy9CTVFFUERzMmJQcVQxMjRjT0diYjc0Wk5teFlWVlZWN1hzNWZ2ejRtREZqY25KeVBxM0lla1dvcjlmR3k1UEw1VjY5bm56cDZuVlZsNk04TVRFeDMzenp6WWVuNGI1OSs2WlBuLzc4K1gvZFlQVHZ2Ly8rNmFlZkpCTEppeGN2K3ZUcHMyTEZDcEZJeEQ2Ym5aMTkrYjlKcFZMMjJjckt5cUZEaDQ0YU5hcVduWXBFb3V6czdQdjM3NTg1YzJiYnRtMHBLU2xrcy9mKzI5T25Uei8rQTJoc2NOdkEyaHc1Y3NUQndhRkZpeFkxUGl1UlNKS1NrdVJickt5czlQWDFIeng0UUI0K2UvWk1KcE1sSmlheUt6ZzVPY2wvNi9XZE8zZUtpNHVyZncvMnJWdTM1c3laMDZSSmsyZlBua1ZGUlUyYU5LbVdJczNOemRQUzBzYVBINzlqeHc0ZEhaMVBlcVAxaFpxYVd2ZUFyanYzN012TEw5aXliYWRuUzNjOVhWMVZGMVhuSkJMSm1UTm4zTjNkemMzTlAyUjlrVWdVSHg4ZkVCRGc3T3dzM3k0UUNCaUdFWXZGZG5aMnExYXRXcmh3NGMyYk42T2pvdzBORFJtR09YLysvT3JWcStYWFQwcEswdExTSXN2YnQyOS8rZklsd3pENzkrOGZOR2lRd2g1djNMZ3hZY0lFc2ZqL3A4Rnh1Vnh2YjI5dmIrLzQrUGdkTzNiSXIyeHJhL3ZISDM5OC9NZlFxQ0JZMyt2R2pSc1pHUmsrUGo2SERoMnEvcXlWbFZXelpzMm1UNTh1M3poNDhHQWZINS8xNjllVGgrL2V2WlBKWk96RDlQVDBTWk1talJ3NWtqeFZVVkZ4NDhhTlpzMmFsWlNVa0Z2Y0d4a1pjVGljeE1URXVYUG5tcHFheHNURUpDUWtSRVJFYUdob2hJYUd2cS9PMXExYnIxKy8vdnZ2djEreFlzV3laY3RvZnd6SzV1THNORFprOU9wZjExMjZjbTNsMnZBNTA4TjBHMTIyaG9XRkpTY255N2VJUktLSER4LzYrUGpVOHFyQXdNQjU4K1l4REJNZkgxOVNVakorL0hpRkZVaXdWbFpXYW1wcWZ2WFZWOXUzYno5MDZKQ0JnUUc3QXBmTFBYLytQTU13aXhjdmZ2RGdnYWFtSm1sUFRrN2VzbVhMaUJFanhHSnhlSGk0dTd0N3MyYk41TGNza1VqRVl2SHMyYlB0N2UzMTlmVU5EUTBOREF5NDNQODkzaFVLaGJHeHNXUjUwNlpOOSsvZi82eFBwMUZBc0RLNXVibGthRWtpa2VUbTVxYW1wdko0UERzN08vSzdjdW5TcFV1WExsVi9WVkJRVUpzMmJXN2MrTjh2ZDFxNWN1V1JJMGQ2OWVyVnZIbHpYMTlmMHJodjM3NjFhOWV5LzcyN2RPbkN2bnpSb2tYa1Y1eGhtTzdkdTVPRmt5ZFA3dHk1YzgrZVBlYm01bEZSVVVLaGNNU0lFYytmUDQrT2puN3g0c1djT1hQZUZ6RWVIaDZUSmszNjdiZmZBZ01EYS8vamJCREdqQnlXbXZiOHlOSGplL2Yva1pQejVvZlFNWjR0UGRUVTFGUmRGelZCUVVGZVhsN3N3OTkvLzkzUTBIREVpQkcxdjhySnlZbDgvZTJPSFR2NjkrOXZiVzM5Nk5FakF3TUR0cDlMZ3JLd3NMQ2dvQ0FuSnljbkowZFhWM2ZwMHFWZVhsNUJRVUZrSFMwdExiRllmUFhxMVNGRGhuQTRISVpoWHI1OE9YdjJiQmNYRjVMVWQrL2VuVGh4NHUrLy8yNXJhNnRRUVB2Mjdhc2ZYWldVbEdocmExdGFXcEtIMnRyYW4vM3hOQVlJVm1iNzl1MXhjWEZrZWNlT0hUdDI3TkRYMTErMWFsVlNVdExnd1lPSERCbFMvU1gvK2M5L05EUTAySWVIRGgzYXYzLy9raVZMQkFKQmRIUTAyMzcvL3YycXFpcTJSU1FTWGIxNnRieTh2SDM3OXZQbnp4OHhZa1JJU01odnYvMUcvbUF1WHJ3WUVoS1NrWkdocWFuNXd3OC9aR2Rua3hHM3dNREFaOCtlL2ZYWFh6ZHUzQmcxYWxULy92MUp4MFRCNE1HRDE2OWYvK3V2djdadjM3NmhaNUNhbXRxOFdkTU1oUHBiZCs0K2wzVHAzb09IMzNUdkZqYnhCd09odnFwTG82TmJ0MjdzY2xKU1VrbEp5WlFwVThpaERNTXdWVlZWZCs3Y3NiQ3dxSEZrWU11V0xSS0paT3pZc1ZLcGRNR0NCWldWbFFNSERuejkrblZPVGc0NVU5cS9mMyt5Sm8vSE16WTJOamMzVitoK1hyMTZ0YlMwTkRBd2tJeFdqUjgvWGx0Yk95SWlRbDFkbldFWWN2UXphdFNvcFV1WHNsMEU0czJiTit5dkZwZkxKZVU5ZmZyVXpNeXNEajZraGczQnl2end3dytqUjQrdXFLam8zNzkvU0VoSXYzNzlHSWFaTkdtU1VDaWNNR0dDam83T3c0Y1BtemR2THYrU3Fxb3FQcDlQbG0vZnZyMXk1Y3JodzRjSEJnYmV1M2N2TlRXVlhTMDNONWRoR0xaRktwWG01ZVdscHFhNnVycTJiTm55NHNXTCt2cjZPVGs1eDQ0ZFc3bHk1VjkvL1ZWWVdEaHYzcnprNU9RVksxYkk3MDRvRk83Y3VYUHAwcVVIRGh6bzI3ZHZqZS9penAwNzVLekZzV1BIK3ZUcFV3ZWZrMUxwNmVwT0Q1c29sa2orT0hJMHY2QXdkcysrdzBkUERBc2VHTmc5d01MY1RLQ2hvYTZ1enVjMytOL2VxcXFxRFJzMjZPdnJ5dzlyaWtTaWtKQ1FNV1BHVEpnd1FXSDl4NDhmNzltelovcjA2VUtoTUNFaDRmbno1eXRXckRoNDhHQnBhYW1abVptam8yTm1adWFVS1ZOYXRXcGxibTV1Ykd6TUhxM0xPM1BtVFBQbXplM3Q3VStjT0xGeTVVb1RFNU1OR3phUWNWanl5N1pseTVhWk0yZE9tVEtsZS9mdTQ4YU5zN0d4SVUvSmowY0pCSUpMbHk0bEp5ZmZ1M2R2OHVUSmJEdWZ6eThvS0JDSlJEWCsrLzl5TlBoZnpjK25yYTJ0cmExOTVjb1ZpVVNpcmExdGJHejg2TkdqdExTMHhZc1g2K2pvM0w1OSt6Ly8rYys4ZWZQWWpnQVp4aUwvM3JPenM2ZFBuKzd0N1UxK3Q5emQzZGVzV2NPdVJvWUMySll1WGJvRUJRV3hIWlBMbHk5MzZOQ2hwS1FrSnllSHkrVXVXN2FNdytHWW1Kakk3NGdsRW9uNjkrL3Y0ZUhCbm0xUWtKaVl5T1B4N08zdHQyN2Qyck5uejRiZWFTVWRyZ1d6cDNmOXl2L29pWk4vblQyWG4xK3dhZk8yVFp1M3VUUjFidXJrYUc1dTJzVENRaWpVMTlMVTVQUDU2dXJxNnVwOEcydHJFMk1qVlJmK0VmYnUzZnYwNmROWnMyYXh3NTIxUzBoSWtFcWwyN1p0aTQ2T2Z2ZnVYZHUyYlFNQ0FnSUNBc2l6OSs3ZFMwcEtjblYxOWZEd3FHVWpGeTllREFvS2V2TGt5YUpGaTlxMWF6ZGh3b1EzYjk3STl6ci8rZWVmeFlzWEh6OStQRFkyZHRDZ1FXeXdidCsrM2NMQ2dpeHpPSncvLy94ejVjcVZabVptOHYvc1c3WnN1WHYzN3M2ZE82dXJxeTlZc09EcnI3LytwQSttd1VPdy9xL1RwMDh6REhQNDhPR0tpb3J2dnZ0dTc5NjlEZzRPNUpmSjBORHdtMisra1Y5WkxCYXp4MDBGQlFXNnVyb3JWNjVrR0tadDI3WW1KaWE3ZCs4bXEyVmtaRlJWVmMyWU1ZTThMQzB0WmJjZ2tVaXVYTGt5ZCs3Y3pNeE0wbUpxYWpwejVzeTdkKyt5NjRTRmhmWG8wYU9zckV3Z0VCUVZGUzFmdm56UG5qMDFGaThXaTArZE91WGo0OU8zYjkrcFU2ZWVQSG1TSFZOcjZEcTJiOXZhcytYM1kwWmR1bnp0ejlOL3BkeTgvZVRwc3lkUG41Ry9iUTBORFo2YUdsZU5xOFpWVTFQanVqVnZ2dXluK1JibURlUElOQ3NyYThPR0RVMmJOaDB3WU1BSHZpUW9LTWpRMEZCZlgvL1VxVk1QSGp5WU8zZXUvTFBrUEZWQlFZRk1Kc3ZOemMzSXlFaFBUOC9JeU1qSXlGaXlaQW03V25CdzhQYnQyNGNNR2JKMTY5WVdMVnBzM0xqeDRNR0RaOCtlWlZjSUNRbVpNbVZLU0VqSThPSEQ1VHVlUXFIUTJOaVlmZmo0OFdNZEhaMWZmdmxGWC8vL2gyaTZkdTI2YnQyNkowK2VjTG5jVnExYWZlcG4wK0FoV0JrU2VXZk9uT0h4ZUNZbUpwczJiY3JQejU4MmJSckRNQThmUGt4S1NwbzdkMjVxYWlxSHczRnpjeU9IYjFLcGxBU3JnNE9EcjY5dmVYbDVlWG41dFd2WHRMUzArdmJ0eTQ0YlNDU1NaOCtlc1ErdlhidkdIcG9sSnllTFJDSWZINS85Ky9lelpSUVVGSmlibTdkczJaSmhtS05IajVhWGwwc2tFajgvdjlqWVdDT2oyanBpWkJpaFY2OWVmbjUrRGc0T1c3ZHU3ZEdqUnlQb3RCSmNycHF1dHJhRmhabWhvWUdGdVZsNnhtdlNMcFBKcXFSU0NjTndaVlZWbkNxcGxQdXU1SjM4bEtENlRDS1J6SjQ5dTd5OGZNU0lFV3BxYXZJelQ4aGJlUHIwcVh5anM3T3ptNXRiaXhZdFdyUm84ZXpaczdWcjE0NGJOODdhMnJxcXFpb3pNNU5rNkQvLy9NTXd6Sm8xYTM3NjZTY3lnNVhQNXpkcDBzVEt5cXE4dkp6ZDFPalJvNDhlUGJwcDB5YjV0SzFSN1lmem9hR2g2dXJxVjY1Y3VYTGxpc0pUWm1abWplWmYrNmRCc0RKay9rcVRKazNldlh2bjQrTXpjT0RBV2JObTJkcmFEaHc0Y04yNmRjN096bjM3OXAwK2ZYcEdSa1pjWEJ5UHg2dXNyR1FZaGdScmNIRHdnQUVEaEVKaFpXV2xqNCtQaFlXRnZiMjl2YjA5MmV5K2Zmc3VYcno0M1hmZmtZZnNBaG1aVlZOVG16cDFhbloyZG1GaDRmZmZmKy9uNThjd1RKczJiY2pJMnVYTGx6K3dlSmxNdG0zYk5xRlE2T2ZueCtGd3Z2dnV1d1VMRmlRa0pKREI0b2J1OGRObmh4S09IVDl4T3ZQL0pzODcyTnM1Mk51Wm1oaWJtNW9hR1J0cWFXcHFxR3RvYUtocmFHaFltSnRaTmJGVWRja2Y1TmRmZnlYVGtzZ3YwcXBWcXhSV3VIejU4clZyMTlpSHc0WU5JLy9YS3lzckZ5eFk0T3pzVEdZUmxKU1VrQ0YxZ1VCZ1pXVWxFQWlNakl4STVscGJXOHRrTWtORFE0Vjg1UFA1L2ZyMWk0bUpXYkJnQWRrN21SN3dyK1N2ZGpFeU10cTZkZXZCZ3dlTGlvcDBkWFhaVXc3a2dzUG16WnNqV0w5MFJVVkZ1M2J0K3Y3Nzc4bjhxczZkTzIvYXRLbGx5NWFKaVluSnljbS8vLzY3bXByYTVNbVRCdzhlZk9EQWdlRGdZQktzWkZiQXNHSERBZ0lDeG84Zi8vejU4NnFxS2tkSHgzWHIxcDA2ZFlwc3VheXNyS3FxU3Y0M3pNN09MaW9xaW1FWWIyOXYwbnU5ZGV1V1dDejI5dmEydGJWTlNrbzZmLzU4VmxZV09RUDdnZlVuSkNUODg4OC9QLzc0STQvSFl4aW1SNDhlTzNiczJMaHhZN2R1M1JyNjlRTHhCdyt2MnhEejV1MWJpVVNpcTZNenNGL3ZyN3QrWmQya2lZNjJ0cWFtUUg1aVJzT3laOCtlZmZ2MnViaTRQSG55aExSY3ZYcVZmYmFzck16UHoyLzA2TkhWVDE2UmlYMHZYNzdjdUhIamd3Y1AwdExTZUR6ZXRtM2JMQzB0eVVINnBFbVRpb3VMeWRoQ1hsN2U2TkdqTFMwdDVXZXFFQzR1THBXVmxXL2Z2bTNTcEFtWkwvVWhaVStkT3BVOWN0TFEwREEyTmo1MjdGaTNidDBHRFJyRWxwcWVuajV3NE1CR01PZnZNeUZZbVczYnRzbGtzbDY5ZXJHVG5MMjh2UEx5OHRhc1dkTy9mMzh5VG1SdmI5K25UNS9vNk9pZ29LQ0tpZ28yV051M2IzL216Sm54NDhmZnZYdFhUVTNOemMzTjJOaTRYYnQyWkR2bnpwM2J2My8vd29VTDJYMnhwNTdhdEduVHBrMGJzdmZ5OHZLeFk4Y3lETE5yMXk1VFUxTjNkM2N5VnZBaHhSY1VGS3hidDg3T3ptN3c0TUdraGN2bGhvV0ZUWnc0TVR3OGZQNzgrYlEvTFNVUmlVUjc5aDFZRXg1WldWbXBvNjNkUGFEcm5CL0REQXlFcXE2TGdyeTh2UER3Y0E4UGoxbXpaZzBiTnV5alhudnYzcjBqUjQ2UUNYL2taejE4K1BEZXZYdXpLN2k3dTIvZHVyVzh2THkwdEpTRXJNTFZWZ1M1bUpXTU9SUVVGTWdQa3RhaVhidDJDdk5ZdGJTMEFnTUQ0K1BqUjQ0Y1NTWlpyMTY5K2tQbTVEWjZDRmJHMnRvNk5EUlU0Wi8yanovK21KT1RrNUtTTW1qUW9Nckt5b3FLaXRMUzByS3lzdDkvLzMzZ3dJRnNzUGJwMDJmLy92MkppWWtuVHB4bzA2WU5uODgzTURCZ3IzVjU5T2dSaDhOeGNYR1IzM0pKU1VuMWpxUlVLczNQejJjWXh0WFZsY3ljUFhEZ3dMOVdMcFBKRml4WVVGaFl1R1RKRXRKZEpUcDA2TkM1YytkRGh3NzUrUGgwN3R6NTh6NGVGWkRKWkdzam92YnVQMWhSVWVIdDVUbnBoKzg3dG0vYmFJYU1qWXlNcGsyYjlzMDMzeFFVZlBUOXZPM3M3QUlEQThsd2s2MnRyYlcxdGZ3eE9QblJSMGRIeDhiR0hqNTh1THk4ZlAzNjlZNk9qaEtKaFAzMTJMdDNiMWxaMmNtVEozVjBkS3lzck1oZ3JxT2o0NGZYVUZWVjlmYnQyNXljSEQ2ZjcrcnFHaElTY3ZMa3laOSsrbW5ObWpXUmtaR1hMMTlldTNidEZ6N1hDc0hLa0RPdFpLUkpYa0JBZ0w2K3ZxV2xwVkFvMU5QVDA5ZlgxOVBUTzM3OCtPWExsOG1GVW1SK2pLdXJhNGNPSGRhc1daT1RrN04wNmRMYnQyK1R2cWU4cmwyN3lqLzA5ZldOaUlpNGZQbnk0OGVQczdLeWJ0MjZsWjZlM3JGalJ6YzNOeTZYZStMRWlkdTNiek1Ndzg0V3FFVjRlUGlWSzFjR0R4N2NzV05IaGFmbXpKbHo2OWF0aFFzWC92Nzc3MDJiTnYzVXowWTFqaHo3YzllZWZaVmljYi9lUFdkT20yUm1hcXJxaWlnamc1V2ZFS3k2dXJvS1o1eEtTa29FQWdHYm02NnVybnA2ZXRIUjBmYjI5akV4TVZaV1Z0ZXZYNTg3ZCs3R2pSdkpDaTlmdnZ6amp6K2FOR215ZE9sU0hvK1hsWlgxOHVYTEdxK0NZWjA5ZTViTW1aa3paMDVCUWNIYnQyOUpoN2RQbno0TEZ5NDBNek9iTld2V29rV0x2di8rKzF1M2JrMlpNcVVoL2krbkRzRmE4Nm5Qb1VPSERoMDZWS0d4WmN1V21wcWFaRVlVZTFBL2MrYk1nUU1IQ2dRQ2YzOS9EUTJOYytmT3Nlc2ZPblJvL2ZyMThoTlp5UFJNaG1HT0hUdDI1ODRkR3hzYmdVQmdabVkyWThZTUp5ZW5oUXNYdXJtNTllalJnMkdZdFd2WGtyTUtKaVltQ3IwU1l1UEdqYnQyN1dyZnZ2MlBQLzVZL1Zrakk2T2ZmLzU1eXBRcEV5Wk1pSXlNVk9nMTEyZFoyVG1yZjQyb0ZJdjlmRG9zbmo5THQ0RVBFOWVGakl5TU8zZnUzTGx6NSs3ZHU2bXBxV2ZPbkJFS2hlU09hT3ZXclNzdUxtWVlac0tFQ2FSRCt1TEZpNEtDQXZZb2F0YXNXYk5teldJM0ZSOGZUL3E1dGV6dTFhdFg1TDVDTGk0dWpvNk9GaFlXNUtvd3NsTnl0d29ySzZ0YnQyNlptSmg4c1JOWEZTQllQd0laUlNLL1pLYi8xNDI2ZXZXcVZDcmxjRGlqUm8yYU1tV0tqNDhQTzZlS0RCZlVlSUgvOHVYTHljSzJiZHZPblR0SHBnUXdER05qWTBQKzRXL1lzSUZjM0hueTVFa3k1NUU5ZXlzU2lWYXNXSEhzMkRFSEI0ZFZxMWJKRHdMSTgvSHhDUXNMKysyMzM4YU1HZlBqanovMjdkdTN4dXR3NnB1L3pwN0x5ODgzTmpJS0dUM2lTMGhWbVV6R251MGt5Tm5SNTgrZks3UmJXbG8rZXZSbzgrYk5aTlRJMHRLeWRldld3NFlOMDlMUyt2dnZ2M2Z2M24zbnpoMW5aK2Z3OFBDMWE5ZXVXclhLMmRuWnlzcnEyYk5uWm1abTh2TlBXVmxaV2Z2MjdldmN1VE43Q1VDTlJvOGU3ZXJxT243OCtOR2pSeXVNc2VibjU4Zkd4c2JGeFdscGFZMGNPWkxNUlJrNGNHRHYzcjBiMFAveXVvQmcvWGZMbGkzamNyazZPanJxNnVyWjJkbW5UcDFxMHFRSnVVWEZ4WXNYZi9ubGwvNzkrdzhZTUdEKy9QbGhZV0hHeHNZZUhoNk9qbzU2ZW5vQ2dXRDI3Tm5IamgwakkxTVNpVVFpa1ZSV1ZqbzdPN01udUtwNy92eTVTQ1RLeTh2VDF0YVdTQ1NuVDUvVzB0SWlzNjhNREF4S1MwdEhqaHo1NHNXTHRtM2JybDY5dXZiei9zT0hENWRJSk92WHIxKzJiRmx4Y2ZIbzBhUHI1aE9pcHZqZHUrUWJOOFZpaWI5dmh3N3QycWk2SEdXUXlXVFZ6ekdTMjFDeHQra2hldmJzK2ZYWFgvdjYrbnA3ZTdkdTNacGNxcjk5Ky9aZXZYcmw1dVphV2xvdVhMaXdWNjllWEM3WDFOU1VYTzhmRUJCdzRzUUpjbHNBQmVRR0JUS1piTnk0Y1o5UTlwVXJWdzRlUEppVWxGUlZWZFczYjkrSkV5ZnE2K3QvOTkxM1VWRlJCdzhlM0x0M3I0bUp5Y3FWSzcvWWF3UVFyUC91N2R1M2x5NWRJamVjNXZGNDd1N3VNMmJNNEhBNE9UazVQLzc0bzZlbjU0d1pNOVRWMWZmdjMzL3g0c1h6NTgvZnYzLy8xcTFiNzk2OWswcWxNcG1zK2dZM2JkcFU0NDQwTkRUVTFkVVBIang0Ly81OVgxOWZmMzkvSG84WEhoNmVsNWZINC9FR0RCaGdZbUxDTUl5L3YzK2JObTJtVDUvK3ZyNnF2TkdqUjl2YTJoNC9mbno0OE9FMFBveTZsWmRYa0hMak5zTXdmWHNGZmNpN2F3UzRYTzRIemdBaEZHWXk2ZXZyMjlyYXpwNDl1MU9uVHV3UmlZdUx5NDRkTzM3NTVaY2pSNDdZMmRuVmVNL0p3c0xDcXFxcUJRc1drSHNBeVRNME5QelhTMnpUMDlQdjNiczNldlRvL3YzN3M1ZkQ2dW5welprelorTEVpYWRQbjM3MDZGSHRWOVkyY3JKNkpqeHlrNzFySzN2WFZ1R1JHMVZkeTM4Umk4WGw1ZVZWVlZYeWpmSHg4UlVWRlIveWNuSzlGcm12NWNmdVdpcVZ5dTlYb1liNkpqeHk0Ly85QkRkOTdHdFRidDZ5ZDIzbDBjYTNvcUtTVmowL3IxaEQ2dmw5eHk1YTIyd2NQdUZYa2VMTGxXYi9IMGZJTDhEME9RdVZ0dE12b2xOQUJZL0hxOTZIcW42djlmZmhjRGdmZUgxTGRRcGpvNSs4bmZvdk16T2JZUmdiYXl0MTlSck8xd0ZkbjNsTThJVWNVbnlhQm5BMkE3NGM2YTlmTXd4amJkVkUxWVVBZkJZRUs5UWpiOTdtTWd6VHNHNzlCMUFkZ2hYcUVZbFl3akFNajRkeEFHallFS3dBQUpRaFdBRUFLRU93QWdCUWhtQUZBS0FNd1FvQVFCbUNGUUNBTWdRckFBQmx1Q2dOdmhRWExsNSs5KzZkcXFzQVpYdjQ2SW55ZDRwZ2hTL0ZoWXVYTDF6ODBPKytCZmdjR0FxQVJzNnFpYVdXMXIvY0JBOGFQUTBORFZzYjZ3OVlrWTc2MjJPOWVqMkZZV3ErYnluVVoxZXZwNmk2aFAvUzg1dnVBb0hHbXplNXFpNEVWTW5ZMk9qcnp2NUsyMTM5RGRacnlUZXVKZDlRZFJYUTRKa1lHMzA3YUlDcXE0QXZTNzBiQ3JBd042djk2MGFnUWREUzByUXdOMU4xRlFDcVVlOTZyRjA3KzNPNTNOZVpXYW91cEs3a1pHZmxaR2N4REdObWJtRm1icUhxY3VxS3VabHBWeVVlZVFIVUsvVXVXSTBNRFFmMjY2M3FLdXBRVEV6TXFSTkhHWVlaTzNac2pWOUdCQUFOWGIwYkNnQUFhT2dRckFBQWxDRllBUUFvUTdBQ0FGQ0dZQVVBb0F6QkNnQkFHWUlWQUlBeUJDc0FBR1VJVmdBQXloQ3NBQUNVSVZnQkFDaERzQUlBVUlaZ0JRQ2dETUVLQUVBWmdoVUFnRElFS3dBQVpRaFdBQURLRUt3QUFKUWhXQUVBS0VPd0FnQlFobUFGQUtBTXdRb0FRQm1DRlFDQU1nUXJBQUJsQ0ZZQUFNb1FyQUFBbENGWUFRQW9RN0FDQUZDR1lBVUFvQXpCQ2dCQUdZSVZBSUF5bnFvTGFPU2tVbWxlWHA1RUltRmJpb3VMWlRJWldjak16R1RiMWRUVWpJMk4xZFRVVkZRcEFGQ0RZSzFiTXBsczVjcVZhV2xwYkV0eGNURlpPSDc4ZUZKU0V0dHVZV0VSR1JtcGlob0JnRElFYTkzaThYaU9qbzduejUrWGIrUndPQ1JoMlpCbEdNYmYzNS9IdzQ4RG9ESEFHR3VkNjlHakIwbFMwb0ZWUU5xNVhHN3YzcjFWV2lZQVVJTmdyWE1PRGc3Tm1qV3JmUjFuWjJjbkp5ZGxWUVFBZFF2Qld1YzRIRTVnWUtCQ0M5dUhKUUlDQWhSYUFLRGhRckFxZzUrZm40Nk96dnVlMWRQVDY5Q2hnM0lyQW9BNmhHQlZCZ01EQTFkWDEvYzkyNnhaTXhNVEUrVldCQUIxQ01HcURGcGFXbTV1YmdxbnNNZ3loOE54ZDNjWENvVXFMUkFBYUVLd0tnT1h5M1Z6YzlQVjFWVVlTT1Z3T0pxYW1tNXVibHd1ZmhBQWpRZitucFhFM2QzZHdNQ2dlcnUydHJhN3U3c3FLZ0tBdW9KZ1ZSSWpJeU1Tb0d5bmxTeDRlWG5WR0xnQTBIQWhXSlVuS0Npb2VtUGZ2bjFWVVFzQTFDRUVxL0o0ZW5xYW1wcVNaZEpkdGJDdzhQVDBWSFZkQUVBWmdsVjUrSHgrUUVDQS9HaEExNjVkK1h5K3F1c0NBTW9RckVyVnZYdDNkWFYxc2l3UUNEcDE2cVRxaWdDQVBnU3JVbGxhV3RyYjI1TmxSMGRIS3lzclZWY0VBUFFoV0pWS1cxdmJ6YzJOTEx1NXVlRzZBSUJHQ2NHcVZIdyszOFBEUTB0TFN5QVF1THU3czhNQ0FOQ1k0TTdLeWthdUZCQ0pSR3pYRlFBYUdRU3JzdG5hMnRyWTJGUlVWRmhiVzZ1NkZnQ29FL1V1V1BQeTh4TXZYSHo5T2t2VmhkUWhycnFXQms4UUVSV3Q2a0xxa0xtWjZkZGRPaGtaR3FxNkVBQVZxSGZCZWk3cDB2SlZ2eFlXRmFtNmtMcDMrbTlWVjFDSGRIUjBlSHplZ0Q2OVZGMElnQXJVdTVOWEdSbVpYMFNxTm5ZbEpTVVpHWmtmc0NKQUkxVHZlcXlzZG0xYXQyL3JyZW9xNEtOZHZaNXlMZm1HcXFzQVVLWDZHNnp0MjNwUG1UQk8xVlhBSjlpRVlJVXZYTDBiQ2dBQWFPZ1FyQUFBbENGWUFRQW9RN0FDQUZDR1lBVUFvQXpCQ2dCQUdZSVZBSUF5QkNzQUFHVUlWZ0FBeWhDc0FBQ1VJVmdCQUNoRHNINjAwdExTaElTRTNOeGNpdHVVU0NRVXQvYXhwRkpwVGs1T1NVbUpDbXNBYUV6cTcwMVlQb3BVS24zeTVFbjFka3RMeXhyYldXWm1abloyZGp0MzdteWRIRzRaQUFBZ0FFbEVRVlRWcXBXSGh3ZkRNT25wNlZLcFZHRTFjM056Z1VCQWx2UHo4My82NmFmbzZHaGpZMk9HWWFxcXFwS1Rreit3VGo2ZjcrWGxwZEM0YytmT2hJU0V1TGc0UHAvL2dkdGhHS2E0dVBqTm16Zi91cHBBSVBqWDc0TE55c3JxMDZmUGQ5OTlOM0hpeEE4dkFBRGVwNUVFYTFsWjJZZ1JJNnEzaDRlSGg0V0YxZkxDd1lNSFQ1MDY5ZXpac3hzM2JseTVjbVduVHAxR2pScFZWTzJHc05IUjBTNHVMaHMyYktpK0Y3RllQSDc4K0Erc1UxOWYvK3pac3dxTm5wNmVFUkVSQnc4ZURBNE9aaHV2WGJzMmYvNThoVFZkWFYzWHJWdEhsaytmUHIxaXhRcDlmZjFhZGljU2laeWRuWGZzMkZGN1ZUS1pqR0VZRG9memdlOENBR3JYU0lKVlcxdjc2TkdqN01QYzNOeEpreWE1dXJxMmI5LyszTGx6Ykh2UG5qMjdkT2t5YmRvMHRvWFA1NnVycTBkR1JrNllNR0hHakJrclZxeGdHR2Jnd0lGZHVuUWhLK1RsNVMxWXNJQmtkM3g4ZkdCZ1lJM2ZXVDFtekppUWtKRGFpL3psbDEvT25EbERsdFBTMG03ZHVzVStaV0ZoY2ZmdVhSN3ZmMzhjWm1abXBHczhlUEJnc2p1UlNMUno1ODZ5c2pLRmQvM0hIMy9Vc3NmTm16ZmZ2MysvOXFwSXA1dGhHRFUxdFg5ZEV3QStSQ01KVmk2WGEybHBlZXZXTFUxTlRRY0hoN2x6NXdxRndsV3JWdkg1ZlBiNG1nd2p0bXJWU2xkWFYrSGxPam82RVJFUk0yZk90TFcxSmQvMzE2NWR1L3o4ZkMwdHJmejgvQThwZ01mamFXaG8xTDZPZkhJOWV2Um8yN1p0OHMvZXVYUG56cDA3Wk5uVDA3Tjc5KzRNd3d3Wk1zVE96bzVobUFNSERqQU1FeGdZS1ArUzB0TFNvS0NnV3ZZb2tVaWFOV3YycjhXVFlPVnlNZUFPUUVjakNWWWlQajcrMHFWTEhoNGVhV2xwTzNic0lJZkphV2xwcjE2OVloam0yYk5uRE1NVUZSVWxKaWFTOVkyTmpkM2QzY215VUNpTWlZbVIzMXF2WHIwbVRKancxVmRmZmNpdXQyM2J0bWZQbnRyWEVZbEUydHJhWkxsbno1NDlldlRZdUhHanI2K3ZwNmNuYWN6TXpQejU1NTluekpqaDZPaVlsSlRFdmxBbWs4WEZ4Wm1hbXZicTlWOWZJYVdqbzNQKy9QbGE5cmh1M2JvYk4vNzludE1rV0RFVUFFQkxvd3JXSlV1V1RKczI3ZEtsU3hNblRuUndjQ0NOQ1FrSnUzYnRZdGVKaUloZ2wzMTlmU01pSW80ZlAxNVpXZG12WDcvUDJiV3ZyeTg3ZXZBK3g0NGRlL3o0TWZ1UXgrUGR2MzgvTVRGeDc5Njk2dXJxSkozdjM3K3ZvNk9qOE1MTGx5Ky9lUEZpM3J4NUNtZTNTa3BLZkh4OGF0bWpRby8xeElrVHk1WXRxNzRhR1dQZHNtWEw5dTNicXo4ckZBcVBIejllKzFzREFIbU5KRmdyS2lyeTh2SVlocGt5WmNyTGx5OWZ2WHFWbVpsSlJpSEpvVDBaaTB4UFR4ZUx4U1J6cDAyYlJzNyszNzU5KzQ4Ly9uajU4dVhreVpNLytYRFkyZGxaNFRpOXVvNGRPNWFXbHNxM3pKNDllL0Rnd2R1M2J3OE5EVTFQVDA5SVNKZzRjU0laWUpXM2RldFdhMnZyM3IxN3l6ZXFxNnVibXBwdTNMaXhsajNHeDhjL2YvNmNmV2h2Yno5a3lKRHFxMlZsWlowK2ZicEZpeGF0V3JXcS9xeW1wbWJ0NzRzaWFaV1VZUml1R2dZbG9HRnJKTUY2Nzk2OXNXUEhzZzh6TWpJU0VoTElTWC9TR1NRMmJOaVFtNXU3ZWZObStkZk9uVHRYWFYwOU5qWTJOemQzNmRLbG4xYkExcTFiZCs3YytTRnJPamc0eE1iR0ppWW12bnYzam1HWXRtM2JhbXBxSmlRa25EeDVrc2ZqNmVqb2tNclpRWU9iTjIvZXZuMTcrdlRwNU5SV1FVSEJvMGVQeURqR2dnVUx5UCtQOS9IMTlmWDE5YjE4K1RJNVArYnE2dXJxNmxwOXRVT0hEcDArZmRyUTBIRHk1TW1mOXZacGVmZXVoR0VZdldxRDRBQU5TeU1KVmxkWDE5allXSVpoWHI1OE9YLysvTGx6NTdxNnVvYUdoaG9aR1pIOHFnV0h3NWt4WTRaQUlHREhPajhLT1k3dTBxWExoNHpHYnQ2OG1heS9aOCtlOVBSMDBwaVdsa1lXZEhWMW82T2p5ZktrU1pQSWdvT0RnNWVYMThhTkcxMWNYTHk4dkZKVFUxZXRXaVVXaTNOeWNzek56ZG1KQkFVRkJWS3BsRXl0clZGUVVGQm9hR2lOVDVHa3Zubnpwa1FpWVRlb0VvV0ZSUXpER0JqVU5vY01vUDVySk1HcXJhM2R2SGx6OXN5N3JhMnRob1pHZVhsNTY5YXQ1YWRiVlZWVnZlOWdudzB5VmtWRnhZZWtESmtDNWU3dVRzN2oxMjdmdm4xa1FhSFhYQjE3OGtvb0ZFWkZSWkhaWUh2MzdtM1RwczJSSTBlZVBIa3lkT2pRelpzM1cxcGFrdFdXTFZ2MjVzMmI4UER3NmxjM2tQSGM5KzJvcXFycS9QbnpycTZ1ang0OVNrcEs2dHk1ODcrK2k3cVQ4L1lOd3pDR0JnWXFyQUhnOHpXU1lLMHVNVEZSVDAvUDNkMWRQbGhMUzB2WlEyd0YyZG5aSmlZbTdJeW9rcElTbVV4Vy9UeFNkV1RZbEt3NWMrYk1TNWN1VlYrbmQrL2VzMmJOSW1lVDJBSmV2SGlSbXBwYWZXV2hVT2p0N1MzZm9xNnV2bno1OHI1OSs4Ykd4c3BQd2gwM2JoeWJtSGw1ZWExYXRUcDkrdlRjdVhPcmIzUGZ2bjFPVGs0MTF2LzMzMy9uNXVaT21UTGx3SUVETzNic1VHR3c1dVhudjN5Vnp1Rnc3R3hzVkZVREFCV05ObGk3ZCsvdTVPU2swRk43K2ZKbG16WnRhbHcvUER3OE5UVjEvLzc5NUNFNVRxL2x5SnFWa1pIQnJsbFJVV0Z2YjY5d0lkYktsU3NyS2lySWNtVmxwYUdoSVZsT1RFeU1qSXhrcjVRbHhHS3htNXZiMXExYkZmWmlZbUxTc1dQSHk1Y3ZLd1Nya1pFUldZNkxpNVBKWkY5OTlkWDgrZk1qSWlMMjd0MUwzdnYyN2R0UG5qelpwRW1UR291dnFLall0R21Uc2JGeHQyN2QxTlhWWjgyYWRlclVxUS9wZXRlRksxZXZTeVJTUzBzTEUyTWpsUlFBUUV1akRWWnJhMnRyYTJ2NWx2VDA5TXpNekJyUDNwQVJSaWNuSnc2SG82YW14dUZ3YnQ2OHlUQ01vNk5qWldVbGw4dXRaWTRudVJkQjA2Wk55VU9oVU5peFkwZjVGYlMwdE5qbGlvb0srU1N0UGhGMS92ejU3enNmWldSa3hGNUJRSmlabVptYW1ySjdLUzB0MWREUTZObXpaMVJVMUxWcjEvcjA2Vk5ZV0hqMDZORng0OGE5Nzh4K1JFVEVpeGN2Rmk5ZXpPZnp1M1RwMHJ4NTgrWExsemR2M2x6aG8xT0Npc3JLdVAySEdJWnhjWExVMUZMZVBBU0F1dEJvZzdVNjBnMHNMeSt2L3RTTEZ5L3k4dkpHamh6Sk1NeGZmLzBsbFVxSERCbkM0L0VlUFhyazYrdEw3ckdTazVOVDQyYVRrNU9Oakl6WXZtMXBhYW5DYlYvWTdpcFovclRaUzJLeCtQYnQyeFlXRnZLTjhpZnh4V0p4aHc0ZHlFVzZJU0VoNGVIaDN0N2VxMWV2dHJhMkhqaHdZSTNiakkyTjNiZHZuNysvUDdudWdNdmxMbHk0Y09USWtlUEdqWXVPanY3WFc3ZlFkZmZlZ3dlUEhxbXBxYm03TmRkUzRnUXZnTHJRK0lOMTRzU0pQL3p3dzc1OSt4SVNFdXpzN05hdFczZjU4dVU1YythUTJ3SVExNjVkWXhpbWZmdjI1T0gyN2R1ZlAzL3U2ZWs1WmNxVTRPRGdLVk9ta0VtalNVbEpBb0hnOWV2WDdBdHpjM092WDcvZXQyOWZ0dVh1M2J0RGh3NVZxSUhNTjZpcXFzclB6emY0bURNekNRa0pmLzMxbDRHQndaczNiOTYrZmF0d1c1YjkrL2ZMbjd4S1QwOS84T0NCUUNBSURnNitldlhxc0dIRE9Cek83dDI3cTk4MFN5cVZybCsvUGpZMnRtblRwa3VXTEdIYm5aMmRGeTVjT0gvKy9GR2pSaTFldk5qUHorL0RTLzBjcGFWbEJ3OGZMUzUrWjJscDBhMUxaMXhjQ3cxZFl3dFdzVmlzY0hWbVJVVkZSRVRFSDMvODRlN3VIaFVWOWVUSmswV0xGZzBaTWlRME5IVFVxRkZrbmIvLy90dlkySmljM2psdzRNQ0dEUnM2ZE9pd2Z2MzY0OGVQTDF1MjdPYk5tNlRyUnc3cXliMVR5UzVpWTJPcnFxcllTd05hdEdqUnRHbFQwdk9WUjZMdDRjT0hZckdZWFB0UFNDUVM5dnBhUXFGZjNLeFpzL3YzNzVlWGx6czdPMCtZTUtGWHIxNHltZXpPblRzUEh6NGtleTh2TDgvT3pzN0p5Y25LeW1JWVp2SGl4VU9HRENrdExYMzc5aTM1S09MajQwZU1HTUVPeFRJTTg4OC8veXhac3VUdTNic3RXclJZdDI2ZHdnbTZiNzc1UmlLUkxGMjZOQ3dzckhQbnpoTW1UTEMzdDZmd2czay9rVWkwZWR2T3cwZVBNd3d6b0UrdjVxNHVkYm83QUNWb0pNSDY3dDI3K1BoNFRVMU5Na3VKNUVocGFlbmh3NGUzYmR0V1VGQkF6c3NMQkFJdkw2KzllL2V1WExreUtpcnEzTGx6UC8vOHM3NisvcTFidHdJREEwdEtTbjc5OWRjalI0NTRlbnF1WHIyYXcrSDA3Tm5Ud2NFaExDd3NKQ1FrTWpMeXpKa3ptcHFhWkdUQXhNU2txS2hvNzk2OUhoNGU3QVJZaFltaUowNmN1SGZ2bm9HQmdVQWdLQ3NyTzNic21McTZ1dndJckVna21qNTl1c0o3YWRteUpidmN0R2xUaFRzWWNEaWNsU3RYU3FWU1B6OC9McGZyNU9UazcrOXZZV0d4WjgrZTR1TGl2bjM3SGpod1lNV0tGYjE3OTk2MGFkUE5temNqSWlKMjc5N2RzbVhMME5CUUd4dWJyVnUzSGpseVJDS1I5TzdkZS9iczJUWGVPS1pYcjE2MnRyWUxGaXhJVEV4TVRFeHMzYnIxNnRXcmE3eW4xK2NyS242Myt0ZUlQNDRjcTZ5czdCSHc5ZmRqUnVLV0JkQUlOSkpnMWRUVWpJbUprVWdrV2xwYVE0Y09KYjNDeTVjdi8vcnJyODJhTlZ1K2ZIbmJ0bTNabGJXMXRaY3NXZEs2ZGV2MTY5ZVhsNWR6dVZ4WFY5ZDI3ZHJGeGNVbEpDUU1IVHAweXBRcDdIU0M1czJiNzl5NTgvWHIxM3A2ZWx1M2JxMnFxaElJQk45Kys2Mk5qUTNETUNOSGp1eldyZHY3cWhLSlJQdjM3eWRYQkpBclNwY3ZYODZPeG1wcGFkblkyQnc2ZEVqK0phdFhyLzdYMjFmdjNidTNlcU5BSUNndUxzN016RFEwTkl5TGl5TW4wenAxNnVUdjczL3o1czB6Wjg2NHVMaWtwS1FjUEhqUTNOeDgxcXhaL3Y3K3RlekN3OE1qUGo0K0xpNXV6NTQ5WDMvOU5mVlVsVXFsWXJINDRlTW5hMzViZnozbEpzTXdMazJkbHl5Y28vT2V5WEFBRFF1SC9iT3ZKeUtpb2lPaU5qRU1NMlhDMkNrVHhuM20xdExTMGh3ZEhkLzNyRWdrWXMvUlM2VlNtVXoyL1BseloyZm5XalpZeXlVR05aTEpaQlVWRlJLSlJDQVFxUGFpSnVMcTFhdGVYbDd5bC9uVzdoT3V4WXFJMmhRUkZjMHd6SlFKNDZaTStQL3JqSytuM0JSVlZJaktSVy9ldmsxNy91TEJ3OGNwTjIrUmNaTGVRVDIrLzI1a1UrZWFaOW9DTkRpcS8xT3ZVN1drS3VubHNjdmswb0RhVS9VVGJscks0WEFVWnFxcUZudUM3Z05SL0djd2RlWmNzVVFpcmhTWGxaV0pKUktHWWZoOFh2dTJiWUlIOWZmcDBBNzNCNERHcEpFSEs5UWZwV1ZsYWx3MUhrL053TURBcW9sRko3K09BVjkzZFVFdkZSb2pCQ3NvU2RSdmE3UzBOQVVDZ1ZCZjM4elVCSE9xb0JGRHNJS1MrSFJvcCtvU0FKUUV2UVlBQU1vUXJIVWxOemUzeGp2NDFTSTdPL3Zldlh0a1lqOEFORndJMWpyeDZOR2pQbjM2S0h3UDY3K0tpNHNiUFhwMFFVRkJuZFVGQU1xQVlLMFR6Wm8xYzNOejI3eDVNN2s1L3djaVBkejZNTjBWQUQ0SC9vWS9GN213dFhxN2hZWEZ3NGNQVDV3NGNlSENCWVduZXZUb1lXdHJXLzBsa3YrZDNhbDR6eFFBYUZnUXJKK3J1TGc0SmlhR3grUFYyTk1rM3c2cndOM2RIY0VLMElnaFdPa1lOMjdjZDk5OTkxRXZDUXNMSS9kellaSFRWbDI3ZHExeGZWZFgxeTFidG54ZW1RQ2dEQWpXdW5MeTVFbGRYVjBmSHgrMjVlWExsMDJhTkdFN3R0N2UzdXpYdEJEWHJsM0x5Y21wOFp0Ui92enp6L3AyVndjQWVCOEVLelgzNzk4L2NlTEVqQmt6eUkzdklpTWpiVzF0NVlNMU5EVFV3TUNBSFpBZFBueTR3aGJHalJ0WFhsNitjT0hDNmhzL2UvWnNqYmY0QTRCNkNMTUNxSG44K1BHK2ZmdnUzNzlQSHJaczJmTDI3ZHZzcE5SLy92a25OemVYdlhOcmpZcUtpdlQwOUdwOFNpd1dJMWdCR2dvRUt4MWNMdGZYMTVkMExVbEx5NVl0UlNJUm03UFhyMTluR0tiMkx6dDUvZnExdWJsNWpVK0p4ZUo2ZFpjc0FLZ0ZndlZ6a1c4bjFOVFVORGMzZDNaMlpyOXF4Y1BEZzJHWTI3ZHZrNGVYTGwwU0NBU3RXN2QrMzNheXM3TkxTMHZsdjdpRkpaRklwRklwZXF3QURRV0M5WE9WbHBhU0w3Sm1HTWJYMXpjOVBmM1ZxMWZrVnJBOEhvOThPWlZJSkVwSlNlbllzV010NFVpKzBMQkZpeGJWbnlMZjg0b2VLMEJEZ1dEOVhNWEZ4UXpENk9ycU1neER2Z0RteXBVclpEcXFqWTBOQ2RiazVPVEt5c3JPblR2WHNwMC8vL3p6ZlRlaVpqdkZkZmsrQUlBYUJPdm5Ta3RMWXhpR0hNSjdlSGp3K1h3U3JBekRPRGs1WldkbkZ4UVVuRDE3bHNmajFmSTFVOG5KeWNuSnliNit2aVltSnRXZkxTc3JRN0FDTkNBSTFzK1ZtcHFxcGFWbFpXVkZqdGJkM2QyVGs1UEpOVlFqUjQ3Y3UzZXZycTd1K2ZQbk8zVG9vUEJGMDZ5Q2dvTEZpeGR6dWR5eFk4Zld1RUpKU1FuNURzUTZmaXNBUUFmbXNYNFdzVmg4OWVwVk56YzM5a3ViSjAyYXBLdXJTNjRDY0hWMUphZXRpb3FLYXB6Mnp6Qk1mbjcrK1BIanM3T3p4NDRkMjd4NTh4clh5YzNOWlVjYkFLRCtRN0IrbGdzWExoUVZGUVVGQmJFdFpES0F2R1BIam1scGFkVTR3SHJ2M3IyWk0yZStlZk9tWDc5K29hR2hOZTVDSnBPZE9ISGlRNzdvRUFEcUNRVHJweE9KUk92V3JkUFIwZm42NjY5Lyt1a25jdmFwT25LTndGZGZmY1cyaElTRURCOCtQQ1ltWnRldVhWS3BOQ1FrWk55NC8vK2k3NnlzckZtelp1bnA2ZW5vNktpcHFhV21wcWFtcHJxNHVEUnQybFFwYndzQVBoZUM5ZE05Zi80OE96dDcxcXhaQW9HZ1M1Y3VOalkySC9qQ1ZxMWFQWGp3SURZMjFzREFZUDc4K1FvbnRVeE1USjQ5ZTFaWldVa2U2dWpvZE83Y2VmcjA2ZVFMdWdHZy9rT3dmanBYVjlmSXlFaHZiMjl5U1ZYdFYxVlZ0M3IxYWk4dkwzMTlmWVYySG85MzVjb1ZtVXdtbFVxcnFxclUxZFdwVmcwQWRRN0IrbG5hdEduenlhK3RmVm9yaDhQQlZ3a0FORkNZYmdVQVFCbUNGUUNBTWdRckFBQmxDRllBQU1vUXJBQUFsQ0ZZQVFBb1E3QUNBRkNHWUFVQW9BekJDZ0JBR1lJVkFJQ3krbnZSNU5YcktReXpTZFZWd0VlN2VqMUYxU1VBcUZqOURkWnJ5VGV1SmQ5UWRSVUFBQit0M2cwRldKaWJ2ZThyVEtBQjBkTFN0REEzVTNVVkFLcFI3M3FzWFR2N2M3bmMxNWxacWk0RVBvdTVtV25YenUvOThrU0F4bzBqazhsVVhRTUFRS05TNzRZQ0FBQWFP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UDBQZTNjZVYxUCsvd0g4M0sxOUx5VlVLdTJMeXBLMHFMUVFJa1hFV01ZK0JrTW0yMkJtekpqdjhMWEx5RHEya0d6WmtqYWxza1FJYWJPVkZLbHU2KzF1L2Y0NE0vZDdmMjNDcVp1OG5uL000OXpQUGZlZTk4MzA2bk0vNTNNK0I4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ak5ueGgzeFgrdjdLMVdzdkN3bzcvdERRZWZUUTd1NDdZbmczRFhWSkZ3SkFQUWtFNjdYNHhBMWJ0dGZXMW5YOG9hSHprSmFXbHBXVkRScnZMK2xDQUtnbmdhR0FkKzlLa2FwUVgxLy83bDJwcEtzQWFCY1M2TEdLZUxxN2VnNTFrMkFCSUJIWDRoS3V4U2RLdWdxQWRpVEpZRFUzTXdudzg1VmdBU0FScjR1S0VLelF0V0ZXQUFBQXhSQ3NBQUFVUTdBQ0FGQU13UW9BUURFRUt3QUF4UkNzQUFBVVE3QUNBRkFNd1FvQVFERUVLd0FBeFJDc0FBQVVRN0FDQUZBTXdRb0FRTEV1R0t6bDVlVUZCUVVORFEyTjJqa2NUa0ZCUVYxZHU2eFlXRnJhZUFXODh2SnlEb2ZUSHNjQ2dFNnVxd1ZyVFUzTmhBa1Rmdi85ZHhxTjF1aXBMVnUyVEpnd29iNit2dW1yK0h6KzNyMTdxNnFxUHUyZ09UazVJMGFNU0VsSkVXL2N2SG56bURGaitIeitwNzNuSjlpK2ZmdTMzMzU3NXN5WlZ2YmhjRGdsSDZQcEh3d0ErQ0JKTGh2WUhzTEN3a3BMUzMxOWZXTmpZMFdOMnRyYXlzcks1ODZkczdhMlRrOVBGOTlmVDAvUHlNam80Y09IZS9mdWpZMk5EUTBOMWREUUlBamk2TkdqSCt4dmpoZ3hRbHRibXlBSVkyTmpKeWVubjMvK09TSWlRbFZWbFNDSXlzcksyTmpZOGVQSE01a3Qvb1NmUG4wYUZ4Zlg5byttb3FJeWFkS2tscDQ5ZHV6WW9VT0hhRFRhdTNmdlhGeGN5RS9SVkV4TXpDKy8vTkwyZ3lvcks4Zkh4N2Q5ZndEb2FzR2FuWjE5NHNRSktTbXA4UEJ3OFhZUEQ0L1hyMThMaGNJblQ1NnNYYnRXL0ttZ29DQWpJeU03Tzd2ZmYvOTkxYXBWTTJiTUNBc0w2OTY5Ky9Ianh5c3FLc1QzNUhLNVFxRlFSa1pHMU5Ldlh6OHlXQW1DV0w1OCtZWU5HN2hjTHZudzRzV0xYQzQzTlRVMU16T3phWjM5Ky9mLzdydnZjbkp5RGh3NDBQWlAxNnRYcjVhQzllTEZpMXUyYkxHMXRWMjhlUEg4K2ZNWExWb1VGaGFtb0tEUTBsdjk5dHR2clR3cmN2NzgrWHYzN3JXOVFnQWdkWjFnTFNrcCtlR0hIN1MxdFk4ZE81YVdsdWJzN0N3S3dmajQrSkNRa0EwYk5yaTd1eWNtSmc0ZVBGaEtTcXJSeXowOVBmbDgvazgvL2ZUSEgzOXMyN2J0MHFWTGpYYjQ4Y2NmYjkrK2ZmMzZkZkhHcFV1WGlyY2tKaVlTQkJFU0VuTDQ4R0ZMUzBzcks2dG1TKzNWcXhkQkVMNit2cjYramRmNUxpa3A4Zkh4bVRoeDR0S2xTOXY0d1E4ZlByeHQyelpUVTlQTm16Y3JLU250MkxGajNyeDVVNmRPM2I1OWU4K2VQWnQ5aVlPRGc0cUt5Z2ZmT1QwOUhjRUs4QW02U0xCV1YxY3ZYTGl3c3JLUzdBTnUzYnIxOU9uVDI3WnRrNWFXRGc4UFQwOVBYN1ZxbGJ1N2UwVkZ4UjkvL05HalI0K3RXN2NxS3lzM2VwUGh3NGZUNlhSN2UvdTJIM2ZTcEVtZW5wNHJWNjcwOS9mdjE2OGYyWmlVbEZSYVdycDc5KzdldlhzVEJMRml4WXBldlhyTm56K2YwazlNa0FQS2YvNzU1NlZMbDJ4dGJiZHMyYUtvcUVnUWhKV1YxYlp0MjVZdVhUcGx5cFNmZi83WjJkbTUyZGRldlhxMTJlRm1FU2NuSjhvTEJ2aEtkSkZnbFphVzF0RFFDQTRPTmpFeElVOGNMVjI2OVBuejUyZlBubzJNakZSVlZYMzQ4S0dKaVltNXVmbisvZnRuelpvVkZoWVdFaExTOUgyOHZiMC82cmkydHJaQ29YRGx5cFUyTmpia2EydHFhbjcvL1hkdmIyL1JLR2RwYVdsYnZuZC9yUHYzNzY5ZXZicW9xTWpQejIvWnNtVXNGa3YwVkw5Ky9ZNGVQYnAwNmRJZmZ2akIwOU56NmRLbFRZZGMvL3p6VHphYjNjcjc3OXUzai9LYUFiNFNYU1JZV1N4V2FHaW82S0dKaWNtdVhidCsrZVdYaHc4ZkxsdTJiUGp3NFFzWExwdzFhOWJLbFN0SGpCaXhmLy8rYnQyNmlYYU9pb3A2OCtZTnVXMWpZL05SUFZhQ0lIZzhIa0VRb3JFRmVYbjU4UER3cUtnb1gxL2ZScWQ5K0h6KzgrZlBLeW9xQmd3WThEa2Z0cmk0ZU1lT0hkSFIwZVJ3cmFtcDZmbno1NXZ1Tm5Ma3lFT0hEbDI3ZHUzNjlldWpSbzJhTW1VS09RUkJhc3NwS1hKa0F3QStWaGNKVm5FQ2dlRDgrZk5idDI2Vms1TUxEUTBsVSt5dnYvNWFzMmJObWpWcnJsMjc5dU9QUDRyMzcySmlZakl5TXNpcFNGT25UdjNZWUNWUFdJV0ZoWjA4ZVpJZ0NETXpzeVZMbHFpcnE1TkordXpaTXphYmZmdjI3U2xUcHVUbTVuSzVYRWRIeDg4SjF2THk4bkhqeHRYVzF2cjQrQmdhR3U3ZHUvZlJvMGN0N2F5am83TjU4Mlp5WUtSbno1NVRwMDc5NU9NQ1FOdDF0V0JOVFUzZHVuVnJmbjYrZzRORFNFaUlrcEtTNk9UK3lwVXJ6YzNOLy9yckx6OC9QMjl2NzZDZ0lETXpNNElnZHU3Y1NZYmd4MFlxaVF4V1BUMjk3dDI3SnlVbHljcktSa2RISnlRa1ZGWldPam82a3ZOWXUzZnYzcmR2MzhEQXdGT25Uc25LeW43T0IxUlZWVjJ4WWtYdjNyM056YzBKZ25kRm44UUFBQ0FBU1VSQlZKZzJiZG9IWDdKdjM3NWJ0MjQxVGZPV3BsNTVlSGg4MUpRc0FHaWtpd1FyajhlTGpvNCtkdXhZYm02dW5wN2VnZ1VMZHV6WTRlZm4xM1JQTXpPelBuMzZYTHAwNmZMbHl6MTY5Smd6Wjg3SWtTTS81OUJrc0U2YU5NblcxdmJGaXhkU1VsSUpDUWx2M3J5UmxwYisrZWVmVFV4TWZ2MzFWMzE5L2VEZ1lJSWd6cDQ5S3ljbjl6bUhJd2pDeDhmblkxL1M3TjhNUHAvUDRYQ0NnNFBGNTBnY1BYcFVOR2tNQUQ1TkZ3bFdEb2V6YTljdWdpQ1dMVnMyZHV4WVBwOHZPa2ZQNC9HRVFxRzB0RFQ1VUZGUnNYZnYzdE9tVFR0Ky9IaHNiR3hMTTZMYWpqd0ZSTVlsajhkVFZsYisvZmZmVDU0OEdSWVc1dW5wU1JDRStEVmdkWFYxbngrc3BETm56bXphdE9tRHV5a3FLcEtqc1MwWk0yYU1lRWxYcjE2bHBEeUFyMWtYQ1ZaRlJjVzllL2RxYW1vU0JISHo1azBuSnljeU1Ua2NqcmUzOTVJbFMwYVBIaTNhZWR1MmJmMzY5VnV4WWtWSVNBaUR3ZmpNUTVORERmTHk4bVR2VlpUZ1RmSDUvT0xpWXZIelpwK0R4K054T0p5NWMrZVNoMjVXWEZ4Y1hsNGVKWWNEZ0xicklzRXFtblYvK2ZMbDFhdFhoNGVIay9PdVpHUmtURXhNa3BPVFJjSDY0c1dMSTBlT1ZGVlZPVGs1dFpTcUhBNW4wNlpOczJmUGJrc0lGaGNYTXhnTUxTMHRnaURxNit2Rkw4MFNlZnYyN2VUSms2dXFxaW9xS2dZUEh2elpuL1YvL1B6OFdycDZsU0NJZ29LQ0R3WnJYbDZlK0IrRGRscWtCdUNyMG5XQ2xlVGw1YlZyMTY1ZHUzWnQyN2FOYkhGeWN0cXpadytQeHlObkFodytmRmhXVm5iZXZIa3R2VU5lWHQ3S2xTdno4L085dkx6YUVxeloyZGs2T2pya20zTTRuR2FEVlZOVFUwZEhoeUFJUjBmSDE2OWZQMzM2dE9rMVY1SXlmZnIwUmkxa3FRRHd5YnBhc0RLWnpPblRwNjlmdi83Qmd3ZDkrL1lsQ01MT3pxNnVyaTQ5UGQzQndlSFZxMWNYTDE2Y04yOGVPUjFLSEhrWjBvMGJOOExEdytYbDVUZHUzTmpHU1ZFWkdSbGs3NWg4azVaTytvc3VVZjN2Zi8rYm1wcmFlWUwxNE1HRGpZWXZsSlNVSkZjT1FGZlExWUtWdkFiL3dJRURqeDQ5SW9QVjFOUjAzcng1ZW5wNjVNd3FUVTNOb0tDZ3BxOGlMNHJQejg5M2NuSmF2WHAxMCsvWHBhV2xUWmVxZXZIaVJXNXU3cXhac3dpQ0VBcUZiRGFidk1pS3hXSnhPQnlCUU1CZ01QYnUzU3Yra3R6Y1hBTURnNWErcEpPbndnb0xDeE1TRXBvK0t5VWw1ZWpvK0VrL2xXWU1HelpzNk5DaHJRd0tjN25jcHFzdkFzQUhkWjFnemNyS2V2andJYm50NysvUFpETEpHZnZrcWEzazVPU2FtcHE0dURoWFY5ZHo1ODZKWGpWKy9IZ3lPd29LQ21nMDJwSWxTMFN4bTVHUmNmejRjU1VsSlNrcHFhS2lvb2NQSC9idjM3L1JRZmZ0MjZlZ29DQVFDTTZjT1pPVmxWVlhWMmRxYWtvUVJKOCtmZXJyNjVjdFd6Wnc0RUE2L1o5RmI0VkNZWFoyZG5wNit1clZxeE1TRWtTREZVMGxKeWNuSnljM2JXKzZpTi93NGNOYitaa0loY0pXcnFhbDArbE5VM1hyMXEwMU5UV3lzcklDZ2VEeTVjc1lGZ0Q0QkYwbldPL2Z2OStvYjlpVXNySnlSa1lHZVowVktTQWdnRHlGRlJRVU5IRGd3RDU5K29pZVVsQlFFSzJYeW1Bd3pNek1HcTA0eGVmek16TXo1OHlaOCtMRmk0TUhEOHJKeVFVRkJkbmEyaElFWVcxdFBYUG16TWpJeUVZZFR4VVZsVysrK2NiWDE3ZXlzdklUem1JMTdUTC8rT09QclVUbnhZc1hIejkrL0ZHSHFLK3Z2MzM3Tm5sZGc3R3g4UTgvL1BDeFJRSUFyZWt0VE5yYnR0Q3diYUc3Q1lKWU5IL09vdmx6Ty9qb0gwVzAvaitEd1dqMlMzRmhZYUcydHZibno5bjZCQUtCZ00vbnQvSkZ2dFBhRnJwN1cyZ1lRUkNMNXM5ZE5IK09wTXNCb0Y3WDZiRzJoMWJXL3llSkwydlN3UmdNaGtRQ0hRQStxS3ZkOHdvQVFPSVFyQUFBRkVPd0FnQlFETUVLQUVBeEJDc0FBTVVRckFBQUZFT3dBZ0JRRE1FS0FFQXhCQ3NBQU1VUXJBQUFGRU93QWdCUVRKSnJCZVEvZXhFVDE4eXFvOUMxNVQ5N0lla1NBTnFYSklQMTRwV3JGNi9nbnFBQTBOVklZQ2hBVFUxVi9FYjI4SFZpc1ZocWFxcVNyZ0tnWFVpZ3grbzExTFdxcXVyNWkxY2RmK2pPb0tMc2ZYblplNElnVk5YVVZkUWEzM3JyNjZHcjA4dHJxS3VrcXdCb0Z4Slk2UG9ydDJmUG5yQ3dNSUlnNXN5Wk0zdjJiRW1YQXdEVXc2d0FBQUNLSVZnQkFDaUdZQVVBb0JpQ0ZRQ0FZZ2hXQUFDS0lWZ0JBQ2lHWUFVQW9CaUNGUUNBWWdoV0FBQ0tJVmdCQUNpR1lBVUFvQmlDRlFDQVlnaFdBQUNLU1hLaDY2K0JRQ0I0Ly80OW44OFh0VlJXVnBJcmlsVldWaFlWRlluYUdReUdob1lHZzhHUVVLVUFRQmtzRzlpKytIeCtTRWhJZm42K3FLV3lzcExOWmhNRW9heXNyS1NrSkdyWDF0YmV1WE1uazRrL2RRQmZQUHdhdHk4bWsybG9hSGo5K25YeFJocU5SaVpzWldXbHFOSEZ4UVdwQ3RBMVlJeTEzUTBiTm94TVVvSWdHcG9nMitsMHVxK3ZyMFRMQkFES0lGamJuWUdCZ2FtcGFldjdHQmtaOWVuVHA2TXFBb0QyaFdCdGR6UWF6Y2ZIcDFHTHFBOUw4dkx5YXRRQ0FGOHVCR3RIY0haMlZsQlFhT2xaSlNVbEJ3ZUhqcTBJQU5vUmdyVWpxS3FxbXBtWnRmU3NxYWxwdDI3ZE9yWWlBR2hIQ05hT0lDY25aMmxwMmVnVUZybE5vOUdzckt4VVZGUWtXaUFBVUFuQjJoSG9kTHFscGFXaW9tS2pnVlFhalNZcksydHBhVW1uNHg4Q29PdkE3M01Ic2JLeVVsVlZiZG91THk5dlpXVWxpWW9Bb0wwZ1dEdUl1cm82R2FDaVRpdTVZV2RuMTJ6Z0FzQ1hDOEhhY1VhTUdORzBjY3lZTVpLb0JRRGFFWUsxNDlqYTJtcHFhcExiWkhkVlcxdmIxdFpXMG5VQkFNVVFyQjJIeFdKNWVYbUpqd1lNSFRxVXhXSkp1aTRBb0JpQ3RVTjVlM3RMU1VtUjJ6SXlNa09HREpGMFJRQkFQUVJyaCtyUm80ZSt2ajY1YldobzJLdFhMMGxYQkFEVVE3QjJLSGw1ZVV0TFMzTGIwdElTMXdVQWRFa0kxZzdGWXJHc3JhM2w1T1JrWkdTc3JLeEV3d0lBMEpWZ1plV09SbDRwd09Gd1JGMVhBT2hpRUt3ZFRVOVBUMWRYdDc2K1hrZEhSOUsxQUVDN2tNQTlyOTZYbFNVazNYajkrazBISDdmenlNL1BGd3FGUmtaR2tpNUVrcnByYVhxNEQxRlhVNU4wSVFEVWswQ1BOVEU1WmYyZm15dlk3STQvZE9jU0V5ZnBDaVJKUVVHQnlXTDZqeDRsNlVJQXFDZUJrMWVGaFVWSVZhaXVyaTRzTEdyRGpnQmZIa21Pc2RvUDZEZG9ZSDhKRmdBU2NmTjIrcTA3ZHlWZEJVQTdrbVN3RGhyWWY5SDh1UklzQUNSa040SVZ1amJNWXdVQW9CaUNGUUNBWWdoV0FBQ0tJVmdCQUNpR1lBVUFvQmlDRlFDQVlnaFdBQUNLSVZnQkFDaUdZQVVBb0JpQ0ZRQ0FZZ2hXQUFDS0lWZ0JBQ2lHWVAwZlBwOWZVVkhScVBITm13NWRrTHVxcW9yRDRaRGJOVFUxSlNVbEgzeko2OWV2Mjc4dUFQZ0lDTmIvV2JWcTFaSWxTd1FDZ2FpbHNMQnc1TWlSa1pHUjdYRTRVWUNLKyt1dnYwYU5Hc1hsY2dtQ21ETm56c0tGQzV2ZFRTUWhJY0hYMS9mS2xTdnRVU0VBZkJyYzgrcC9wazJiTm1YS2xQMzc5OCtlUFp0c09YMzZ0SlNVMU5DaFExdDUxWkVqUnlvcks5dCtGRTlQVDJOajQ3dDM3NGFFaEd6WnNzWGEybHIwVkUxTnpZVUxGMGFOR2tYZXZYWE9uRGsvL1BERGpoMDdmdnp4eDJiZnFxeXM3RC8vK1krQ2dnS1R5VXhJU0dqcGlFT0dES0hUOFJjVW9PTWdXUC9Iek14czl1elpHaG9hNUVNZWp4Y1ZGY1ZrTW9PRGc1dmRmOTI2ZFQxNzlqeHg0a1J4Y1hIYmo2S3ZyMjlzYkt5cnEwdW4wNE9EZzQ4ZVBhcWxwVVUrRlI0ZXp1RndKaytlVEQ1MGRuYWVNMmVPaTR0THMrL0Q1L09YTFZ0V1dscktaREovL3Zublp2Y2hlN3RwYVdtNHp6WkFSMEt3RWprNU9aTW1UUkp2V2I5K2ZZOGVQUUlEQXlzckt3TUNBaGdNUnJNdmxKYVdKZ2ppMHFWTFRaLzY5ZGRmejU4L241aVlxS2lvMk94cnUzWHI5c2NmZjh5Yk55ODRPSGpmdm4weU1qSnNOdnZvMGFOQ29YRGN1SEhpZXg0NmRFaTByYTJ0VFk1TENJWEMxYXRYMzc5L1gxZFhsOHZsL3ZYWFg3cTZ1dUt2cXF1cisvWFhYMk5pWXFaTW1ZSlVCZWhnQ0ZaQ1cxdjd0OTkraTQrUFQwOVBEd2tKSVJ2cjYrczNiZHJrN2UyOWJOa3lnaUF5TXpPWEwxOSs5T2hSVlZWVnFvN2J2My8vNzc3N2J1Zk9uYUdob2NIQndUdDM3cXl1cnZieDhYRndjQ0IzZVBueTViNTkrNzc5OWx0OWZYMnlSVlpXbHV4S3IxMjdOaVltWnUzYXRTNHVMak5tekpnNWMrYW1UWnVzckt6STNYSnpjMy82NmFlOHZMeFpzMmJObll0N05BQjBOQVFyb2FpbzZPM3RuWitmLy9UcFUyOXZiN0p4ejU0OUhBNW4wcVJKUEI2UHhXTFYxOWNYRnhlTG45ZWl4TFJwMHdRQ3diaHg0ekl5TXM2Y09VTU9SL2o0K0pEUFptUms3TnUzejk3ZXZuLy8vM2Ruc0dYTGxpVW5KLy8wMDArK3ZyNEVRZXphdFd2NTh1WFRwMDhmTTJiTXBFbVR3c1BEejUwN3A2U2t0R1hMbHBhR0VRQ2dYZUdjeGovNGZMNzRWK1laTTJiczI3ZHYvdno1Wk42SnE2aW9TRXRMS3kwdC9meUQwbWkwbVRObkVnVHgwMDgvOWVyVnE0MnZtanAxNm9ZTkcvejgvTWlIV2xwYSsvYnRjM056TzN2MmJFQkF3Smt6Wnl3c0xDSWpJNUdxQUpLQ0h1cy91Rnh1VVZIUnJGbXp5SWNoSVNHaWI5YnYzNy9QenM0bUNHTHQyclhQbno4bjU1WWVQbnhZZEpyck01MDZkYXEwdEhUMzd0MHpaODdjdG0xYmFHZ28yZDdRMEVBUXhJSUZDMFRuOU5ldVhldmw1ZFczYjEveVlYMTkvY09IRDFOVFV4TVNFZ29LQ2xSVVZBWU9ISGpyMXEzTXpFdy9QNysrZmZ1YW01djM3dDI3WjgrZUdob2FLaW9xTWpJeWxCUU1BSzFEc1A2RHkrVXFLQ2lZbUppVWw1ZEhSMGUvZVBFaU1UR3hycTV1NjlhdEd6WnNJUGVSbFpVTkRBeGtzVmliTm0waWh6cy9YMlptNXVUSmswMU1URXhNVEFpQzhQTHlhalRHT25ueVpORVlxNFdGUlVsSnlmWHIxL1B5OHJLeXNuSnljdmg4dnBLU2twT1QwNkpGaTV5ZG5abE1Kby9IdTNuelprcEt5cDA3ZDI3Y3VDRTYwSUlGQzZaTm0wWkp6UURRT2dUclA3aGNycjYrL3RLbFN6TXpNNk9qbzlsc2RteHNyRkFvOVBUMDlQZjNyNnFxV3J4NDhmTGx5elUwTk83Y3VVTVFoSnljM09jZnRLNnViczZjT2FOSGoxNjJiRmx0YlcxYnhsZ3JLeXZEd3NKa1pXVTFORFM4dkx6czdPeE1UVTNKTG0xK2ZqNjVqNmFtcHArZm41K2ZYM1YxZFhaMnRwU1VWRmxaMlRmZmZQUDVCUU5BV3lCWS84Rm1zOG1zNVBGNEJFRU1IRGd3SUNEQTNkM2R5c3JLMXRZMlBUMWR0R2RkWFIxVndacWNuRnhmWHo5NDhPQzJ2MFJKU1NrNk9wckZZbTNmdnYzUW9VUHg4ZkdpcC9oOFBwL1BGLysrTHhBSWVEeGVhbW9xT1RNTUFEb0dndlVmRlJVVjVPa2o4bkxTVnBLb3NMQlFSa2FtcFFtcUh5VXVMazVCUVdIUW9FR2lscnQzNzRxMnlVVUE0dUxpY25KeXlCWjdlM3REUTBNV2kwVSsxTlBURXorM0ZoNGVIaFlXZHYzNmRWSEwxYXRYVjY1YytmbDFBc0JIUWJEK283aTQyTjdlbmp3alJCQkVzK2Q1UWtORG56MTdscE9UNCtqb1NLUFJQdk9JSEE3bnhvMGJucDZlb3FBa2cvWHAwNmZrTnRsM2pvMk5GVTFYME5EUU1EUTAvTXpqQWtCN1E3QVNaSGYxN2R1M0JnWUdvc3RBbXcxV096czdhV2xwWjJmbkNSTW1iTnEwS1RBd3NPMXpwSnFLaTR2amNEaWVucDdpamJObnp3NEtDaUszTXpJeVpzNmMrY2NmZnpTYXh5cnk4dVZMUjBkSDBVTnlLRUM4aGZLSnR3RFFGZ2hXZ293d2dpREk4L0wxOWZVMEdxM1pvUUFIQjRkUm8wYVJpL3VGaDRkYldscCtUckNTMC9qSmJ2S242ZG16cDJodUZrRVFVVkZSSjA2Y0NBOFBGN1VrSnlkdjJyVHBrOThmQUQ0TmdwVWdDQ0ltSnNiUTBGQlBUNDhnaVBMeWNnVUZCYktkeFdMVjFOU1FsNStLajM3bTV1WVNCR0ZnWUpDY25Nem44NXUrSWJtS2EzSnljck96c295TmpSc2FHdTdkdXpkNjlHZ204Ly85RXhRVUZJaE9sT1hsNVpGTEdZanZZR1ZsSlFwOUpwT3BvNk1qZWtwVlZaVk9wNHUzcUt1cmYrcVBCQUErSFlLVmVQNzhlWHg4L0lRSkU0NGZQODVpc1NJaUlreE5UY21uK3ZUcGMrellNZkpjdkdqLzJ0cmEwNmRQZCsvZTNkRFFjTnEwYWEyc2w3cDY5ZXBtMjBOQ1Fzek56UTBNREx5OHZCbzlGUkVSRVJFUklkN1NxTXQ1NGNLRkhqMTZrTnQxZFhYSnljbWlwNTQ5ZThibjg4VmJSTU8xQU5DUkVLeEVabWFtbXByYTlPblRmWDE5K1h5K25wN2VraVZMeUtlQ2c0Ti8rZVdYc0xBdzhXNHBpOFV5TmpaZXRtd1puVTQvZXZUb0o0eGpkdXZXVFZsWitkU3BVK1MxVmVJV0wxNDhZY0tFVmw0cjNzTXRLeXZic21XTCtMTmFXbHJpTFdSM0d3QTZHSUtWOFBYMXRiR3hVVkZSU1VwS2F2U1VnWUdCK0twOVRZbXVpZm8wNGxNTDVPVGt4RWNiUG1qaHdvVUxGeTc4bktNRFFEdkJJaXdFUVJDTkZqTUZBUGdjQ0ZZQUFJb2hXQUVBS0laZ0JRQ2dHSUlWQUlCaUNGWUFBSW9oV0FFQUtJWmdCUUNnR0lJVkFJQmlDRllBQUlvaFdBRUFLQ2JKdFFKdTNrNG5pTjBTTEFBazR1YnQ5RGJzQmZBRmsyU3czcnB6OTlhZGoxaDJCQURnaXlDQm9RRHQ3bHFpbGFUaHF5VW5KNnZkWFV2U1ZRQzBDd24wV0llNnVkRHA5TmRGYnpyKzBKMkJRQ0I0blBtQTNMYTJzWk4wT1JMVFhVdHpxSnVMcEtzQWFCZTBwbXN0UTd1cXJxNGVNbVFJdWYxUkM3QUN3SmNDc3dJQUFDaUdZQVVBb0JpQ0ZRQ0FZZ2hXQUFDS0lWZ0JBQ2lHWUFVQW9CaUNGUUNBWWdoV0FBQ0tJVmdCQUNpR1lBVUFvQmlDRlFDQVlnaFdBQUNLSVZnQkFDaUdZQVVBb0JpQ0ZRQ0FZZ2hXQUFDS1NmS2VWMThWZ1VEdzl1M2Job2FHbXBvYTBlTGllL2Z1MWRUVXRMR3hZYkZZb2oxWkxKYXFxaXFUaVg4YWdDOFY3aURRUWNyTHk1Y3RXMVpTVXRMUTBGQllXRWcyMG1nMFdWbFpOVFUxR28wbTJ0UFcxbmJ4NHNYS3lzcVNLeFlBUGd1NlJSMUVXbHBhWFYyZHZCZUxlSXpXMWRXOWZ2MWE5SkJHbzdtNHVDQlZBYjVvR0dQdElMS3lzcmEydHVSWC9vYm1rTHRKU1VrTkhqeFkwc1VDd0dkQnNIWVFHbzFtYkd5c3JxN2UrbTRLQ2dxMnRyWWRWUlFBdEFzRWE4Y3hNVEhSMXRZV2I2SDlTOVRpN2UwdEl5TWppZW9BZ0RJSTFvNGpLeXM3WU1DQVJtT3M1TWdBdWNGZ01QejkvU1ZVSFFCUUJzSGFvZHpkM1p0dEo2UFcwdEpTVDArdnc0c0NBSW9oV0R1VWtaRVJHWjJpVHF2NGREZFBUODlHblZrQStCSWhXRHZheElrVFJkdmlxYXFxcWpwdzRFQUpGUVVBVkVLd2RqUTNOemM1T2JtbTdlYm01bXBxYXBLb0NBQW9obUR0YUlxS2l2Mzc5eGNmRGFEUmFIUTYzY0xDQXRjRkFIUU5DTmFPSmlVbE5XREFBQWFESWQ2b3JLemN0MjlmT2gzL0hBQmRBWDZUT3hxTlJqTXhNU0d2RkJCTllsVlRVN093c0pCMGFRQkFEUVNyQlBUdTNidG56NTdpTFFNR0RGQlVWSlJjUlFCQUpRU3JCS2lycTF0YVdvcVBCdmo0K0VpMElnQ2dFb0pWTXB5Y25LU2twTWh0YlcxdFUxTlRTVmNFQUpSQnNFcUdqWTJOYUVFV2YzLy9SdWV5QU9DTGhtQ1ZEQ2FUU1M0TElDOHY3K3JxS3VseUFJQktDRmFKR1RseUpKUEp0TEN3ME5EUWtIUXRBRUFsM0VGQVl0VFUxT3p0N2EydHJadTlFQXNBdmx3U3Z1ZFZiVzNkZzh4SFJXK0tKVmlEQkdWblo5UHBkQ01qSTBrWElnR3lzakkyMWxZOXRMdEx1aEFBNmttNHgvcncwZU1WYTM1OVZWQW8yVEtnNDBsTFMzODdaZEtTaGQvaHhCMTBQUkllWTMxZDlBYXArbldxcjY5L25QV1V6K2RMdWhBQTZuV1dNZFllMnQwZDdBZEl1Z3JvQ0VWRnhiZlM3d3FGUWtrWEF0QmVPa3V3V3BpWmJsei9xNlNyZ0k0UUU1dHc5LzRETHBjcjZVSUEyZ3VtV3dFQVVBekJDZ0JBTVFRckFBREZFS3dBQUJSRHNBSUFVQXpCQ2dCQU1RUXJBQURGRUt3QUFCUkRzQUlBVUF6QkNnQkFNUVFyQUFERkVLd0FBQlJEc0FJQVVBekJDZ0JBTVFRckFBREZFS3dBQUJSRHNBSUFVQXpCU2lVK24xOVJVZEdvOGMyYk54SXFCd0FrQThGS3BWV3JWaTFac2tRZ0VJaGFDZ3NMUjQ0Y0dSa1pLZEc2dWlBZWo0ZTdaa0duMVZudWVkVTFUSnMyYmNxVUtmdjM3NTg5ZXpiWmN2cjBhU2twcWFGRGg3YnlxaU5IamxSV1ZyYjlLSjZlbnNiR3hwOWQ3QmVwb2FIaDJiTm5pWW1KMmRuWksxZXVWRkZSa1hSRkFNMUFzRkxKek14czl1elpHaG9hNUVNZWp4Y1ZGY1ZrTW9PRGc1dmRmOTI2ZFQxNzlqeHg0a1J4Y1hIYmo2S3ZyLzlWQld0RFF3T1h5NjJzckV4T1RqNTM3dHlUSjA4YUdobzBORFI0UEo2a1N3Tm9Ib0tWQWprNU9aTW1UUkp2V2I5K2ZZOGVQUUlEQXlzckt3TUNBaGdNUnJNdmxKYVdKZ2ppMHFWTFRaLzY5ZGRmejU4L241aVlxS2lvMkc2RmQzYWxwYVhaMmRsUG56NjlkKy9lbzBlUHFxdXJKVjBSUUpzZ1dDbWdyYTM5MjIrL3hjZkhwNmVuaDRTRWtJMzE5ZldiTm0zeTl2WmV0bXdaUVJDWm1abkxseTgvZXZTb3FxcXFwT3Z0N0hnODN1M2J0K1BpNHJLenMwdEtTdGhzZHJQRHFUUWFUUkxWQVh3WWdwVUNpb3FLM3Q3ZStmbjVUNTgrOWZiMkpodjM3Tm5ENFhBbVRackU0L0ZZTEZaOWZYMXhjYkg0ZVMwUUp4QUllRHplcTFldkxsKytmT25TcGJLeU12Rm5HeG9heEI4aVVxR1RRN0JTaHMvblMwbEppUjdPbURIRHdjRmgvdno1YytiTUNRd01GTit6b3FJaUt5dkx5TWhJTkJyNzFXcG9hSGoxNnRXVEowOHlNek16TWpMeTgvUDVmTDc0c3kyOUVOa0tuUm1DbFRKY0xyZW9xR2pXckZua3c1Q1FFQ3NySzNMNy9mdjMyZG5aQkVHc1hidjIrZlBuSlNVbEJFRWNQbno0YXc3V2hvWUdkdm43dFd2WFBudjJyS1NrcEthbXB0R3o0ZzlGTVNwcXI2aW8rUEhISDFrczFtZVdZV0JnTUhYcVZHMXQ3Yzk4SHdCeENGYktjTGxjQlFVRkV4T1Q4dkx5Nk9qb0Z5OWVKQ1ltMXRYVmJkMjZkY09HRGVRK3NyS3lnWUdCTEJacjA2Wk5zckt5a2k1WndnUjgvdXZYcjkrOGVkUG8vSDRySFZVUkxwZjc0TUdEeisrMzNyOS9YMTlmdjlGWENvRFBoR0NsREpmTDFkZlhYN3AwYVdabVpuUjBOSnZOam8yTkZRcUZucDZlL3Y3K1ZWVlZpeGN2WHI1OHVZYUd4cDA3ZHdpQ2tKT1RrM1RKa2tTajBkUzZhWVh0MlB6NjlldlUxTlNJaUlqQ3drS3l2V24vdEduVVVqVVVJQkFJMkd3MkpXOEZJSUpncFF5YnpTYXprdXgvRFJ3NE1DQWd3TjNkM2NyS3l0YldOajA5WGJSblhWMGRnbFhFd01EQXdNREF3Y0dob3FLQ3pXYmZ2bjA3T1RtWm5OamJOR0ZGVkZSVVZxMWFwYXlzL01uSHZYRGh3b1VMRno2dmRvRG1JVmdwVTFGUjBhdFhMN0xyS3BxajJxekN3a0laR1ptdmVZSnFVNGFHaHVTR3U3djcwcVZMMDlMU1RwOCtmZS9lUFM2WHkrUHhtdlpQbVV5bXRiWDE1d3hTMzcxNzkvTktCbWdSZ3BVeXhjWEY5dmIyNUF4V2dpQmtaR1NhN2hNYUd2cnMyYk9jbkJ4SFIwZWMxMjRKazhsMGRuWjJkbll1TFMxTlNVbTVkKzllWGw3ZXk1Y3Z5WjYrU0Z1R1lnRWtBc0ZLallxS2lyZHYzeG9ZR0JBRXdlRndXZ3BXT3pzN2FXbHBaMmZuQ1JNbWJOcTBLVEF3a096a1FyTTBORFJHang3dDQrUHo1czJiRnk5ZTNMdDNMeVVsNWZuejU0aFU2T1FRck5USXlNZ2dDTUxFeElUc3NkSm90R2FIQWh3Y0hFYU5Ha1VRUkZWVlZYaDR1S1dsSllMMWcxZ3NscTZ1cnE2dXJvdUx5NkpGaTU0OGVYTDI3Tm1IRHgraXl3K2RGb0tWR2pFeE1ZYUdobnA2ZWdSQmxKZVhLeWdva08wc0ZvdWNvZG0vZjMveFFiM2MzRnp5dkUxeWNyTDRsSGdSY2hYWDVPVGtabWRsR1JzYjkrelpzejAvVUNkRm85RXNMQ3dzTEN5NFhHNUxLekFBU0J5Q2xRTFBueitQajQrZk1HSEM4ZVBIV1N4V1JFU0VxYWtwK1ZTZlBuMk9IVHRHRUlTU2twSm8vOXJhMnRPblQzZnYzdDNRMEhEYXRHbmswRUd6VnE5ZTNXeDdTRWpJVno3MVV2d2lONERPQnNGS2djek1URFUxdGVuVHAvdjYrdkw1ZkQwOXZTVkxscEJQQlFjSC8vTExMMkZoWWVMZFVoYUxaV3hzdkd6Wk1qcWRmdlRvMFU5WVFLQmJ0MjZVZmdJQW9CS0NsUUsrdnI0Mk5qWXFLaXBKU1VtTm5qSXdNRGgwNkZBcnI5WFgxMi9uNmdDZ28rSFdMTlRRMWRXVmRBa0EwRmtnV0FFQUtJWmdCUUNnR0lJVkFJQmlDRllBQUlvaFdBRUFLSVpnQlFDZ0dJSVZBSUJpQ0ZZQUFJb2hXQUVBS0laZ0JRQ2dHSUlWQUlCaUNGWUFBSW9oV0FFQUtJWmdCUUNnR0lJVkFJQmlDRllBQUlwMWxqc0laT2ZtcmZ0am82U3JnSTd3c3FCUTBOejlFd0c2ak00U3JLOEtDZzhlQ1pkMEZRQUFGSkR3VUVCM0xVMXQ3ZTZTclFFa1FrcEt5dGlvRDI1aERWMlNoSHVzZmEwdGYvbHBlVUhCYThtV0lSRnYzaFFWdm5wSkVJU2F1b1poSHlOSmw5UFI1T1JrSGV3SE1KbWQ1VHNUQUlVay9MKzFncnk4aDlzUXlkWWdLVWVPSERrZGNad2dpSkVqUjA2ZkVpVHBjZ0NBTXBnVkFBQkFNUVFyQUFERkVLd0FBQlJEc0FJQVVBekJDZ0JBTVFRckFBREZFS3dBQUJSRHNBSUFVQXpCQ2dCQU1RUXJBQURGRUt3QUFCUkRzQUlBVUF6QkNnQkFNUVFyQUFERkVLd0FBQlJEc0FJQVVBekJDZ0JBTWR3WUE2QkZmRDcvL2Z2M0gvc3FkWFYxM0hMbUs0ZC9mb0FXNWVmbkJ3Vjk5RjF6d3NQRFRVeE0ycWNpK0RJZ1dEdmFnd2NQSGp4NHdPRndIang0SU9sYTRBTjBkSFIyN2RyVnREMHZMMi83OXUwbUppYno1ODl2OWxVZFVoMTBYZ2pXanJaeDQ4YWNuQnlCUUNEcFF1REQ1T1RrN08zdEd6VW1KU1h0M3IxYlZWWDF6ei8vMU5EUVlMRllFcW9PT2krY3ZPcG9XVmxaNHFuS1lyRXNMUzBsV2hHMEZZZkQyYmh4NCtMRmk3VzF0ZCs5ZTNmanhvMmdvS0FWSzFZVUZoWkt1alRvWE5CamJVY05EUTFWVlZYVjFkV05Hc2tOWDE5ZmdpQTBORFJzYkd5S2lvb1VGQlNVbEpRa1ZDbDgySjA3ZC83em4vOFVGaFl1V0xEQTBkRnh3b1FKVWxKU2t5Wk5DZzBOOWZmM0h6dDI3TXlaTTlYVjFTVmRKblFLQ05iMkZSY1hkL2p3WWFGUTJQU3BqSXdNY3VQYXRXdDBPbjNLbENsanhveWgwV2dkWGlOOFFFRkJ3Ylp0MnhJU0VucjE2blhnd0FFTEM0dTh2RHlDSUdnMDJ1alJvejA4UFBidTNYdml4SWxMbHk3Tm5UczNNRENRd1dCSXVtU1FNQVJyTzZMUmFGcGFXdFhWMVdWbFplS041SWI0OTBjdExTMHRMUzJrYW1lVG01djc5OTkveDhURXNGaXNxVk9uenBneFExNWV2dEUrQ2dvS2l4Y3Y5dlB6VzdkdTNhWk5teTVjdUxCeTVVb3JLeXNKbFF5ZEFzWlkyNWVKaVltV2xoYTUzZEFjOGlsZFhWMVRVMU9KVmdyTmlJaUl1SHIxNnNpUkk4K2VQYnR3NGNLbXFTclN1M2Z2ZmZ2MmhZU0VGQlFVaEllSGQyeVowT21neDlxKzFOVFVMQzB0czdLeVd0L053c0pDVFUydG80cUN0bHE4ZVBHRUNSTU1EUTBidFd0cWFxNVlzY0xhMmxxOGtVYWpCUVlHdXJpNFlLd2NFS3p0aTBhanVibTVuVHAxaXR4dWFHZ1FmZDhYZFZjSmduQnljcEpjamRBaU9UazVRMFBEcUtpbzlldlh0MlgvbFN0WGt1Y2s0U3VIWUcxM2RuWjJXbHBhSlNVbFRaOGlRN1puejU2WWNkV1pDUVFDSG84M2QrNWNWVlhWbHZZcEx5L2Z2WHMzcGljRENjSGE3bGdzMW9nUkl3NGNPTkRTRG1QSGpzVWs4ODV2MkxCaHJWeFNWVkJRc0h2MzdvNnRDRG92bkx6cUNMNit2cUpWT2NnUkFORTRBSlBKOVBmM2wyaDFBRUF4Qkd0SDZOYXRHL2xsWDN4Q0ZibmR2MzkvUlVWRmlWWUhBQlREVUVCSGtKS1NHalJvMFAzNzk4bUgySmxyNFFBQUlBQkpSRUZVNHFldFhGeGNKRmNYZklUaTR1SlBmaGErTmdqV2prQ24wODNOelZWVlZjdkx5OFhidGJTMHNMN2NsMkx1M0xtU0xnRytHQWpXRG1KZ1lHQm9hSmllbmk3ZWFHcHFpaVhtdmhSYnRtd1JYZXZSVkVsSnllTEZpenUySXVpOEVLd2RSRXRMeThqSTZPN2R1K1E0QUkxR1l6QVk1dWJtdUM2ZzgvUDE5Zlh4OFpHU2ttcmxtbU1URTVPN2QrOTJiRjNRZWVIa1ZRZWgwK2tEQnc0a2Z6bkozMDk1ZVhrYkd4dXNEOUQ1TVJnTWFXbHAvRXRCMnlGWU80NmRuWjJ5c3JMb29hYW1wb1dGaFVRckFvQjJnV0R0T0FvS0NxNnVycUtIYm01dXNyS3lFcTBJQU5vRmdyVkQrZm41MGVsMDh0dmxpQkVqSkYwT0FMUUxCR3VITWpZMk5qSXlJZ2pDeXNvSzh3RUF1aW9FYTBjYk9uUW9lZUc1cEFzQmdQYUNZTzFvL2Z2MzE5Ylc3dCsvdjZRTEFZRDJnbUR0YUpWVk5ib0dSc21wdDhyS3l0dXdPd0I4ZVhDQlFNZkplcHE5YTgrQnRGdDNxcXFycnFmY1BIRDQySVJ4WTZjRVRaQ1R3OXdBZ0M0RndkcStoRUxodTlMU0oxblprV2ZQeHlVbWM3bGNzcDNINDc4cUtOeXdlZnZCdytHQkFYNWVROTMwOWZYazVlUWtYUzhBVUFEQjJvNWV2SHgxTlRZKzZVYnF2WXdIOWY5R3FvcXlzclBqb05MM1pXbTM3aEFFOGE2ME5EUnMzK2x6VVFQNjJRN3o5SEFjYksrb29DRHB3Z0hnc3lCWTIwVkp5YnNkdS9kY2pyNVdWVjB0dWwySG1xcnFsS0RBYnlZRnlzdkpDNFdDNXk5ZmJ0NytWMkxTRFlGQThLYTRKT3BTZEhSTW5LNXVyNW5UcG96M0h5UHBUd0FBbnc3QlNxV0tDblpPWG43VXBTdG5veTdXMVhISVJnVUZlVjJkWHNNOGhvNFBHS1BacmR1Lys3TE1URXpDZG15K2QvL2hzWk9SR2ZjZkZCVzk0Zko0ZWZuUGw2LytKV3ovMzVNbmpuZHlzTmZUMVpXU3dsMWJBTDR3Q0ZacXZDdDlIeHVma0ppY2N2ZmVnN0ovRjEyVms1TjFHK0k4MU5YRndYNmdsbWEzcHEraTArbjk3V3hzcksyeXNyTlQwbTVkaVlsOS9PU3BVQ2g4L3VMbCtnMmJlK3ZwT3RnUEdPN2xZV2ZiVjFwS3FzTS9Fd0I4SWdUcjU2cmpjUFlkUEhMODFPblMwdmQ4UHA5c2xKYVc5aHMxWXU2czZkMjFORmtzVnVzTEl6R1pEQ3NMY3dzejAyK0NBdStrMzl1MExmUngxbE9CUUpELzdIbitzK2VuenB3M056WCtmdDVzVjJkSExMQUU4RVZBc0g2aW1wcmE1eTlmeHNZbkhnay9XVjdCSmh1bHBLUjBkWG81RHg0MGVlSjQvZDU2SC9XR2REcGRYazdPMWNYSjJkRWgvbnJ5cVRQbk14ODlLWG43dHI2K1B1TkI1c3g1Qy92WjJreWVPTTYycjdWMmR5M1JyUWtCb0JQQzcrZEhxNm1wdVJvYkh4T2JjUC9obzdmdjNwR05NakxTVG9NZGZMdzkrdG5hOU95aFRhNjA4bWtZRElhbnU2dVRnMzEyYnQ3TjIrbG56bC9NZi9hOG9hRWgvVjVHeG9PSFJvWUdBd2YwR3pOcWhJMjFKWFdmQ1FDb2hHRDlDRnd1OTl5Rnk3djNIaWg2VTh6bDhVVHRRNXdjRjN3MzI5elVSRnE2dFVYbVA0cXNyS3lOdFpXVnBjV0VjV09qcjhWdjIvbFh5ZHQzQW9IZ2FVNXVUbDcrcVRQbkIvYXpXN3h3bnJVbFZuUUY2SFFRckI5V1cxdjM3TVdMbExSYkowK2RlZkdxZ0d4a01CZ0crcjN0Qi9TYk9ON2Z6TVM0blE3Tm9OTlZsSlVuQlBqNWp4NTU4VXJNNWVpWXpNZFAzcjRycmF1cnUzNGpKZTMySFNjSCs3RmpSbGxibW10Mzc4NWdNTnFwREFENEtBalcxZ2lGd3NUa0cxZXV4dDY1bS9HcW9KQnNaREFZdG4ydGZVY01IOURQeGtDL040dlZFZE9oV0N5V24rOElEemVYek1kWjE1TlR6bDI4L081ZEtaZkxqYitlbkp4NjA5TGMxR213dzVoUkkvUjc2M1pBTVFEUU9wcjRQZTVCaE0vblgwOU9YYjloOC9PWEw4WGIrMXBaaGl4Wk9HaGdmOG1lb0srdjV4NE9QN0ZuLzZIM1pXV2lSanFkUHRMSE8zamg5enE5ZWtpd3RpL0ZuajE3d3NMQ0NJS1lNMmZPN05tekpWME9kQ25vc2Y0L1BCNy81YXRYdDlQdm5qb1RsZm40aVZBb0pBT3Jady90dmxhVzQvM0hEQnJZdnpPY2taZVdscG81N1p1eG8wZWRpN3AwTFQ0aEp6ZS9nczBXQ29WUkY2L0V4aVY2RG5YMUhUSGMwc0s4bTRhNnBDc0YrQnBKUGlNNkNhRlFtUEhnNGNYTE1UZnZwT2ZtNVpPUlNoQkVIME1EM3hIREhCM3N6VTFOcEtXbEpWM20vOUJvTkhVMTFSblRKby94OWJtWDhTQTI0ZnJGeTFmck9KemF1cnJ6RjY4a0pOMndzakFmNHV3NGNyaDNkeTFOU1JjTDhIWEJVQUJCRU1UanJPejFHemJmdkgxSC9LZWgzMXQzMGZmemZIMittS1grSzZ1cXRtemZkZXBzVkcxdHJhaFJTVWt4S0REZ2gvbHpwWER0MXYrSG9RQm9QMTkxajdYZ2RWSEcvUWRuemw5TVNiMHBFQXJKYnFDR2hycWxtZW1ZVVNQY1hKMFY1T1VsWGVOSFVGSlVYTHRxMmJSdmdzNUdYVXBNdXBHYm4xOVh4Nm1zck5xOTkrRFI0NmNDeHZoNmU3cWJtNWxnOVN5QTl2WTFCbXREUTBOV2RzNnBNK2R2cDkvTGYvWmN0RWFxdHBhV3Y1K3ZxNHVUdWFteGpJeU1wTXY4UkhxNk9qOThQM2ZDdUxHWmo1NWN1QndkRzUvSXFhK3ZycTcrKzJqNGhjdFhqSTM2RFBmeUdEVml1TEtTb3FRckJlaXl2cnBnZmZ1dWRPT1c3VkdYb25saU0veFZsSlhuekp3Mlkrcmt6bkJpaWhMZHRUUzdhMmw2RG5YTmUvWjg0K2J0MStJVENZSjRYMWFlZHV0TzJxMDdvV0g3NXMrWk9kNS9ETVlIQU5wREY4bVJEM3BUWEhMbjdyM29hM0Z4Q1VtaVNGVlJVZWxuMDlmRGZZaTNoN3VLaXJLa2Eyd1hmUXowdzNadXljbkx2M0RwU3RLTnRDZFBzd1VDUWNuYmQydlcvUkcyLysrUnc3M2RoamhibUp2aTVnVUFGT3I2d1ZyMHB2ak0rUXVKU1NrNXVYblZOVFZrbzVxcXFzOHd6MkdlUTgzTlRKU1ZsTHI4cWxIR2ZRd1h6Wi9uUDhiMzRhTW5wODZjdTNYbkxwL1BmMTMwSm16LzMxR1hydlMxc2h6cDR6M2N5NlBML3h3QU9rWlhEdFlLZHVXK0E0Y09IZ212NDNERTJ5ZFBERnd3YjJZM0RRM0psU1lCVENhanQ1NXViejNka2NPOWJ0NisrOGZHelkrem5wSjkrVGZGSmRIWDRuUjY5VndaRWp6VTFibkxqSWNBU0VvWC9CVXFLeTkva1Brb052NzYxZGg0MFMybVpXVmtiUHBhRFhGMkhEMXl1SmJtVnoydmswNm5EeDQwNE1McDQ3ZlQ3MTI4Y2pYdDFwM25MMTRLaGNLQ3d0ZnpmMWhxYW16a08zTDQ0RUVEK3hnYXlIU21lYnNBWDVBdUZheDFITTdaOHhldXhpWThmUFNZemE0a0crVmtaVjJIT1BtTkdtRnBidGF0bThibkxPalh4UXpzYjJkamJmbnMrWXViZCs1R25qbi81R20yVUNoODhqVDd5ZE5zZlQzZGZuWTJZMzFIMmt2NjRsMkFMMUZYQ0ZhQlFGQmV3VDUvOGZLV0hidHFhK3ZJUmpxZExpc2pNOVJ0eUtMdjUranJmZHlhMDE4UEtTa3BVeE5qVXhQaktVR0IxK0lTZDRidHk4M0w1M0s1ejErK2V2N3lWZVRacUFIOWJILzRmcDZOdGFXTWpBd1NGcUNOdnV4Z3JhbXB6WHo4SkRrbDlWTDBOZEhxVTFKU1VxWW1SbzZEN0gxSEREYzJNa1FjdEFXZFR2ZjJkSGQySEhRajlkYmxxOWZ1WnR3dmVsUGMwTkJ3NTI3RzFGbnordHZaamhqdVBXaGdmNFBlZXZoNUFuelFseHFzOWZYMTBkZmlUcCs3a1BVMCsvMi9BNmtFUWJnNERaNFE0TmZYMmtwTHN4dSs5WDhzT1RrNUx3ODNWeGZIWjg5ZlhMK1JlaVQ4Wk5HYllqNWZjUE4yK3QyTSs3MTY5T2huWnp0NXdqZ3JTM1BFSzBBcnZyQmdGUXFGSEU3OXRiaUVyYUc3WC82NzVqUkJFTEt5TXYxc2JWYjh1TGo5MXB6K2VvakdCMlovTy9YUXNSTi9Id2wvVTF6TTQvSEo4WUdvaTVlSHVEZ3REMTdVbzRjMjdoMEwwS3d2SmxpRlF1R2pKMW1wYWJlakxrYy96YzRoR3hrTWhrRnZ2Zjc5YkVmNURMT3o2U3NsMVJGclRuODlhRFRhdE1rVFI0OFlmaTArNFZyODlZejdEOHJLSzdnODNyVzRoSVRyeVI3dVE0WjVEaDNRejA2N3U1YWtLd1hvWEw2QVlPWHhlRGZ2M0QxNi9PU2p4MWx2MzVVS0JBS3kzZHpNWlBLRThRNzJBM1I2OWNTMy92YWpxcW95M3QvUHg5c3I3OW16SzFkalQ1Ky9VRlpXenVmem8yUGlyaWVuNlBUcTVlYmlOR0c4djU1T0wwbFhDdEJaZE41Z2JXaG9xSyt2Zi9qb3lhYXRPKy9lZnlCYUlGVktTc3JFcU0vQytYT0d1cnA4MUx1eDJXd3BLU201VnEvZFRFaEl1SGZ2WG5Cd01Qa3dPVGs1S3l2cm0yKytrWldWL2J4UDAxbHdPSndQcmkrVGxwWW1MeTl2YlcwdDNxaWdJRzlqYldWamJUVjMxcmNIRHg4N0hINmlwcWEycm82VGs1dVhrNXQzSlB5a3Y1L3YzSm5UTmRUVldhek8rejhWUU1mb2pMOERRcUh3YVhiT2piUmIxK0lTN21ZOEVMWDMxdE1aYkcvdjRUN0V3WDZndFBUL0c5MFRDQVRpUzZuU2FMUkdkOWE3ZlBueW1qVnJnb09EZzRLQ1dqbjBreWRQTGwyNkpBclc4K2ZQMzd0M2I4YU1HYTI4cEtxcUtqVTE5WU1mU2xWVmRlREFnYUtINzk2OUUvMnBhQ05GUlVVNU9ibUdob1lqUjQ1b2Ftb09HemFNSUFnMm0vM3UzMXR3dDZSUG56N2tSbWhvYUdwcTZvRURCMXBmc1h2anhvMjllL2Zldkhsejh4OUVSWG5Kd3U4bVR4d2ZFNWR3UGVsRzJxMDd0WFYxdFhWMVI4SlBucjl3MlcySXM3dXI4NkNCQTNEekF2aWFkYTVnYldob3lIcWFmZVI0eEswN2Q0dUszb2h1TWEybnF6Tnh2TCtyaTVOdXI1N05kcmltVHAyYWxaVWxlcWlrcEpTUWtDQjZ5T1Z5ZCszYVJhZlRUNTQ4T1hiczJEWXVDVmhYVjVlV2x1Ymw1ZFg2M1UrTGlvcFdybHdwSlNYVnluQUVsOHUxc3JJU0Q5YUFnSURxNnVxMmxDRWkrcXR3Ky9idCsvZnZtNW1aNmVucFJVZEhiOWl3b2ZVWDNycDFpN3hLZGRDZ1FRY1BIdnp6enovWHJGbnpVWWR1U3JPYlJ0QjRmeDh2ajd6OFp4Rm56OGRjaTYrdXFhbXNxanAvOFhKOFlwSlJINE5obmg3akE4WW9LV0p4UXZnYWRaWmdyYXlxeXNuTkM5djNkMkx5RFlIZ242NmNuSnhzRDIzdFdkT25qQmptSlNmWDJwZnhrSkFRVVU1ZHZIanh5Wk1uNHMvdTJMR2pyS3hzMTY1ZFM1Y3UzYjU5ZTBoSWlQaXpDUWtKOSsvZlg3eDRjYVAzakkyTjVYQTQ3dTd1YmFsL3g0NGQvZnYzYituWkpVdVdWRlJVaUxkczNyeVp6K2MzMnEycXFtcmp4bzA4SG0vMTZ0Vk5oeXowOVBUSXp2alBQLzg4YnR5NFZhdFcvZjMzMy83Ky9xTkdqUklJQkZldVhQSHc4Q0QvWnZCNHZOT25UeDg2ZEVoUlVYSDI3Tm1pYS8vNzllczNjZUxFOFBCd1oyZG5OemUzdG55dVZ0RHBkRFUxMVlGcS9RWU82UGR5N3F6OWg0NUd4OFN5S3l1cnFxdnYzWDk0Ny83RDdidkNwbjBURk9EbnE2V2xpZmtEOEZXUmNMQTJORFM4ZkZWdzgzWjZiSHhpeXMzYjlmWDFaTHVHaHZwZyt3SHVRMXc4aDdxMlpYelQydG82UER4Y1QwL1AwZEV4T1RsWlJVVkY5RlJ5Y25KNGVQakNoUXNIREJpd2JObXkxYXRYR3hzYmp4a3pSclJEWm1ibWhRc1htZ2JyK2ZQbkNZTEl5c3JLeTh0cmVrUXZMNitlUFh1S0hqNTgrTEN1cnE2bDhzckt5aHIxWi92MTY5ZG9uNWN2WC83blAvK3BxS2pZdkhtenZiMTlLeXVoYUdob2hJU0UvUFRUVHlkT25KZzhlVEtUeWN6TnpUMTU4bVJZV05nMzMzeWpwcVlXRmhiRzUvUG56NTgvZHV6WVJ1OHpmLzc4eE1URWd3Y1BEaGt5NU1TSkU4MitmMlZsWldGaFlYaDRPRG52SWpBd3NLVktSUFIwZFg1ZHZXTGE1SW5SMStLVFUxSXpIbVJ5dWR6cW1wcWR1L2VlaWJvNDFOWEYxZG1wbjExZmRHRGhLeUhKWUMwdWVYdjB4S200aE9zdlhyNFNSYXFhbXVwWTM1RytJNGJyNnZaU1ZGQm8rMFQwRXlkT0JBUUVPRG82VmxSVUtDdi9zN2pxZ3djUFZxeFk0ZUxpTW1YS0ZJSWdmSHg4c3JPejE2OWZ6Mkt4Um93WTBjcTdQWG55SkNNamc4bGtIanAwU05USTQvRUVBZ0haS3pRM054Y1AxcjE3OTM1d0tLQ1Z3NTA1YzJiejVzMXFhbW9NQmlNbUppWW1KdWJGaXhjTEZpeG9xUmM4ZlBod05wczlldlJvUHAvLzRzVUxHbzMybi8vOEp5WW1adi8rL2JXMXRVWkdScXRYcjVhV2xuN3g0Z1haMVdXeC9wbUlKaU1qczNYclZtMXQ3WWFHaHREUTBHYmZuTVBoc05sczhsbHBhZW0yQkN2SlFMLzNuQmxUL1h4SFpENTZjdnpVNlJ1cE53VUNRVkhSbXlQaEp5OUhYek0zTXhrenltZkVNRy9NaW9NdVR3TEJXbHRiOStMVnE2UEhJMDZkT1MrYU95VXRMYVhacmRzNHY5RkJFd0xVVkZVLzRXM2Z2Myt2cXFwS25zL1IwTkFnQ0NJOVBUMDRPRmhmWDMvZHVuV2lnRjYwYUZGWldkbWFOV3RldlhvMWE5YXNsanFHWko1T21EQkJ2Q2Y3L2ZmZlYxVlZpVWV0eU1jT0JZZ1VGaFp1MkxBaEpTVmwyTEJoSzFhczhQWDFKUWhpOU9qUkd6ZHVuRE5uenVEQmd4Y3NXR0JzM014VkR4TW1UQ0JIZUpzR1gyNXVMdm1IaEhUNjlPbmV2WHVMSGhvYUdwSWJLU2twelpZMGR1ellWazVldFk3QllHaDMxOUx1cnVYbDRmYjR5ZE8vOWgxTXUzbWJYVm41dnF3c09TVXRPU1Z0MDdaZGMyZE45eHJxcXFxaUlvcDdnQzZtUTRPVncrRWtwYVJGeDhRbEp0Mm9ZTFBKUm1VbEpUdmJ2bTR1VHNNOGgycDg2cW5rbXBvYURvZERCbXRGUlVXZlBuMGlJaUwrKzkvLzZ1bnAvZjc3NzN3K1h6elhGaTllM05EUXNHL2Z2c2VQSCsvY3ViUHB1K1htNXNiR3hoSUU4ZWJORy9IMjB0SlNYVjNkWmd0SVRVMHRLaXBxcWJ6aTR1S21aOHlxcTZ2Mzc5OS8vUGh4SnBQNTg4OC9qeG8xU3ZTVW5aM2RzV1BIenAwN0Z4b2FHaFFVNU8vdi8vMzMzeXNxS25JNG5JaUlDSEtmUG4zNkRCNDhtTndPRFEwbFowZmw1ZVZObno3OTZOR2o1SUJzZG5iMnpKa3p5WDBlUG53b09yL240K09qcUtoSWpwT1ltNXVycTdmTEdYd0xjOU90RzlablBuNGNFeHVmY3ZQMjAreGNQcDlmOU9iTjJuVi9IRDErMHR0amFFL3RiZ1V2WHpLWlRDYVRTZjhYdWMxZ01CZ01ocWlGM0JiOVYveFowYmJvVFZwcUVYODVuVTRYL1ZFSG9GeUhCbXR5U3RxcW4zOTcvNzZNZk1oZ01NYU5IVDBoWUd4dlBWMmx6N3UzM2Z2Mzc4a3BUV1NQVlVWRlJWVlZkZkRnd2U3dTduNStmazMzLy9iYmI0T0RnMDFNVEpwOXR5Tkhqc2pJeUF3YU5FaDhkRlVvRkw1Ky9kckJ3YUhabDBSR1JyWXlLbHBUVTJOaFlTRmViWGg0K0tsVHAycHFhanc4UEJZc1dOQ3JWK1BaOVhRNmZlellzWjZlbmx1MmJJbU1qSXlMaS92aGh4OEdEeDVNM3JHNXZyNSt4SWdSb21CdGk5VFUxQ05IamdpRlFpNlhhMjl2cjZpb3lHYXpWNjllcmErdnYyZlBubmJxUERLWkROdSsxdGFXbHRQZWw2YmZ1Ny92NEpFSG1ZOGFHaHB5Y3ZQejhwOGI2bXFYbHJ5aDBXams5d25SaHZoMjAwWlJ1L2gvRyszV2JHT2o5bytkbFFIUWRoMGFyTlUxdGZXY2V2RVdLU2twZVhrNTVtZFBLU2VETlNjbnA2eXNyS0tpb3FTa1pNaVFJVnUzYmkwdkx5ZVRxQkZ0YlczeEVkSkdwazZkYW1Sa3BLNnV2bnIxNnJkdjMycHFhcExkMk5yYTJrYlQ1c2tiWjQwZE8zYnk1TWw2TFM5T0dCa1pXVnRiSzNxWW5wNys5OTkvMjluWkxWcTB5TkxTc3BYUHBhaW91R2JOR205djc5OSsrMjN2M3IzdTd1N2s5L2R4NDhhSjd6Wi8vbnp4aDVNblQyNzZWblBuenAwN2QyNUNRc0xTcFV2SkZtVmw1VjkvL1hYeDRzVWJObXhZdFdwVksyVjhKaHFOa0phV2xwZVRVMUZSbHBHVzV0VFhrK2N0eVpuSERhSXRTV2c2NVJuZzgzVm9zSHA3dU5IcHRDc3hjVGR2MzZtc3JCSUlCSWVQbllpNmVHV3d3MEQzSVM2dXpvNXFhcDh5dWlvNjdiNSsvWHJ5WVdSa3BJeU16T0xGaTFrc2xxMnRMWVBCbUR0M3JxT2o0emZmZkVQT2F0cThlWE5RVUpDUmtWR3o3MlpvYUdob2FFaStaMnhzTERsN05DVWxoVWFqMmRyYWluYUxpb29pZXozNit2b3BLU2t0RFZtU21Fd21lWjdkeHNiRzI5dTdSNDhlelo3T1dyeDRjZmZ1M1JzMTJ0dmJSMFJFbEpXVnRYVFoySysvL2tyMnZsKytmQmtTRXJKbHk1WWVQWG9RQlBIczJiTVZLMWEwVXBXTGk4dmt5Wk9QSGoxcVpXVkZEdTlTU3lBUVBNM09UVXk2a1pCMEkvUFJZOTYvTTh6MGUrdTV1VGdaR2VpeEs4ckpVNEpDb1ZEOHY0MGVOalEwOFBsODhqS1FsdlloTjhTM0d4b2F5Qlp5bzlIKzVIKzdkKzl1YW1wSytRZUhyMXlIQnF1Y25Oem9rVDZ1ems0NWVma25JOCtjdjNoRklCQlVzTm1YbzY5ZFQwclIwZWs1MW5la3Y1K3ZxdGhrcVRZYU9uVG9uVHQzUkE4REFnS2twS1Jldm53NWZ2ejRyVnUzT2pnNE1Kbk1HemR1a01GNi9mcjFxS2lvOGVQSE4zMGYwZVFFZ2lEVTFOUUdEUm9VRVJFeGNlSkVjdmJWNE1HRHhTZHluVDkvL3ZYcjEwM2ZSQ0FRbEpXVktTb3FObnNsQXBQSk5EYzN0N0t5S2l3c0RBZ0lhTXVuR3o1OCtOcTFhMXZwWXZmbzBZTzh2SW9jTjlUVjFTWFBWbkc1M0ErKytmZmZmMy9uenAzSXlNaVJJMGRTdStUQzAremNBMGVPcGFiZEtubjdUalNnMmIyNzF2UnZnanpkWGJXMXU1T1RXeHYrSmRxbTBXaU5Hc1gvSzk3RGJkclk3TTVOMzFEMERpd1dTK1hqLzM4RGFKMEVaZ1VvS3lzTjZHYzdvSjl0OEtMdjl4NDhrbkE5NmMyYjRwcmEycWZadWVzM2J0bHo0TkRFOGY1alJvM1EwdXdtS3l2N3NldCsxdFRVc05sc0hvOG5JeU9qcDZlbnBxWjI5ZXBWQndlSEFRTUc3TnExcTdhMlZrNU9MaTR1cmsrZlBtWm1adVJMeU4reGUvZnVIVGh3SUMwdFRUUlZpeUNJNmRPbno1bzFLekl5VWs1T3JyQ3dVUFFsbXJSLy8zNXlJeXNyNjltelp4NGVIdVNsb25sNWVZR0JnU0VoSVQ0K1BxMlUydERRd09QeGZIeDgrdmJ0MjhwdU8zYnNFTjJ2dXlYejU4OG5mMURrWjVrMGFaTDRSMnNkaThYYXVuV3Jpb29LSmFrcUZBckxLOWhQczNNT0hUdVJtSlRNNS8rVHA0cUtpa2FHQnVQR2p2YnpIZGxvdXBYNFNDaEExeURKZWF6YTNiVldMdzhPR2ovMitvM1V4T3MzN3R6TDRISzVwZS9MZHZ5MU4rTDBlYmNoVHE0dVRpNk9EaCs4QXBYTlpsKzdkaTBySyt2eDQ4ZDVlWGtCQVFIMTlmWGtxMXhkWFM5ZnZyeHExYXFCQXdkdTM3NDlJeVBEeHNibTVzMmIzMzMzbmVqbHo1OC9aN1BaczJiTjZ0V3JWNzkrL2NSUFdObloyYm01dWUzY3VWTmFXcnBmdjM3T3pzN05GbkR5NU1ta3BDUXZMeS94eHN6TXpLYURkODdPem8yK3p0dloyVFY3ZWsxazM3NTlyWDk4c3RkSlRxSXFMQ3hjdjM3OXNtWEx0TFMweUpHQlAvLzg4NE12MS96L2QxZXNxYW41dEpCOVZWQklmdXUvZVR0ZDFQZlgwdXptTkhpUXE0dXprNE85c3JMU0o3d3R3QmRId2xkZTBXaTBQb1lHaGdiNm8wZjZQSHFTOWZlUjhKUzBtd0tCc09UdDI1T1JaNi9FeE9ycjZVMmROTUhMdzYyVjY2OXFhMnMzYmRwa1lXSGg3T3k4YU5FaWEydnI2T2hvTWxqZDNOd2lJaUp1Mzc3dDRPQ2dxS2o0Nk5HamQrL2VDUVFDVVYrU3orZm41K2ZMeWNuTm16ZHYzTGh4ZS9ic2FYU2RWWEJ3c0srdmIzVjE5YzgvLzl6czBhdXFxaElTRWx4ZFhSdWRXRDk3OW14VVZGU2puVStlUE5uNjhscWZ4c3pNakJ6OEpiL1ZtcHViOSs3ZG04bGtzdGxzY3BML0I5OWgxNjVkNUJodVVWRlJhV2xwSzhNT3pTcDhYWFQwZUVUMHRiaVN0KzlFa1Nvdkx6OXh2TCtmN3dnOUhaM1dyMGdHNkdJNnhWb0JOQnBOUTEzTjFkbHhpTlBnek1kUDl2OTk1TTdkak5MM1pXeDI1ZjJIbWZjZlpocm85NTQyZWFLcmk2Tm10MjVTVGE0NjE5YldUa3BLRXMrMXVybzZNb2p0N094c2JXMkZRaUdkVG8rSWlORFUxSncyYlpxRGc0Tm81aWFUeWR5NWM2ZEFJREF3TUdoYVdHRmhZVWhJQ0oxT1YxQlFXTEZpeGFKRmk4YU1HZE9vTjNmZ3dJSHE2dXJZMk5oSmt5YUp6K1JmczJaTjYwTUJueXduSjZlNHVGaEhSNmVsSFo0OWV4WVlHQ2dsSmNYbGNuVjBkTWplS3preUVCOGZUMDdJRmI5a2dDQ0lnb0tDbUpnWWN0dk16S3oxTmNCRTcxWlZYVjFZK1BwWVJPVEZTMWVyL3AyOUpDY25xOU9yMTRoaG5sT0NBcFdVMEVXRnIxR25DRllSR28xbWJXbXgrYy9mSHo1NmNqMzVSbUpTeXNOSGp3bUNlUGI4eFpwMWYvUXhOSEJ6Y1hKMWNlcG4yN2RSdklxbmFsbFpHWi9QSi90dVRDWlQ5RlZhVTFQeitmUG5tWm1aamI0ZE56dE5TaUFRUkVaRzd0eTVrOGxrN3RpeG8xZXZYc3VYTC8vOTk5L0R3OE9uVHAzcTdlMU5GcENSa1JFZUhqNXo1c3pIangvUG1qVnI1Y3FWalFZRVBxaTh2THlnb0tDVkhScXRMcGlYbHpkMzdsdzFOYldrcEtTSWlJaVJJMGV1WGJ0VzlCRjBkSFIyN2RwbFlXSHgwMDgvOFhnOGFXbnBJVU9Ha0g4Skdob2FmdnZ0dDh1WEwrdnA2YTFhdGVxLy8vMnYrTFNFZGV2V3JWNjlXaWdVc2xpc3R2UnczNWVWWFU5T0piLzQxOVRVa0kyS0N2S0RCOWtQY1hGMGRYYnFycVg1b2ZjQTZMSm9FcHhDMkRxQlFGQlZWWjN4SUhQbjdqMzNIejRpNjZUUmFBb0s4aFptcG5ObVRoL2k5UCtteDU4NWMwWWdFRWhMUzErN2R1MzI3ZHZyMXEzYnVIRmpvL2ZrY3JuVjFkV2lFelV6Wjg1c2REMW9hR2pvNmRPbjE2MWJ0MzM3OXJ5OHZFR0RCcTFaczRiczhRa0VncE1uVCs3ZHU3ZXlzbEpSVVhINTh1VUdCZ2JmZmZlZHRyYjJ3WU1IYTJ0clY2MWFsWnFhcXFPalkycHFldTNhdGJGang0cm1acEhUZmZoOFBwL1BWMU5UOC9Ed0lEdUo0bXZCdEdMNDhPRy8vZlliT1YwM01EQlFXbHI2OE9IRDU4NmQyN1ZybDVtWm1aT1RVN2R1M2FTa3BCZ01odWdpSlI2UHgrZnplVHdldWRHM2I5KzdkKzl1MmJKbHhvd1pVNmRPWGJCZ3djT0hEd2NNR0dCcmE2dW1wc1ppc2NqTG44aXJrcmhjYm4xOWZYMTlQYmt4YnR3NFJiSEZVeXJZbGVFblQ0V2ZqSHhmVmk3NjFpOHJLK003d3VmYnFaTjZhbXZqV3o5QTUrcXhpbU13R0NvcXltNURuSndHMnllbjNOeC82RWhPYmw1NUJidXFxdnJtN2ZTYnQ5T3RMUzIrblRwNVlIODd6VzRhZERyOXpwMDc1SmRaRlJXVlpjdVcyZGpZekprenAvVkR0TFF3Q3B2TnJxbXArZjMzMzhuRnBFWDFCQVVGK2ZyNm5qcDFLaTB0VFY5ZmYvcjA2ZDI2ZGR1NGNTT1R5VlJTVXRxeFkwZGlZdUxseTVlenNyS2twYVhQbkRsejVzeVpwbTgrZCs1YzhZZXpaczFxZlFVLzhjbi9LaW9xNnVycTY5YXRVMWRYbnpGamhvV0ZSVVJFUkZSVVZGbFpXZXN6QjA2Y09HRnJhK3ZtNWpadjNqd2FqYlozNzk0TEZ5NWN2WHIxN05temJEYWJ5K1cyOVBmVjBORHcyMisvSlVkWENsOFhYYm9TRXg0UldmcnZ0WE5TVWxKYW10MWNYWnltVFo2bzM3dkY2eU1BdmphZHQ4ZmFpRkFvdkp2eElPbEc2dFhZK0x6OFoyUWprOGswTWVyajZERFF5OFBkeXNLY3dXQUlCQUpLcnM0VUNBUWZ2Q0RucjcvK0Nnd01WRk5UYS9aWjhkbnA1QlIzc2wxR1JvWjg1NGFHQmk2WFMvWVQyMTVZZFhXMWdvSkNzMC94L2tYTzNLVFJhR1RIbkU2bmsyZk0rSHgrUzlmZENnUUNIbzlISnF6NFpmVk1Kck9DelU2K2tScVhtSngyNi9hNzB2ZmsvZ3dHdzluUndjTjlpTE9qZzg1SG51a0M2UEsrbUdBbDhYaDhkbVhsdGJpRTNmdi9MaWdvSkJ0cE5KcUtpdktBZm5aTEZuNW4zTWRRMGpWMkhVS2g4R1RrMmFNbklsNitLcWl0L1dlMVdSYVQ2ZVRvOE1QOHVYcDZPaCsxcmlQQTErTUxDMVlSRG9jVGRlbkt5Y2h6ZWMrZVZWWDlieldOb1c1RHBnUUZtcHVacXFvbzQ5YXRuNGJINHhXOUtiNmVuTHJ2NzhPRnIvOVpzb3ZKWkhiVFVMZnRhejE5eWlRN0cydmtLVUFydnRSZ0pWVlZWYWZmeTdoK0l6VXVJZW4xdjZ2MlNVdEw5N1d5ZEhGeThQWndOOUR2alFob3U3cTZ1dHZwOTY3Rko2YWszU29vS0JRMk5KQXJWRmxiV25oNXVMczREVFl4Nm9NK3Y2RkZBQUFINEVsRVFWU2ZKOEFIZmRuQlN1Snl1Y1VsYnk5Y2p0NjFaMzlkSFlkc1pER1pLaXJLUTEySHpKazFUYS9sS1o5QUVncUZDVW5KZXc4Y3pzck9FZjhHWU52WCtydlozOXJaOWxWU1ZNUXFVQUJ0MUJXQ1ZhUzJydTVFeE9rck1iSFpPWG5WLzA2dWxKZVQ4L1owRC9BYmJkVEhRSldpSytLN0RCNlA5N3JveloyN0djZE9SRHg4OUw4N01QYnNvVzF0WlRFaFlLelQ0RUhvb2dKOHJDNFZyS1IzNzBwdnB0OU51SjU4UFNtbC9OOGJCOGpKeVE0YTJOL1YyY25iY3lodWVVL0tlSkFaRXh1ZmRDTTFKeStQdkRNdW5VN3ZZNkR2NWVFK3hIbXdoWmxwRys4VERnQ05kTUZnSmZGNC9MZnYzaDA2ZXZ6b2lWTWN6ai9qQXd3R1ExWldadUw0Z05uVHA2aXJOejlOcXNzVENvWHA5KzV2M2hiNjhQSGordnIveldEdDJVTjc2US9mdXcxeFZwQ1hSNzhlNEhOMDJXQVZLU3dxT240eU1pRXA1ZVdyVjZJUldBMTFOVC9ma1Q3ZW5nWUd2UlhrNWIrR2I3c0NnYURrN2J2c25Od2p4eU5TVW0rSzFweldVRmN6TlRIMjh4M3A1OXZhYldzQm9PMjZmckNTQ2d1TGJxU2x4Y1pmVDA1SkUyV0t1cnFhNHlCN2QxZG5WMmVuejd6cFZpZjM3UG1McTdIeENkZVRNeDVraXRhYzF1NnU1ZUh1T3RUVnhkYkdXckdGaXc0QTRCTjhMY0ZLcXVkeVg3OStzMzNYN2lzeGNmL1gzcjMvTkhYR2NSd0hXNUNsVUoxUU55NEZsVkoxNDlLV3F3S0NpR0NseXQxTGxFeW5NM0hPeGN4bCt3OWNvaHZiTkpLTXhDV0x5NXlTZ1pYYVdxeUFJQ2hZT2dSS3JTSVhMeFNJSUZkcHdiYjc0WXdUdkFRdlBBV0J6K3ZISjZTY2x1Uk5lMDdQOTZIdkFYVndZQzdtY0Q3L2JHZlc5aTBUYkFnNFF6VzN0QjdQeVZVVmx4cE5KbnFleTJLTzI5NWRXUm1weWM3T3JObjNsQUdtM2R3S0s4VnF0VFpvZGFmUG5GTnIvbTF2TjR5TUZkYlR3MzNIdHN6WTZLaWxTMzNtdnpTY2NHYnA3dW5SMzJuS2w4cmt5aUxqMkFhT0N4YXdsM2g3SjRrVE1sSTJMMXk0NEhXUEFRRHZhQzZHbGRiYzJsWlZyWllwbE5WcURmVUIyZDdlM3Yzamo0S0ZncVFONnlOWFI3QnNNSlRhcHF4VzY4TjJnK0xTNVpLeThnYXRibWhzYTFobkZpdEpuSkFZSHljU0N0Z3UrTlFQWUZ0ek9xeFVpVXdtVTcxVzk5T3ZKMi9XYU9oWHc5SFJrYy96L1hMZm5nMEo2NmI3R04vVXdNREF5ZDlPRlZ5UTlUenBwVStrdXJnNFo2YWw3UDlpTjl1RjdURHBiY1lCNEUzTTliRFNMQlpMbGJxbTRMeXNwdlpXYTl0OSttVlp3ZmZMVEV1T0NBLzFYYnJrNWMwTDNnZTlmWDNheHR0RlYwcitLYmp3ZFBqL1VTa3NGb3ZQV3hZVEhaV1J1dG5EL2NYOXRBSEFwaERXNTR5TWp0NjllNi9pUmxYaHhVczYvUjNxYWcrRHdWamk0eDBhTEV6ZG5DUVVCREhmanpzN3JWWnJiMitmb2tpbEtybGEzNkR0N25sQ3JYL2c1TFFtT2xJaVRnZ1dDakRHSDJCYUlLeXY5dXpaczZ2bGxVZU9acmUwdFkxZkR3cncvLzd3MStHaElkUDcxZGRoby9IMFgyZHpmLytqWjZ5bjFEOEF5Y2JFYnc0ZTRIcDVUT094QVFEQ09oR3oyVngwcGFSUXJyeFZWMi9vNktRV0dReEdlR2h3Um1weVVLQS8xOU5qS3IrdU5EUTBkS2ZwWHRtMXlyTjVCUjFkWGRTaWd3T1Q1N3RzVlhqWXRveFVudThydGtRRWdDbUdzTDdlNE5CUW8wNWZjZjNHK1VMNWc0ZVBxRVVtazdsaU9UOHlJaXd0V2VKbisrbmFvNk9qbDR0TGxhcmlHazF0dTZHRFduUjBjQWdMRFphSUUwTkVBaDl2THFaUEFid25FTmEzWURLWjh2S2x4M055SDNkM2oxK1BYeHY3N2FFRGZqeGZXNXdmR0JrWlVSU3BqbVlmcDk4eVU4S0NoZDhkUGlRU0JCTC9qUUF3U1Fqcld4c2NISkxLNU1yTHhUcTlmdndsbzNWcll6WWxiUWo0ZE9WaURtZnlRMHlNUmxOclcxdTFXdk4zWHI3K2JoUDFaMkl3R0Z3dnp4Q1JZRXQ2YW9oSVFPTFpBQUI1Q09zNzZoOFkxTjNXRjVlVzVlVkxlL3Y2cUVVbnAvbDhIaTg2Y2xWbVdySTMxK3ZkSHRsc05wZFgzSkRLTG1wcTYrZ3pEL2IyOWtFQi9wbnB5YUVpb1RlWDYraElZTU5FQUxBUmhIV3luZzRQNStTZSt2UE11ZjcrQVhyUnljbHBhM3JLd2YzN0ZpMzY4TTBmeW1LeDNGUnJmdmp4NS9FenArM3M3SmI3OFE0ZittcGQ3SnE1TUlVTFlCWkFXTW5vN09xU3laV2w1UlVOamJxK3ZuNXEwWm5GRWlmR3g4ZkZpb0lDSnhqL2FqYWJtNXBicXRVMTBrSkZiVjA5OWVYWmVmUG1jYjA4aFVHQktaczJob2VGelBUWkJRQnpDc0pLMHVQdW52b0dyYUpJSlZNb3g0OCs0Zk44RStMamtpVmlOOWZuTmkrd1dDeTM2clg1NXk5VTEyaGFXKy9UOHd4OXVGNlo2U2xScXlPVzgvMlFWSUFaQjJHMUNVTkg1N0ZmVHNnVlJmVG9MRHM3T3pjMzE3MjdzblpuN2FEdTJYL3c4TkdSWTltcTRxdjBmZjNVak5UOSsvYnMzSlk1VFFjT0FBUWdyRGJVM05JcWxjbXZWVlpwRzNWMFlWMWRGOFd2alRGMGRKWmRxNlIva3VQbUZ1RC9pVVNjR0JjVHhXYXpwKytRQVlBQWhOVzJMQlpMdThGUVc5Y2dMWlNYVlZ3ZkhmY0dsc0xodUtaSU5zYkZ4cXhjd1dlN3pPWmREQURtRG9SMTZqUm9kZGtuY3FwdXFvMUdFNVBKWkxzNDc5eStkZSt1TEJacmhrMTlCWUNKSWF4VHJiYXVYcTVVZWJxN0o0blh2M0F0Q3dCbUI0UVZBSUF3YkI4UEFFQVl3Z29BUUJqQ0NnQkFHTUlLQUVBWXdnb0FRQmpDQ2dCQUdNSUtBRUFZd2dvQVFCakNDZ0JBR01JS0FFQVl3Z29BUUJqQ0NnQkFHTUlLQUVBWXdnb0FRQmpDQ2dCQUdNSUtBRUFZd2dvQVFCakNDZ0JBR01JS0FFQVl3Z29BUUJqQ0NnQkFHTUlLQUVBWXdnb0FRQmpDQ2dCQUdNSUtBRUFZd2dvQVFCakNDZ0JBR01JS0FFQVl3Z29BUUJqQ0NnQkFHTUlLQUVBWXdnb0FRQmpDQ2dCQUdNSUtBRURZZjMvY3RKRWt2WWwrQUFBQUFFbEZUa1N1UW1DQyIsCgkiVGhlbWUiIDogIiIsCgkiVHlwZSIgOiAiZmxvdyIsCgkiVXNlcklkIiA6ICI5MDg3OTM4MzQiLAoJIlZlcnNpb24iIDogIjIwIgp9Cg=="/>
    </extobj>
  </extobjs>
</s:customData>
</file>

<file path=customXml/itemProps1.xml><?xml version="1.0" encoding="utf-8"?>
<ds:datastoreItem xmlns:ds="http://schemas.openxmlformats.org/officeDocument/2006/customXml" ds:itemID="s:customData">
  <ds:schemaRefs>
    <ds:schemaRef ds:uri="http://www.wps.cn/officeDocument/2013/wpsCustomData"/>
  </ds:schemaRefs>
</ds:datastoreItem>
</file>

<file path=docProps/app.xml><?xml version="1.0" encoding="utf-8"?>
<Properties xmlns="http://schemas.openxmlformats.org/officeDocument/2006/extended-properties" xmlns:vt="http://schemas.openxmlformats.org/officeDocument/2006/docPropsVTypes">
  <TotalTime>0</TotalTime>
  <Words>1129</Words>
  <Application>WPS 演示</Application>
  <PresentationFormat>Widescreen</PresentationFormat>
  <Paragraphs>80</Paragraphs>
  <Slides>8</Slides>
  <Notes>1</Notes>
  <HiddenSlides>0</HiddenSlides>
  <MMClips>0</MMClips>
  <ScaleCrop>false</ScaleCrop>
  <HeadingPairs>
    <vt:vector size="6" baseType="variant">
      <vt:variant>
        <vt:lpstr>已用的字体</vt:lpstr>
      </vt:variant>
      <vt:variant>
        <vt:i4>28</vt:i4>
      </vt:variant>
      <vt:variant>
        <vt:lpstr>主题</vt:lpstr>
      </vt:variant>
      <vt:variant>
        <vt:i4>1</vt:i4>
      </vt:variant>
      <vt:variant>
        <vt:lpstr>幻灯片标题</vt:lpstr>
      </vt:variant>
      <vt:variant>
        <vt:i4>8</vt:i4>
      </vt:variant>
    </vt:vector>
  </HeadingPairs>
  <TitlesOfParts>
    <vt:vector size="37" baseType="lpstr">
      <vt:lpstr>Arial</vt:lpstr>
      <vt:lpstr>SimSun</vt:lpstr>
      <vt:lpstr>Wingdings</vt:lpstr>
      <vt:lpstr>汉仪书宋二KW</vt:lpstr>
      <vt:lpstr>Microsoft YaHei</vt:lpstr>
      <vt:lpstr>汉仪旗黑</vt:lpstr>
      <vt:lpstr>Times New Roman</vt:lpstr>
      <vt:lpstr>SimHei</vt:lpstr>
      <vt:lpstr>汉仪中黑KW</vt:lpstr>
      <vt:lpstr>Tahoma</vt:lpstr>
      <vt:lpstr>Century Gothic</vt:lpstr>
      <vt:lpstr>苹方-简</vt:lpstr>
      <vt:lpstr>SimSun</vt:lpstr>
      <vt:lpstr>Arial Unicode MS</vt:lpstr>
      <vt:lpstr>幼圆</vt:lpstr>
      <vt:lpstr>Microsoft YaHei</vt:lpstr>
      <vt:lpstr>SimHei</vt:lpstr>
      <vt:lpstr>Wingdings</vt:lpstr>
      <vt:lpstr>汉仪正圆-75W</vt:lpstr>
      <vt:lpstr>汉仪正圆 55简</vt:lpstr>
      <vt:lpstr>BatangChe</vt:lpstr>
      <vt:lpstr>Apple SD Gothic Neo</vt:lpstr>
      <vt:lpstr>DejaVuMathTeXGyre</vt:lpstr>
      <vt:lpstr>DejaVu Math TeX Gyre</vt:lpstr>
      <vt:lpstr>Calibri</vt:lpstr>
      <vt:lpstr>Helvetica Neue</vt:lpstr>
      <vt:lpstr>Calibri</vt:lpstr>
      <vt:lpstr>SimSun</vt:lpstr>
      <vt:lpstr>Default Design</vt:lpstr>
      <vt:lpstr>PowerPoint 演示文稿</vt:lpstr>
      <vt:lpstr>核心问题</vt:lpstr>
      <vt:lpstr>不同边界条件的影响</vt:lpstr>
      <vt:lpstr>公式修正</vt:lpstr>
      <vt:lpstr>PowerPoint 演示文稿</vt:lpstr>
      <vt:lpstr>PowerPoint 演示文稿</vt:lpstr>
      <vt:lpstr>子结构法</vt:lpstr>
      <vt:lpstr>PowerPoint 演示文稿</vt:lpstr>
    </vt:vector>
  </TitlesOfParts>
  <Company>Guild Desing Inc.</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ThemeGallery PowerTemplate</dc:title>
  <dc:creator>www.themegallery.com</dc:creator>
  <cp:lastModifiedBy>酸菜馅饺子</cp:lastModifiedBy>
  <cp:revision>2170</cp:revision>
  <dcterms:created xsi:type="dcterms:W3CDTF">2026-04-02T09:27:36Z</dcterms:created>
  <dcterms:modified xsi:type="dcterms:W3CDTF">2026-04-02T09:27:36Z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81BED8106B4DB7BE062FCE699721D4BC_43</vt:lpwstr>
  </property>
  <property fmtid="{D5CDD505-2E9C-101B-9397-08002B2CF9AE}" pid="3" name="KSOProductBuildVer">
    <vt:lpwstr>2052-12.1.25205.25205</vt:lpwstr>
  </property>
</Properties>
</file>