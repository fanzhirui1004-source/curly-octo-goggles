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1017" r:id="rId3"/>
    <p:sldId id="1018" r:id="rId11"/>
    <p:sldId id="1019" r:id="rId10"/>
    <p:sldId id="1020" r:id="rId9"/>
    <p:sldId id="1021" r:id="rId8"/>
    <p:sldId id="1022" r:id="rId7"/>
    <p:sldId id="1023" r:id="rId6"/>
    <p:sldId id="1024" r:id="rId5"/>
    <p:sldId id="1025" r:id="rId18"/>
    <p:sldId id="1026" r:id="rId19"/>
    <p:sldId id="1027" r:id="rId20"/>
    <p:sldId id="1028" r:id="rId21"/>
    <p:sldId id="1029" r:id="rId22"/>
    <p:sldId id="1030" r:id="rId23"/>
    <p:sldId id="1031" r:id="rId24"/>
    <p:sldId id="1032" r:id="rId25"/>
    <p:sldId id="1033" r:id="rId26"/>
    <p:sldId id="1034" r:id="rId27"/>
    <p:sldId id="1035" r:id="rId28"/>
    <p:sldId id="1036" r:id="rId29"/>
    <p:sldId id="1037" r:id="rId30"/>
    <p:sldId id="1038" r:id="rId31"/>
    <p:sldId id="1039" r:id="rId32"/>
    <p:sldId id="1040" r:id="rId33"/>
    <p:sldId id="1041" r:id="rId34"/>
    <p:sldId id="1042" r:id="rId35"/>
    <p:sldId id="1043" r:id="rId36"/>
    <p:sldId id="1044" r:id="rId37"/>
    <p:sldId id="1045" r:id="rId38"/>
    <p:sldId id="1046" r:id="rId39"/>
    <p:sldId id="1047" r:id="rId40"/>
    <p:sldId id="1048" r:id="rId41"/>
    <p:sldId id="1049" r:id="rId42"/>
    <p:sldId id="1050" r:id="rId43"/>
    <p:sldId id="1051" r:id="rId44"/>
    <p:sldId id="1052" r:id="rId45"/>
    <p:sldId id="1053" r:id="rId46"/>
    <p:sldId id="1054" r:id="rId47"/>
    <p:sldId id="1055" r:id="rId48"/>
    <p:sldId id="1056" r:id="rId49"/>
    <p:sldId id="1057" r:id="rId50"/>
    <p:sldId id="1058" r:id="rId51"/>
    <p:sldId id="1059" r:id="rId52"/>
  </p:sldIdLst>
  <p:sldSz cx="12192000" cy="6858000"/>
  <p:notesSz cx="6858000" cy="9144000"/>
  <p:embeddedFontLst>
    <p:embeddedFont>
      <p:font typeface="DejaVu Math TeX Gyre" panose="02000503000000000000" charset="0"/>
      <p:regular r:id="rId17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8AF38A"/>
    <a:srgbClr val="FBF0DD"/>
    <a:srgbClr val="00CC00"/>
    <a:srgbClr val="008000"/>
    <a:srgbClr val="DDFADD"/>
    <a:srgbClr val="B9F5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4" autoAdjust="0"/>
    <p:restoredTop sz="87347" autoAdjust="0"/>
  </p:normalViewPr>
  <p:slideViewPr>
    <p:cSldViewPr showGuides="1">
      <p:cViewPr varScale="1">
        <p:scale>
          <a:sx n="107" d="100"/>
          <a:sy n="107" d="100"/>
        </p:scale>
        <p:origin x="864" y="160"/>
      </p:cViewPr>
      <p:guideLst>
        <p:guide orient="horz" pos="222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6331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ustomXmlProps" Target="../customXml/itemProps1.xml"/><Relationship Id="rId16" Type="http://schemas.openxmlformats.org/officeDocument/2006/relationships/customXml" Target="../customXml/item1.xml"/><Relationship Id="rId17" Type="http://schemas.openxmlformats.org/officeDocument/2006/relationships/font" Target="fonts/font1.fntdata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一次含灵敏度的八胞元点阵分析耗时（s）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NICE（一块 GPU）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Sheet1!$A$2:$A$3</c:f>
              <c:strCache>
                <c:ptCount val="2"/>
                <c:pt idx="0">
                  <c:v>2×2×2（4 胞元切割）</c:v>
                </c:pt>
                <c:pt idx="1">
                  <c:v>3×3×1（3 胞元切割）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79.2</c:v>
                </c:pt>
                <c:pt idx="1">
                  <c:v>105.5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直接解，16 线程</c:v>
                </c:pt>
              </c:strCache>
            </c:strRef>
          </c:tx>
          <c:spPr>
            <a:solidFill>
              <a:srgbClr val="7F7F7F"/>
            </a:solidFill>
          </c:spPr>
          <c:cat>
            <c:strRef>
              <c:f>Sheet1!$A$2:$A$3</c:f>
              <c:strCache>
                <c:ptCount val="2"/>
                <c:pt idx="0">
                  <c:v>2×2×2（4 胞元切割）</c:v>
                </c:pt>
                <c:pt idx="1">
                  <c:v>3×3×1（3 胞元切割）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867.8</c:v>
                </c:pt>
                <c:pt idx="1">
                  <c:v>1041.6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常规精确凝聚，16 线程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Sheet1!$A$2:$A$3</c:f>
              <c:strCache>
                <c:ptCount val="2"/>
                <c:pt idx="0">
                  <c:v>2×2×2（4 胞元切割）</c:v>
                </c:pt>
                <c:pt idx="1">
                  <c:v>3×3×1（3 胞元切割）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950</c:v>
                </c:pt>
                <c:pt idx="1">
                  <c:v>1218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直接解，单线程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Sheet1!$A$2:$A$3</c:f>
              <c:strCache>
                <c:ptCount val="2"/>
                <c:pt idx="0">
                  <c:v>2×2×2（4 胞元切割）</c:v>
                </c:pt>
                <c:pt idx="1">
                  <c:v>3×3×1（3 胞元切割）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5863.9</c:v>
                </c:pt>
                <c:pt idx="1">
                  <c:v>8131.0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每次设计迭代耗时（min）随胞元数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每次设计迭代（min）</c:v>
                </c:pt>
              </c:strCache>
            </c:strRef>
          </c:tx>
          <c:spPr>
            <a:ln w="31750">
              <a:solidFill>
                <a:srgbClr val="0070C0"/>
              </a:solidFill>
            </a:ln>
          </c:spPr>
          <c:marker>
            <c:size val="9"/>
            <c:spPr>
              <a:solidFill>
                <a:srgbClr val="0070C0"/>
              </a:solidFill>
            </c:spPr>
          </c:marker>
          <c:cat>
            <c:strRef>
              <c:f>Sheet1!$A$2:$A$5</c:f>
              <c:strCache>
                <c:ptCount val="4"/>
                <c:pt idx="0">
                  <c:v>24</c:v>
                </c:pt>
                <c:pt idx="1">
                  <c:v>51</c:v>
                </c:pt>
                <c:pt idx="2">
                  <c:v>88</c:v>
                </c:pt>
                <c:pt idx="3">
                  <c:v>110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9.1</c:v>
                </c:pt>
                <c:pt idx="2">
                  <c:v>16.0</c:v>
                </c:pt>
                <c:pt idx="3">
                  <c:v>19.4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 i="0">
                    <a:solidFill>
                      <a:srgbClr val="595959"/>
                    </a:solidFill>
                    <a:latin typeface="Arial"/>
                    <a:ea typeface="Microsoft YaHei"/>
                  </a:rPr>
                  <a:t>胞元数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8A8E8E4-9E6C-4A57-865F-D85E807DFE7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0483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t>老师好。今天汇报 P1 的定稿情况：问题和相关工作、方法、结果，以及投稿计划和后续工作思路。</a:t>
            </a:r>
          </a:p>
        </p:txBody>
      </p:sp>
      <p:sp>
        <p:nvSpPr>
          <p:cNvPr id="2048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312656B-DCF6-4E74-B3C7-059311E4196A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先说结论。我们的学习模型保留每个胞元全部胞元边界面和切割带自由度，约两万四千个，但保住了静力凝聚的结构：对称半正定、刚体零空间、被精确 Schur 补从下方界住。四个数字：单胞平均能量误差 0.074%；两胞元装配柔度 0.27%、灵敏度 1.49% 以内；八胞元分析约为 16 线程直接解的十分之一时间；切割固支板上均匀化低估柔度 27%。和 PIML 系列的取舍不同：他们缩减边界换规模，我们保留完整边界、只近似内部，换来精度和对灵敏度的可追溯性。目标期刊 CMAME。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汇报分六部分：问题与相关工作；问题设定，也就是离散模型、精确凝聚和四项要求；误差理论；NICE 的构造；数值结果；最后是投稿计划和后续工作思路。方法和结果部分会讲得细一些。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关心的结构：梯度点阵、按零件外形切割的点阵、在切割面上支撑或加载的芯材。矛盾在于：整体太大，每次设计迭代都重算一遍不现实；但驱动设计的量是局部的，比如支撑旁切割胞元的刚度、某处壁厚的灵敏度。左图是四个代表性胞元：未切割、中度切割、两个重度切割，保留体积从 100% 到 2.6%。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均匀化依赖尺度分离，在支撑、载荷和切割胞元处失效，我们切割板上低估 27%。全分辨率每次迭代都全额重付，八胞元已经两百万自由度、Cholesky 因子 66 到 81 GiB。精确凝聚每个几何要一次内部分解。学习子结构，比如 PIML 系列，是第四条路，下一页把相关工作放在一起看。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先把相关工作放在一张表里。按论文引言的逻辑，组件模型大致有五条路线：均匀化与多尺度有限元；组件约化基和端口约化；面向点阵的凝聚与区域分解；学习子结构和学习单元，PIML 系列是其中发展最充分的一支；以及把学习用在求解器里的工作。区分它们的三个问题是：保留什么、组件怎么表示、近似在哪里改进。我们的位置在最下面一行。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PIML 系列和我们都是学习子结构，但取舍相反。他们每个子结构保留少量边界自由度，换来很小的粗模型，规模做到十亿单元、应用很广；代价是有一部分与网络无关的边界误差，他们用分区加密、边界增强、过采样来控制，系列里也没有报告灵敏度误差。我们保留完整的边界，误差只在内部延拓里、可以校正，点阵上柔度 0.015%、灵敏度 0.14% 以内；代价是粗模型大，目前规模到 110 胞元。两条路线的交汇点是：他们 CMAME 2026 也试过保留全部边界节点，成本更高，在较大的子结构上精度也更低，所以没有采用。我们的网络规模不随保留自由度增长，回应成本问题；固定校正减小网络留下的误差，回应精度问题。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先交代问题设定。单胞在单位立方体里，材料域由 Schwarz-P 型水平集的一条带定义，带宽由八个角点参数三线性插值，可选一个平面切割。离散用笛卡尔背景网格上的 Q2 单元，每轴 32 个单元，加 ghost 罚项稳定小切割。要强调的一点是：本文所有误差都相对于这个离散系统的精确解度量，不是相对于连续问题。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保留自由度包括激活的胞元边界面自由度，以及切割带，也就是被切割面穿过的那一层单元的全部自由度。切割带保留下来，切割面上的支撑和载荷就能直接施加。精确凝聚是标准的 Schur 补。难点在规模：一个胞元中位保留两万三千多个自由度，显式形成 Schur 补要对每个保留自由度做一次内部求解；而设计每迭代一次，每个胞元的几何都变，内部分解都得重做。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替代静力凝聚，学习模型需要满足四项要求：可组装，也就是对称半正定且零空间只有刚体模态；对新几何不需要内部分解，即使切割改变了离散空间；误差能追到柔度和设计需要的局部灵敏度；部署时不重训就能改进。右边一列是本文分别靠什么满足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第一个关系是 Ritz 恒等式。任何容许延拓 F，只要保留行是单位阵，和精确延拓的差别只在内部，记为 H。内部平衡消去了交叉项，所以近似凝聚刚度减精确 Schur 补正好等于 H 转置 A H，半正定，没有一阶项。方向能量误差可以用内部残差表示，残差不需要参考解就能算，只是取 A 逆范数要一次内部求解。这是经典结果，对 PIML 用 N 转置 K N 的形式同样成立。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第二个关系：装配后柔度的低估量，等于重构误差的总能量，分成保留解的变化和内部不平衡两部分。再定义每个胞元的能量份额 w，和它在精确迹处的能量误差 ε，柔度相对误差就被 β 界住，β 是份额加权的能量误差之和。意思是：一个胞元局部场不准，但它承担的能量很少，柔度照样准。比如 U1/x 一个邻胞元载荷下，NICE 目标胞元份额 0.127%、能量误差 0.0575%，β 给出 7.33×10⁻⁵%，观测 7.31×10⁻⁵%，但这个胞元的灵敏度误差是 0.598%，约为柔度误差的 8200 倍：份额折扣贡献约 780 倍，灵敏度只以根号 ε 的阶受能量误差控制，又贡献约 10 倍。基础网络在同一载荷下局部误差 2.31%，柔度误差只有 0.003%，灵敏度误差却有 5.83%。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第三个关系是灵敏度。精确柔度灵敏度是负的 u 转置 K 导数 u；我们用重构场代入，得到场基估计。两者之差有一个线性交叉项和一个二次项。内部平衡只保证 K u 的内部分量为零，不保证 K 导数乘 u 的内部分量为零，所以线性项一般存在；能量误差减小，灵敏度误差不一定单调减小。代理柔度的完整导数还多一项，耦合延拓的设计依赖和内部残差；本文报告的是场基估计，它估计的是精确灵敏度。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误差链有四环。第一，Ritz 恒等式：近似刚度减精确刚度等于 H 转置 A H，半正定，误差二次。第二，装配柔度误差按各胞元能量份额加权，所以份额小的胞元可以让柔度看起来很准。第三，灵敏度里有一个一次项，能量误差管不住它。第四，能量误差分解成 δ 平方乘 κ：约 1% 的位移误差落在刚性方向上，放大成 1.8% 到 35% 的能量误差。所以判据必须是柔度和灵敏度同时准。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我们的核心想法就三处放置：近似只放在内部延拓上；保留完整的迹；刚度用能量形式 F 转置 K F。由构造就得到对称半正定、刚体零空间、被精确 Schur 补从下方界住，误差是内部误差的二次型，这些对任何输入都成立，不依赖网络训练得好不好。再加一个固定的两重网格校正，在给定条件下不会增大误差。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构造的第一部分是力学对象。延拓 F 等于校正 𝒲 作用在网络延拓上；凝聚刚度取能量形式 F 转置 K F。施加这个算子时，必须先算 K F q，再乘完整延拓的转置，包括刚体重构、保留值恢复和校正的转置。分块写出来第二项是把内部残差的功传回保留自由度，平衡场时为零，否则必须保留，返回的力才是能量的导数。对称半正定只来自 K，不要求网络里的收集、散布或网格传递对称。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校正为什么要两层。把内部误差在 Jacobi 缩放的模态上展开，看误差能量落在哪些模态上。M1 一致面力下，最低 200 个模态含 24.5% 的误差能量，但只含 4.87% 的精确场能量，而且全部低于光滑区间下端 a 等于 0.173。Chebyshev 光滑在 a 到 b 的区间上衰减误差，对低于 a 的模态衰减很慢，所以需要互补的粗网格校正。H2 不一样，200 个模态里只有 66 个低于 a，光滑就够了很多。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粗网格校正是在当前内部场加上粗空间的范围上极小化能量，消除的能量正好是 b 转置 A_c 逆 b。主粗空间是 17 的三次方顶点网格上限制在内部自由度的三线性函数，不动保留值。把粗校正放在两个光滑阶段之间，就是两层循环，也就是方法里的 𝒲。如果粗求解精确、光滑在 A 范数下不扩张，就有 S 不大于 Ŝ 不大于 Ŝ_net：校正不会让误差变大，柔度向参考解靠近。排序有保证，减小多少没有保证，要实测；这个排序也不能推广到灵敏度。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固定网络、只加校正。H2 从 35% 降到 0.205%。M1 只做 Chebyshev 光滑降到 4.69%，因为它的误差有一大块落在光滑区间以下的低频模态，要靠粗网格校正，加上后到 0.186%。同一校正作用在零初值或调和延拓上远远不够，网络仍承担绝大部分精度。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网络学习的是内部平衡映射 q 到负 A 逆 K_IP q。先把刚体运动分离出去，网络只延拓变形部分，所以刚体重构和训练精度无关。几何分支是非线性的：单元矩描述材料分布，节点特征标识保留、切割带、弱支撑和局部刚度，编码后由系数头给出局部相互作用、网格传递和卷积的权重。位移分支是线性的：把保留位移提升到 32 个通道，用 27 槽模板上的局部相互作用和 65、33、17、9 的U 形网格层级传播。权重作用在模板、通道和层级上，不对应单个自由度，所以一个约六十万参数的网络服务所有保留集。最后加回刚体场、恢复保留值，容许性和刚体再现由构造保证。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训练用保留位移方向来考察延拓：多项式和多尺度位移提供空间内容，节点力、一致面力、弹簧支撑和邻胞元作用下的响应提供力学方向。每个方向去掉刚体分量后用参考解归一化。目标函数是预测能量和参考能量之比的对数平均，加一个灵敏度项。由 Ritz 恒等式，能量项的最小值就对应平衡场。NICE 直接在校正后的延拓上训练，梯度穿过光滑递推和粗校正，类似求解器在环训练。训练集 591 个几何。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部署时，依赖几何的量对每个几何只准备一次：单元矩、网络的几何编码、系数、光滑区间和粗分解。之后每次作用 Ŝ 只需要一次网络前向、十六步光滑、一次粗求解和对应的转置。延拓和凝聚刚度都不显式形成。点阵层面，在自由保留自由度上用预条件共轭梯度求解，预条件子是平衡两层的：细层是装配的保留刚度块 K_PP 的分解，每次设计迭代分解一次；粗空间是点阵顶点三线性函数乘六个刚体模态。灵敏度用恢复的场直接计算。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先交代实验设置。80 个验证几何，未切割、轻度、中度、重度切割各 20 个。每个几何用九类保留位移方向考察，一致面力每个几何 64 个方向，是主要载荷类别；节点力还会加载弱支撑节点，作为压力测试。比较四个变体：基础网络不带校正；在它基础上继续训练 15000 步得到三个变体：训练里带完整校正的 NICE、只带八步光滑的平滑训练、不带校正的未校正延续。另外还评估基础网络部署时直接加校正、不重训。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两类验证。参考解：n 等于 32 在七个胞元上加密验证，除重度切割的 H2 外，柔度变化不超过 0.28%、灵敏度 0.44%；重度切割的 H2 到约 1% 和 3.6%。ghost 罚系数和积分加密的影响不超过 0.12%。部署算子：对称性 9 乘 10 的负 9 次方，功与能量一致到 5 乘 10 的负 9 次方，刚体模态能量 2 乘 10 的负 11 次方，这些都是构造性质在浮点下的体现。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80 个验证几何上，NICE 的平均能量误差 0.074%，未校正延续是 6.33%，各分层平均低 64 到 102 倍。逐方向看，5120 个采样方向中 99% 低于 0.69%，最大 1.24%。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误差的组成。空间上，M1 的精确场只有 8% 的能量在离切割面两个单元以内，但基础网络误差能量的 39% 到 43% 在这一层，紧邻保留的切割带。NICE 把总误差能量降低 113 到 138 倍，这一层的份额减半到 19% 到 22%。放大机制：能量误差恰好等于δ 平方乘 κ，δ 是加权位移误差，κ 是误差和精确场的 Rayleigh 商之比。基础网络位移误差只有百分之一左右，但 κ 有 124 到 7089，所以能量误差到 1.8% 到 35%。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装配测试的设置：一个学习目标胞元和一个精确、未切割的邻胞元，厚度在界面上连续。两种配置 x 和 y，每种六个面载荷：三个方向的一致面力分别施加在目标胞元面和邻胞元面上。比较柔度和每个胞元的八分量灵敏度向量，用 3% 作为共同参考线。选择集七个目标胞元，再加九个选择之外的胞元作独立检验：五个单胞误差最大的和每层随机一个。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装配之后，不完整的校正柔度可以在 3% 线以内，灵敏度却可以到 11.4%。NICE 在 14 个选择配置加 18 个留出配置全部在两条 3% 线以内，最大 0.27% 和 1.49%。这就是误差链第三环的实证。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这一页回答为什么要保留完整边界。用精确胞元算子，只把胞元边界面位移限制成 r 次 Bernstein 多项式：r 等于 1 时柔度误差78% 到 85%；r 到 8 时柔度 0.5% 到 0.7%，但邻载下灵敏度仍有 24% 到 64%。只限制共享界面、r 等于 3 时柔度只有零点几，灵敏度仍有 8% 到 21%。压缩边界对柔度尚可，对局部灵敏度不行。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真实设计里每个胞元都是学习胞元，邻胞元误差进入同一个装配解。两个八胞元点阵，十六个胞元都没进过训练和检查点选择。面载下柔度误差不超过 0.015%，灵敏度不超过 0.14%；随机载荷下 0.069% 和 0.45%。份额加权的界 β 和实际误差在面载下只差不到 β 的 0.4%。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这一页回答"有没有做细网格复核"。做了，而且口径比只看柔度更严。我们的参考解就是全分辨率的切割有限元离散解：精确凝聚和整体直接求解在数学上是同一个解，实测柔度一致到 7 乘 10 的负 10 次方。按层级：单胞对照精确 Schur 补；两胞元对照精确凝聚；四胞元点阵直接对照整体点阵直接解，也就是把所有内部和保留自由度、近一百万个自由度一起求解，差 0.022% 以内；八胞元对照装配的精确凝聚；优化算例 A 整条路径用精确凝聚孪生跑，板在五个设计上做精确复核，规模演示的 24 和 51 胞元板也复核了首个设计。离散本身也做了 n 等于 32 到 64 的加密。没有算精确参考解的只有 88 和 110 胞元两块板，这在补充材料里写明了。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成本。八胞元两个点阵，NICE 79 秒和 105 秒；16 线程 PARDISO 直接解 868 和 1042 秒，常规精确凝聚 950 和 1218 秒；单线程直接解 5864 和 8131 秒，这个口径和 PIML 的串行基准一致，是 57 到 77 倍。内存上，直接法的 Cholesky 因子从四胞元的 29 到 32 GiB 涨到八胞元的 66 到 81 GiB，NICE 显存峰值 9.2 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审稿人可能拿 PIML 的加速比来比，所以把加速比、精度和基准放在一张表里。各工作的精度层级和基准不同，加速比不能直接比较；我们 10 倍是对 16 线程 PARDISO，单线程口径 57 到 77 倍，精度在 0.01% 量级。正文不做这个比较，被问到时按此表陈述事实。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优化设置。设计变量是点阵顶点处的角点厚度参数，映射到每个胞元的八个角点。目标是单位一致面力下柔度最小，体积不超过初始的 80%。加载面所在平面上的顶点参数固定，使节点载荷与设计无关。上下界 0.18 到 0.69，每个胞元的角点跨度和梯度范数不超过 0.45，保证每个胞元都在训练范围内。每次设计迭代重新生成每个胞元的几何和学习子结构，从上一步的解开始 PCG，走一步 MMA，移动限 5%，不做线搜索。停止判据是目标相对变化连续三次低于 10 的负 4 次方，不用 KKT 残差，因为离散模型在迭代间会切换。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算例 A 是八胞元块体，用 NICE 和精确凝聚各优化一遍。分别 24 和 23 次迭代停，柔度都降 2.0%、用料少 20%；最终角点参数最多差 0.0051。迭代 0、12、23 处 NICE 柔度比精确值低 0.011% 到 0.028%，符号正是式 (7) 给的；梯度误差不超过 0.33%，余弦不低于 0.999996，每个分量符号都对。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切割固支板，8 乘 4 层切掉 8 个胞元，剩 24 个，固支在切割面上，这由保留的切割带直接表示，不需要重训。均匀化在均匀初始设计上低估柔度 27%；它的设计放回切割几何上，比 NICE 设计软 2.44%，精确柔度 80.198 对 78.287，角点参数最多差 0.26。NICE 的 24 次迭代共 1.3 小时。宏观网格从每胞元每轴 6 加密到 12，低估仍有 25.8%；罚参数放大一百倍几乎不变。细观模型固支整个切割带，比只固支切割面更刚，只会缩小差距。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规模演示：24、51、88、110 胞元的板，650 万到 3270 万自由度，每次设计迭代 4 到 19.4 分钟，和胞元数成正比，每胞元 10.1 到 10.9 秒。24 和 51 胞元的板在首个设计上做了精确复核，柔度误差 0.013% 和 0.011%。CPU 内存每胞元约 0.7 GiB，线性增长。现在的上限在预条件子里 K_PP 的直接分解，不在学习胞元本身。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局限我们在 6.3 节都写了：只有一种胞元族、一种离散，网络不等变；没有认证误差界，只有可计算的残差；灵敏度用场基估计；88 和 110 胞元的板没有精确参考解；整体迭代求解器只比了 AMG 和 BDDC 的局部分解成本。审稿人最可能问加速比，答复材料已经准备好。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投稿计划：投 CMAME，同时挂 arXiv 占优先权。投稿前需要作者信息、各项声明包括 AI 使用声明、通读。可选的是先给 Nature Computational Science 发一封预投稿咨询，一两周回复，预期会被建议转投专业期刊，几乎不耽误时间。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后续工作分两部分。基础推进三项：大规模求解，用多层或迭代粗求解替换保留系统的直接分解；质量与几何刚度凝聚，用同一个延拓得到 F 转置 M F 和 F 转置 K_G F；更多胞族的数据与训练。论文计划四项：P2 做局部量驱动的点阵设计；P3 做跨胞族与几何泛化；拉扭耦合的 B 样条单胞单独成篇；动力学与屈曲，利用 Rayleigh–Ritz 性质给出频率与临界载荷的上界。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以下为备用页，被追问时再翻。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 网络不重训直接用在映射胞元上：384 对全部保持 Ŝ 不小于 S；共转拉回后扭转、弯曲误差在 0.1% 量级；拉伸是唯一明显失效。另外最坏方向误差远大于平均值，是后续要查清的问题。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 PIML 系列各篇在边界表示、训练、灵敏度、理论、校正上的逐项对照，供追问时查。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7"/>
          <p:cNvSpPr>
            <a:spLocks noChangeArrowheads="1"/>
          </p:cNvSpPr>
          <p:nvPr userDrawn="1"/>
        </p:nvSpPr>
        <p:spPr bwMode="auto">
          <a:xfrm>
            <a:off x="-12699" y="0"/>
            <a:ext cx="12204700" cy="7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altLang="zh-CN" sz="2800">
              <a:solidFill>
                <a:srgbClr val="C00000"/>
              </a:solidFill>
            </a:endParaRPr>
          </a:p>
        </p:txBody>
      </p:sp>
      <p:sp>
        <p:nvSpPr>
          <p:cNvPr id="4" name="TextBox 9"/>
          <p:cNvSpPr txBox="1">
            <a:spLocks noChangeArrowheads="1"/>
          </p:cNvSpPr>
          <p:nvPr userDrawn="1"/>
        </p:nvSpPr>
        <p:spPr bwMode="auto">
          <a:xfrm>
            <a:off x="11211984" y="6550026"/>
            <a:ext cx="980016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4097D269-82ED-7444-A9F2-76BF1199FCEE}" type="slidenum">
              <a:rPr lang="en-US" altLang="zh-CN" sz="1400" b="1" smtClean="0">
                <a:solidFill>
                  <a:srgbClr val="7F7F7F"/>
                </a:solidFill>
                <a:latin typeface="Times New Roman" panose="02020503050405090304" pitchFamily="18" charset="0"/>
                <a:ea typeface="SimHei" panose="02010609060101010101" pitchFamily="49" charset="-122"/>
              </a:rPr>
            </a:fld>
            <a:r>
              <a:rPr lang="en-US" altLang="zh-CN" sz="1400" b="1">
                <a:solidFill>
                  <a:srgbClr val="7F7F7F"/>
                </a:solidFill>
                <a:latin typeface="Times New Roman" panose="02020503050405090304" pitchFamily="18" charset="0"/>
                <a:ea typeface="SimHei" panose="02010609060101010101" pitchFamily="49" charset="-122"/>
              </a:rPr>
              <a:t>/43</a:t>
            </a:r>
            <a:endParaRPr lang="en-US" altLang="zh-CN" sz="1400" b="1">
              <a:solidFill>
                <a:srgbClr val="7F7F7F"/>
              </a:solidFill>
              <a:latin typeface="Times New Roman" panose="02020503050405090304" pitchFamily="18" charset="0"/>
              <a:ea typeface="SimHei" panose="02010609060101010101" pitchFamily="49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6568422"/>
            <a:ext cx="12192000" cy="28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2800"/>
          </a:p>
        </p:txBody>
      </p:sp>
      <p:pic>
        <p:nvPicPr>
          <p:cNvPr id="7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58" y="6570663"/>
            <a:ext cx="143510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928297" y="6523879"/>
            <a:ext cx="321733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SimHei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Research group of </a:t>
            </a:r>
            <a:r>
              <a:rPr lang="en-US" altLang="zh-CN" sz="9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nnovation </a:t>
            </a:r>
            <a:r>
              <a:rPr lang="en-US" altLang="zh-CN" sz="9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D</a:t>
            </a: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esign</a:t>
            </a:r>
            <a:endParaRPr lang="en-US" altLang="zh-CN" sz="900" b="1" dirty="0">
              <a:solidFill>
                <a:srgbClr val="0000FF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 eaLnBrk="1" hangingPunct="1">
              <a:defRPr/>
            </a:pP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in </a:t>
            </a:r>
            <a:r>
              <a:rPr lang="en-US" altLang="zh-CN" sz="9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E</a:t>
            </a: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ngineering &amp; </a:t>
            </a:r>
            <a:r>
              <a:rPr lang="en-US" altLang="zh-CN" sz="9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A</a:t>
            </a: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dvanced </a:t>
            </a:r>
            <a:r>
              <a:rPr lang="en-US" altLang="zh-CN" sz="9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</a:t>
            </a:r>
            <a:r>
              <a:rPr lang="en-US" altLang="zh-CN" sz="9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cience</a:t>
            </a:r>
            <a:endParaRPr lang="zh-CN" altLang="en-US" sz="900" b="1" dirty="0">
              <a:solidFill>
                <a:srgbClr val="0000FF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4876800" y="6610990"/>
            <a:ext cx="394073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000" b="0" dirty="0">
                <a:solidFill>
                  <a:srgbClr val="7F7F7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大连理工大学  工业装备结构分析优化与</a:t>
            </a:r>
            <a:r>
              <a:rPr lang="en-US" altLang="zh-CN" sz="1000" b="0" dirty="0">
                <a:solidFill>
                  <a:srgbClr val="7F7F7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CAE</a:t>
            </a:r>
            <a:r>
              <a:rPr lang="zh-CN" altLang="en-US" sz="1000" b="0" dirty="0">
                <a:solidFill>
                  <a:srgbClr val="7F7F7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软件全国重点实验室</a:t>
            </a:r>
            <a:endParaRPr lang="zh-CN" altLang="en-US" sz="1000" b="0" dirty="0">
              <a:solidFill>
                <a:srgbClr val="7F7F7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灯片编号占位符 2"/>
          <p:cNvSpPr txBox="1"/>
          <p:nvPr userDrawn="1"/>
        </p:nvSpPr>
        <p:spPr bwMode="auto">
          <a:xfrm>
            <a:off x="11409892" y="6565349"/>
            <a:ext cx="584200" cy="274637"/>
          </a:xfrm>
          <a:prstGeom prst="rect">
            <a:avLst/>
          </a:prstGeom>
          <a:noFill/>
        </p:spPr>
        <p:txBody>
          <a:bodyPr/>
          <a:lstStyle>
            <a:lvl1pPr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SimSun" pitchFamily="2" charset="-122"/>
              </a:defRPr>
            </a:lvl9pPr>
          </a:lstStyle>
          <a:p>
            <a:pPr algn="r">
              <a:defRPr/>
            </a:pPr>
            <a:fld id="{80C2D1C4-173E-4D48-969F-1B76B066F58F}" type="slidenum">
              <a:rPr lang="en-US" altLang="zh-CN" sz="1200" smtClean="0">
                <a:solidFill>
                  <a:srgbClr val="7F7F7F"/>
                </a:solidFill>
                <a:latin typeface="Times New Roman" panose="02020503050405090304" pitchFamily="18" charset="0"/>
                <a:ea typeface="SimHei" panose="02010609060101010101" pitchFamily="49" charset="-122"/>
              </a:rPr>
            </a:fld>
            <a:endParaRPr lang="en-US" altLang="zh-CN" sz="1200" dirty="0">
              <a:solidFill>
                <a:srgbClr val="7F7F7F"/>
              </a:solidFill>
              <a:latin typeface="Times New Roman" panose="02020503050405090304" pitchFamily="18" charset="0"/>
              <a:ea typeface="SimHei" panose="02010609060101010101" pitchFamily="49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-14558" y="61303"/>
            <a:ext cx="12192000" cy="72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0" advClick="0"/>
    </mc:Choice>
    <mc:Fallback>
      <p:transition spd="slow" advClick="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70C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70C0"/>
          </a:solidFill>
          <a:latin typeface="Microsoft YaHei" panose="020B0503020204020204" pitchFamily="34" charset="-122"/>
          <a:ea typeface="Microsoft YaHei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70C0"/>
          </a:solidFill>
          <a:latin typeface="Microsoft YaHei" panose="020B0503020204020204" pitchFamily="34" charset="-122"/>
          <a:ea typeface="Microsoft YaHei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70C0"/>
          </a:solidFill>
          <a:latin typeface="Microsoft YaHei" panose="020B0503020204020204" pitchFamily="34" charset="-122"/>
          <a:ea typeface="Microsoft YaHei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70C0"/>
          </a:solidFill>
          <a:latin typeface="Microsoft YaHei" panose="020B0503020204020204" pitchFamily="34" charset="-122"/>
          <a:ea typeface="Microsoft YaHei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9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9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9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9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chart" Target="../charts/char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36865" y="4447603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kumimoji="1" lang="zh-CN" altLang="en-US" sz="20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大连理工大学</a:t>
            </a:r>
            <a:endParaRPr kumimoji="1" lang="zh-CN" altLang="en-US" sz="2000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kumimoji="1" lang="zh-CN" altLang="en-US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工业装备结构分析优化与</a:t>
            </a:r>
            <a:r>
              <a:rPr kumimoji="1" lang="en-US" altLang="zh-CN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CAE</a:t>
            </a:r>
            <a:r>
              <a:rPr kumimoji="1" lang="zh-CN" altLang="en-US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软件全国重点实验室</a:t>
            </a:r>
            <a:endParaRPr kumimoji="1" lang="en-US" altLang="zh-CN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kumimoji="1" lang="zh-CN" altLang="en-US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力学与航空航天学院</a:t>
            </a:r>
            <a:endParaRPr kumimoji="1" lang="en-US" altLang="zh-CN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96122" y="3429000"/>
            <a:ext cx="914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spcBef>
                <a:spcPts val="600"/>
              </a:spcBef>
              <a:spcAft>
                <a:spcPts val="600"/>
              </a:spcAft>
              <a:defRPr kumimoji="1" sz="2800" b="1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sz="3200" dirty="0"/>
              <a:t>范芷瑞</a:t>
            </a:r>
            <a:endParaRPr lang="zh-CN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7434" y="1432551"/>
            <a:ext cx="121920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600"/>
              </a:spcAft>
            </a:pPr>
            <a:r>
              <a:rPr lang="zh-CN" altLang="en-US" sz="3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P1 进展汇报：带平衡校正的神经初始化静力凝聚（NICE）</a:t>
            </a:r>
            <a:endParaRPr lang="zh-CN" altLang="en-US" sz="4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74552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Arial"/>
                <a:ea typeface="Microsoft YaHei"/>
              </a:rPr>
              <a:t>切割薄壁 TPMS 点阵的分析与厚度设计 · 投稿 CMAME 前与导师单独汇报 · 2026 年 10 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一页结论：保留完整边界，只近似内部，误差能追到灵敏度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212080" cy="3017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学习模型作用在每个胞元的</a:t>
            </a: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全部胞元边界面与切割带自由度</a:t>
            </a: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上（中位数 2.4×10⁴ 个），同时保住静力凝聚的结构：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对称半正定，含刚体零空间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被精确 Schur 补从下方界住：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S ⪯ Ŝ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误差可以一路追到柔度和厚度灵敏度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部署后加大校正预算还能继续改进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89320" y="1051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89320" y="1124712"/>
            <a:ext cx="27432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0.074%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59" y="1801367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单胞平均能量误差（80 个验证几何）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051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1124712"/>
            <a:ext cx="27432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C00000"/>
                </a:solidFill>
                <a:latin typeface="Arial"/>
                <a:ea typeface="Microsoft YaHei"/>
              </a:rPr>
              <a:t>≤0.27% / 1.49%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801367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两胞元装配：柔度 / 灵敏度误差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60604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679192"/>
            <a:ext cx="27432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≈10×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355848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八胞元分析（含灵敏度）快于 16 线程直接解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60604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679192"/>
            <a:ext cx="27432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27%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3355848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切割固支板上均匀化低估柔度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11274552" cy="1051560"/>
          </a:xfrm>
          <a:prstGeom prst="rect">
            <a:avLst/>
          </a:prstGeom>
          <a:solidFill>
            <a:srgbClr val="EAF2FB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与 PIML 系列的不同取舍：</a:t>
            </a: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PIML 缩减边界（多为 24 个角点自由度）换规模；本文保留完整边界、只近似内部，换来 0.01% 量级的精度，并说清误差怎么进入灵敏度。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112745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595959"/>
                </a:solidFill>
                <a:latin typeface="Arial"/>
                <a:ea typeface="Microsoft YaHei"/>
              </a:rPr>
              <a:t>状态：</a:t>
            </a:r>
            <a:r>
              <a:rPr sz="1600" b="0" i="0">
                <a:solidFill>
                  <a:srgbClr val="595959"/>
                </a:solidFill>
                <a:latin typeface="Arial"/>
                <a:ea typeface="Microsoft YaHei"/>
              </a:rPr>
              <a:t>正文 68 页 + 补充 43 页，可投；目标 </a:t>
            </a:r>
            <a:r>
              <a:rPr sz="1600" b="1" i="0">
                <a:solidFill>
                  <a:srgbClr val="0070C0"/>
                </a:solidFill>
                <a:latin typeface="Arial"/>
                <a:ea typeface="Microsoft YaHei"/>
              </a:rPr>
              <a:t>CMAME</a:t>
            </a:r>
            <a:r>
              <a:rPr sz="1600" b="0" i="0">
                <a:solidFill>
                  <a:srgbClr val="595959"/>
                </a:solidFill>
                <a:latin typeface="Arial"/>
                <a:ea typeface="Microsoft YaHei"/>
              </a:rPr>
              <a:t>，同时挂 arXiv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汇报提纲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344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61288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  <a:ea typeface="Microsoft YaHei"/>
              </a:rPr>
              <a:t>问题与相关工作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45720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组件模型的几条路线；与 PIML 系列的取舍</a:t>
            </a:r>
          </a:p>
        </p:txBody>
      </p:sp>
      <p:sp>
        <p:nvSpPr>
          <p:cNvPr id="6" name="Oval 5"/>
          <p:cNvSpPr/>
          <p:nvPr/>
        </p:nvSpPr>
        <p:spPr>
          <a:xfrm>
            <a:off x="6245352" y="12344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9752" y="1161288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  <a:ea typeface="Microsoft YaHei"/>
              </a:rPr>
              <a:t>问题设定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752" y="1645920"/>
            <a:ext cx="45720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切割薄壁胞元的离散模型；保留自由度与精确凝聚；四项要求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346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61488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  <a:ea typeface="Microsoft YaHei"/>
              </a:rPr>
              <a:t>误差理论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45720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Ritz 恒等式；按能量份额加权的柔度界；灵敏度中的一次项</a:t>
            </a:r>
          </a:p>
        </p:txBody>
      </p:sp>
      <p:sp>
        <p:nvSpPr>
          <p:cNvPr id="12" name="Oval 11"/>
          <p:cNvSpPr/>
          <p:nvPr/>
        </p:nvSpPr>
        <p:spPr>
          <a:xfrm>
            <a:off x="6245352" y="28346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2761488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  <a:ea typeface="Microsoft YaHei"/>
              </a:rPr>
              <a:t>NICE 的构造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3246120"/>
            <a:ext cx="45720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变分凝聚刚度；误差谱与两重网格校正；几何条件化网络；训练与部署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4348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61688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  <a:ea typeface="Microsoft YaHei"/>
              </a:rPr>
              <a:t>数值结果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45720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单胞、两胞元装配、消融、八胞元点阵、成本、厚度优化、规模</a:t>
            </a:r>
          </a:p>
        </p:txBody>
      </p:sp>
      <p:sp>
        <p:nvSpPr>
          <p:cNvPr id="18" name="Oval 17"/>
          <p:cNvSpPr/>
          <p:nvPr/>
        </p:nvSpPr>
        <p:spPr>
          <a:xfrm>
            <a:off x="6245352" y="44348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  <a:ea typeface="Microsoft YaHe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4361688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  <a:ea typeface="Microsoft YaHei"/>
              </a:rPr>
              <a:t>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4846320"/>
            <a:ext cx="45720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局限与审稿准备；投稿；后续工作思路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问题：组件同类但几何各异，整体太大、驱动设计的量却是局部的</a:t>
            </a:r>
          </a:p>
        </p:txBody>
      </p:sp>
      <p:pic>
        <p:nvPicPr>
          <p:cNvPr id="3" name="Picture 2" descr="F08_geo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48841"/>
            <a:ext cx="5120640" cy="17431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160" y="1097280"/>
            <a:ext cx="5852160" cy="4846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对象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梯度点阵：胞元的壁厚逐个变化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按零件外形切割的点阵：边界胞元被平面切开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在切割面上支撑、加载的芯材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矛盾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整体太大：每次设计迭代都改变每个胞元，全分辨率代价每轮全额重付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驱动设计的量是局部的：支撑旁切割胞元的刚度、对某处壁厚的灵敏度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需要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一个可组装、能用于设计、误差可追溯的组件模型，且对新几何不需要内部分解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4（代表性验证几何 U1、M1、H1、H2）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现有三条路线各卡在一处，学习子结构是第四条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均匀化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1907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依赖尺度分离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在支撑、载荷、切割胞元处失效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切割固支板：柔度低估 </a:t>
            </a: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27%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4418" y="118872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4146" y="126187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全分辨率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4146" y="171907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每次设计迭代改变每个胞元，代价每轮全额重付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八胞元 183–211 万自由度，Cholesky 因子 </a:t>
            </a: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66–81 GiB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18872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1364" y="126187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精确凝聚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1364" y="171907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每个几何一次内部分解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显式 Schur 补：每个保留自由度一次内部求解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一胞元中位 2.4×10⁴ 个保留自由度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18854" y="118872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28582" y="126187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学习子结构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8582" y="171907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以 PIML 系列为代表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每个子结构保留少量边界自由度，换来规模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边界误差与网络无关，需另行控制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1274552" cy="822960"/>
          </a:xfrm>
          <a:prstGeom prst="rect">
            <a:avLst/>
          </a:prstGeom>
          <a:solidFill>
            <a:srgbClr val="EAF2FB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我们的位置：</a:t>
            </a:r>
            <a:r>
              <a:rPr sz="1700" b="0" i="0">
                <a:solidFill>
                  <a:srgbClr val="262626"/>
                </a:solidFill>
                <a:latin typeface="Arial"/>
                <a:ea typeface="Microsoft YaHei"/>
              </a:rPr>
              <a:t>走子结构这条中间路线，但把近似放在内部延拓上，保留完整的保留空间；结构由构造保证，不靠训练。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相关工作：组件模型的五条路线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49" cy="47365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41597"/>
                <a:gridCol w="3024879"/>
                <a:gridCol w="3299868"/>
                <a:gridCol w="3208205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路线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代表工作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做法与特点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与本文的关系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均匀化 / 多尺度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Li et al. 2018；Hou &amp; Wu 1997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等效性质或多尺度基函数；依赖尺度分离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切割、支撑处失效（本文板算例 27%）；MsFEM 与本文同用能量形式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组件约化基 / 端口约化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Huynh et al. 2013；Eftang &amp; Patera 2013；Chasapi et al. 2023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离线构造约化基，可给后验界；基于参数族共享的离散空间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本文的离散空间随切割变化，网络以每胞元的离散几何为条件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点阵凝聚与区域分解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Wu et al. 2019；Hirschler et al. 2024；Bonilla Moreno et al. 2027；Chen &amp; Li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超单元插值、ROM-FETI-DP、2D 非贴体 BDDC、非贴体数值形函数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各自在胞元间保持同一离散；本文面对随几何变化的保留集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学习子结构 / 学习单元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PIML（Huang et al. 2022–2024；Guo et al. 2026a,b 等）；Parish et al. 2024；Jiang H. et al. 2026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学习形函数或界面刚度；PIML 保留少量边界自由度，规模大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本文保留完整保留空间，近似只在内部延拓（下一页对比）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学习 + 求解器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Greenfeld et al. 2019；Heinlein et al. 2021；Zhang E. et al. 2024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学习多重网格、粗空间或混合求解器；迭代收敛到精确解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本文的校正改变的是被组装的算子本身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70C0"/>
                          </a:solidFill>
                          <a:latin typeface="Arial"/>
                          <a:ea typeface="Microsoft YaHei"/>
                        </a:rPr>
                        <a:t>本文 NICE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完整保留空间 + 几何条件化的线性延拓 + 固定两重网格校正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可组装、单侧界、部署时可改进、误差追到灵敏度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1 节（引言）与参考文献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与 PIML 系列的比较：两种不同的取舍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2471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PIML：缩减边界，换规模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81912"/>
            <a:ext cx="5266944" cy="29169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每个子结构保留少量边界自由度（多为 24 个角点；Bézier 为 168）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粗模型小：串行 10⁹ 单元；应用广（柔顺机构、应力、复杂域）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边界误差与网络无关，靠分区加密、边界增强、过采样控制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细网格复核的柔度误差 2.8–20.7%（偏刚）；未报告灵敏度误差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051560"/>
            <a:ext cx="5486400" cy="352044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12471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NICE：保留完整边界，换精度与可追溯性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81912"/>
            <a:ext cx="5266944" cy="29169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每胞元保留全部胞元边界面与切割带自由度（2,679–45,900）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误差只在内部延拓，可由固定校正降低；切割面支撑、加载不需重训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八胞元点阵：柔度 ≤0.015%，灵敏度 ≤0.14%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粗模型大：目前到 110 胞元；加速约 10×（16 线程）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74552" cy="1280160"/>
          </a:xfrm>
          <a:prstGeom prst="rect">
            <a:avLst/>
          </a:prstGeom>
          <a:solidFill>
            <a:srgbClr val="F2F2F2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交汇点：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Guo et al. (2026a) 也评估过保留全部边界节点（每个子结构 456–1,806 个自由度），加速 7.3–7.5×、位移误差 0.84–3.46%，得不偿失，且在较大子结构上精度更低，因而未采用。本文网络规模不随保留自由度增长，固定校正又减小网络留下的误差，分别回应这两点。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来源：Guo et al. (2026a) Table 1；review_r1/GUO_SERIES_COMPARISON_CN.md 第 2、3 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问题设定（一）：切割薄壁 Schwarz-P 胞元的离散模型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852160" cy="160020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φ(x) = Σ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cos(2πx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),   τ(x) = Σ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N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8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Q1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(x) τ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Ω(η) = { x ∈ [0,1]</a:t>
            </a:r>
            <a:r>
              <a:rPr sz="18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3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:  |φ(x)| ≤ τ(x),  n·x ≤ b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cut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5852160" cy="3200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八个角点厚度参数 </a:t>
            </a:r>
            <a:r>
              <a:rPr sz="1600" b="0" i="0">
                <a:solidFill>
                  <a:srgbClr val="262626"/>
                </a:solidFill>
                <a:latin typeface="Times New Roman"/>
                <a:ea typeface="Times New Roman"/>
              </a:rPr>
              <a:t>τ</a:t>
            </a:r>
            <a:r>
              <a:rPr sz="16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（带参数，非逐点壁厚）；对它们的导数即厚度灵敏度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至多一个平面切割，法向背离保留材料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背景单元与 Ω 交集测度为正即为激活单元，由区间包络认证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稳定化离散能量 </a:t>
            </a:r>
            <a:r>
              <a:rPr sz="1600" b="0" i="0">
                <a:solidFill>
                  <a:srgbClr val="262626"/>
                </a:solidFill>
                <a:latin typeface="Times New Roman"/>
                <a:ea typeface="Times New Roman"/>
              </a:rPr>
              <a:t>½ u</a:t>
            </a:r>
            <a:r>
              <a:rPr sz="16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600" b="0" i="0">
                <a:solidFill>
                  <a:srgbClr val="262626"/>
                </a:solidFill>
                <a:latin typeface="Times New Roman"/>
                <a:ea typeface="Times New Roman"/>
              </a:rPr>
              <a:t>Ku</a:t>
            </a:r>
            <a:r>
              <a:rPr sz="1600" b="1" i="0">
                <a:solidFill>
                  <a:srgbClr val="262626"/>
                </a:solidFill>
                <a:latin typeface="Arial"/>
                <a:ea typeface="Microsoft YaHei"/>
              </a:rPr>
              <a:t>；参考解即该离散系统的平衡解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051560"/>
          <a:ext cx="5148071" cy="4096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70877"/>
                <a:gridCol w="3677194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量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设置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位移近似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连续张量积 Q2 实体单元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背景分辨率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每轴 n = 32 个单元（65 个 Q2 节点）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材料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E_Y = 1，ν = 0.3（归一化）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稳定化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ghost 罚项，γ = 10⁻⁴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体积积分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4³ 子胞元 + 局部加密；裁剪 Kuhn 四面体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厚度差分步长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h_c = 10⁻⁵ τ_c，激活集固定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参数范围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角点参数 0.176–0.698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2.1 节，式 (1)，表 1；附录 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问题设定（二）：保留自由度与精确静力凝聚</a:t>
            </a:r>
          </a:p>
        </p:txBody>
      </p:sp>
      <p:pic>
        <p:nvPicPr>
          <p:cNvPr id="3" name="Picture 2" descr="F12_field_error_M1.png"/>
          <p:cNvPicPr>
            <a:picLocks noChangeAspect="1"/>
          </p:cNvPicPr>
          <p:nvPr/>
        </p:nvPicPr>
        <p:blipFill>
          <a:blip r:embed="rId3"/>
          <a:srcRect r="50000" b="50000"/>
          <a:stretch>
            <a:fillRect/>
          </a:stretch>
        </p:blipFill>
        <p:spPr>
          <a:xfrm>
            <a:off x="457200" y="1020101"/>
            <a:ext cx="4206240" cy="37205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4206240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Arial"/>
                <a:ea typeface="Microsoft YaHei"/>
              </a:rPr>
              <a:t>图：M1 的保留胞元边界面自由度（黑）、保留切割带自由度（蓝）与内部自由度（灰）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051560"/>
            <a:ext cx="6793992" cy="150876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K = [ 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PP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 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PI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;  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IP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 A ],   A = 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II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E = [ I ; −A</a:t>
            </a:r>
            <a:r>
              <a:rPr sz="18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−1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IP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],   S = 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PP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− 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PI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18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−1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18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IP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 = E</a:t>
            </a:r>
            <a:r>
              <a:rPr sz="18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800" b="0" i="0">
                <a:solidFill>
                  <a:srgbClr val="262626"/>
                </a:solidFill>
                <a:latin typeface="Times New Roman"/>
                <a:ea typeface="Times New Roman"/>
              </a:rPr>
              <a:t>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743200"/>
            <a:ext cx="6793992" cy="3291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保留集 P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：激活胞元边界面自由度 + 切割带（被切割面穿过的激活单元层）的全部自由度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切割带承担切割面上的位移和虚功 → 切割面支撑、载荷可直接施加，无需重训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规模：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每胞元 2,679–45,900 个保留自由度（中位 23,604）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代价：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显式 S 需每个保留自由度一次内部求解；作用 S 需每个几何一次内部分解；每次设计迭代每个胞元都变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假设：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K ⪰ 0，A ≻ 0；自由胞元恰有 6 个刚体模态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2.2–2.3 节，式 (2)–(3)；图：论文 Fig. 7a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问题设定（三）：学习组件模型要替代静力凝聚，需满足四项要求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4550" cy="3886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9868"/>
                <a:gridCol w="3024879"/>
                <a:gridCol w="4949803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要求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为什么需要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本文如何满足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① 对称半正定，零空间只含刚体模态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才能装配：带支撑的装配矩阵正定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能量形式 Ŝ = FᵀKF + 构造上再现刚体（式 (11)、(17)）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② 新几何无需内部分解，离散空间随切割变化也适用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设计每迭代一次，每个胞元都变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几何条件化网络，对保留位移线性；一个网络服务所有保留集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③ 误差可追溯到柔度与局部灵敏度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设计由局部灵敏度驱动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Ritz 恒等式 + 份额加权界 + 灵敏度误差式（第 3 节）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④ 部署时可改进，无需重训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精度不够时可加预算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固定两重网格校正 𝒲：给定条件下不增大误差（第 4.4 节）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66360"/>
            <a:ext cx="11274552" cy="822960"/>
          </a:xfrm>
          <a:prstGeom prst="rect">
            <a:avLst/>
          </a:prstGeom>
          <a:solidFill>
            <a:srgbClr val="EAF2FB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0C0"/>
                </a:solidFill>
                <a:latin typeface="Arial"/>
                <a:ea typeface="Microsoft YaHei"/>
              </a:rPr>
              <a:t>关键：</a:t>
            </a: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①④ 由构造保证，对任何网络输出都成立；②靠网络表示；③ 是本文的误差理论，判定何时可用于设计。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1 节第 2 段，第 2.3 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误差理论（一）：Ritz 恒等式与方向能量误差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22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F = I</a:t>
            </a:r>
            <a:r>
              <a:rPr sz="22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,   H = J</a:t>
            </a:r>
            <a:r>
              <a:rPr sz="22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(F − E),   Ŝ = F</a:t>
            </a:r>
            <a:r>
              <a:rPr sz="22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KF   ⟹   Ŝ − S = H</a:t>
            </a:r>
            <a:r>
              <a:rPr sz="22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AH ⪰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100584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ε(q) = q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(Ŝ − S)q / q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Sq = d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Ad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/ q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Sq = r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−1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r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/ q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Sq,   r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= (KFq)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20440"/>
            <a:ext cx="3575304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9359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单侧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50791"/>
            <a:ext cx="3355848" cy="12252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近似刚度永远不比精确刚度软：S ⪯ Ŝ；装配柔度偏小（偏刚）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3520440"/>
            <a:ext cx="3575304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359359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二次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4050791"/>
            <a:ext cx="3355848" cy="12252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误差是内部误差的能量，没有一阶项：参考场平衡的直接结果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3520440"/>
            <a:ext cx="3575304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359359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可计算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4050791"/>
            <a:ext cx="3355848" cy="12252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内部残差无需参考解即可得到；其 A⁻¹ 范数需每方向一次内部求解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3.1 节，式 (4)–(5)；附录 B（经典结果：Fraeijs de Veubeke 1965；Toselli &amp; Widlund 2005）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误差理论（二）：装配柔度误差按能量份额加权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91440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C − Ĉ = ‖Û − U‖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𝕂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+ Σ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‖H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B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Û‖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w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= q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S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q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/ C,   β = Σ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w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ε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(q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),   0 ≤ (C − Ĉ)/C ≤ β/(1+β) ≤ β</a:t>
            </a:r>
          </a:p>
        </p:txBody>
      </p:sp>
      <p:pic>
        <p:nvPicPr>
          <p:cNvPr id="5" name="Picture 4" descr="F10_energy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5834"/>
            <a:ext cx="6949440" cy="268949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3154680"/>
            <a:ext cx="4142232" cy="2971800"/>
          </a:xfrm>
          <a:prstGeom prst="roundRect">
            <a:avLst>
              <a:gd name="adj" fmla="val 6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9248" y="3227832"/>
            <a:ext cx="3922776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例：U1/x 邻胞元面 z 向载荷，NICE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3685032"/>
            <a:ext cx="3922776" cy="23682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w = 0.127%，ε = 0.0575%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β = wε = 7.33×10⁻⁵%；实测 7.31×10⁻⁵%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灵敏度误差 </a:t>
            </a:r>
            <a:r>
              <a:rPr sz="1400" b="1" i="0">
                <a:solidFill>
                  <a:srgbClr val="C00000"/>
                </a:solidFill>
                <a:latin typeface="Arial"/>
                <a:ea typeface="Microsoft YaHei"/>
              </a:rPr>
              <a:t>0.598%</a:t>
            </a: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，约为柔度误差的 8,200 倍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≈ 份额折扣 1/w（约 780）× √ε 阶控制（约 10）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3.2 节，式 (6)–(7)；第 5.6 节；图：论文 Fig. 11（圈出点即此例）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误差理论（三）：灵敏度误差含一次项，能量误差管不住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91440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s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= −u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u,    s̃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= −û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solidFill>
            <a:srgbClr val="FBEDED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s̃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− s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 = −2 d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u − d</a:t>
            </a:r>
            <a:r>
              <a:rPr sz="21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1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2100" b="0" i="0">
                <a:solidFill>
                  <a:srgbClr val="262626"/>
                </a:solidFill>
                <a:latin typeface="Times New Roman"/>
                <a:ea typeface="Times New Roman"/>
              </a:rPr>
              <a:t>d,    u = Eq,  d = Fq − Eq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11274552" cy="91440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Ĉ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= s̃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− 2 (F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I,c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q̂)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r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   （完整设计导数，式 (10)）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1274552" cy="1783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线性项一般不为零：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(Ku)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 = 0，但 (K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u)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 ≠ 0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；二次项因 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,c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 ⪰ 0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 非正，交叉项可正可负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误差小时线性项占主导：节点力下在六个胞元中占线性与二次项之和的 24–72%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导数在离散选择固定的设计区间上成立；</a:t>
            </a: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激活单元、ghost 面、保留集等任一变化即为离散模型切换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3.3 节，式 (9)–(10)；第 5.4 节；附录 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误差链小结：柔度准不等于灵敏度准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510028" cy="2377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① Ritz 恒等式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19072"/>
            <a:ext cx="2290572" cy="17739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Ŝ − S = HᵀAH ⪰ 0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单侧、二次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31236" y="219456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78708" y="1188720"/>
            <a:ext cx="2510028" cy="2377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8436" y="126187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② 份额加权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8436" y="1719072"/>
            <a:ext cx="2290572" cy="17739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柔度误差按各胞元能量份额加权，Eq. (7)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份额小 → 柔度"看起来"准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52744" y="219456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0216" y="1188720"/>
            <a:ext cx="2510028" cy="2377440"/>
          </a:xfrm>
          <a:prstGeom prst="roundRect">
            <a:avLst>
              <a:gd name="adj" fmla="val 6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26187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③ 灵敏度一次项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1719072"/>
            <a:ext cx="2290572" cy="17739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场基灵敏度含线性交叉项，Eq. (9)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能量误差管不住它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74252" y="219456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21724" y="1188720"/>
            <a:ext cx="2510028" cy="2377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1452" y="126187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④ ε = δ²κ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1452" y="1719072"/>
            <a:ext cx="2290572" cy="17739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1% 位移误差落在刚性方向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  <a:ea typeface="Microsoft YaHei"/>
              </a:rPr>
              <a:t>→ 1.8–35% 能量误差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11274552" cy="914400"/>
          </a:xfrm>
          <a:prstGeom prst="rect">
            <a:avLst/>
          </a:prstGeom>
          <a:solidFill>
            <a:srgbClr val="FBEDED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Arial"/>
                <a:ea typeface="Microsoft YaHei"/>
              </a:rPr>
              <a:t>结论：</a:t>
            </a:r>
            <a:r>
              <a:rPr sz="1900" b="1" i="0">
                <a:solidFill>
                  <a:srgbClr val="262626"/>
                </a:solidFill>
                <a:latin typeface="Arial"/>
                <a:ea typeface="Microsoft YaHei"/>
              </a:rPr>
              <a:t>柔度准不保证灵敏度准；设计用途的判据是两者同时准。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83480"/>
            <a:ext cx="11274552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第①环同样适用于以 NᵀKN 形成刚度的学习子结构（边界受限时下界为 LᵀSL），与其细网格复核中柔度偏刚的观察一致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第③环此前在学习子结构中没有被量化：本文逐胞元报告灵敏度误差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3 节；附录 B、C、H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核心想法：近似放在哪、刚度怎么形成，决定了结构</a:t>
            </a:r>
          </a:p>
        </p:txBody>
      </p:sp>
      <p:pic>
        <p:nvPicPr>
          <p:cNvPr id="3" name="Picture 2" descr="F01_metho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489" y="960120"/>
            <a:ext cx="4852061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051560"/>
            <a:ext cx="3657600" cy="4023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三处放置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近似只放在内部延拓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保留完整的迹（胞元边界面 + 切割带）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刚度用能量形式 </a:t>
            </a:r>
            <a:r>
              <a:rPr sz="1600" b="0" i="0">
                <a:solidFill>
                  <a:srgbClr val="262626"/>
                </a:solidFill>
                <a:latin typeface="Times New Roman"/>
                <a:ea typeface="Times New Roman"/>
              </a:rPr>
              <a:t>Ŝ = FᵀKF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由构造得到（对任何输入成立）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对称半正定、刚体零空间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ea typeface="Times New Roman"/>
              </a:rPr>
              <a:t>S ⪯ Ŝ</a:t>
            </a: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，误差为内部误差的二次型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74552" cy="868680"/>
          </a:xfrm>
          <a:prstGeom prst="rect">
            <a:avLst/>
          </a:prstGeom>
          <a:solidFill>
            <a:srgbClr val="EAF2FB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70C0"/>
                </a:solidFill>
                <a:latin typeface="Arial"/>
                <a:ea typeface="Microsoft YaHei"/>
              </a:rPr>
              <a:t>固定的两重网格校正 𝒲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（Chebyshev 8 / 粗网格 Q₁(17) / Chebyshev 8）在能量内修正内部场；精确或非负平移的粗求解下，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Ŝ ⪯ Ŝ_net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，校正不会增大误差。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2；理论：第 3、4 节，附录 B–D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构造（一）：变分凝聚刚度——必须用完整延拓的转置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91440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F = 𝒲Ê,   Ŝ = F</a:t>
            </a:r>
            <a:r>
              <a:rPr sz="22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KF,   Ŝq = (KFq)</a:t>
            </a:r>
            <a:r>
              <a:rPr sz="22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 + F</a:t>
            </a:r>
            <a:r>
              <a:rPr sz="22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22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(KFq)</a:t>
            </a:r>
            <a:r>
              <a:rPr sz="22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48840"/>
            <a:ext cx="5486400" cy="3886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22199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算法 1：校正后凝聚刚度的作用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79192"/>
            <a:ext cx="5266944" cy="32826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① 延拓：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网络给出 Ê q；固定保留值，施加前光滑 → 粗网格校正 → 后光滑，得 û = Fq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② 转置：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计算 y = Kû，返回 Fᵀy：按相反顺序施加校正的转置，再施加学习延拓的转置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③ 装配：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按式 (3) 装配各胞元作用；求解后恢复 F_m B_m Û，用于场和灵敏度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148840"/>
            <a:ext cx="5486400" cy="38862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22199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由此得到的性质（对任何网络输出）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679192"/>
            <a:ext cx="5266944" cy="32826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对称、半正定：只来自 K = Kᵀ ⪰ 0，不要求学习映射对称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零空间只有保留刚体模态（FR_P = R）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被精确 Schur 补从下方界住，误差为二次：Ŝ − S = HᵀAH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第二项传回内部残差的功：缺了它，返回的力就不是能量的导数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4.1 节，式 (11)–(12)，算法 1；附录 B、E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构造（二）：网络误差落在哪里——误差谱与 Chebyshev 光滑</a:t>
            </a:r>
          </a:p>
        </p:txBody>
      </p:sp>
      <p:pic>
        <p:nvPicPr>
          <p:cNvPr id="3" name="Picture 2" descr="F03_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2680"/>
            <a:ext cx="6309360" cy="42755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051560"/>
            <a:ext cx="4782312" cy="109728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Av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 = λ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Dv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,   D = diag(A)</a:t>
            </a:r>
          </a:p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d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7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Ad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 = Σ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 λ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331720"/>
            <a:ext cx="4782312" cy="3703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M1：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最低 200 个模态含 </a:t>
            </a: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24.5%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 的误差能量，只含 4.87% 的精确场能量，且全部低于光滑区间下端 a = 0.173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H2：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200 个模态中只有 66 个低于 a = 0.138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光滑区间 [b/30, b]，b 取幂迭代估计的 1.05 倍；谱在 (0, b] 内时光滑在 A 范数下非扩张</a:t>
            </a:r>
          </a:p>
          <a:p>
            <a:pPr algn="l" marL="228600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低于 a 的模态衰减慢 → 交给粗网格校正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4.3 节，式 (15)；第 5.4 节；图：论文 Fig. 6（基础网络）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构造（三）：粗网格校正与两层循环——排序有保证，幅度靠实测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91440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û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= û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− VA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−1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V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r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,    ‖d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‖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− ‖d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‖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= b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r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−1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b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r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,   A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= V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AV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H = Φ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C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V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Φ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H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net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   ⟹    S ⪯ Ŝ ⪯ Ŝ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net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  （粗求解精确，‖Φ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‖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A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≤ 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3575304" cy="28346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27355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粗空间 Q₁(17)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30752"/>
            <a:ext cx="3355848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17³ 顶点网格上的三线性向量函数，限制于内部自由度；M1：5,601 个粗自由度对 165,927 个内部自由度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只作用于内部，保留值不变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3200400"/>
            <a:ext cx="3575304" cy="28346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327355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两层循环 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3730752"/>
            <a:ext cx="3355848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8 步 Chebyshev → Q₁(17) Galerkin 校正 → 8 步 Chebyshev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对给定几何是线性、固定的：训练时梯度可穿过它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3200400"/>
            <a:ext cx="3575304" cy="2834640"/>
          </a:xfrm>
          <a:prstGeom prst="roundRect">
            <a:avLst>
              <a:gd name="adj" fmla="val 6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327355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保证什么、不保证什么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3730752"/>
            <a:ext cx="3355848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保证：能量误差不增大，柔度向参考解靠近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不保证：减小幅度（需实测）；灵敏度误差的单调性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4.4 节，式 (16)–(17)；附录 C、D、F.1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构造（三）续：校正效果——网络固定，部署后仍可改进</a:t>
            </a:r>
          </a:p>
        </p:txBody>
      </p:sp>
      <p:pic>
        <p:nvPicPr>
          <p:cNvPr id="3" name="Picture 2" descr="F04_corr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4828"/>
            <a:ext cx="6400800" cy="46597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05156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同一网络、只加校正（能量误差）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0" y="1554480"/>
          <a:ext cx="459943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9886"/>
                <a:gridCol w="1195852"/>
                <a:gridCol w="1287840"/>
                <a:gridCol w="119585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几何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基础网络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仅光滑 8 步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完整校正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35.0%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0.205%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M1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13.5%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4.69%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70C0"/>
                          </a:solidFill>
                          <a:latin typeface="Arial"/>
                          <a:ea typeface="Microsoft YaHei"/>
                        </a:rPr>
                        <a:t>0.186%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3154680"/>
            <a:ext cx="4572000" cy="2834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M1：最低 200 个模态（全部低于光滑区间下端）含 24.5% 的误差能量 → 需要粗网格校正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同一校正作用在零初值或调和延拓上远不够（Table 4）：网络承担了大部分精度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校正预算可以在部署时加大，不用重训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8；第 5.4–5.5 节，Table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构造（四）：几何条件化网络——对保留位移精确线性</a:t>
            </a:r>
          </a:p>
        </p:txBody>
      </p:sp>
      <p:pic>
        <p:nvPicPr>
          <p:cNvPr id="3" name="Picture 2" descr="F11_network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39740"/>
            <a:ext cx="3931920" cy="48071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0" y="1051560"/>
            <a:ext cx="7068312" cy="86868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Ê q = J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17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q + J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7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I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[ RC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R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q + 𝒩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θ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(η) Π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q ]   ⟹   J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Ê = I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,  ÊR</a:t>
            </a:r>
            <a:r>
              <a:rPr sz="17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P</a:t>
            </a:r>
            <a:r>
              <a:rPr sz="1700" b="0" i="0">
                <a:solidFill>
                  <a:srgbClr val="262626"/>
                </a:solidFill>
                <a:latin typeface="Times New Roman"/>
                <a:ea typeface="Times New Roman"/>
              </a:rPr>
              <a:t> = 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10312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73168" y="2176272"/>
            <a:ext cx="32095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几何分支（非线性）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3168" y="2633472"/>
            <a:ext cx="3209544" cy="2322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Arial"/>
                <a:ea typeface="Microsoft YaHei"/>
              </a:rPr>
              <a:t>单元矩：背景单元内的材料分布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Arial"/>
                <a:ea typeface="Microsoft YaHei"/>
              </a:rPr>
              <a:t>节点特征：保留 / 切割带 / 弱支撑 / 局部刚度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Arial"/>
                <a:ea typeface="Microsoft YaHei"/>
              </a:rPr>
              <a:t>64 通道编码 + 两轮交换；系数头给出相互作用、网格传递、卷积的权重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02752" y="210312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176272"/>
            <a:ext cx="32095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70C0"/>
                </a:solidFill>
                <a:latin typeface="Arial"/>
                <a:ea typeface="Microsoft YaHei"/>
              </a:rPr>
              <a:t>位移分支（线性）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33472"/>
            <a:ext cx="3209544" cy="2322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Arial"/>
                <a:ea typeface="Microsoft YaHei"/>
              </a:rPr>
              <a:t>保留位移提升到 32 个通道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Arial"/>
                <a:ea typeface="Microsoft YaHei"/>
              </a:rPr>
              <a:t>27 槽模板上的局部相互作用，4 个加权头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Arial"/>
                <a:ea typeface="Microsoft YaHei"/>
              </a:rPr>
              <a:t>U 形潜空间层级 65 / 33 / 17 / 9；弱支撑模板单独处理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166360"/>
            <a:ext cx="7068312" cy="868680"/>
          </a:xfrm>
          <a:prstGeom prst="rect">
            <a:avLst/>
          </a:prstGeom>
          <a:solidFill>
            <a:srgbClr val="F2F2F2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62626"/>
                </a:solidFill>
                <a:latin typeface="Arial"/>
                <a:ea typeface="Microsoft YaHei"/>
              </a:rPr>
              <a:t>约 6×10⁵ 个参数服务 2,679–45,900 个保留自由度</a:t>
            </a: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：权重作用于模板、通道和网格层级，不对应单个自由度；不形成显式矩阵（中位尺寸胞元的稠密 Ŝ 需 4.2 GiB）。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4.2 节，式 (13)–(14)；图：论文 Fig. 3；附录 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构造（五）：训练方向与目标函数——在部署的算子上训练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114300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𝓛(θ) = (1/B) Σ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log( q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Ŝq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) + w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s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(1/|𝒥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s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|) Σ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j∈𝒥_{s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} ‖s̃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− s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‖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/ ‖s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‖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,    q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Sq</a:t>
            </a:r>
            <a:r>
              <a:rPr sz="19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j</a:t>
            </a:r>
            <a:r>
              <a:rPr sz="1900" b="0" i="0">
                <a:solidFill>
                  <a:srgbClr val="262626"/>
                </a:solidFill>
                <a:latin typeface="Times New Roman"/>
                <a:ea typeface="Times New Roman"/>
              </a:rPr>
              <a:t> =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45059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训练方向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07792"/>
            <a:ext cx="5266944" cy="241401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规定的多项式位移与多尺度位移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平衡节点力、一致面力、弹簧支撑、邻胞元作用下的响应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去刚体分量，按 qᵀSq = 1 归一化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训练中加入能量比较大的方向（刚体补空间上的块搜索）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几何增广：立方体 48 种对称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37744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45059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在部署的算子上训练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907792"/>
            <a:ext cx="5266944" cy="241401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能量项：Ritz 原理，最小值对应每个方向上的平衡场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灵敏度项：带参考灵敏度标签的方向，w_s = 1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NICE 在 F = 𝒲Ê 上计算损失，梯度穿过光滑与粗校正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数据：691 个几何（591 训练 + 100 验证）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基础网络训练 40,000 步；NICE 在其上继续训练 15,000 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4.5 节，式 (18)；第 5.1 节，表 2，表 ST01；附录 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构造（六）：部署与点阵求解——不形成延拓与凝聚矩阵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3483864" cy="3154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16152"/>
            <a:ext cx="326440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每个几何准备一次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73352"/>
            <a:ext cx="3264408" cy="25511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单元矩、网络几何编码、系数与映射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光滑区间（幂迭代）、粗分解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不形成 Ê、Ŝ（中位尺寸胞元的稠密 Ŝ 需 4.2 GiB）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05072" y="274320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52544" y="1143000"/>
            <a:ext cx="3483864" cy="3154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216152"/>
            <a:ext cx="326440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每次作用 Ŝq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1673352"/>
            <a:ext cx="3264408" cy="25511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一次网络前向（单精度）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2k 步光滑 + 一次粗求解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再按相反顺序施加转置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00416" y="274320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47888" y="1143000"/>
            <a:ext cx="3483864" cy="315468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5" y="1216152"/>
            <a:ext cx="326440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点阵求解与灵敏度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5" y="1673352"/>
            <a:ext cx="3264408" cy="25511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自由保留自由度上的 PCG（相对残差 10⁻⁶）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平衡两层预条件：细层 = 𝕂_PP 分解（每次设计迭代一次）；粗空间 = 点阵顶点三线性 × 6 个刚体模态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恢复各胞元场，计算场基灵敏度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74552" cy="1051560"/>
          </a:xfrm>
          <a:prstGeom prst="rect">
            <a:avLst/>
          </a:prstGeom>
          <a:solidFill>
            <a:srgbClr val="F2F2F2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内存：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学习胞元状态每胞元 0.25–1.37 GiB（常规精确凝聚的内部 Cholesky 因子 0.60–9.4 GiB）；超出 GPU 预算的胞元从 CPU 内存流式读取。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当前上限：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预条件子里 𝕂_PP 的直接分解随装配保留系统增长（第 6.3 节）。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4.6 节，第 5.8–5.9 节；补充说明 S3、S4.1，表 ST13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验证集、载荷类别与比较的变体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6583680" cy="30175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914400"/>
                <a:gridCol w="182880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变体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训练集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训练中的校正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评估时的校正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70C0"/>
                          </a:solidFill>
                          <a:latin typeface="Arial"/>
                          <a:ea typeface="Microsoft YaHei"/>
                        </a:rPr>
                        <a:t>NICE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591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8 / Q₁(17) / 8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8 / Q₁(17) / 8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平滑训练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591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8 步光滑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8 步光滑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未校正（延续）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591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基础网络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305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基础网络（加校正）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305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8 / Q₁(17) /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06240"/>
            <a:ext cx="6583680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三个继续训练都从基础网络出发，再训练 15,000 步，几何与顺序相同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80 个验证几何中 20 个用于检查点选择；另报告其余 60 个的统计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051560"/>
            <a:ext cx="4416552" cy="4206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4927" y="1124712"/>
            <a:ext cx="4197096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80 个验证几何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4927" y="1581912"/>
            <a:ext cx="4197096" cy="360273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未切割、轻度（保留 &gt;2/3）、中度（1/3–2/3）、重度（&lt;1/3）切割各 20 个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厚度场：均匀、仿射或混合三线性；角点参数 0.176–0.698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九类保留位移方向：多项式、多尺度、节点力、一致面力（主类，每几何 64 个）、弹簧支撑、邻胞元诱导……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节点力会加载弱支撑节点：稳定化问题的压力测试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5.1 节，表 2，表 ST01–ST03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参考解与部署算子的验证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离散参考解（n = 32）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1"/>
            <a:ext cx="5266944" cy="26883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七个胞元加密：U1 → n = 40；M1、M2 → n = 48；H1、H2 等 → n = 64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除 H2 外：柔度变化 ≤0.28%，灵敏度 ≤0.44%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重度切割 H2：柔度约 1%，灵敏度约 </a:t>
            </a: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3.6%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ghost 罚系数 10⁻⁵–10⁻³、体积积分加密：变化 ≤0.12%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所有误差都相对于这个离散参考解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5352" y="1097280"/>
          <a:ext cx="5486398" cy="28346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26080"/>
                <a:gridCol w="1280159"/>
                <a:gridCol w="1280159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部署算子检查（U2、M1、M2、H1、H2）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一致面力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节点力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双线性形式对称性 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|q</a:t>
                      </a:r>
                      <a:r>
                        <a:rPr sz="1400" b="0" i="0" baseline="-2500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i</a:t>
                      </a:r>
                      <a:r>
                        <a:rPr sz="1400" b="0" i="0" baseline="3000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T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Ŝq</a:t>
                      </a:r>
                      <a:r>
                        <a:rPr sz="1400" b="0" i="0" baseline="-2500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j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 − q</a:t>
                      </a:r>
                      <a:r>
                        <a:rPr sz="1400" b="0" i="0" baseline="-2500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j</a:t>
                      </a:r>
                      <a:r>
                        <a:rPr sz="1400" b="0" i="0" baseline="3000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T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Ŝq</a:t>
                      </a:r>
                      <a:r>
                        <a:rPr sz="1400" b="0" i="0" baseline="-2500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i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|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9×10⁻⁹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≤3×10⁻⁸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返回功与恢复场能量之差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5×10⁻⁹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≤2×10⁻⁸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刚体模态能量 / 典型变形能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2×10⁻¹¹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≤1×10⁻¹⁰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部署算子 vs 训练时场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1.1×10⁻⁷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45352" y="4114800"/>
            <a:ext cx="54864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构造性质在浮点算术下得到保持（网络单精度、刚度作用与能量双精度）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5.2 节；表 ST04、ST10；补充说明 S1；图 S01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单胞精度：80 个验证几何平均 0.074%</a:t>
            </a:r>
          </a:p>
        </p:txBody>
      </p:sp>
      <p:pic>
        <p:nvPicPr>
          <p:cNvPr id="3" name="Picture 2" descr="F02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43017"/>
            <a:ext cx="7498079" cy="45548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051560"/>
            <a:ext cx="3502152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124712"/>
            <a:ext cx="35021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0.074%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801367"/>
            <a:ext cx="3319272" cy="50291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NICE 平均能量误差（一致面力）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514600"/>
            <a:ext cx="3502152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587752"/>
            <a:ext cx="35021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64–102×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264408"/>
            <a:ext cx="3319272" cy="50291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各分层平均低于未校正延续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977639"/>
            <a:ext cx="3502152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5,120 个方向：99% 低于 0.69%，最大 1.24%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60 个非选择几何：各类均值差 ≤0.005 个百分点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未切割 → 重度切割仍增约 7 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5；第 5.3 节，Table ST03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误差的组成——落在切割带旁，并被刚性方向放大</a:t>
            </a:r>
          </a:p>
        </p:txBody>
      </p:sp>
      <p:pic>
        <p:nvPicPr>
          <p:cNvPr id="3" name="Picture 2" descr="F12_field_error_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59" y="960120"/>
            <a:ext cx="5840841" cy="51663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37960" y="1051560"/>
            <a:ext cx="5193792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47688" y="1124712"/>
            <a:ext cx="4974336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空间分布（M1，一致面力）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7688" y="1581912"/>
            <a:ext cx="4974336" cy="16367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精确场：距切割面两单元内的层只含 8% 的能量（占单元 13%）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基础网络误差能量：39–43% 在这一层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NICE：总误差能量降低 113–138 倍，该层份额减半至 19–22%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3474720"/>
            <a:ext cx="5193792" cy="68580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ε = δ</a:t>
            </a:r>
            <a:r>
              <a:rPr sz="22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2</a:t>
            </a:r>
            <a:r>
              <a:rPr sz="2200" b="0" i="0">
                <a:solidFill>
                  <a:srgbClr val="262626"/>
                </a:solidFill>
                <a:latin typeface="Times New Roman"/>
                <a:ea typeface="Times New Roman"/>
              </a:rPr>
              <a:t>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4251960"/>
            <a:ext cx="5193792" cy="1783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δ：Jacobi 加权相对位移误差；κ：误差与精确场 Rayleigh 商之比</a:t>
            </a:r>
          </a:p>
          <a:p>
            <a:pPr algn="l" marL="228600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基础网络（M1、M2、H1、H2）：δ = 0.7–1.3%，κ = 124–7089 → ε = </a:t>
            </a:r>
            <a:r>
              <a:rPr sz="1400" b="1" i="0">
                <a:solidFill>
                  <a:srgbClr val="C00000"/>
                </a:solidFill>
                <a:latin typeface="Arial"/>
                <a:ea typeface="Microsoft YaHei"/>
              </a:rPr>
              <a:t>1.8–35%</a:t>
            </a:r>
          </a:p>
          <a:p>
            <a:pPr algn="l" marL="228600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小位移误差落在刚性方向上 → 大能量误差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5.4 节；附录 B.3；表 ST04；图：论文 Fig. 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两胞元装配——学习目标胞元 + 精确邻胞元</a:t>
            </a:r>
          </a:p>
        </p:txBody>
      </p:sp>
      <p:pic>
        <p:nvPicPr>
          <p:cNvPr id="3" name="Picture 2" descr="F09_assembly_lo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219" y="960120"/>
            <a:ext cx="8526513" cy="3108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4206240"/>
            <a:ext cx="3575304" cy="1783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7939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36592"/>
            <a:ext cx="3355848" cy="1179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选择集：U1、U2、L1、M1、M2、H1、H3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留出：9 个胞元（5 个误差最大 + 每层 1 个）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4206240"/>
            <a:ext cx="3575304" cy="1783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2" y="427939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载荷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4736592"/>
            <a:ext cx="3355848" cy="1179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每配置 6 个面载荷：3 个方向 × 目标面 / 邻胞元面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另测 3 个切割面载荷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4206240"/>
            <a:ext cx="3575304" cy="1783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5" y="4279392"/>
            <a:ext cx="3355848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度量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5" y="4736592"/>
            <a:ext cx="3355848" cy="1179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柔度误差；每胞元 8 分量灵敏度向量误差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共同参考线 3%；取 6 个载荷和两胞元的最大值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5.6 节；图：论文 Fig. 9；补充说明 S4.2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装配后：柔度准，灵敏度不一定准</a:t>
            </a:r>
          </a:p>
        </p:txBody>
      </p:sp>
      <p:pic>
        <p:nvPicPr>
          <p:cNvPr id="3" name="Picture 2" descr="F05_assemb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69" y="960120"/>
            <a:ext cx="5234621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72200" y="1097280"/>
            <a:ext cx="5559552" cy="2057400"/>
          </a:xfrm>
          <a:prstGeom prst="roundRect">
            <a:avLst>
              <a:gd name="adj" fmla="val 6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81928" y="1170432"/>
            <a:ext cx="5340096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不完整的校正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1928" y="1627631"/>
            <a:ext cx="5340096" cy="14538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未校正延续：灵敏度最高 11.4%，4 个配置越过 3% 线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仅光滑训练：同样 4 个配置 3.15–4.43%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337560"/>
            <a:ext cx="5559552" cy="260604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3410712"/>
            <a:ext cx="5340096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NICE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3867911"/>
            <a:ext cx="5340096" cy="20025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14 个选择配置 + 18 个留出配置全部低于两条 3% 线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最大：柔度 </a:t>
            </a:r>
            <a:r>
              <a:rPr sz="1500" b="1" i="0">
                <a:solidFill>
                  <a:srgbClr val="0070C0"/>
                </a:solidFill>
                <a:latin typeface="Arial"/>
                <a:ea typeface="Microsoft YaHei"/>
              </a:rPr>
              <a:t>0.27%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，灵敏度 </a:t>
            </a:r>
            <a:r>
              <a:rPr sz="1500" b="1" i="0">
                <a:solidFill>
                  <a:srgbClr val="0070C0"/>
                </a:solidFill>
                <a:latin typeface="Arial"/>
                <a:ea typeface="Microsoft YaHei"/>
              </a:rPr>
              <a:t>1.49%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基础网络部署时加校正（不重训）也全部低于 3% 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10；第 5.6 节，Table 5，Table ST08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消融：压缩边界对柔度尚可，对局部灵敏度不行</a:t>
            </a:r>
          </a:p>
        </p:txBody>
      </p:sp>
      <p:pic>
        <p:nvPicPr>
          <p:cNvPr id="3" name="Picture 2" descr="F06_bernste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483" y="960120"/>
            <a:ext cx="5981984" cy="3017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4114800"/>
            <a:ext cx="3575304" cy="146304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87952"/>
            <a:ext cx="3575304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78–85%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64608"/>
            <a:ext cx="3392424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全部胞元边界面 r = 1：柔度误差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4114800"/>
            <a:ext cx="3575304" cy="146304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06824" y="4187952"/>
            <a:ext cx="3575304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24–64%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8264" y="4864608"/>
            <a:ext cx="3392424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全部胞元边界面 r = 8：柔度已 0.49–0.74%，邻载灵敏度误差仍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4114800"/>
            <a:ext cx="3575304" cy="146304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4187952"/>
            <a:ext cx="3575304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8–21%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4864608"/>
            <a:ext cx="3392424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只限制界面 r = 3：柔度 0.17–0.44%，邻载灵敏度误差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12；第 5.7 节，Table ST11（精确胞元算子，只改保留表示）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八胞元点阵：全部是学习胞元，而且都是训练中没见过的胞元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6949440" cy="32918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86000"/>
                <a:gridCol w="2331720"/>
                <a:gridCol w="2331720"/>
              </a:tblGrid>
              <a:tr h="548640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2×2×2 块体（4 胞元切割）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3×3×1 层（3 胞元切割）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柔度误差（三个面载）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0.014 / 0.011 / 0.0094%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0.015 / 0.013 / 0.010%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柔度误差（随机载荷，最大）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0.069%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0.056%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灵敏度最大误差（面载 / 随机）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0.14% / 0.45%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0.14% / 0.43%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装配保留解差异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0.13%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0.12%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各胞元能量误差（面载）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0.006–0.026%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0.005–0.052%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772400" y="1097280"/>
            <a:ext cx="3959352" cy="13716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170432"/>
            <a:ext cx="39593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0070C0"/>
                </a:solidFill>
                <a:latin typeface="Arial"/>
                <a:ea typeface="Microsoft YaHei"/>
              </a:rPr>
              <a:t>≤0.015%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847088"/>
            <a:ext cx="3776472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面载下点阵柔度误差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651760"/>
            <a:ext cx="3959352" cy="13716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724912"/>
            <a:ext cx="39593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0070C0"/>
                </a:solidFill>
                <a:latin typeface="Arial"/>
                <a:ea typeface="Microsoft YaHei"/>
              </a:rPr>
              <a:t>≤0.14%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401568"/>
            <a:ext cx="3776472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面载下灵敏度最大误差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06240"/>
            <a:ext cx="3959352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份额加权界 β 与实际柔度误差之差 &lt; β 的 0.4%（面载）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点阵误差低于两胞元最大误差：Eq. (7) 按能量份额加权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5.8 节；参考解：装配精确凝聚矩阵，相对残差 ≤1.3×10⁻¹⁰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细网格复核：每一层都对照了全分辨率的离散解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74550" cy="4096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9912"/>
                <a:gridCol w="4216499"/>
                <a:gridCol w="2199912"/>
                <a:gridCol w="2658227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层级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参考解（全分辨率离散解）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复核的量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结果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单胞（80 个验证几何）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同一 n = 32 网格上的精确 Schur 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方向能量误差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平均 0.074%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两胞元装配（32 个配置）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精确凝聚（目标胞元与邻胞元）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/ 每胞元 8 分量灵敏度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≤0.27% / ≤1.49%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四胞元点阵（2 个）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整体点阵直接求解：全部内部 + 保留自由度（88.5 万–95.8 万）一起求解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70C0"/>
                          </a:solidFill>
                          <a:latin typeface="Arial"/>
                          <a:ea typeface="Microsoft YaHei"/>
                        </a:rPr>
                        <a:t>≤0.022%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八胞元点阵（2 个）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装配精确凝聚（与整体直接解一致到 7×10⁻¹⁰）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/ 灵敏度 / 保留解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≤0.015% / ≤0.14% / ≤0.13%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优化算例 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精确凝聚孪生优化；迭代 0、12、23 复核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/ 梯度 / 最终设计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≤0.028% / ≤0.33% / 角点差 ≤0.0051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切割固支板；规模板（24、51 胞元）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板的五个设计 + 规模板首个设计的精确凝聚复核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/ 梯度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≤0.032% / ≤0.32%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离散本身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n = 32 → 40 / 48 / 64 加密（7 个胞元）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/ 灵敏度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除 H2 外 ≤0.28% / ≤0.44%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49240"/>
            <a:ext cx="11274552" cy="640080"/>
          </a:xfrm>
          <a:prstGeom prst="rect">
            <a:avLst/>
          </a:prstGeom>
          <a:solidFill>
            <a:srgbClr val="F2F2F2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说明：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精确凝聚与整体直接求解是同一个离散解；未算精确参考解的只有 88 和 110 胞元两块板（表 ST20 已写明）。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5.2、5.3、5.6、5.8、5.9、5.10 节；Table 3、Table 6，Table ST10、ST17、ST20、ST21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成本：约为 16 线程直接解的 1/10，单线程口径 57–77×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05840"/>
          <a:ext cx="722376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001000" y="1097280"/>
            <a:ext cx="3730752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1170432"/>
            <a:ext cx="37307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≈10×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847088"/>
            <a:ext cx="3547872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相对 16 线程直接解（868 / 1,042 s 对 79 / 105 s）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651760"/>
            <a:ext cx="3730752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724912"/>
            <a:ext cx="37307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57–77×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401568"/>
            <a:ext cx="3547872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单线程口径（与 PIML 的串行基准一致）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4206240"/>
            <a:ext cx="3730752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4279392"/>
            <a:ext cx="373075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00000"/>
                </a:solidFill>
                <a:latin typeface="Arial"/>
                <a:ea typeface="Microsoft YaHei"/>
              </a:rPr>
              <a:t>66–81 GiB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956048"/>
            <a:ext cx="3547872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八胞元直接法 Cholesky 因子；NICE 显存峰值 9.2 GiB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5.9 节，Table 6，Table ST12b；不同处理器：一块 GPU 对 16 个 CPU 线程，比较的是各自的部署方式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加速比要和精度、基准一起看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74549" cy="4096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83238"/>
                <a:gridCol w="2658227"/>
                <a:gridCol w="3666520"/>
                <a:gridCol w="2566564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工作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加速比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相对细网格的精度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基准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EML 2023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328–472×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无全尺度误差表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SIMP 前 10 步的平均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JMPS 2024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&gt;230×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−4.7%，位移 6.3%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Matlab，串行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CMAME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设计迭代 7.4–63×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位移 1.3–13.6%；集中载荷柔度 15–63%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求解器未说明，串行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CMAME 2026 全节点方案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7.3–7.5×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位移 0.84–3.46%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同上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CS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46×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2.8–9.2%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PCG + 不完全 Cholesky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IJMS 2026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70–129×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−20.7%，应力约低估 5.3 倍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OptiStruct 32 核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70C0"/>
                          </a:solidFill>
                          <a:latin typeface="Arial"/>
                          <a:ea typeface="Microsoft YaHei"/>
                        </a:rPr>
                        <a:t>NICE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≈10×（16 线程）；57–77×（单线程）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柔度 ≤0.015%，灵敏度 ≤0.14%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MKL PARDISO Cholesky + 常规精确凝聚</a:t>
                      </a:r>
                    </a:p>
                  </a:txBody>
                  <a:tcPr marL="54864" marR="54864" marT="27432" marB="27432" anchor="ctr"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49240"/>
            <a:ext cx="11274552" cy="640080"/>
          </a:xfrm>
          <a:prstGeom prst="rect">
            <a:avLst/>
          </a:prstGeom>
          <a:solidFill>
            <a:srgbClr val="F2F2F2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70C0"/>
                </a:solidFill>
                <a:latin typeface="Arial"/>
                <a:ea typeface="Microsoft YaHei"/>
              </a:rPr>
              <a:t>用途：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精度层级与基准不同，加速比不宜直接比较；正文不做此比较，审稿人问到时按此表陈述事实（RESPONSE_PREP_SPEEDUP_CN.md）。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来源：GUO_SERIES_COMPARISON_CN.md 第 2 节；本文 Table 6、ST12b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厚度优化的设置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960120"/>
          </a:xfrm>
          <a:prstGeom prst="rect">
            <a:avLst/>
          </a:prstGeom>
          <a:solidFill>
            <a:srgbClr val="EAF2FB"/>
          </a:solidFill>
        </p:spPr>
        <p:txBody>
          <a:bodyPr wrap="square" lIns="137160" rIns="137160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min  C(τ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g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) = f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g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U    s.t.   V(τ</a:t>
            </a:r>
            <a:r>
              <a:rPr sz="20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g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) ≤ V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*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 = 0.8 V(τ</a:t>
            </a:r>
            <a:r>
              <a:rPr sz="20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0</a:t>
            </a:r>
            <a:r>
              <a:rPr sz="2000" b="0" i="0">
                <a:solidFill>
                  <a:srgbClr val="262626"/>
                </a:solidFill>
                <a:latin typeface="Times New Roman"/>
                <a:ea typeface="Times New Roman"/>
              </a:rPr>
              <a:t>),   0.18 ≤ τ ≤ 0.69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26771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变量与约束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4912"/>
            <a:ext cx="5266944" cy="2322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变量：点阵顶点处的角点厚度参数 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τ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g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，映射到各胞元角点 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τ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m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(τ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g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)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加载面平面上的顶点参数固定（算例 A 27 个中 9 个，板 74 个中 10 个）→ 载荷与设计无关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每胞元角点跨度、梯度范数 ≤0.45：保持在训练范围内（[0.175, 0.699]，≤0.47）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梯度：各胞元场基灵敏度按顶点求和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19456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267712"/>
            <a:ext cx="526694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每次设计迭代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724912"/>
            <a:ext cx="5266944" cy="23225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重新生成每个胞元的几何与学习子结构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从上一步的解开始 PCG 求解点阵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MMA（Svanberg 2007 变体）一步，移动限 5%，无线搜索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停止：目标相对变化连续 3 次 &lt; 10⁻⁴；不用 KKT 残差（离散模型在迭代间切换）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5.10 节；表 ST16；补充说明 S6.1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优化算例 A：与精确凝聚的孪生运行几乎重合</a:t>
            </a:r>
          </a:p>
        </p:txBody>
      </p:sp>
      <p:pic>
        <p:nvPicPr>
          <p:cNvPr id="3" name="Picture 2" descr="F13_optimisation.png"/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1116709" y="960120"/>
            <a:ext cx="535610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06640" y="1051560"/>
            <a:ext cx="4325112" cy="132588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1124712"/>
            <a:ext cx="432511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0070C0"/>
                </a:solidFill>
                <a:latin typeface="Arial"/>
                <a:ea typeface="Microsoft YaHei"/>
              </a:rPr>
              <a:t>0.0051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01367"/>
            <a:ext cx="4142232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与孪生设计的最大角点参数差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2560320"/>
            <a:ext cx="4325112" cy="3474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24 / 23 次迭代停止；柔度都降 2.0%，用料少 20%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柔度比精确值低 0.011–0.028%（符号由 Eq. (7) 给出）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梯度误差 ≤0.33%，余弦 ≥0.999996，每个分量符号正确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每对相邻迭代之间离散模型都发生切换，仍收敛到同一设计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14a；第 5.10 节，Table ST16–ST17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切割固支板：均匀化低估柔度 27%，设计在真实几何上更软</a:t>
            </a:r>
          </a:p>
        </p:txBody>
      </p:sp>
      <p:pic>
        <p:nvPicPr>
          <p:cNvPr id="3" name="Picture 2" descr="F13_optimisation.png"/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1670085" y="960120"/>
            <a:ext cx="3060628" cy="2926080"/>
          </a:xfrm>
          <a:prstGeom prst="rect">
            <a:avLst/>
          </a:prstGeom>
        </p:spPr>
      </p:pic>
      <p:pic>
        <p:nvPicPr>
          <p:cNvPr id="4" name="Picture 3" descr="F14_designs_scale.png"/>
          <p:cNvPicPr>
            <a:picLocks noChangeAspect="1"/>
          </p:cNvPicPr>
          <p:nvPr/>
        </p:nvPicPr>
        <p:blipFill>
          <a:blip r:embed="rId4"/>
          <a:srcRect r="34000"/>
          <a:stretch>
            <a:fillRect/>
          </a:stretch>
        </p:blipFill>
        <p:spPr>
          <a:xfrm>
            <a:off x="1067454" y="3931920"/>
            <a:ext cx="4265891" cy="2194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63640" y="10515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63640" y="1124712"/>
            <a:ext cx="26060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27.0%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79" y="1801367"/>
            <a:ext cx="2423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均匀化在初始设计上低估柔度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25712" y="10515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25712" y="1124712"/>
            <a:ext cx="26060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2.44%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801367"/>
            <a:ext cx="2423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均匀化设计在切割几何上更软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697480"/>
            <a:ext cx="5468112" cy="3291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24 胞元（16 未切割 + 8 切割），切割带全部自由度固支：保留切割带直接表示，不重训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精确柔度：均匀化设计 80.198，NICE 设计 78.287；用 NICE 或精确凝聚评估结论相同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两设计角点参数最多相差 0.26（相关系数 0.95）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NICE 柔度误差 ≤0.030%，梯度误差 ≤0.30%；24 次迭代共 1.3 h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宏观网格 6→12 每胞元每轴：低估 27.0%→25.8%；罚参数 ×100：变化 &lt;0.001%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细观固支整个切割带（更刚的支撑），只会缩小差距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图：论文 Fig. 14b、Fig. 15a,b；第 5.10 节，Table ST18c、ST21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规模：每次设计迭代耗时与胞元数成正比，每胞元 10.1–10.9 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05840"/>
          <a:ext cx="676656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498079" y="1051560"/>
            <a:ext cx="4233672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124712"/>
            <a:ext cx="423367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10.1–10.9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19" y="1801367"/>
            <a:ext cx="4050791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每胞元、每次设计迭代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560320"/>
            <a:ext cx="4233672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633472"/>
            <a:ext cx="4233672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0000"/>
                </a:solidFill>
                <a:latin typeface="Arial"/>
                <a:ea typeface="Microsoft YaHei"/>
              </a:rPr>
              <a:t>0.7 GiB / 胞元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3310127"/>
            <a:ext cx="4050791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  <a:ea typeface="Microsoft YaHei"/>
              </a:rPr>
              <a:t>CPU 内存线性增长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069080"/>
            <a:ext cx="4233672" cy="1920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650 万–3270 万自由度，凝聚为 39 万–162 万自由保留自由度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上限在预条件子里 K_PP 的直接分解，不在学习胞元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  <a:ea typeface="Microsoft YaHei"/>
              </a:rPr>
              <a:t>24、51 胞元首个设计已精确复核；88、110 胞元未算精确参考解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5.10 节，Fig. 15c，Table ST20（每个规模跑前 4 次设计迭代）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局限与审稿人可能的追问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40680" cy="3566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522122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  <a:ea typeface="Microsoft YaHei"/>
              </a:rPr>
              <a:t>局限（6.3 节已如实写出）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1"/>
            <a:ext cx="5221224" cy="29626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一种胞元族（Schwarz-P）、一种离散（n = 32）；网络不等变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没有认证误差界，只有可计算残差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灵敏度为场基估计，省略延拓的设计导数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88、110 胞元的板无精确参考解；整体迭代求解器只比较了 AMG 与 BDDC 局部分解，未比 FETI-DP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训练对比只用一个随机种子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097280"/>
            <a:ext cx="5440680" cy="356616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70432"/>
            <a:ext cx="522122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70C0"/>
                </a:solidFill>
                <a:latin typeface="Arial"/>
                <a:ea typeface="Microsoft YaHei"/>
              </a:rPr>
              <a:t>可能的追问 → 已备答复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27631"/>
            <a:ext cx="5221224" cy="29626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"加速只有 10×"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→ 精度层级不同；同精度档他们 7×；基准强度不同（单线程口径 57–77×）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"只有一种胞元族"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→ 构造与误差关系通用，网络适用范围 6.3 节写明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"一个种子"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→ 如实写出；被要求时可补多种子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Arial"/>
                <a:ea typeface="Microsoft YaHei"/>
              </a:rPr>
              <a:t>"迭代求解器会不会更快"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→ 整体点阵 AMG 预条件共轭梯度 637–752 s，NICE 79–105 s（第 5.9 节，表 ST12e）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论文第 6.3 节；review_r1/RESPONSE_PREP_SPEEDUP_CN.md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投稿计划：CMAME，同时挂 arXiv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10028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1  作者信息与声明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2290572" cy="16824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作者、单位、CRediT、利益冲突、致谢、AI 使用声明（作者本人填写）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31236" y="233172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78708" y="1371600"/>
            <a:ext cx="2510028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8436" y="144475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2  通读定稿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8436" y="1901952"/>
            <a:ext cx="2290572" cy="16824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中英文版、Word 版均已就绪，可分工通读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52744" y="233172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0216" y="1371600"/>
            <a:ext cx="2510028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44475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3  （可选）预投稿咨询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1901952"/>
            <a:ext cx="2290572" cy="16824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Nature Computational Science，1–2 周回复；预期建议转专业期刊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74252" y="2331720"/>
            <a:ext cx="283464" cy="34747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21724" y="1371600"/>
            <a:ext cx="2510028" cy="2286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1452" y="1444752"/>
            <a:ext cx="229057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0C0"/>
                </a:solidFill>
                <a:latin typeface="Arial"/>
                <a:ea typeface="Microsoft YaHei"/>
              </a:rPr>
              <a:t>4  投 CMAME + arXiv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1452" y="1901952"/>
            <a:ext cx="2290572" cy="16824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同时挂预印本，确立 NICE、单侧界、平衡校正的优先权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11274552" cy="1188720"/>
          </a:xfrm>
          <a:prstGeom prst="rect">
            <a:avLst/>
          </a:prstGeom>
          <a:solidFill>
            <a:srgbClr val="F2F2F2"/>
          </a:solidFill>
        </p:spPr>
        <p:txBody>
          <a:bodyPr wrap="square" lIns="182880" rIns="182880" t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为什么是 CMAME：</a:t>
            </a:r>
            <a:r>
              <a:rPr sz="1600" b="0" i="0">
                <a:solidFill>
                  <a:srgbClr val="262626"/>
                </a:solidFill>
                <a:latin typeface="Arial"/>
                <a:ea typeface="Microsoft YaHei"/>
              </a:rPr>
              <a:t>论文的强项（变分结构、可组装、误差链、严格的精确凝聚核对）在 CMAME 最被看重；冲更高需要新工作（第二胞元族、更大规模、实验），放到后续论文。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后续工作思路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1615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P2  局部量驱动设计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7335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点阵设计以应力等局部量为目标或约束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4418" y="114300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4146" y="121615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P3  跨胞族与几何泛化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4146" y="167335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多胞族联合训练、留出一族测试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映射或曲面边界的胞元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对称性由构造保证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可选：粗网格校正并入网络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14300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1364" y="121615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拉扭耦合的 B 样条单胞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1364" y="167335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单独成篇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18854" y="1143000"/>
            <a:ext cx="2612898" cy="3108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28582" y="1216152"/>
            <a:ext cx="239344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Arial"/>
                <a:ea typeface="Microsoft YaHei"/>
              </a:rPr>
              <a:t>动力学与屈曲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8582" y="1673352"/>
            <a:ext cx="2393441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Rayleigh–Ritz 性质给出频率与临界载荷的上界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用于振动或屈曲相关的设计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11274552" cy="1325880"/>
          </a:xfrm>
          <a:prstGeom prst="rect">
            <a:avLst/>
          </a:prstGeom>
          <a:solidFill>
            <a:srgbClr val="F2F2F2"/>
          </a:solidFill>
        </p:spPr>
        <p:txBody>
          <a:bodyPr wrap="square" lIns="182880" rIns="182880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Arial"/>
                <a:ea typeface="Microsoft YaHei"/>
              </a:rPr>
              <a:t>基础推进：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大规模求解：以多层或迭代粗求解替换保留系统的直接分解，使分析和设计扩展到上千个胞元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质量与几何刚度凝聚：同一个延拓给出 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F</a:t>
            </a:r>
            <a:r>
              <a:rPr sz="15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MF</a:t>
            </a: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 和 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F</a:t>
            </a:r>
            <a:r>
              <a:rPr sz="1500" b="0" i="0" baseline="30000">
                <a:solidFill>
                  <a:srgbClr val="262626"/>
                </a:solidFill>
                <a:latin typeface="Times New Roman"/>
                <a:ea typeface="Times New Roman"/>
              </a:rPr>
              <a:t>T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K</a:t>
            </a:r>
            <a:r>
              <a:rPr sz="1500" b="0" i="0" baseline="-25000">
                <a:solidFill>
                  <a:srgbClr val="262626"/>
                </a:solidFill>
                <a:latin typeface="Times New Roman"/>
                <a:ea typeface="Times New Roman"/>
              </a:rPr>
              <a:t>G</a:t>
            </a:r>
            <a:r>
              <a:rPr sz="1500" b="0" i="0">
                <a:solidFill>
                  <a:srgbClr val="262626"/>
                </a:solidFill>
                <a:latin typeface="Times New Roman"/>
                <a:ea typeface="Times New Roman"/>
              </a:rPr>
              <a:t>F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更多胞族的数据与训练：在 Schwarz-P 之外加入 gyroid 等胞族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详见 P1_后续工作安排.pdf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备用页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74552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 i="0">
                <a:solidFill>
                  <a:srgbClr val="595959"/>
                </a:solidFill>
                <a:latin typeface="Arial"/>
                <a:ea typeface="Microsoft YaHei"/>
              </a:rPr>
              <a:t>B1  映射单胞零样本测试（后续工作前期结果）</a:t>
            </a:r>
          </a:p>
          <a:p>
            <a:pPr algn="ctr">
              <a:spcAft>
                <a:spcPts val="1000"/>
              </a:spcAft>
            </a:pPr>
            <a:r>
              <a:rPr sz="2000" b="0" i="0">
                <a:solidFill>
                  <a:srgbClr val="595959"/>
                </a:solidFill>
                <a:latin typeface="Arial"/>
                <a:ea typeface="Microsoft YaHei"/>
              </a:rPr>
              <a:t>B2  与 PIML 系列的逐项对照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B1  映射单胞零样本：结构始终成立，拉伸是唯一明显失效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4549" cy="3520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9868"/>
                <a:gridCol w="3299868"/>
                <a:gridCol w="2016586"/>
                <a:gridCol w="2658227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映射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平均能量误差（共转拉回）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最差胞元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最坏方向 μ−1 中位数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恒等（即 P1）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0.072%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0.29%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0.23%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整胞元转 30°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0.074%（直接用 3.72%）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0.30%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0.31%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扭转 10° / 胞元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0.089%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0.33%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0.85%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扭转 30° / 胞元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0.27%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0.88%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18%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弯曲 R/L =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0.097%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0.43%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0.27%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拉伸 ×0.5（cond J = 2）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3.9%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8.9%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215%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00600"/>
            <a:ext cx="11274552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384 对全部保持 Ŝ ⪰ S 与对称半正定；刚体基须在物理坐标里分离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  <a:ea typeface="Microsoft YaHei"/>
              </a:rPr>
              <a:t>最坏方向（只是下界）远大于平均：恒等映射下重切胞元 2012 的 μ−1 ≥ 44.5% —— 待查清是否会在装配中被激发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来源：docs/followup/A/full16/SUMMARY.md；STEP0_PLAN_CN.md 第 10 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00000"/>
                </a:solidFill>
              </a:rPr>
              <a:t>B2  与 PIML 系列的逐项对照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74549" cy="39684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6608"/>
                <a:gridCol w="2016586"/>
                <a:gridCol w="1833260"/>
                <a:gridCol w="1649934"/>
                <a:gridCol w="1833260"/>
                <a:gridCol w="2474901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维度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EML 2023 / JMPS 2024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CMAME 2026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CS 2026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IJMS 2026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NICE</a:t>
                      </a:r>
                    </a:p>
                  </a:txBody>
                  <a:tcPr marL="54864" marR="54864" marT="27432" marB="27432" anchor="ctr"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边界自由度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168（Bézier）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2,679–45,900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训练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监督 / 无数据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监督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监督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监督（迁移）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能量对数比 + 灵敏度项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灵敏度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场基，忽略 ∂N/∂ρ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未说明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未说明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场基；应力问题反传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场基 + 完整导数；逐胞元报告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理论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刚体不变性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插值不变性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误差放大估计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刚体不变性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Ritz 下界、份额界、校正排序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校正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投影（rank-6）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无（转细网格）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固定两重网格校正 𝒲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参考解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细网格 / EMsFEM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细网格（设计未复核）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同边界子结构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同边界子结构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  <a:ea typeface="Microsoft YaHei"/>
                        </a:rPr>
                        <a:t>同一离散的精确凝聚</a:t>
                      </a:r>
                    </a:p>
                  </a:txBody>
                  <a:tcPr marL="54864" marR="54864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" y="62179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Microsoft YaHei"/>
              </a:rPr>
              <a:t>来源：GUO_SERIES_COMPARISON_CN.md 第 2 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800000"/>
      </a:dk2>
      <a:lt2>
        <a:srgbClr val="333333"/>
      </a:lt2>
      <a:accent1>
        <a:srgbClr val="EB6743"/>
      </a:accent1>
      <a:accent2>
        <a:srgbClr val="D3A911"/>
      </a:accent2>
      <a:accent3>
        <a:srgbClr val="FFFFFF"/>
      </a:accent3>
      <a:accent4>
        <a:srgbClr val="000000"/>
      </a:accent4>
      <a:accent5>
        <a:srgbClr val="F3B8B0"/>
      </a:accent5>
      <a:accent6>
        <a:srgbClr val="BF990E"/>
      </a:accent6>
      <a:hlink>
        <a:srgbClr val="7B9B63"/>
      </a:hlink>
      <a:folHlink>
        <a:srgbClr val="38A3B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noFill/>
        </a:ln>
      </a:spPr>
      <a:bodyPr anchor="ctr">
        <a:spAutoFit/>
      </a:bodyPr>
      <a:lstStyle>
        <a:defPPr>
          <a:defRPr sz="2800" b="1">
            <a:solidFill>
              <a:srgbClr val="0070C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800000"/>
        </a:dk2>
        <a:lt2>
          <a:srgbClr val="333333"/>
        </a:lt2>
        <a:accent1>
          <a:srgbClr val="EB6743"/>
        </a:accent1>
        <a:accent2>
          <a:srgbClr val="D3A911"/>
        </a:accent2>
        <a:accent3>
          <a:srgbClr val="FFFFFF"/>
        </a:accent3>
        <a:accent4>
          <a:srgbClr val="000000"/>
        </a:accent4>
        <a:accent5>
          <a:srgbClr val="F3B8B0"/>
        </a:accent5>
        <a:accent6>
          <a:srgbClr val="BF990E"/>
        </a:accent6>
        <a:hlink>
          <a:srgbClr val="7B9B63"/>
        </a:hlink>
        <a:folHlink>
          <a:srgbClr val="38A3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2E507A"/>
        </a:dk2>
        <a:lt2>
          <a:srgbClr val="333333"/>
        </a:lt2>
        <a:accent1>
          <a:srgbClr val="5A90C2"/>
        </a:accent1>
        <a:accent2>
          <a:srgbClr val="8AC246"/>
        </a:accent2>
        <a:accent3>
          <a:srgbClr val="FFFFFF"/>
        </a:accent3>
        <a:accent4>
          <a:srgbClr val="000000"/>
        </a:accent4>
        <a:accent5>
          <a:srgbClr val="B5C6DD"/>
        </a:accent5>
        <a:accent6>
          <a:srgbClr val="7DB03F"/>
        </a:accent6>
        <a:hlink>
          <a:srgbClr val="F6831A"/>
        </a:hlink>
        <a:folHlink>
          <a:srgbClr val="EFC82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A82A9F"/>
        </a:dk2>
        <a:lt2>
          <a:srgbClr val="4D4D4D"/>
        </a:lt2>
        <a:accent1>
          <a:srgbClr val="12B4D4"/>
        </a:accent1>
        <a:accent2>
          <a:srgbClr val="F1C23D"/>
        </a:accent2>
        <a:accent3>
          <a:srgbClr val="FFFFFF"/>
        </a:accent3>
        <a:accent4>
          <a:srgbClr val="000000"/>
        </a:accent4>
        <a:accent5>
          <a:srgbClr val="AAD6E6"/>
        </a:accent5>
        <a:accent6>
          <a:srgbClr val="DAB036"/>
        </a:accent6>
        <a:hlink>
          <a:srgbClr val="8CA62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TA3NzgzNTM2NTQwIiwKCSJHcm91cElkIiA6ICI5ODIxNTE3NjAiLAoJIkltYWdlIiA6ICJpVkJPUncwS0dnb0FBQUFOU1VoRVVnQUFBY2dBQUFXR0NBSUFBQUNFM3FLeUFBQUFBWE5TUjBJQXJzNGM2UUFBSUFCSlJFRlVlSnpzM1hrZ2xOdi9CL0F6RzJQZnMwZVdTbEVoTFpaUVVWYzNsTFpiVXFuVWJkT2VTMXB1V3BSdW14YVJiRzJLTHFYaXRtKzB1QzJTSllrc0ViSXpHRE8vUDg3Mysvem1PeVRxWVdyNnZQNmFPWFBtZVk3QmU4NXpudk9jaDhMbGNoRUFBQUR5VUFYZEFBQUFFRFlRckFBQVFESUlWZ0FBSUJrRUt3QUFrQXlDRlFBQVNBYkJDZ0FBSklOZ0JRQUFra0d3QWdBQXlTQllBUUNBWkJDc0FBQkFNZ2hXQUFBZ0dRUXJBQUNRRElJVkFBQklCc0VLQUFBa2cyQUZBQUNTUWJBQ0FBREpJRmdCQUlCa0VLd0FBRUF5Q0ZZQUFDQVpCQ3NBQUpBTWdoVUFBRWdHd1FvQUFDU0RZQVVBQUpKQnNBSUFBTWtnV0FFQWdHUVFyQUFBUURJSVZnQUFJQmtFS3dBQWtBeUNGUUFBU0FiQkNnQUFKSU5nQlFBQWtrR3dBZ0FBeVNCWUFRQ0FaQkNzQUFCQU1naFdBQUFnR1Yyd3U2K3ByYjE1KzI3KyswTEJOZ1AwQUhWMTFiRTIxckt5TW9KdUNBRGRUc0RCK3Z6bHErMjcvNnFvK0NUWVpvQWVJQ3NqSXlraE1kNXVqS0FiQWtDM0UvQlFRRmxaT2FUcVQ2S3F1dnJEaDFKQnR3S0FuaURnSGl2Qm9IOWYrekcyZ200RjZCWjM3ajE4L2pKTjBLMEFvT2Q4TDhFNm9IOC96NldMQmQwSzBDMXFhbW9oV01GUEJXWUZBQUFBeVNCWUFRQ0FaQkNzQUFCQU1naFdBQUFnR1FRckFBQ1FESUlWQUFCSUp2ekIydExTSXVnbUFBQitMa0llck1YRnhUWTJOamR2M3VRdC9QVHBVMmw3cXFxcVByZWRZOGVPV1Z0Ykp5Y245MGlyMjdGbzBhSUpFeWFVbFpVSnFnRUFnTTc3WGk0UTZDYUJnWUVVQ2tWT1R1NzE2OWNJSVRVMU5WbFoyU1ZMbHJ4NTg2WnRaU3NycS8zNzk3ZTduYlMwdExxNnVxeXNySkVqUjNhcEFVMU5UVFFhalU3L3BzK1p6V2EvZXZXS3hXS1ZsSlFvS1NsOXk2YStLQ3NyYStiTW1iTm56MTY1Y21XMzdnZ0FJU2JNd2ZycTFhdkV4RVFtazdsczJUSXVsOXZVMU9UcjYrdnM3QndRRU1CaXNieTl2YlcxdFQwOFBIRGxMVnUyU0VwS2ZtNVRXN2R1VFV0THM3UzA3RklEQWdNRHo1NDlHeE1UbzZ5cy9DMC9DSjFPRHdzTHE2cXFNakl5K3BidGRNYUZDeGNRUXBNblQrN3VIUUVneElRMldHdHFhdjc0NDQrUkkwY2VPblNJUXFIczNMbnp6cDA3MXRiV0NDRU5EUTAybS8zeDQ4ZGZmdmxGVDA4UDEyOXRiWldRa1BqYzFoUVZGVzF0dTd5VXdZc1hMeG9iRzcvdDUvZ1BmWDE5VXJiVHNZYUdobXZYcnBtWm1mWHUzYnNIZGdlQXNCTE9NVll1bDd0eDQ4YUtpb3JmZnZzdEl5UGovUG56Rnk1Y21EZHYzb2NQSHlvckt4RkNjWEZ4ZFhWMW8wZVBibWhvUUFnVkZCUzhlL2V1dTQreXZ3Nlh5KzJ4VFYyOWVyV2hvY0hGeFlXc1BRTHdjeExPWUcxdGJlVnl1WEp5Y2w1ZVhxdFhydzRJQ0pDVWxEeDU4dVM4ZWZPU2twSmlZMk4zNzk2OWVQSGlYcjE2V1ZsWkRSOCszTm5aR1NFMGV2VG96MjF3Ky9idHBxYW1qeDQ5d2srdlg3OXVhbXA2OE9EQndzTEN0V3ZYV2x0YlcxaFlyRnk1c3JpNEdGY0lDQWd3TlRYOTk5OS9FVUlPRGc2bXBxYkxsaTBqdG5idDJqVTNOemR6YzNOcmEydFBUOC9NekV6aUpXTExLU2twVTZaTUdUcDA2TzNidC9HeHVhbXBLWnZOSm1xeTJlem82T2c1YytaWVdWbU5IRGx5NnRTcElTRWhMQmJyaTV2cVFFeE1qTHk4L0ZmMHpRRUF2SVJ6S0lCT3B4ODZkR2pac21VR0JnWkxseTUxZFhWMWNIQ1lPWFBtakJrejNyNTllK2ZPblZXclZrMmZQcDFDb1V5ZVBEa2pJOFBSMGRIYzNGeERRNk5MZXlrcks1c3paNDZXbHRhb1VhUCsvZmZmZS9mdXZYLy8vdHk1Y3d3R3c5all1TFcxOWViTm0rWGw1Uk1uVGhRVEUrdlRwdzkrMTRFREJ5SWlJcFNVbEJ3Y0hPcnI2Mi9kdXZYMDZkUGc0T0FCQXdid2JubmR1bldXbHBhREJnMXFkK1MzcGFWbHhZb1ZqeDgvVmxKU3NyVzFwVkFvVDU4K1BYcjA2TDE3OTRLQ2dwaE1adWMzUlhqMTZsVldWdGE4ZWZPKzhWUWJBT0NuK3hmUzFkWGRzR0hEK2ZQbkowNmNHQmNYSnlVbFZWbFpPVzNhdEsvWTFKVXJWelpzMklEZlcxZFg1K2JtbHArZm41eWNQR3JVcURGanhvd1pNeVluSjZlOHZQejMzMzhuVGw0bEp5ZEhSRVFZR1JrRkJnYmltSHYrL1BuOCtmUDM3Tmx6OHVSSllzdUppWW1iTjIrZU1HSEM1M1lkRkJUMCtQRmpXMXZiSFR0MmlJaUk0S2pkc0dIRG5UdDNRa0pDZUh2SFg5d1VJU1ltQm4vVGZNVkhBUURnSlp4REFZVFRwMC9iMmRsbFoyY2ZQWHJVenM0dU56Y1hJVVNqMGU3ZnY2K2lva0tqMGI1bDR3WUdCa1FpUzBwSzR2RUUzdVA2ZHR1REVQTDI5aVk2ajBPR0RCazhlUERMbHk5NVo5R3FxcW82T0RoOGJpTjRFSURKWkhwNWVlRlVSUWd4R0l4MTY5YlJhTFNMRnkveVZ1NTRVNFM2dXJxa3BLUVJJMGFvcWFsOXNUSUFvR05DM21NMU16TWJQWHIwOGVQSEJ3MGFOR0xFaUdQSGppR0VhbXRybno1OXl1RndMQ3dzMkd3Mm04MjJzTERBOWYzOC9Eby93amh3NEVEZXAzZ2tvYmEydG9PM3ZIejVrazZuLy9QUFAvLzg4dzlSV0ZOVGd4QXFMQ3lVbFpYRkpZTUdEYUpRS0ovYlNHNXVibjE5dlltSmlhS2lJbSs1cXFxcXVycjYrL2Z2UzB0TGlUNXl4NXNpSkNRa3NGaXNLVk9tZkxFbUFPQ0xoRHhZOWZYMUhSMGRvNk9qRFEwTkhSMGRjWWZ4MnJWcnJhMnR2cjYrb3FLaTE2NWRlL255NWZyMTYzRjkzb0hPTCtLYm5vVkhOanM0ODk3YTJscFhWNGNRQ2cwTmJmdHFVMU1UOFpndk1mbmd2bTI3YzJNVkZSWGZ2MzlmWDEvZnlVMFJZbUppbEpTVXJLeXNPbE1aQU5BeElRL1cwdExTWjgrZU5UUTBGQlVWUFh2MkRNOHF2WEhqaHJXMXRhT2pJNzdRS0RzN2U5eTRjVDNRR0JxTkppSWlRcVZTNzkrLzMzRXZzdU5YeGNYRjhWbXB0aTlWVkZRZ2hLU2xwVHU1S2V6NTgrZHYzNzcxOFBENHhyRVJBQUFtek1IS1lySHUzTG1UbXBwYVhsNmVrSkJ3Ky9idDh2SnlQQmVxNHdOMnN1QlE0M0E0UkltK3ZuNTZlbnBtWnFhQmdjRlhiMVpQVDA5RVJPVDE2OWVWbFpWeWNuSkVlVWxKU1ZGUmtacWFXaWQ3cVlTWW1CZ3FsWXJIaUFFQTMwNllUMTVWVjFjdldyUW9JU0ZCWDEvZnc4TWpJU0VCejNrYU4yN2NsQ2xUTEN3c0xDd3NUcDA2VlZKU1l2RmZpeFl0SXJFQk9QWHk4L09KRW53ZXlkL2Z2N3E2bWlnc0x5OVBUVTN0L0dhWlRLYVRrMU5EUThPT0hUdUl0YnNhR3h0MzdkckZack5uelpyVnBVWldWMWRmdjM3ZDB0THlHNis3QlFBUWhMYkh5bWF6Mzc5L3I2S2kwdmFsVFpzMkVZLzV4bGlKMDBla01ETXp1Mzc5K3ViTm02MnNyS1NscFZlc1dERmx5cFFiTjI3OCsrKy9reWRQSGpwMHFJS0NRa0ZCd2VQSGo5M2QzVTFOVFR1LzVSVXJWcng2OWVybXpadU9qbzdEaGcxanNWZ3ZYcndvS3l1enM3T2JQbjE2bHhwNTZkS2w1dVptT0cwRkFJbUVObGlmUEhuQ1pyTU5EUTNidnNRN290cXRZNnpPenM1NWVYbUppWWxYcmx6QjgwUHBkSHBnWUdCRVJNUzFhOWZ1M0xraklTR2hxcXI2KysrL2R6WFh4TVhGUTBKQ1RwMDZkZTNhdGFTa0pCcU5wcWVudDNqeFlpY25wODRNcXZLS2pZMVZWVlh0NnFwZEFJQU9DRzJ3eHNURURCbzBxRmV2WGdnaFEwUEQrdnI2Ky9mdnYzLy92dU9yano3SHg4Zkh4OGVIZURwMjdOaTJCKy9tNXVaOGhYUTZmZTNhdFd2WHJ1VXRGQlVWWGJodzRjS0ZDOXZkVWJ0Ynh2SEhWOEprTXVmUG56OS8vdnpQdGZsem0rTDE1TW1UL1B6OHBVdVhVcW5DUENnRVFBOFR6bUJsczlrc0Ztdng0c1g0NmVqUm8zLy8vWGNLaFdKb2FJZ1h1QUpZVEV3TW5VN0hFeVFBQUdRUnptREZSOXpFMDJIRGhxV21wbks1M0xhSHlTdFdyRml4WWtXUE4vQzd3T1Z5Ky9idE8zTGt5SzdPSWdBQWRFdzRnN1ZkWFIxOEZIb1VDc1hkM1YzUXJRQkFDTUhJR2dBQWtBeUNGUUFBU0FiQkNnQUFKSU5nQlFBQWtrR3dkanMybTUyWGw4ZTc0bFMzN3F1cmI4RUxiZ0VBU1BRVHpRcm9qUHI2ZXQ1TCt6dFBTMHVMV0VVd1BqN2UzdDZldUQ5S1JVV0ZpNHZMamgwN2VLL3Z1bno1OHRpeFkzbnZvVkpWVlpXVmxkWEozY25MeTdlOWIrdnExYXNsSlNYLy9QUFB6amY3dzRjUHMyYk5tak5uenB3NWN6ci9MZ0JBeDM3NFlKMDhlVElSaFRRYVRWVlYxZFRVZE9IQ2hhcXFxa1NkN2R1M3g4YkdCZ1FFZkhFUjY0eU1qSzliaHlVb0tHam8wS0Y0RldwL2YvK29xS2pkdTNkcmEydTNyZG5jM0x4dDI3WXJWNjdVMU5UTW5EbVRLSC85K3ZYeTVjczd1YnZSbzBmdjJiT0hyM0R3NE1FSER4NmNQWHMyYitZZVAzNzgvUG56ZkRWbnpKaUJMOWxTVlZWMWMzTTdlUEFnaDhPWk4yOWVZbUtpdDdkM0IvdDFkWFZkdFdwVkp4c0p3RS9yaHc5V2JPVElrVFFhcmE2dUxpY25KeTR1N3NhTkcrSGg0ZTNtV3NjR0RCaUFGOE1tL1B2dnZ3RUJBY0hCd1VTSDFNM05iZmJzMlhaMmRyelZORFUxOFFNZEhaMndzTEMxYTllNnVibnQyTEhEMHRLU3QxcHhjZkg2OWV2ZnZIbXpmdjM2ZGxkTENRd01OREV4NmJpUnZPdFhwYVNrRkJZVzRzYzBHazFjWFB6S2xTdnE2dXE0Wk9EQWdmWDE5UTBORFc1dWJyZ2tOemYzK3ZYcnhKcFlDS0c1YytmUzZmU2pSNDlhV2xyMjc5OS96Wm8xbjl2dm9VT0hPbTRZQUFBVGttRGR1WE9ubEpRVVhqMXYzYnAxeWNuSmtaR1J2cjYrWGQyT3VMaDR2Mzc5ZUV2d0hhMzc5ZXRIQkN1SHcxRldWdWFyeGt0Zlh6ODhQSHpGaWhVZlBuemdleWtsSmFXeXNqSWtKTVRJeUtqZDl6SVlERkZSMFk0YnlYdWx3NjFidCs3ZnYwODhsWmFXVGtwS0lwN2lQQlVYRnllNjRYLzg4UWVGUWhrL2ZqeEM2TUdEQjc2K3ZxR2hvYTZ1cnBNblQ4YnJaMnRwYVgxdXYwRkJRUjAzREFDQUNVbXdFc1RFeEZ4Y1hKS1RrejkrL1BoMVcyaHFhbnIrL0RueE5EczdHeUgwN05rekJvT0JTemdjVG41Ky9xTkhqNGc2SmlZbURBYWp1cnI2NXMyYlJLR2pveU8rdFI5ZVZQdnAwNmNORFEwVUNtWE9uRGs1T1RrNU9UbTRtcG1aR2U5dHR6MDlQYjk0OStuNitucWlNLzdISDMrVWw1Y0hCZ2F1V3JWS1JrWUdGMTY3ZGkwbEpXWE5talZTVWxMNzl1MGozbGhhV25yanhvMnhZOGZpdHpjM04xZFhWK1B6WFRoVkFRQ2tFTFpnSlc0SmhkZTAvZ29WRlJWTGxpemhLL1QwOU9SOWV1Yk1tVE5uemhCUEV4TVRGUlVWS3lvcTJ2YnA4SkU0UXVqNjlldjM3dDFydXp0NWVYbmVZSjA1YytZWFc4NTNTRTZuMCsvZXZjdmxjcmR1M1lwelB5UWtSRlJVdEcxV25qMTdsc1BoZkc0UU9UMDluZmRtQndSOWZYM2VrMndBZ0M4U3RtQXRLaW9LRFEyVmtwTDY3YmZmdm1VN1c3WnNHVFpzR0VJb0xpNHVMQ3lNdUtkMFZWWFZ6Smt6TjIvZVBIejRjSVRRblR0My9QMzk4VXM2T2pyWHJsM2ozY2lWSzFmOC9mMm5UWnNXSFIxdGEydXJyYTA5Y2VKRTNwdXB0RFY4K0hCOEVxd0RKaVltdkwxYVdWblpaY3VXYmQrKzNkSFIwZFRVTkNFaElTOHZMeXdzak84R1ZqVTFOUmN1WFBqMTExOC9GOXdlSGg0c0ZxdHQrYmx6NS9UMDlEcHVFZ0NBbDVBRXE0K1BENTFPLy9UcFUwWkd4cUJCZy83NjZ5L2VXUUZmUVZaV0Z0K3FwTEd4VVVaR2hyaHRDYjVWdFphV0ZpNGhqcjc1Wkdkbjc5dTNMeTB0YmRPbVRZTUhENDZPam01cWFrcE1URHg4K0xDTmpZMkxpNHVabVZtN2k4SXNYNzY4azB1anVyaTRMRm15Qkkrb1VxblVJVU9HdkgvL3ZxaW82Tml4WTNwNmVybTV1Ym01dWJ4M0ZUeDc5bXhEUTBQSE4yNlpPM2V1dmIwOThUUTNOM2ZqeG8yZGFRd0FnSmVRQk91REJ3K0l4OW5aMmFkUG4xNnpaczNYclduTnA3Q3drUGRtVUNVbEpYaVdVcnVWMld4MmNuTHl1WFBua3BPVGh3d1pjdmJzV1EwTmpkTFNVb1RRcUZHanRtL2YvdXJWcXpObnppeGZ2bHhGUldYcTFLbU9qbzVFOXVIN1pzK2JONitEMDBjRWIyOXZDb1hTMk5oNDVNZ1JvcEFZaUtpcXFzTGwydHJheEVtMlVhTkcvZjMzMzE1ZVhzZU9IVk5TVW1wM3M3MTY5ZUk5S2RmYTJ0cTVEd2tBOEQrRUpGaHYzNzR0SlNWVlgxLy8vdjM3aUlpSStQajRkKy9lblR4NThodVhDbVN6Mlk4ZlAyNW9hRGg5K2pTZWMvcnc0VVBjalcxYk9TNHVidCsrZmJXMXRacWFtanQzN3JTenM4TjdsNVdWRFFnSUdEaHdJTDZYd2ZidDIxZXVYQmtWRlJVVUZIVDA2RkVQRHc4OE9SOWZtbVZqWTlPM2I5OHZ0Z29oSkNJaUlpY254emY0MEJaeDhxcC8vLzRoSVNGejU4NzE4dklLRGc2R1d3WUEwSDJFSkZneENRa0pBd09EN2R1M0Z4UVVwS1dsUFhyMGFNU0lFZCt5d1FjUEh0VFYxVGs3TysvZHUvZmR1M2ZyMXEyN2UvY3VuVTVmdUhEaGtTTkgrRVllTFMwdEh6OStQSDc4ZUhOemM5N3h6ZGV2WDY5ZnYvN1FvVVA0UGpFSUlTVWxwVldyVnJtN3UwZEZSZW5vNk9CQ0hLeTRsMjFuWjRkUGVmSFp2SG16dmIwOURsYmloTkt6Wjg4cUtpcmFWdTdUcDQrdXJpNXZpWnFhbXJlMzk1bzFhKzdmdno5cTFLaHYrV1FBQUIwUXFtREZxRlNxa1pGUlJrWkdYbDdldHdScmEydHJZR0NnbnA2ZXI2K3ZrWkZSY0hEdzJiTm5TMHBLOXUvZkh4WVc1dUhoRVJ3Y3pGdS91Ymw1K1BEaGxaV1ZDUWtKdk9WcGFXa2NEaWN6TTdQdEREQk5UVTNpUHJKRlJVVVVDZ1dmMm1wb2FMQzN0K2U5QnFHeHNYSDkrdlU0VXZIMGZtSzY2NGtUSng0OWVpUWlJc0s3WlJhTDVlN3V2blRwVXI0OTJ0all5TXJLUG56NHNOMWc1WEE0dktzTndGQUFBRjlIQ0lNVmh4UkNDRjh5OE5XQ2c0TnpjM01QSGp5STc3ZHFhbW82Yjk0OFkyTmpLeXNyRXhPVGhRc1hMbG15aFBmcXFjek1UR0tHQUsrbXBpWThSNnJkU1VzZUhoNzRDdFRNek16ZXZYdUxpWW5oOHQ2OWU1dWJteFBWOEdSWTNnM3lYa2RnWldYMTExOS84VzRXWHdMUUxqazV1ZXJxNm5aZkNnZ0lDQWdJK1B4SEFnRG9GQ0VNMWt1WExqMTQ4SURKWkg3TExaMFRFeE92WHIzcTVPUmtZV0dCTzRDK3ZyNzE5ZlZlWGw1NHpPSGd3WU1iTjI3azdTZmEydHJ5bmtQRGlvcUtKaytlcktPams1MmQ3ZXZyKzdtOGEycHFTa3RMNDAzUzh2SnkzalZaZUVjRzhLU29yNXZTWDFKU1VsQlE4TGx4QUh0N2UxTlRVNzVDWWdRREFOQkpRaEtzZi96eEI0MUdhMjV1TGlnbytQRGhBNVZLOWZiMmxwZVg1NjBUSEJ3Y0V4UERXK0xsNWNVN09aL1hzR0hEeE1YRmlUdFgzN2x6NTlXclY1czJiU0xHVlJVVkZZOGRPNWFZbU5oQnF4b2JHMzE4Zk1URXhBSURBdzhjT0xCNTgyWW1rMmxqWTlPMjV0MjdkK3ZxNm5qdklIdjI3Tm16WjgrMnUxazhvdHJ4ZkZnKzI3WnRlLzc4dVlTRVJGNWVIa0xvMTE5L2JWdkh3OFBEek14c3dJQUJuZDhzQUtCZFFoS3N5Y25KK0lHTWpJeU5qYzNjdVhQYlhvemZkbEcrRHRaSWxaT1Q0MTNuYWR5NGNicTZ1bTNueWVNUnlYYm5IdVRtNXZyNit1Yms1UHoxMTE4S0NncmUzdDZWbFpWcjFxeHhkblpldVhJbDd6QUZsOHVOaUlnUUZ4Y25NdGZDd3NMR3hzYkt5b3B2bTNpZ0FGOXh5enNycTd5OC9OYXRXN3cxbTV1YmVaK2FtSmprNWVXMXRMUllXRmhNbno2ZE9HUEdxK09WQTV1Ym0xa3NGdDlJN3JkSVMzOHRLaW9xS2lJaUtTa2hMeWNIdDNvRXd1U0hEOWJZMk5ndjF2SHg4Zkh4OGZuR0hSR3BpcSs0bDVDUW9GQW8wZEhSZERxZDl6SUJOcHVkbXBvYUh4K2ZsSlFrTHk4ZkdCaG9abWFHVCtJZk9IQWdLQ2pvNU1tVFY2OWVIVE5taklPRHc4Q0JBNldscGUvZnYvLzY5V3QzZDNkaUVIYjM3dDI4dXo1NjlDaStUa0ZFUk9Uang0K3hzYkg2K3ZyRUVsYjRhbFNpYzkydUNSTW1USmd3b2FzL2NsNWVYa0pDZ29pSUNJUEJTRTFOWmJQWmJSZUIvV3JMVjIrZzBXZ01PbDFVVkZSVFUzM1lVQk1yODVGOXRMODhoeGVBNzk4UEg2dzlqMHFsN3QyN0Z6K1drSkJZdFdvVnZzQTBQajcrOHVYTDZlbnBMQlpMVGs1dXdZSUZycTZ1eEpwWStJMi8vLzY3bzZOamVIaDRmSHo4bFN0WEVFTEd4c2FIRHgvKzVaZGY4QUtwN1Nvc0xDVG1xOUxwOUVHREJ2M3h4eC9FcTlMUzBoTW5UdHl5WlF2dlcxeGRYYi94M0IzK01nZ05EY1dQeGNYRm5aeWN4b3daODQzYkpGUldWclZ5V2x0Yk9TMHRMV25wcjY5YyswZEVST1NYY1dNWHpKMnRwNnNqU2w3WEdJQ2VSOEVYL0FoS3pOK1gxbmx2UWdpNU9FL2NzNk1MUzk5M0h6YWIvZkhqUjNsNStZNVhIbUd6MlZ3dWwxanlDbC94dFdQSERpTWpJM056Y3pNenM0NFhxV3BvYUVoTlRVMUpTYkd4c2NGZDJvNXhPSnltcGlZT2h5TW1KdGJ6Yy90YlcxdjVWaDdva20wNzk1eU1QSTBROHZWYU44L3RQMnQ3LzNQemRrTkRRME5EWTBGUjhmdUNnbmQ1K1JtWjJRZ2hjVEd4ZVc0elo4MllwcUlNSjgzQWp3cDZyUHpvZExxYW1scG5xdkdWOU8zYk55d3NySk43RVJjWHQ3S3lhanVLK2psVUtwV1lpZFh6dmlWVlA4ZHU5SDhHbExsY2JsMTlmVVhGcDZlcHp5TE9uRXQvblJsOE1xS3dxSGpiWmg5Sm52NCtBRDhRdUs0UkNCaUZRcEdTbE5UVzZqMWxzdFBKb01CUkZpUFo3TmE0eTFkRHdpTGhDZ1h3ZzRKZ0JkOFJCWG41dy92M3pKZzZtVTZuSHp3Y0ZISDZuS0JiQk1EWGdHQUYzeGR4Y1hIUHBZdEhXMXNoaEU2ZnUxQlFXQ1RvRmdIUVpSQ3M0THVqcEtnd2UrWjBLU21wd3FMaVczZnVkK0lkQUh4ZjRPUlZOL3I0OGVQVHAwLzVDZ2NPSEVpbFV2SDlZOXJWcjE4L0V1ZmgvNkNHbWhvUDZOLzMwWlBVZjErOG1PYmlCUGVHQVQ4V0NOWnVsSldWNWV2cmEyaG9TSlJrWjJldlhMbnkrZlBudlBkUzVYUHAwcVhPVEVzUWJxSWlJdE5kSmoxNmt2b21KN2Voc1JHQ0ZmeFlJRmk3RjRQQkNBOFBKNTVPbmp3WkliUjkrL1p0MjdiaGt0R2pSM3Q0ZU15WU1ZT284OFc3dFA0a0xNeEhVQ2lVbkxkdkd4b2E1THV5TUFJQUFnZi93OTJMeStYeUx0U0NWeWVnVXFsNGtuOVZWVlY5ZmIyT2pnNkVhVnRLaWdvcXlzb2ZTa29LQ29zMWVLN2ZCZUQ3Qi8vUDNZdk5acDgrZlpwNGl1OUZpRmMrYldwcXdrL2o0K09KSlZSV3JGang3WmVpQ2cxTkRiVVBKU1VmeThvRTNSQUF1Z2FDdFh1MU94U0FFTHA0OGVLRUNSTk1URXhNVEV4d1NWVlYxZkhqeHhjc1dBREJTcENUbFVVSWxaVzNjK01aQUw1bkVLemRDNi9VUnp6RmExUmorSkpXWDE5Zk9UbTUxYXRYRnhRVUhEOStYRUROL0U3aFc5aFdWSHdTZEVNQTZCb0kxbTVFcFZJbEpDU09IVHRHbFBqNCtQQmRkODlpc2ZBOXJFQmJERG9kSWRUY0RKOFArTUZBc0hZWEZvczFjT0RBK1BoNDNzS1RKMDhTZHdQRXVGd3UzSWthQUNFRHdkcGR6cHc1RXhnWTJPNUx2UGNjcksrdi83cTdWd0VBdmxzUXJOMWw4dVRKdHJhMitQSGJ0Mi9YcjE4ZkZSV0ZsLzVUVWxJaXFoVVhGL1BlNmdvQUlBVGdJTFM3eU1qSWNEZ2NGeGNYR28ybXFxcUs3MUtscmEydHJhMU4zRmFncEtTa3NMQlFXVmxaMEkwRkFKQUpnclViVlZkWDg5NU8xYzdPenNMQ3dzTENvcXlzN01DQkEwWkdSbmdtbHErdmIyeHNySktTMHBFalI3cDA3MVVBd1BjSmhnSzZVWDUrUGtMbzNidDNlQ2FBbjUrZnFLZ283c3dPSFRyMHpKa3owZEhSM3Q3ZUh6OSszTEZqeC8zNzl6ZHYzZ3pMcndBZ0JDQll1MUY2ZWpxTlJ2UHg4Vm01Y2lWQ2FQanc0Zmc4VldwcWFraEl5T1BIajkzZDNWMWNYQkJDUTRjTzlmTHkrdTIzMy96OS9kdmV1QnNBOEdPQm9ZRHUwdExTY3ZQbVRYZDM5NzU5KytLYmIrUDdOcGFWbFhsN2U1ZVZsUjA2ZEdqcDBxVzRzcG1aMmFsVHB4UVZGVDk5Z3Nud0FQendvTWZhWFM1Y3VGQlZWVFY2OUdoM2QvZWdvS0RJeUVoSFI4ZWhRNGVxcUtqWTI5dXJxS2dVRmhaR1IwZmo5UVN3NGNPSHA2YW1Ta2xKRWRlNUFnQitSQkNzM1VWRFE4UFkyTGh2Mzc0SW9lWExsMCtiTnUyZmYvNTU4ZUxGczJmUEtpb3E2dXZybTV1YjJXdzJoOFBCTjlTajBXaDBPcDFPcDArYk5rM1FiUWNBZkJNSTF1NWlaV1dscWFsSlBGVldWbloxZFhWMWRSVm9vd0FBUFFIR1dMdVJ0cmEyb0pzQUFCQUFDRllBQUNBWkJDc0FBSkFNZ2hVQUFFZ0d3UW9BQUNTRFlBVUFBSkpCc0FJQUFNbStsM21zcnpPekRodysxb21LNE1mejdFV2FvSnNBUUkvNlhvSTFJek03SXpOYjBLMEFBQUFTQ0hnb1FFRmVUa1pHV3JCdEFEMURVbEpTU1VsUjBLMEFvQ2NJdU1kcVlqeDQweC9yM3hjVUNyWVpQYW0wNUVOcHlRZUVrTEtLcXJLS3FxQ2IwM1BVMVZVdFJ3NFhkQ3NBNkFrQ0RsWnBLYWxKamhNRTI0WWVkdno0OGNRcmx4QkNpeFl0OHZEd0VIUnpBQURrZzFrQkFBQkFNZ2hXQUFBZ0dRUXJBQUNRRElJVkFBQklCc0VLQUFBa2cyQUZBQUNTUWJBQ0FBREpJRmdCQUlCa0VLd0FBRUF5Q0ZZQUFDQVpCQ3NBQUpBTWdoVUFBRWdHd1FvQUFDU0RZQVVBQUpKQnNBSUFBTWtnV0FFQWdHUVFyQUFBUURJSVZnQUFJQmtFS3dBQWtBeUNGUUFBU0FiQkNnQUFKSU5nQlFBQWtrR3dBZ0FBeVNCWUFRQ0FaQkNzQUFCQU1naFdBQUFnR1FRckFBQ1FESUlWQUFCSUJzRUtBQUFrZzJBRkFBQ1NRYkFDQUFESjZJSnVnSkJyYlcydHFLaGdzOWxFU1UxTkRaZkx4UStLaTR1SmNocU5wcWlvU0tQUkJOUlNBQUJwSUZpN0Y1ZkwzYlZyMTl1M2I0bVNtcG9hL0NBaEllSGV2WHRFdWFxcWFtQmdvQ0RhQ0FBZ0dRUnI5NkxUNmJxNnVuZnUzT0V0cEZBb09HR0prRVVJalJvMWlrNkhYd2NBd2dER1dMdmQrUEhqY1pMaURpd2ZYRTZsVWgwZEhRWGFUQUFBYVNCWXU1Mk9qazcvL3YwN3JxT3ZyNitucDlkVExRSUFkQzhJMW01SG9WQWNIQno0U29nK0xHWnZiODlYQWdENGNVR3c5Z1FyS3l0SlNjblB2U290TFQxeTVNaWViUkVBb0J0QnNQWUVPVGs1QXdPRHo3M2F2MzkvSlNXbG5tMFJBS0FiUWJEMkJIRnhjVU5EUTc1VFdQZ3hoVUl4TWpLU2xaVVZhQU1CQUdTQ1lPMEpWQ3JWME5CUVNrcUtieUNWUXFHSWlZa1pHaHBTcWZDTEFFQjR3UDl6RHpFeU1wS1RrMnRiTGlFaFlXUmtKSWdXQVFDNkN3UnJEMUZRVU1BQlNuUmE4UU1URTVOMkF4Y0E4T09DWU8wNUV5Wk1hRnZvN093c2lMWUFBTG9SQkd2UE1UWTI3dFdyRjM2TXU2dXFxcXJHeHNhQ2JoY0FnR1FRckQySHdXRFkyOXZ6amdhTUdUT0d3V0FJdWwwQUFKSkJzUGFvY2VQR2lZaUk0TWRNSnRQYTJsclFMUUlBa0ErQ3RVZXBxYW4xNmRNSFA5YlYxZFhRMEJCMGl3QUE1SU5nN1ZFU0VoS0dob2I0c2FHaElWd1hBSUJRZ21EdFVRd0dZOUNnUWVMaTRrd20wOGpJaUJnV0FBQUlFMWhadWFmaEt3VllMQmJSZFFVQUNCa0kxcDZtcGFYVnUzZnZwcVltVFUxTlFiY0ZBTkF0QkJ5czFkVTFDWWxKYjNQekJOdU1Ic1pxcFhCcG90dDJCUWk2SVQxS1MxUGpWNGR4OG5DWkdmZ0pDRGhZbno1N3ZpdmdRRjFkbldDYklSaDNId2k2QlQxS1hGeE1WbGJHY2NJdmdtNElBTjFPd0NldnFxcXFmOUpVL2ZrME5EUldWRlFLdWhVQTlJVHZaWXgxcU1tUWFTNlRCTjBLMEMzaUU2N2VmNWdpcUwyWGxWZmN2SDIzcFBTam9Cb0F2Z2VLaWdwamJVY3AvL2VhOHU3MnZRU3JWbS9OS1pQZ05xWENLU016UzREQmVpM3ArcDc5Z1hCZzlKTVRFMlBXMXRZdFhqQzNaM1lIODFpQmtNdDdYd0NwQ2hvYldXOXozL1hZN3I2WEhpc0EzVzJVcGJueFlGaFQvS2Z6T2lQcm41dTNlM2luRUt6Z1p6SEswdHpkYlphZ1d3RjYyb1dMOFQwZnJEQVVBQUFBSklOZ0JRQUFra0d3QWdBQXlTQllBUUFKVGovbkFBQWdBRWxFUVZTQVpCQ3NBQUJBTWdoV0FBQWdHUVFyQUFDUURJSVZBQUJJQnNFS3ZsOFNFdUlJb2RxNldrRTNCSUN1Z1dBRjM2OWV2WlFRUXNVZlNnVGRFQUM2Qm9JVmZMOTZLU2toaEdERlAvRERnV0FGM3k4VjVWNDBHaTB2LzMxcGFabWcyd0pBRndoL3NKYVhsejk4K0xDcXF1cnIzczVtczlQUzBrcExTeEZDVlZWVkhBN25pMitwcUtnb0tXbi82TFcwdEJSdml0ZmJ0Mi9iMXN6TnphMm9xUGk2TmlPRXFxdXJQOWZVVDU4K25UeDU4c09IRDErOThSNmpxcUtzcmRXYncrR2N2eGduNkxiMEJCYUwxZERRMEptYVZWVlZ0MjdkWXJQWnZJWHA2ZW54OGZINDhlZitBanZlKzFmL213QStRaGlzOWZYMXVibTV4TlBIang4dlg3NDhLeXZyNjdiVzFOUTBkKzdjaXhjdklvUThQVDNkM2QzNWNqQWxKZVgwNmRPOEpmdjI3VnU1Y2lYeHRMeThuTVZpNGNmYnRtM2J0bTBiYitYSGp4OVBtemJ0L3YzN2ZQdGR2WHIxMnJWclA5ZXF3c0pDL0IvNC9QbHpNek16M0tUaTR1S2NuQnhjd2RQVGMvbnk1ZTIrdDZ5c0xEQXc4UDM3OS9ocm8rcExPdjFSa1U5UlFkN00xQmdoZENYeG41STJYMGhDcHFTa1pNS0VDZnYyN2V0TTVYUG56cTFkdS9iZHUvOVpZUFRHalJ0YnQyNWxzOWw1ZVhsT1RrNDdkKzRrL3ZEdzloLytyOWJXVnVMVjV1Ym1tVE5uenBrenA0T2RzbGlza3BLU1Y2OWVYYjkrL2VUSmswK2ZQc1diVGZ0ZjJkblpYL1VCQ0JVaFhEWXdMaTV1Nzk2OWdZR0JJMGVPL1BhdE1abE1oQkR1L1czZHV0WGIyM3ZtekpuZTN0NU9UazY0UW54OGZHSmlJa0pvNXN5WmJkL2UxTlEwYnR5NDlldlhUNTgrdmQzdGg0ZUg2K3ZybTV1YmM3bmM2dXBxWEppWGwxZFFVT0RvNk1pWGEwd21rOGxrc3Ruc1JZc1dEUnc0Y1BmdTNWd3VsOFBoY0xuYzV1Ym05ZXZYTnpZMlJrZEhJNFN5czdNWExGand4Wi91K2ZQbml4WXQ2cUFDbFVwOTh1VEpGN2ZUVFpoTTVsQVQ0NHZ4Q1RsdmM4OUV4NnhZc29oR293bXFNU1I2OHVRSmIrUVJwS1dsWTJOakRRME41ZVhsMjc2cXE2dXJwcWFHQXk0Nk90cmUzbDVmWDUrM0F2NWJiV2xwMGRiVzl2ZjMzN1JwMDcvLy9oc1VGSVMzZHVmT25kMjdkL1BXdjNmdm5yaTRPSDRjRmhhV241K1BFRHAvL3Z6VXFWUDVkcDJhbXJwMDZkS1dsaGFpaEVxbERoMDZkT2pRb2RIUjBlSGg0YnlWdGJTMFltTmp2K3FERVI3Q0ZxeGNMamNtSmtaVlZYWDQ4T0drYkpCR285SHBkSHpNcGEydEhSNGVmdno0Y1RNek02TENsaTFieXNySzl1N2RLeTR1N3V6czNLV052M2p4SWlVbEpUQXdrRXFsVmxWVmpSa3podmZWdzRjUEh6NThtTGRrMmJKbDgrYk5vOVBwNjlldlg3MTY5ZW5UcHcwTURQQkxlL2Z1emMvUER3c0xvOUZvTDE2OGFHcHE2dnduY09EQUFTVWxwYmJsdDI3ZE9uSGlSSmQrSXRMWmpiYTVmRFh4OXQzNzBURi9HdzRjWURmYVJyRHRJWVdmbjE5aFllSG5YdjN6enovYkxTZStucU9qbyt2cTZwWXNXY0pYQVFkcmMzT3ptSmlZalkxTldGall4WXNYNVhqdU4wNmxVdS9jdVlNUTJySmxTM3A2dXBpWUdDNS84dVJKU0VqSTdObXpXMXBhOXUvZmIyUmsxTDkvZjk0dHM5bnNscFlXTHkrdlBuMzZ5TWpJeU12THk4bkpVYW4vT2Q2VmxaV05qSXpFajQ4ZE8vYnExYXV2L0Z5RWlMQUY2NDBiTi9MeThpWk1tUERpeFF0Y2dyK0gzNzU5S3lJaXdsZFpXVmtaZHdFUVF2Nysvc1Q0RkI4Mm0zM3ExS2x6NTg0UkpmalkvKysvLzFaU1VoSVJFZG16WjgvczJiTXZYTGp3NjYrLzB1bGQrRWdQSFRvMGN1VElrU05IVmxWVkpTVWxoWVNFME9sMExwZnI2ZWs1Y09EQXRuMUpGUlVWL01EYTJ0ckh4OGZHeGdiL2RBaWhRWU1HbVp1YjYrcnFJb1J1Mzc2TkVIcnc0RUZ5Y2pMeFhqMDlQVkZSMGFLaUlqekllKy9ldllLQ0Foa1pHWVNRam80TzhUbndldjM2ZGVkL2xtNGlKU1hwdDluSGVicHI2Y2N5NzAxL2xwV1Z6NXcrUmRDTitsWnhjWEVJb2FkUG4ycG9hRFEwTkZ5K2ZObmUzcDQzeTZxcnEyTmlZaFFWRlIwZEhaOCtmYXFzckt5cHFZbGZxcXVyQ3c4UG56eDVzcWFtWmtaR2hweWNIUEZYZ1lPeXFxcXFzcklTaitaTFNVbjUrZm1abUpoTW1EQUIxeEVYRjI5cGFVbEpTWmsrZlRxRlFzSC9JRjVlWHYzNjljTkovZkxseTJYTGxwMDRjVUpMUzR1djJTTkdqQ0NhUWFpcnE1T1FrQ0QrZmlRa0pMcnRZL3VSQ0ZXd3RyYTJIanQyRENHVWtKQ1FrSkRBKzlMZXZYdmIxbmQxZFYyMWFoViszTlRVaEJCcTk3ZzRORFJVUTBQRDN0NmVyNXo0RzVLVmxUMTgrTENTa2xLWFVqVXhNVEV0TFEzbjllSERoLy81NTUrNHVEZ1pHWm1VbEpTYW1wcFpzMllaR2JWL0g1SEl5TWhIang0aGhHN2V2RmxiVzRzUTJyRmpCejZtUzA1T1hydDJiV0ppb3FLaTRzMmJOM0g5TjIvZTRIL1J0Mi9mNGc0TFF1ak1tVE40S0JaM1dObzk5bnp6NWszbmY1enVvNmFxY21SL3dLcjFQa1hGeGR0Mjdzbkl6RnF5YUlGeUx5V2l4L1NEOHZUMFhMcDBxYkd4Y1dscHFZZUhoN3k4dkwyOS9iQmh3MjdjdUJFZkg2K25wN2Q0OFdLRTBNYU5HeWRObWtUOFpZYUVoT0N4b05iV1ZsOWYzK2JtNWlsVHB1RHZTenpVUG5ueVpGeVRUcWNyS2lxcXFLandkVDlUVWxMcTYrc2RIQnp3cjNqSmtpVVNFaElIRGh6QVBZOURodzR0WExod3pwdzVmbjUrbHBhV3ZHLzgrUEVqTVJSRHBWSnhvR2RuWnlzcksvZlVaL2JERUtwZ2pZcUtldmZ1M2Z6NTgzbEhWMU5TVWtKQ1F0YXNXVU1jTlJQNC9pQkVSVVhkM056YWJqWXVMazVEUTZQZGx3aTllL2Z1VWxNckt5c0RBZ0xjM055MHRiVXpNek12WHJ5NFpzMmFoSVNFMHRMUzFOUlVLcFdhbkp5Y2twS0NFREl3TUJnL2ZqenZlMVZVVlByMjdZdEgwL0JnbHJhMnRxeXNMRUpJU1VucDVzMmJwYVdsL3Y3K1k4ZU94YWZPeG8wYnQyVEpFbUpRT0NzcmErYk1tVWVPSEJrK2ZEZysvOEEzOUViZ1Bia2hXS2JHZy9mdDNyN0ZiOWZyekt4VDV5NDhTSGs4MFdIOEtNdVJBL3IzSTQ1bmYxQUdCZ2JidDI4dktTblp2WHYzaVJNbjhOaUxsWldWcjYrdmdvSUNYK1hNek16VHAwK3ZYYnRXVmxZMlBqNyszYnQzTzNmdWpJbUpxYSt2VjFaVzF0WFZMUzR1OXZUMEhESmtpSXFLaXFLaVlydmZQZGV2WHg4d1lFQ2ZQbjJ1WExteWE5Y3VKU1dsSTBlT0VOK3Nzckt5SVNFaDY5ZXY5L1QwSERkdTNPTEZpNG0vYlE4UEQySWpUQ2J6d1lNSFQ1NDhTVXRMVzdGaUJWSE9ZREFxS3l0WkxCWWVsL2hwQ1Urd3ZudjNMaWdvcUgvLy9vc1cvYzhwRGp5dlNGZFgxOWpZK091MkxDRWh3WHViejZ5c0xGVlZWV2xwNlJjdlhoQW43bWZQbnQxeDh2SzVkZXZXcDArZnpwMDdkL3IwNmVibVppMHRyYWxUcHg0NGNPRDE2OWNaR1JuOSsvZkh4L2pQbnordnFLamdDMVk3T3pzN083dUtpb3ExYTlmaVBuSkJRY0hnd1lPZG5KelliUGEwYWROdzV3SlhMaXNyUXdpcHFxcDIwSmp6NTg4VGgzSkpTVW54OGZHQmdZRzRPNE83eGdKSG9WQk1qUWNIQmU0N0VSWjE0ZS80dlB6M1I0NmZPSGZob3B5c2pLWDVDTE9oSm5xNk9qcmEvSWV1UDRSTGx5N0Z4Y1U5Zi81Y1IwZG42ZEtsdHJhMno1NDlpNDJOL2VXWFg2eXRyZm0rOCtMajQxdGJXMCtlUEJrVUZGUmJXenRzMkRCN2UzdmlXQ290TGUzZXZYc0dCZ2FEQmczcVlJLzM3OStmTUdGQ1ZsYlc1czJiaHc4ZnZuVHAwbzhmUC9KMk1uSnpjN2RzMlpLUWtCQVpHVGwxNmxRaVdNUEN3b2cvSkFxRmN2WHExVjI3ZGlrcksvT2VXaGc4ZVBDcFU2ZHNiVzFGUkVSOGZYM3h0L3RQU0VpQ3RhNnViczJhTlZ3dWQ5T21UVjk5NHJpcHFTa2lJb0szWk9USWtmcjYrdExTMHNUWmVTNlg2KzN0M2RUVUZCOGZyNnlzUEh2MmJId2czOWpZeVB2R0x4NmxXbHBhcmx5NVVrNU83dkhqeHdrSkNhdFhyNmJUNld2V3JBa0xDM3Z4NHNYKy9mdngyU1JYVjlkMjMzN3YzcjBkTzNZb0t5di8rZWVmcTFldjF0Ylc5dlB6ZS9ic21iR3hjWDUrdm9LQ0FqSDJpaCtvcTZ0MzhrTW9MeThuaGxiMTlmWDV6anNMRUlWQ1VWZFQzZVM5YnVaMGw1MEIrMSsrU3ErcHJmMVlWcGIxSnVkRWVCUkNpTUdnOTlIV1VwQ1RsNUFRbDVTU2xKS1FzTFcyc2pRZkllaUdmNEdFaE1UZ3dZTzl2THowOVBSd1NaOCtmU1pQbnB5VmxaV1RrNE9IUVFrVEpreVFsNWVYa1pGSlRFeE1UMC8zOXZibWZSV2ZwNnFzck9SeXVlWGw1WVdGaFFVRkJZV0ZoWVdGaGJ5VC9HYk1tQkVXRmpaOSt2VFEwTkNCQXdjZVBYbzBKaWFHR0RoQ0NDMVlzTURUMDNQQmdnV3VycTY4SFU5WldWbEZSVVhpYVdabXBxU2s1TjY5ZS9GSVBUWm16SmlEQnc5bVpXVlJxZFFoUTRhUS9XbjlNSVFrV05sc2RtTmpvN2UzZDc5Ky9iNTZDeXdXS3lnb2lDaGhzVmp5OHZMNit2cEtTa3JFM05VSER4N2s1ZVV0WHJ3WWp6SGhYaXJ2dS9DbXZqalkycXRYcjlteloxZFdWdTdidDgvZTN0N0N3Z0tuZG14czdJZ1JJOW85UjQ5eE9Cd2ZINStrcENRSEJ3Y2ZINStNakF5RTBQVHAwMGVQSHIxKy9mcmV2WHV2VzdjdU56ZVhPRE9ibVprcEl5UFRObGdURXhORFEwTi8vZlZYaEJEdjlCbzJtODFtczNGN0NLZFBuMjU3S2tOUTlIUjFUaHc5K09oSjZ1bHpGeDQrZWx4UjhRbVh0N1N3czkrOFJlai9aeG1uUEhrYWRLaFQwMElGNWNDQkEvaFA1ZXpacysxVzJMRmpCKy9FcklFREJ3NGNPUERObXpjQkFRR0xGeS9XMU5Ua2NEakZ4Y1U0US9IMDdUMTc5bXpkdWhXL2k4RmdxS3VyYTJobzhIN3h6NTA3OTlLbFM4ZU9IZU9iVXQxV3g0ZnpIaDRlSWlJaXljbkp2T2RJTVdWbFplSjAyYzlKU0lJVlQvaVFsSlJzZTJZL0xTME5qN1MydmVScDRzU0pSSStnb2FGQlhWMmRlSHR1YnU3VXFWUHhINWF5c25KNWVYbExTd3VEd1FnUEQ1ZVdscDR4WTBZSGpXbHBhV2s3QTZGZE8zYnN3Tk5vOE5PVWxKU2lvaUlYRjVlQ2dnSmMwdHpjM05EUVFEeVZrcEtTbFpYVjE5Y2ZPM2JzbURGanNyS3k3dDY5NitQam82S2lvcWVuRnhVVnBhbXBTYVZTNCtMaUxsNjhXRmxaS1NjbjkrVEprNEVEQnhJZnhkMjdkL0g1cTdpNE9BTURBend6Y2MyYU5jU0p1QWNQSHR5NmRXdmp4bzI4N2VUdHB3aGNYdjc3dzhkQ1VwKy9xS3F1Ym1qNC83eGdNT2hhbXBxeXNyS1NFdUxpRXVLUzR1S0RCeGtxOStvbDBNWjI1TUNCQTN5ajJBRUJBWldWbGR1MmJlTTk0dm56eno4WkRBYnh0TG01MmRmWFYxOWZIeDh0MWRYVjRkRnpKcE9wb2FIQlpESVZGQlJ3NW1wcWFuSzVYSGw1ZWI1OFpEQVlreVpOT243OHVLK3ZMLzVENWVzWGZ3N3ZuNzJDZ2tKb2FHaE1URXgxZGJXVWxCUnZDNnVycXdjTUdBREJLaVFVRlJWTFMwdTNidDNhN3F0OHgvaVlnNE1EMGJWc2FHakE1Mzh3L0EyUFQ3WDM3dDJidytFVUZoWm1abWIrKysrL0sxZXVsSktTNnFBbE5UVTFIVmZBTGx5NGNQUG1UVDgvUHpFeHNheXNyT0xpWWh5Z0J3OGVQSGp3SUZHTjkxUStuc1pnWjJmWDFOU1VrNU96WjgrZWdvS0Nnd2NQRXRjdk5qWTJTa2hJakJneGdzUGgzTHg1MDhMQ0lqTXpjOE9HRGZqVkxWdTI1T1hsNFpUY3VYT252YjM5bFN0WEtCU0trNU1UTVg1U1VWRngvLzc5Y2VQR2ZiSDlQYSttdGpibVlueGcwSW5LeWtvcWxTb2xKYW1vSUQvSzB0eDh4TEIrZmZYMWRYVUUzY0F1S0NzcjQvdTZldi8rZlc1dXJydTdPOStBT0o3TDNOVFVKQ29xaWhEYXRXdFhmbjcrMGFOSDA5UFQzNzU5UzZmVFQ1NDhxYWFtaHJlMmZQbnltcG9hRnhjWC9LdWNPM2V1bXBvYTN4RVZRcWhmdjM3TnpjMWxaV1hxNnVwNHZsUm4ycnhxMVNyaWZKcW9xS2lpb3VMbHk1ZnQ3T3ltVHAyNmRPbFNYRjVRVURCbHloUytJNTZma1BBRUt6NG5qaStDNG5YejVrMS9mLzlkdTNhMVBYbkZlOEJlVWxLaW9hRkJQTVVYak9JL09Id0tQams1T1RRMFZGZFg5N2ZmZnZ0Y0EvQWd3S2RQbjc0NFNhQ3VybTdQbmowVUN1WG8wYU8rdnI1Y0xsZFhWemM0T0hqVXFGRzgxZGF0VzZldXJrNWNJSXNIczFhdlhzMTd6Uzd2RlY4QkFRRzJ0cmJLeXNxREJ3OCtkKzVjVVZFUmhVSVpQWG8wZm5YT25EbjYrdnBVS25YbXpKbDRVeFVWRlRJeU1od09oN2hFbmNWaWNibGNQSXNMOTJVa0pTVTcvbGw2UnM3YjNEMzdBLys1Y1FzaHBLbWhQdGJXZW95dDlaQkJSdUxpUCtTc2dOMjdkL01PYXhKQ1EwTkRRMFBibGtkR1JnNFlNQ0F0TFEzUGdaMC9mejRleW5kMWRYVjBkQ1NxR1JrWmhZYUdOalkyMXRmWDQ1QnRkOG9IN2luajQ1WEt5a3JlUWRJT0RCOCtuRzhlcTdpNHVJT0RRM1IwdEp1YkcrNU03TjY5VzE1ZUh2ZW1mMlpDRmF4VUtyWHRRU3ZPQldscDZRNk9aMXRhV2dvTEMzbG43ZFhVMU9CRGJ6eC9YbFpXOXNDQkExd3VkLy8rL1o4YlAzMzc5bTFVVk5UR2pSdUxpNHUvZUJ3a0tTbHBaR1NrcUtpb3BhWFZwMDhmTFMwdFRVMU5TVWxKR1JtWjJOall0TFEwYjI5dkJvTWhLaW9xS1NrcEpTVzFiZHUyK2ZQbmEydHJJNFNDZzROcmEydmQzZDNOek14V3IxNk5OeGdmSHg4VUZFUk1LWnM2ZGVyR2pSdno4dkxHakJsRC9PRDRQNUIzMllUYzNOemV2WHRmdlhxVnI2ZHZZL09mQzV4VVZGVDRaZ1FMUlBycnpBMGJ0MlJrWllzd0dFNi9PbmdzbUt1bHFkR2xXY1BmSVNNakkzOS9mL3dZWDI5NjZOQWhIUjBkTHBkYlhGeE1ESXRuWldVUnM2MjF0YlVkSEJ6NjlPbEQvTTN3SG9QajA2MUJRVUdSa1pGLy8vMTNZMlBqb1VPSGRIVjFlUWY5ejU0OTI5RFFjTzNhTlVsSlNkeVR5TTdPeHRlVmRCS0h3eWtyS3lzdExXVXdHQVlHQmdzV0xMaDI3ZHJXclZ2MzdOa1RHQmo0OE9IRGdJQ0FuM3l1bGJBRjYxZkx6TXhzYlcwbHhpTHhNbFI0NkJibjlZQUJBeDQrZkxoaXhRcERRMFBjclZ1d1lNSHExYXROVEV5SUxadzdkMjdRb0VFNU9Ubk56YzE4VTdMYkZSSVMwcmF3dnI3K3lKRWpnd2NQNXYySGtaYVdMaXdzM0xKbHk1a3paMFJFUkdSbFpZOGZQLzdwMHljVEV4TjVlWGtxbFZwY1hCd1JFVEZseWhUaUlodzdPN3M5ZS9aVVYxZDNQQno4NXMwYmZPcVdTcVZHUlVYeHZYcmh3b1dIRHg5KzhRZnBidFUxTlI3TFYzMzRVQ0lsS2JuUTNXMkp4L3dmL2RJQWpNRmc0RWxPOWZYMWtaR1JMaTR1ZVA3MStmUG5qeDQ5R2hvYWlyOUhpWmx6K0p1ZTc0eFRYVjBkazhra2N0UEF3RUJhV2pvb0tLaFBuejdIangvWDBOQjQvUGl4dDdmMzBhTkhjWVg4L1B6WTJGaDFkWFUvUHo4Nm5mN2h3NGY4L1B6UExXU0IzYng1TXlrcENTSDB4eDkvVkZaV2xwV1Y0UTZ2azVQVHBrMmJsSldWTjJ6WXNIbno1b1VMRno1NzlzelQwOVBXMXJaN1ByQWZDUVFyd2hmQzRpbDQrQUdGUWpsMzdweUtpZ3FlTlgzbzBDR2NMOFNrcTNmdjNtVmtaRlJXVnVML0NoYUxkZmZ1M2FGRGgvcjUrWVdIaDR1S2lnNGVQTGlUdXk0cEtjbkl5SGoxNmxWK2ZuNUFRTUNKRXlmcTZ1cUlIZ3JHWURCOGZId1dMRmdRRkJTRTE2eHlkM2VuVUNoNzkrNk5qSXljUG4zNnVYUG5ORFEwZUplekNnd014RXU2NEFVSDhQQWNuOUxTMG95TWpIbno1dFhYMStOeE43NEszOE01cTZhbXBqOTM3UG53b1VTNWw5SkdyN1VUeHZOZi8vYWpxNjJ0WGJ0MmJVVkZoWldWMWFOSGoxZ3Nsb1NFQkpmTFhiWnNXVmhZV0x1L2dzTEN3aGN2WHJ4NDhlTGx5NWM1T1RuWHIxL0hQWUM3ZCs4ZVBIZ1FIMnd0WGJvVWQwano4dkx3YVV6ODNnMGJOaEJqN25qWkFkelA3YUNGNzkrL1QwOVB4MzhodXJxNnFxcXFxcXFxS2lvcXhEa0pVMU5URFEyTlo4K2VLU2twL2JRVFYva0lTYkMydHJaK2JpRkxQTytrc2JHUkdEZmtoVHVHMTY1ZE16TXpVMUZST1hqd0lCNmxaVEtaZm41K2RYVjFmbjUrLy96emo0T0RBNHZGaW95TTdOdTM3eSsvL0lJbk9lSGo3aXRYcmlDRWJHMXRkKzdjV1Y5Zkh4MGRQVzdjdUMrZURVaE9UZzRQRDgvT3pzYnhwNjZ1UG16WXNMUzB0TWpJeVBuejV4T2p2V3cyRzUreE5UWTJualJwVWtSRXhKZ3hZd1lNR0tDb3FMaHUzVG8zTjdmbHk1ZmpxM1duVDUvZTNOeU1EOEZPbno0ZEdSbHBibTV1WkdRVUZCVGs1ZVcxYytkTzR1Z01YN3hMb1ZEdzhhQ2xwV1hiZ2VudlI4cmpwOWR2M21ZdzZET21UaDV2TjZZVDcvakJORFUxUFgvK25NMW1lM3A2VXFsVUNRa0pDUWtKSlNXbHVycTZkZXZXaFlhRzhzNGNpSTZPRGc0Ty92VHBFMEpJVFUzTjFOUjAxcXhaNHVMaU4yN2NPSFhxMUlzWEwvVDE5ZmZ2M3g4UUVPRHY3Nit2cjYraG9mSG16UnRsWmVWMkEvckRody9uenAyenRiWHQrSlRBM0xsekRRd01saXhaTW5mdVhMNHgxaytmUGtWR1JwNDVjMFpjWE56TnpTMCtQbjdTcEVsVHBreHhkSFQ4Nm9tUHdrRklnalVySzZ2ajhmSTFhOWEwV3o1dDJqUlpXZG15c3JKMTY5WWhoTHk4dkR3OFBGcGJXOVhWMWQrL2Z6OXQyclNLaW9ybHk1ZlBuVHUzcnE2dXRMUjA0OGFOTVRFeHVibTVhbXBxK0dxbHNXUEh2bnYzRG85MTRnbmIrQkx2amtsS1NqSVlqQmt6WnVDWmlmakxmOW15WlZwYVd2UG56NCtLaW1JeW1WVlZWVy9mdmlWT3NIcDZlaFlWRlhHNVhEeWo1ZmJ0MitIaDRmbjUrWTZPampRYTdmejU4MWV2WG8yTmpRME9EajUzN3R6Z3dZUDM3Tm5EWkRMTHk4dGpZbUptelpxMVk4ZU81OCtmNStmblAzdjJESDl6aEllSFQ1dzRFWGRtT1J3Tzc1SmRHSWZESWNZV0JLSzF0ZlhSazlUYXVyb0IvZnZObWpGVk9OWU01S09vcUppWW1NamhjSmhNSnJHSUg1NVdGUmdZR0JJU2dpODd4bjhoNnVycWxwYVdRNGNPTlRVMXhiK2FzTEN3aVJNbmxwZVhxNm1wYmRxMGFlTEVpVlFxdFZldlh2aDZmenp4QXk4THdLZXVyczdUMDVQTDVYYm16N1d0NU9Ua21KaVllL2Z1Y1RnY1oyZm5aY3VXeWNqSXpKczM3L0Rod3pFeE1XZlBubFZTVXRxMWE5ZFBlNDJBa0FTcnVycjZGMmM3dDB0TFM2dTB0TlRDd2dJdjJTY3RMUzB0TFUyOFpHMXQ3ZVRraEFkTUpTVWxqeDgvSGhJU2N2WHFWUWFEUVp3MWtwT1R3eE5SVDU4Ky9mVHAwNENBQU42ckEwVkVSRUpDUXRxdUNXUmtaSFRvMENHK1FuOS8vL0x5Y2dhRGtaU1VsSjZlVHFmVERRME5pZkV2S1NtcG8wZVB0cmEyTGxteTVNbVRKMXd1MTlMU2N0dTJiWGhvMk5YVk5TTWpZL1BtelE4ZVBMQzF0ZDI2ZFN2dW9ucDVlY25JeUlTR2h1SkpPZGV1WFJNVEU1cy9mejZOUmhNWEYxKzRjQ0hlT0o2ZndOZWVTNWN1NGY5cVFTbXZxSGo4TkJVaE5ORmhuR0tiQytlRkJ1ODhQNEtJaUVoQlFjSHIxNjhaRE1hOGVmUHd0N2lGaFFYZlRDWVpHUmt0TFMwdkx5OXJhMnRpNkxsZnYzN2g0ZUY3OSs2Tmk0dlQxdGJtdmNhZmdHK0g0ZXZyUzF6eFJaQ1hsLy9pQ2d3RkJRVnBhV2x6NTg2ZFBIa3k4UWN2TFMzOXh4OS9MRnUyTENrcEtTTWpvK01yYTRVY1Y2QXVYSXp2WXpDa2o4R1F0WC80Q3JBWmpZMk5wR3pudzRjUHBHeW5ZK0hoNGVIaDRlM3VLeVVsSlRRMEZDOTl6ZXYyN2R2bDVlVjhoWGhtVlEvNGM4ZHUvRnNPRFQvVnBUZG1acjh4TUI3UngyQklZVkh4MSs5OTV4Njg5eFBoVVYrOUVhSFUwdElpd0xmM21QT3hjZjhObVUwOXRsTWg2YkYrSTdKbWgvVE1nWE1IcTcwTUh6NjgzZld0cmEydDJ4YTJlMGJydTFKYStwSEZZbWxxcUt1cmRiU0lEUGc2M3poZjdVZWY3dGF0aEdIYUNoQldoWVhGQ0NGSVZmRERnV0FGMzYrQ1lnaFc4RU9DWUFYZnI5cWFXb1NRdEpTMG9Cc0NRTmRBc0FJQUFNa2dXQUVBZ0dRUXJBQUFRRElJVmdBQUlCa0VLd0FBa0F5Q0ZRQUFTQWJCQ2dBQUpJT0wwc0RQNHU3OWgrMHVIUW1FMit1TXJFN1VJaGtFSy9oWjNMMy84TzU5d2Q4UUFmd01ZQ2dBQ0RrTmRiVWY5SWFEZ0VTaW9xSmF2ZmxYNyt3KzBHTUZRdTdYWDhZeG1hSWZQNVlMdWlGQWtCUVZGY2JhanVwRVJYSjhMOEZhL0tFazZjWXRRYmNDZEl2OGdrSUI3bDFKVWVHM3FTNENiQUQ0Q1gwdndacjg2RW55b3llQ2JnVUFBSkJBd0dPczBsSlNYN3dKQkJBT0lpSWlNakt3VGhYNEtRaTR4enJVZE1qS1pZdXozN3dWYkRONlV0V25pc3BQRlFnaE9Ya0ZXWG1odlk5VFd6cDl0RWRabWd1NkZRRDBCQUVIcTV5czdNSjVuNzNSaUZBNmZ2eDRVRkFRUXNoKzdLSjI3L0lHQVBqUndYUXJBQUFnR1FRckFBQ1FESUlWQUFCSUJzRUtBQUFrZzJBRkFBQ1NRYkFDQUFESklGZ0JBSUJrRUt3QUFFQXlDRllBQUNBWkJDc0FBSkFNZ2hVQUFFZ0d3UW9BQUNTRFlBVUFBSkpCc0FJQUFNa2dXQUVBZ0dRUXJBQUFRRElJVmdBQUlCa0VLd0FBa0F5Q0ZRQUFTQWJCQ2dBQUpJTmdCUUFBa2tHd0FnQUF5U0JZQVFDQVpCQ3NBQUJBTWdoV0FBQWdHUVFyQUFDUURJSVZBQUJJQnNFS0FBQWtnMkFGQUFDU1FiQUNBQURKSUZnQkFJQmtkRUUzUU1pMXRyWldWRlN3Mld5aXBLYW1oc3ZsNGdmRnhjVkVPWTFHVTFSVXBORm9BbW9wQUlBMEVLemRpOHZsN3RxMTYrM2J0MFJKVFUwTmZwQ1FrSER2M2oyaVhGVlZOVEF3VUJCdEJBQ1FESUsxZTlIcGRGMWQzVHQzN3ZBV1VpZ1VuTEJFeUNLRVJvMGFSYWZEcndNQVlRQmpyTjF1L1BqeE9FbHhCNVlQTHFkU3FZNk9qZ0p0SmdDQU5CQ3MzVTVIUjZkLy8vNGQxOUhYMTlmVDArdXBGZ0VBdWhjRWE3ZWpVQ2dPRGc1OEpVUWZGck8zdCtjckFRRDh1Q0JZZTRLVmxaV2twT1RuWHBXV2xoNDVjbVRQdGdnQTBJMGdXSHVDbkp5Y2dZSEI1MTd0MzcrL2twSlN6N1lJQU5DTklGaDdncmk0dUtHaElkOHBMUHlZUXFFWUdSbkp5c29LdElFQUFESkJzUFlFS3BWcWFHZ29KU1hGTjVCS29WREV4TVFNRFEycFZQaEZBQ0E4NFArNWh4Z1pHY25KeWJVdGw1Q1FNREl5RWtTTEFBRGRCWUsxaHlnb0tPQUFKVHF0K0lHSmlVbTdnUXNBK0hGQnNQYWNDUk1tdEMxMGRuWVdSRnNBQU4wSWdyWG5HQnNiOStyVkN6L0czVlZWVlZWalkyTkJ0d3NBUURJSTFwN0RZRERzN2UxNVJ3UEdqQm5EWURBRTNTNEFBTWtnV0h2VXVISGpSRVJFOEdNbWsybHRiUzNvRmdFQXlBZkIycVBVMU5UNjlPbURIK3ZxNm1wb2FBaTZSUUFBOGtHdzlpZ0pDUWxEUTBQODJORFFFSzRMQUVBb1FiRDJLQWFETVdqUUlIRnhjU2FUYVdSa1JBd0xBQUNFQ2F5czNOUHdsUUlzRm92b3VnSUFoQXdFYTAvVDB0THEzYnQzVTFPVHBxYW1vTnNDQU9nVzMxMndWbno2ZE92dS9hS2lENEp1U0RlaWlvaUwwcGtIRGdjSnVpSGRTRVc1MTlqUjFncnk4b0p1Q0FBQzhOMEY2KzE3RDNiNC8xVlZYUzNvaG5TL3BCdUNia0Uza3BTVXBEUG9MazRUQmQwUUFBVGd1enQ1VlZoWS9GT2txckNycTZzckxDenVSRVVBaE5CMzEyTWxERGN6SFRGc3FLQmJBYm9zNWZIVFIwOVNCZDBLQUFUcCt3M1dFY09HZWk1ZExPaFdnSzl3RElJVi9PUyt1NkVBQUFENDBVR3dBZ0FBeVNCWUFRQ0FaQkNzQUFCQU1naFdBQUFnR1FRckFBQ1FESUlWQUFCSUJzRUtBQUFrZzJBRkFBQ1NRYkFDQUFESklGZ0JBSUJrRUt3QUFFQXlDRllBQUNBWkJDc0FBSkFNZ2hVQUFFZ0d3UW9BQUNTRFlBVUFBSkpCc0FJQUFNbUVQMWlMaTR1cnFxcmFmU2svUDcvNmYyOWNXRk5UOC9Iang3WTEwOVBUR3hvYXVxMk4vNFBOWnVmbDVkWFgxL2ZNN3I1bjdGWTJRb2hHcHdtNklRQjBqYkFGYTBSRVJHcnEvOXh3eWQzZFBTUWtCRDl1YVdrcEx5OW5zOW40NmZUcDAyTmpZM2tyUjBWRk9lT2g4eFFBQUNBQVNVUkJWRHM3OHdWeGFXbXBtNXZieVpNbjIrNnV2cjcrOVZmaHpjMzQrSGdXaTBVOHJhaW9jSEZ4dVgvL1B1K09MbCsrekZ2bkoxRlRVNGNRa3BHV0VuUkRBT2lhNy9kbWdsK2h2cjcrNHNXTFFVRkJodzhmSGpKa1NOc0tUNTQ4V2I1OCtibHo1L1QwOU5xKzJ0alllUDc4ZVNjbkoxbFoyWmFXRmlMN3JsMjdoaEFhT1hJa1grQktTa3BtWkdRc1dyVG9LNW9hRkJRMGRPaFFoRkJ1YnE2L3YzOVVWTlR1M2J1MXRiWGIxbXh1YnQ2MmJkdVZLMWRxYW1wbXpwejV1UTJXbDVlUEd6Y09JZVRrNUxScDA2YTJGYXl0cmRsczlvTUhENzZ1dmtCVVZWY2hoT1RrWkFYWUJnQytnbEFGcTRTRXhPSERoK2ZPbmV2cDZSa1VGTlMvZi84dXZmM01tVE90cmEwTEZ5NUVDTjI1YzJmRGhnMjhyK0p5WG1GaFlRTUdERGg5K2pSdjRiLy8vaHNRRUJBY0hDd2hJWUZMM056Y1pzK2ViV2RueDF0TlUxTVRQOURSMFFrTEMxdTdkcTJibTl1T0hUc3NMUzE1cXhVWEY2OWZ2LzdObXpmcjE2K2ZQbjE2WjM2S3VMaTRYMy85MWNURXBKTS9kVmZyOTZTaUR5VUlJUVU1ZVVFM0JJQ3VFYXBnUlFpcHFhbnQzYnQzd1lJRmx5OWY3bEt3VmxWVlJVUkV6SnMzVDE1ZS91WExseHdPSnl3c0RDRlVWRlRrNCtQajd1NCthdFFvdnJmbzZ1cUtpNHYzNjllUHQ3QzR1QmdoMUs5ZlB5SllPUnlPc3JJeVh6VmUrdnI2NGVIaEsxYXMrUERoQTk5TEtTa3BsWldWSVNFaFJrWkduZmtwZXZYcVZWWld0bjM3OWpObnpvaUlpSkJldnlkOS9GaFdWRlJNb1ZDMHRYb0x1aTBBZEkyd0JTdEN5TWpJS0NJaW9vTWdhOWZodzRkbFpHUm16WnJGWnJQOS9QeWtwYVh4eU96ZHUzZEZSVVhkM055a3BOb2Y2V3RxYW5yKy9EbnhORHM3R3lIMDdOa3pCb09CU3pnY1RuNSsvcU5IajRnNkppWW1EQWFqdXJyNjVzMmJSS0dqb3lPTlJydDQ4V0p0YlMxQzZPblRwdzBORFJRS1pjNmNPVGs1T1RrNU9iaWFtWm1aaG9iRzUzNktYcjE2alJneElqNCsvdVRKazUwWm8raHEvWjUwOThGRERvZlRXMU5EWGw1TzBHMEJvR3VFTUZoeGg3Rkw5Vk5UVXk5ZXZIam8wQ0VSRVpIVHAwL241dWFlUEhseTM3NTlDS0dFaEFRNU9Ubmk5SmVkbloyaG9TSHZleXNxS3BZc1djSzNRVTlQVDk2blo4NmNPWFBtRFBFME1URlJVVkd4b3FJaUtDaUk3NDMxOWZWNCtzSDE2OWZ2M2J2WHRxbnk4dklkQkd0cmErdktsU3Z2M2JzWEdobzZidHk0ZGdkdHY2VitqMmxxYXJwd01SNGhwSytySXk0dUp1am1BTkExd2hPc0VSRVJrWkdSK0hGQVFNRGd3WU03Lzk2WW1CZ3VsK3ZsNWRYUzB0TFUxT1RrNU5TM2I5K1FrSkRDd3NMS3lzcmh3NGZuNWVXMXRyWW1KeWRyYTJ2ekJTdTJaY3VXWWNPRzRTSExzTEN3aXhjdjR2S3FxcXFaTTJkdTNyeDUrUERoZU9qVzM5OGZ2NlNqbzROUGl4R3VYTG5pNys4L2JkcTA2T2hvVzF0YmJXM3RpUk1ueXNsMXJiOG1JeU96ZHUxYUh4OGZQeisvNE9CZ0NvVkNidjJlOFNUMTJldk1iRHFkUG1Td2tiZ1lCQ3Y0d1FoUHNPSWsvZmp4NDVreloxcGFXbmhmK21KWXpKZ3h3OGpJU0U1T0xpb3E2djM3OTB1WExoVVZGVDF3NE1DeVpjc1FRa2VPSEVFSU5UUTBXRmxaZlc0THNyS3l5c3JLZUdxQmpJd01mb3dueGlLRXRMUzBjSW1NakV5N2I4L096dDYzYjE5YVd0cW1UWnNHRHg0Y0hSM2QxTlNVbUpoNCtQQmhHeHNiRnhjWE16T3p6a2ZlK1BIakV4SVNIajU4K1BmZmYwK2FOSW4wK3QydHFxcjZmR3hjWFYyZFZtOU51OUcyMzBuV0E5QjV3ak9QZGZEZ3dXNXViZzRPRG56bGJEYWJUdi9DOThlZ1FZTisrKzAzQlFXRmpJeU1GU3RXS0NnbzROTld5Y25Kdi83NmE1ZWFVVmhZU0tRcVFxaWtwQVFocEtxcTJtNWxOcHQ5Nzk2OVpjdVcvZmJiYjgzTnpXZlBuclczdDhjdmpSbzE2dFNwVXlkT25LRFQ2Y3VYTDNkMmRvNktpc0l4M1JuZTN0NU1KdlBBZ1FNVkZSWGRVYi83TkRheWpnYWZUUHpuQmtKbzZpUW5mVDBkd2JZSGdLOGdQTUg2T1MwdExaMDUzMTFmWDc5MTYxWVRFeE1YRnhkY2dxOGRNREl5S2lnb0tDZ29LQ29xUWdoVlZsWVcvRmZiR2Z0c052dng0OGZwNmVuRUhLeUhEeC9pYm16YlBjYkZ4WTBkTzNibHlwV0ZoWVU3ZCs0TUNRbkJnNmV5c3JJQkFRSEd4c1lJSVVORHcrM2J0MSsrZk5uR3hpWW9LT2lYWDM0SkR3L3Z6RSt0cXFxNlpNbVMydHJhZ0lDQTdxamZUU3FycWxhdDl6NFplYXE1cFdYS0pLY0Y3bTdRWFFVL0l1RVpDbWdYaDhPcHI2K1hscGIrWWswL1A3OVBuejRkUFhxMHRyYjIzYnQzSEE0SG40am5PMWQrK1BEaHc0Y1A0OGY3OSsvbkd4eDQ4T0JCWFYyZHM3UHozcjE3MzcxN3QyN2R1cnQzNzlMcDlJVUxGeDQ1Y29UdnFnUkxTOHZIangrUEh6L2UzTnljUnZ2L3F6WmZ2MzY5ZnYzNlE0Y085ZXJWQzVjb0tTbXRXclhLM2QwOUtpcEtSNmV6UGJnWk0yWmN2WG8xS1NscDRzU0o1dWJtcE5jbkM1ZkxiV3hrMWRUV1BudnhNamcwNGtYYUt5cVZPbXlvaWZlNlZTTC9uVmtCd0k5Rm1JT1Z6V2JYMU5Sd3Vkd3Zudjk1OE9CQlVsS1NwS1RrL1BuejhiSHd0R25UdkwyOWVYdWFqWTJOcnE2dXYvLysrOWl4WTNFSjd5RS9Qc01lR0Jpb3A2Zm42K3RyWkdRVUhCeDg5dXpaa3BLUy9mdjNoNFdGZVhoNEJBY0g4OVp2Ym00ZVBueDRaV1ZsUWtJQ2IzbGFXaHFIdzhuTXpHeTdhb0dtcHFhS2lrb25mM3dhamVicjZ6dDc5dXdkTzNaY3VIRGhpMTIvcnRiL1JuY2ZQR3hzWURXeVdCOCtsT1M5ZjUrVm5mUHlWVHBDU0VSRVpKcUw4N3paTTJWbDJ4K1BCdUQ3SjdUQm1wU1U5UEhqUnp5dnZvUDVTWmk2dXJxaG9XR2ZQbjIwdExUNjlPblR1M2R2RFEwTlBJQ3dmZnQyTFMwdFYxZFhQQXRLUVVHaHRyYjJ5SkVqdTNmdkZ2dmZzOVhCd2NHNXVia0hEeDVFQ0RrN081dWFtczZiTjgvWTJOakt5c3JFeEdUaHdvVkxsaXpodlhvcU16T1RtQ0hBcTZtcENTRjA2TkFoSnBQWjlsVVBEdzk5ZmYxT2ZnajkrdldiTld0V1JFUkVVRkFRblU3bk82ZjM3ZlcveFpvTkc5bXRyYTNzMWtZV3E3VzFGU0Vrd21CWW1JK1k0enBqcUxFeFRMRUNQelRoRE5iNCtQZ3JWNjZzWExreVBUMmRTcVcydXpJQUwyMXQ3WGJITHRQUzBtSmpZOWVzV2NOYktDc3IrL3o1ODcvKyttdno1czFFWVdKaTR0V3JWNTJjbkN3c0xCQkNMQmJMMTllM3ZyN2V5OHNMWDJ0NzhPREJqUnMzOG83MjJ0cmF0cjBTdjZpb2FQTGt5VG82T3RuWjJiNit2dVBIai8vYXorQS9GaTFhZE9QR2pWT25Ub21LaW5aSC9hOUdvOUZGUkVSb05Kb1NRMUZUUTkxaXhEQmI2MUY2dW4yNmRhY0E5QXhoQzFaOElKK1FrT0RxNmpwcjFxejU4K2NiR1JtSmk0dDM1cjJ0cmEzNStmbnA2ZW12WDcrV2xwWmV0R2pSM3IxN3RiVzFwMDJieGx0TlUxTnp3WUlGUjQ0Y3NiT3pJOFlpaHcwYkppNHV2bmJ0V3Z6MHpwMDdyMTY5MnJScEU1SHBpb3FLeDQ0ZFMweE03S0FCalkyTlBqNCtZbUppZ1lHQkJ3NGMyTHg1TTVQSnRMR3grZG9QQXlHRW1FeW10N2YzMHFWTEd4b2EydTBDZjJQOXJ4YTRiemVUS2NvVUZaV1NrbEpTVktCU2hmODhLdmg1Q0Z1dzR2RktUMDlQTnplM1I0OGV2WGp4NHM4Ly8veml1MDZkT3BXWW1KaVRrOVBVMUVTajBYUjFkU2RObWhRVkZaV1dsbmJzMkRFOFd3c3ZOb2hISHVmTW1YUHQyalUvUDcvbzZHaThCVGs1T1c5dmIyS0Q0OGFOMDlYVmJkdFQ1dDBJbjl6Y1hGOWYzNXljbkwvKytrdEJRY0hiMjd1eXNuTE5talhPenM0clY2NzgzQVcxblRGaXhJZ0pFeWJ3amVTU1dQL3JERFZwWi9reEFJU0RzQVhyMUtsVFRVeE1wazJiOXZIang4MmJOdzhZTU9DWFgzNzU0cnNZRElhNnVycTl2ZjNBZ1FNTkRBeVlUR1pqWStPRUNST2NuWjIxdGJVakl5TWxKQ1JldkhoQm5MQ2kwK2srUGo2UmtaRjRQTFJkUktxV2xwYmV1SEZEUWtLQ1FxRkVSMGZUNlhUZXl3VFliSFpxYW1wOGZIeFNVcEs4dkh4Z1lLQ1ptUm51T1I0NGNDQW9LT2preVpOWHIxNGRNMmFNZzRQRHdJRURQemZEUVZGUmtXOGhXbDUvL3ZrbjN4ZE1WK3NEQURwUDJJTFYxTlRVMU5RVUliUnIxeTRPaDdOcjF5N2VZMHdqSXlOaXVpaXZhZE9tOFIzdmk0bUpSVVJFeU1ySzR2TklyYTJ0VENiVHdjRUJYNW1LRUJveVpBaGU4aFV2WjlVQktwVzZkKzllL0ZoQ1FtTFZxbFc0Q3h3ZkgzLzU4dVgwOUhRV2l5VW5KN2Rnd1FKWFYxZGlUU3o4eHQ5Ly85M1IwVEU4UEJ5UEdpT0VqSTJOZzRLQ2VLZG5BUUMrTjhJV3JJUTllL1o4K3ZSSlNVbUp0MUJLU2dwUHZNZFNVbEk2MkFLUnY0OGZQKzZnV3E5ZXZTNWR1aVF2LzlrMVE1V1VsRkpUVTlsc05wZkxaZkJNek96ZnYzOXNiT3preVpQTnpjM056TXcrZDNtWXVycTZ0N2YzeXBVclUxTlRVMUpTYkd4c0lGVUIrTTRKYmJEU2FEUytWTzBtZERwZFRVMnRNOVg0U3ZyMjdZdVhmTzBNY1hGeEt5dXJEaFlyQUFCOFArQlVMQUFBa0F5Q0ZRQUFTQWJCQ2dBQUpJTmdCUUFBa2tHd0FnQUF5U0JZQVFDQVpCQ3NBQUJBTWdoV0FBQWdHUVFyQUFDUURJSVZBQUJJQnNFS0FBQWtnMkFGQUFDU1FiQUNBQURKSUZnQkFJQmtFS3dBL0I5Nzl4M1ExTlgzQWZ3bUpCQjIyRVAyRUZGQVFad01xMWEwNEo3VVhSK0sxb25XdlZ2M2FBc0tLbWhkcUNocVZSeFZhMFhGRGU2dFVBZklVTGFNUUJMeS9uSGU5NzU1QWxMSElRSDhmdjY2T2JtNTk1Y0FYODQ5OTl3YkFNb1FyQUFBbE5YZkcxMWZ2WjdDTUp0VVhRVjh0S3ZYVTFSZEFvQ0sxZDlndlpaODQxcnllNy90RGdDZzNxcDNRd0VXNW1ZNk9qcXFyZ0krbDVhV3BvVzVtYXFyQUZDTmV0ZGo3ZHJabjh2bHZzN01VblVoZFNVbk95c25PNHRoR0ROekN6TnpDMVdYVTFmTXpVeTdkdlpYZFJVQXFzR1J5V1NxcnVITEVoTVRFeDBkelRETTJMRmpRME5EVlYwT0FOQlg3NFlDQUFBYU9nUXJBQUJsQ0ZZQUFNb1FyQUFBbENGWUFRQW9RN0FDQUZDR1lBVUFvQXpCQ2dCQUdZSVZBSUF5QkNzQUFHVUlWZ0FBeWhDc0FBQ1VJVmdCQUNoRHNBSUFVSVpnQlFDZ0RNRUtBRUFaZ2hVQWdESUVLd0FBWlFoV0FBREtFS3dBQUpRaFdBRUFLRU93QWdCUWhtQUZBS0FNd1FvQVFCbUNGUUNBTWdRckFBQmxDRllBQU1vUXJBQUFsQ0ZZQVFBb1E3QUNBRkNHWUFVQW9JeW42Z0lhT2FsVW1wZVhKNUZJMkpiaTRtS1pURVlXTWpNejJYWTFOVFZqWTJNMU5UVVZWUW9BMUhESUh6blVFWWxFTW5QbXpMUzBOTGFsdUxpNHFLaUlZUmg5ZlgwOVBUMjIzY0xDSWpJeWtzZkR2enFBQmc5L3huV0x4K001T2pxZVAzOWV2cEhENFpDRUxTNHVaaHY5L2YyUnFnQ05BOFpZNjF5UEhqMUlraklNSTZ1R3RITzUzTjY5ZTZ1MFRBQ2dCc0ZhNXh3Y0hKbzFhMWI3T3M3T3prNU9Uc3FxQ0FEcUZvSzF6bkU0bk1EQVFJVVd0ZzlMQkFRRUtMUUFRTU9GWUZVR1B6OC9IUjJkOXoycnA2ZlhvVU1INVZZRUFIVUl3YW9NQmdZR3JxNnU3M3UyV2JObUppWW15cTBJQU9vUWdsVVp0TFMwM056Y0ZFNWhrV1VPaCtQdTdpNFVDbFZhSUFEUWhHQlZCaTZYNitibXBxdXJxekNReXVGd05EVTEzZHpjdUZ6OElBQWFEL3c5SzRtN3U3dUJnVUgxZG0xdGJYZDNkMVZVQkFCMUJjR3FKRVpHUmlSQTJVNHJXZkR5OHFveGNBR2c0VUt3S2s5UVVGRDF4cjU5KzZxaUZnQ29Rd2hXNWZIMDlEUTFOU1hMcEx0cVlXSGg2ZW1wNnJvQWdESUVxL0x3K2Z5QWdBRDUwWUN1WGJ2eStYeFYxd1VBbENGWWxhcDc5KzdxNnVwa1dTQVFkT3JVU2RVVkFRQjlDRmFsc3JTMHRMZTNKOHVPam81V1ZsYXFyZ2dBNkVPd0twVzJ0cmFibXh0WmRuTnp3M1VCQUkwU2dsV3ArSHkraDRlSGxwYVdRQ0J3ZDNkbmh3VUFvREhCblpXVmpWd3BJQktKMks0ckFEUXlDRlpsczdXMXRiR3hxYWlvc0xhMlZuVXRBRkFuNnQxM1h1WGw1eWRldVBqNmRaYXFDNmxEYVdscFZWVlZ6czdPcWk2a0RwbWJtWDdkcFpPUm9hR3FDd0ZRZ1hyWFl6MlhkR241cWw4TGk0cFVYVWpkTy8yM3FpdW9Rem82T2p3K2IwQ2ZYcW91QkVBRjZ0M0pxNHlNekM4aVZSdTdrcEtTakl6TUQxZ1JvQkdxZHoxV1ZyczJyZHUzOVZaMUZmRFJybDVQdVpaOFE5VlZBS2hTL1EzVzltMjlwMHdZcCtvcTRCTnNRckRDRjY3ZURRVUFBRFIwQ0ZZQUFNb1FyQUFBbENGWUFRQW9RN0FDQUZDR1lBVUFvQXpCQ2dCQUdZSVZBSUF5QkNzQUFHVUlWZ0FBeWhDc0FBQ1VJVmdCQUNoRHNBSUFVSVpnQlFDZ0RNRUtBRUFaZ2hVQWdESUVLd0FBWlFoV0FBREt2cXhnbGNsa0VvbUV5cWJLeXNwdTM3NU5aVk8xS0MwdHJldGRBQUIxOWZjN3IrckN5Wk1uVjZ4WXNYLy9mak16TTlJaWs4bmV2SGxUNDhvNk9qcmEydHJ2MjlUUFAvOTg4ZUxGdzRjUEd4c2JmMVFOdWJtNU4yN1UvSlZRUXFHd1hidDI3TVB3OFBEejU4OXYyclNKcmZaRHZIbnpKaVVsUmFHeFJZc1dYQzYzc0xEd2ZhOXljWEZSVjFmLzhMMEFRQzIrb0dBVmk4VWJObXl3czdQTHk4dkx5OHRqR01iSnlhbWlvaUl3TUxERzljUEN3a2FNR1BHK3JZMGJOeTR4TVhIRGhnMExGeTU4M3pweGNYRXltVXkrcFZ1M2JzK2VQWnM3ZDI2TjY3dTV1Y2tIYTNCdzhQbno1ME5EUTJOaVlzek16UHIzNy8veTVjdGEzbUJTVXBLV2x0YVRKMDhXTEZqZzV1Ykd0ajk5K2pRc0xPejI3ZHVuVDU5KzMydVBIajFxYVdsWnk4WS9YOHJOV3dLQlFGTWcwTlhWTlRZeTVISy9yS01sK0tKOFFjRWFGeGVYbVptWm41Ly8vZmZmU3lRU2lVUnk1TWdSUzB2TGZmdjJWVlpXamhneFl2TGt5VDQrUHFRYkd4d2NyS09qd3pCTVNVbEo5KzdkYTl5Z1ZDbzljdVRJcVZPbnFqLzErKysvTjJ2VzdOZGZmNjJxcXBKdmI5NjhPVm5Zc21XTHZiMjkvRk9MRnk4dUtDaVFiekUzTjkrOGVYTm9hR2hrWk9TU0pVdkdqQmxUWEZ4Y1l5VTNidHc0ZCs0Yys1RFA1Ky9Zc1lOOTJMOS9mNFpobGkxYnRtVEpFdExTcFV1WDBORFE0T0JnZGgwZXI4NS9FeVpPbmNYanFYRzVYRDZmYjIzVnhLZDkyODZkL0owYzdUL2dwUUFOekpjU3JQZnYzNCtLaXBvNGNlSjMzMzFYV1ZrNWV2Um9RME5EUzB0TExwZnI1T1QwNk5FamhtRzh2THljbkp4SW1ESU1ROFlCWkRLWlNDVHk4Zkh4OXZiK2tCMmxwcVllUDM2YzVHbHljakxibnBpWU9IMzZkS0ZRV0ZaV3hqQ01ycTZ1VUNoODl1elpqaDA3SmsyYVpHWm14dWZ6NWJjVEdocmFwRW1UUllzVzdkcTFTMHRMaTJHWW5qMTcxckpmK1dDVnlXVHljVThHYXJsY0x1a2tGaFlXbHBhV09qZzRLQ0ZNNVVtbGtvcktDcWxFV2k0U1BYL3g4c0xGeTcrczI5QzFzLytvWWQrNnQzRFYxTlJVWmpFQWRlcUxDTmFDZ29LWk0yZGFXVm0xYmR2MjRjT0hCdzRjZVBYcTFhUkpreDQvZnV6bzZLaWhvYkZ6NTA1TFMwdG5aMmV4V016bjh5OWN1TUF3akltSkNic0ZUMC9Qa1NOSGt1WHk4dkxnNE9CQmd3WU5IejY4K3I3T25EbHovUGh4OW1GcGFTa0o2TXpNVEE2SFkybHBtWm1aeVQ3Nzl1M2JQLy84Yy9UbzBkVkhVWXVMaS9YMTlSbUdJYW42VVNRU3laNDllK1EzUlJiV3JsMWJVVkZCSGlZa0pDUW1KcEwyeVpNbjYrcnFmdXhlUHRhdnE1YVZsNHZLeXN1enNySmZwcWMvZnZMczd2MEhmNTQ2Yys3OHhlREIvY2VNSE5ha2pzY2lBSlRtaXdqV2lvb0tjM1B6Ky9mdlQ1NDhtY2ZqNWVibUdoZ1lMRjY4T0RjM2Q4ZU9IVWVQSGoxNzl1ejY5ZXR2M0xneGVmSmtQcDh2Rm91dHJhM0pZYnVtcG1aNGVMajhZZnZmZi8rZGtaR2hwNmRYNDc1YXRXb1ZIaDV1WTJORFFuYnAwcVdIRHg4V0NvV1ptWmxtWm1hZmRvSW9OemMzS3l1cmVydSt2ajdaa1lJYWh3SVloamwwNkZCUVVKQ1hsNWVYbHhkcEtTd3NqSW1KQ1FrSlVVS3crdmwwWUpjcktpdkx5OHJ2UFhpNGJrUE16ZHQzZHU3ZTkvejV5L0MxSy9UcXZnd0FKZmdpZ3RYYzNIenIxcTN0MjdkZnZueTV1N3U3bjU5ZlZGU1VwYVhsVjE5OTlmZmZmMSs1Y21YOSt2VnQyN1o5OSs1ZG16WnRORFEwdW5idDJxVkxGdzBORFRMNDZPZm5KNysxWThlT0NRU0NybDI3MXJndlkyTmpkbjF2YjIrSlJMSjkrL2F3c0xEVTFGUXJLNnNhWDhMaGNHcXYvOFNKRXhFUkVkWGJ1M1Rwc21iTm11cnRZckdZREJZVElwR0lYZmJ6OC9QejgxdXdZSUdCZ2NHMGFkUFMwOU5qWW1KcTMzdGQwRkJYMTFCWDkvUHA0TjZpK1pLVmE0Ny9lZnBjMHFYd3lJMHpwMDRXQ0FUS3J3ZUFyaThpV0dzUkZCUTBjZUxFMmJObkh6MTZkTW1TSmVYbDVXWm1acjE3OTJaWFdMVnFWVUpDZ3Z4TFJDSVJoOE1KQ0Fpb1piTmR1blJac21TSlVDajg5dHR2ZCsvZUhSd2NmUC8rL1VHREJpbXNWbGxaeVRETWgzUmpkWFIwRkJLd3hrZ2xZNm5hMnRxYk5tMWlXK2JObTZlbXBxYndGc1JpOGIvdVZBbUVRdjJsaStZWkNJV3hjZkhiWStOTWpZM0hmVDlHMVVVQmZLNHZLMWhuelpwRnp0ajg4TU1QN0hRZm1VeDI5ZXJWWWNPRzFmZ1NmMzkvQ3dzTDl1SEJnd2N6TXpQSGpSdW5jSzVKZ1oyZEhWa1lNV0xFM3IxNzU4eVpJeEtKMnJkdnI3QWE2VXQrU0I5TlRVM054Y1ZGdnFYR09iWWlrYWhGaXhZSy93bTJiZHRHdXJGc2kwd21xeit6blRRMU5TZU5INXRmVUhqNDZQRjlCdzkzKzdxTG83MmRxb3NDK0N4ZlZyRDI2OWZQeXNwcStmTGx3Y0hCUXFGdzFhcFZETU5jdjM2OXJLeHMrL2J0c2JHeEZSVVZqeDQ5T25QbURGbi8rUEhqSFRwMDZORGhmd2NIbno1OXVtN2R1ajU5K3Z6blAvOGhRNS9IangvdjE2L2YrOFpiR1liUjA5TUxEZzdldW5XcnVycTZwNmVud3JOdjM3N2xjcmtHQmdhMDNtQmNYRnhrWkdTTlQ1RTNTNVNXbG43Q09iRzZvNituKyszZ0FZa1hrckt6Yzg2ZHYraGdaL3V2d3lNQTlkbVhGYXp0MjdkM2QzZGZ2bng1cDA2ZExDMHRTZFlrSkNSWVdWbU5IeitlWVpnTkd6YVltSml3eCt3S3ZjSmZmdmxGWFYxOTdOaXg1R0ZNVE16Qmd3ZnQ3ZTM5L2YxcjJlblFvVU8zYnQzcTR1SkNCbTNsdlhyMXl0RFE4TzNidC9LZDRzL1J2My8venAwN2srVzB0TFNaTTJmdTJyV0x6R1NTbitTUW1ablpxVk1uS251a3BhV0htMXR6MTB0WHJ0MjkvNkNpb2dJanJkQ2cxWmZqUWVWSVMwdTdlL2N1d3pCUG5qeTVkKzhlbVRDUWxKUVVIQnpjdlh2Mzd0MjdDNFhDSmsyYWRQOC84c2Y3Qnc4ZVRFbEpHVGR1bkttcEtjTXcvL3p6ejVFalI3cDI3VXBTbFV4OXJkR1ZLMWNZaG5uNDhPR3JWNjhVbnJwKy9YcHVibTVJU01pSEZDLzVid3JYZEJINit2cFZWVlVEQmd4UVUxTWpZVzFyYTJ0bloyZG5aOGYrazhqT3pzN0l5UGlveTJTVlFKM1BIenA0SU1Nd1Q1NCtLeTByVTNVNUFKL2xTK214VmxWVmljWGk3ZHUzazZ5TWlvb2k1M00wTkRUMjc5OVBab3pXSWowOVBUdzgzTlhWbFF6RnltU3k1Y3VYYTJ0cno1bzFpMkdZbEpTVXNMQ3czMzc3clUyYk5nb3ZsRXFsVzdac01UQXdLQ3NyMjdoeDQ0b1ZLNW8yYmJwa3lSSnpjL09VbEpTTWpBeG5aK2QzNzk0eERMTnc0VUtGeTdUa0ZSVVZ5Vi90U25UcDBxWEdOUm1HTVRBd0lKdnQxcTBiYVQ5OCtIQkVSSVNUazFOMGREVERNQXNXTEpnMmJWcGdZT0NHRFJzb2prVjhqblp0V3F1cHFmM3o0c1c3ZHlWR2hvYXFMZ2ZnMDMwcHdVcG14VWRHUmxwWldmbjUrYTFidDQ1TXQ3cDE2MVo0ZURpN21zSVk2NGdSSThhTkcxZGVYdjdqanovS1pMS2xTNWVTT042elo4K3RXN2RXckZoaFpHVEVNSXlIaDRlTmpjM3MyYk5qWTJNVnJyZy9jZUxFeTVjdjU4MmI5K3pacy9qNCtOR2pSN3U0dUFRR0JsWldWdjd5eXk5Q29UQWdJT0Rnd1lQa1dxd1hMMTc4OU5OUFlXRmgxV2VuQ2dTQ3FWT25LalRXT0grTDNFL2crZlBucE5TbFM1ZVNJUWg5ZlgxdmIrKzR1TGo0K1BpNWMrZStlZk5tK2ZMbEZ5OWVYTFJvVVQyNS9ZcWhvVUVUUzh0WDZla1pyelB0Ykd1WW53dlFVSHdwd1pxV2xzWXdUUFhqWHpzN08vbTdxQ2lNc1RvNE9FZ2trcmx6NTZhbHBhMVlzWUtjNjc5Mzc5NzY5ZXQ3OSs3TnpyaFNWMWRmdlhyMXNHSERmdnp4eDIzYnRySGpnNjlldlZxN2RxMlRrMU9mUG4zZXZuMzd4eDkvUkVWRnJWdTNUaUtSTEZpdzRPblRweXRXck1qTnpXWDNYbGhZZVA3OCtVR0RCaWtFcTZlbjV3OC8vREJ3NE1BUGVhY1BIanhRVTFPYk4yOWVXRmdZd3pEdDJyVWo1Nmx1M0xpeFpjdVc2OWV2anhrelpzQ0FBV1NhN2V6WnM3Lzk5dHRWcTFhNXU3dC82a2RMazRXNTZhdjA5TGR5bndsQVEvU2xCT3VWSzFlc3JLejA5ZlhML252OHpzREFRUDc0ZmMrZVBXU01sVzFadEdqUmhRc1hSbzhlVFdJME5UVjEyclJwZG5aMlpCQkFJcEdJUktMeThuS1pURFowNk5DWW1KaWZmLzU1K2ZMbDVNclg2ZE9uaTBTaXVYUG5xcW1wbVp1YkR4NDgyTkRRTURjM2QvNzgrY25KeVNFaElRRUJBWHYyN0dGdkVVdHVZRmc5L2QzZDNXc1BQdElmSjllTW5UMTdkc3lZTWFtcHFmUG16U09qRm1UNndkeTVjM1YxZGRldlg5K3hZMGZ5cWpadDJ1emV2WHZtekpuNStmazBQbU1LeUtERTI5dzhWUmNDOEZtK2lHQVZpVVRIamgzcjFhc1h1WktxVmF0VzZlbnAxNjVkSXhQdmEzK3RWQ3J0MWF2WHBFbVRHSWE1YytmT0R6LzhVRkZSVVZGUjBiMTdkNUZJVlAyMjJhZE9uV3JXck5uSWtTTlRVbExTMHRMbXpKblRzbVZMOHRUVXFWT1BIVHMyWk1pUWQrL2VUWjA2bGR4cXdOVFVORGMzTnlvcXlzVEU1UERod3dLQjRIMFhhQ21JajQvUHo4OVhWMWNYaVVUNzl1MnpzN1BqOC9seGNYR0ZoWVZkdW5RWk0yWk1kSFIwYkd4czc5Njl2YjI5emMzTkF3SUN6TTNOTXpJeTR1UGo1VStGdFd2WDdzYU5HN3E2dXV4MXJpcEVMbW5OeTZzdlFRL3dhYjZJWU0zTnpUVXpNL3YyMjIvSllidTN0L2VzV2JQNGZINi9mdjNNemMxcmYrMk1HVFBZOCtuTm16ZDNkblkyTkRRME16TVRDb1Y2ZW5xNnVybzZPanE2dXJyYTJ0cTZ1cm9DZ1dEaXhJbDc5KzRkTUdDQW41L2ZpaFVyNUMvUXVuUG56cElsUzJ4c2JINzU1WmRXclZxUnhrNmRPdm43KzhmR3hvckZZajA5dmFsVHAzN2dpT2ZqeDQrUEhEbENyb2kxdGJXZFAzOCtHWFgxOVBSczJyUXB3ekNUSmswYVBIandYMy85ZGVmT25WdTNidVhsNVpXV2xsWldWa29rRW5LV2pNUGhxS21wOFhnOEhvODNlUERnei9pQXFlR3BxVEVNSTVGSVZWMEl3T2VSMVRQaGtadnNYVnZadTdZS2o5eFlwenVxcXFxcWk4MitmdjI2cUtqb2ZjL2V2SG16c3JLUzR1NnFxcXFrVXFsOHkvUG56eWx1L3hPRVIyNzh2NS9ncG85OTdieEZTKzFkVy8yOGZFM2RsQWFnSkY5RWo3VkdkWFJ0VCszMzRhOSs4ZFZuNG5BNENtK0V2Wm9XQUZUbHk3cEFBQUJBQ1JDc0FBQ1VJVmdCQUNoRHNBSUFVSVpnQlFDZ0RNRUtBRUFaZ2hVQWdESUVLd0FBWlFoV0FBREtFS3dBQUpRaFdBRUFLRU93QWdCUWhtQUZBS0FNd1FvQVFCbUNGUUNBTWdRckFBQmw5ZmRHMTFldnB6RE1KbFZYQVIvdDZ2VVVWWmNBb0dMMU4xaXZKZCs0bG54RDFWVUFBSHkwZWpjVVlHRnU5cS9mbkFyMW41YVdwb1c1NHZkNEEzd2g2bDJQdFd0bmZ5Nlgrem96UzlXRjFKV2M3S3ljN0N5R1ljek1MY3pNTFZSZFRsMHhOelB0MnRsZjFWVUFxRWE5QzFZalE4T0IvWHFydW9vNkZCTVRjK3JFVVlaaHhvNGRHeG9hcXVweUFJQytlamNVOTk0OGpBQUFJQUJKUkVGVUFBRFEwQ0ZZQVFBb1E3QUNBRkNHWUFVQW9BekJDZ0JBR1lJVkFJQXlCQ3NBQUdVSVZnQUF5aENzQUFDVUlWZ0JBQ2hEc0FJQVVJWmdCUUNnRE1FS0FFQVpnaFVBZ0RJRUt3QUFaUWhXQUFES0VLd0FBSlFoV0FFQUtFT3dBZ0JRaG1BRkFLQU13UW9BUUJtQ0ZRQ0FNZ1FyQUFCbENGWUFBTW9RckFBQWxDRllBUUFvUTdBQ0FGQ0dZQVVBb0F6QkNnQkFHWUlWQUlBeUJDc0FBR1U4VlJmUXlFbWwwcnk4UElsRXdyWVVGeGZMWkRLeWtKbVp5YmFycWFrWkd4dXJxYW1wcUZJQW9BYkJXcmRrTXRuS2xTdlQwdExZbHVMaVlySncvUGp4cEtRa3R0M0N3aUl5TWxJVk5RSUFaUWpXdXNYajhSd2RIYytmUHkvZnlPRndTTUt5SWNzd2pMKy9QNCtISHdkQVk0QXgxanJYbzBjUGtxU2tBNnVBdEhPNTNONjllNnUwVEFDZ0JzRmE1eHdjSEpvMWExYjdPczdPems1T1RzcXFDQURxRm9LMXpuRTRuTURBUUlVV3RnOUxCQVFFS0xRQVFNT0ZZRlVHUHo4L0hSMmQ5ejJycDZmWG9VTUg1VllFQUhVSXdhb01CZ1lHcnE2dTczdTJXYk5tSmlZbXlxMElBT29RZ2xVWnRMUzAzTnpjRkU1aGtXVU9oK1B1N2k0VUNsVmFJQURRaEdCVkJpNlg2K2JtcHF1cnF6Q1F5dUZ3TkRVMTNkemN1Rno4SUFBYUQvdzlLNG03dTd1QmdVSDFkbTF0YlhkM2QxVlVCQUIxQmNHcUpFWkdSaVJBMlU0cldmRHk4cW94Y0FHZzRVS3dLazlRVUZEMXhyNTkrNnFpRmdDb1F3aFc1ZkgwOURRMU5TWExwTHRxWVdIaDZlbXA2cm9BZ0RJRXEvTHcrZnlBZ0FENTBZQ3VYYnZ5K1h4VjF3VUFsQ0ZZbGFwNzkrN3E2dXBrV1NBUWRPclVTZFVWQVFCOUNGYWxzclMwdExlM0o4dU9qbzVXVmxhcXJnZ0E2RU93S3BXMnRyYWJteHRaZG5OenczVUJBSTBTZ2xXcCtIeStoNGVIbHBhV1FDQndkM2RuaHdVQW9ESEJuWldWalZ3cElCS0oySzRyQURReUNGWmxzN1cxdGJHeHFhaW9zTGEyVm5VdEFGQW42bDJ3NXVYbkoxNjQrUHAxbHFvTHFVTmNkUzBObmlBaUtsclZoZFFoY3pQVHI3dDBNakkwVkhVaEFDcFE3NEwxWE5LbDVhdCtMU3dxVW5VaGRlLzAzNnF1b0E3cDZPancrTHdCZlhxcHVoQUFGYWgzSjY4eU1qSy9pRlJ0N0VwS1NqSXlNajlnUllCR3FONzFXRm50MnJSdTM5WmIxVlhBUjd0NlBlVmE4ZzFWVi9ILzN1Ym1uVDEzSVR2bmphb0xBVlV5TmpiNnVyTy8yZjlkVTE3WDZtK3d0bS9yUFdYQ09GVlhBWjlnVTcwSzFwT256NndKanl3cEtWRjFJYUJLbXBxQ2QrOUt4b1dNVnM3dTZ0MVFBQUJkTDE2bEkxV2h2RnlVOXM5enBlMnUvdlpZQWVqeTkrM28yUkwzRlAvaVBIejA1Syt6NTVTOFV3UXJmQ244ZlR1T0dUbE0xVldBc2gwNGxLRDhZTVZRQUFBQVpRaFdBQURLRUt3QUFKUWhXQUVBS0VPd0FnQlFobUFGQUtBTXdRb0FRQm1DRmVvUk5aNGF3ekJpaVZqVmhRQjhGZ1FyMUNNR1FpSERNSG41QmFvdUJPQ3pJRmloSGpFM04yVVlKak96TWQvbUhMNEVDRmFvUjB5TlRSaUdlWldSSVJaTFZGMEx3S2REc0VJOVltNXVxcU90WFZCUWVDMDVSZFcxQUh3NkJPdi8yN05uejcxNzkrUmJjbk56Zi92dHQ0eU1qRS9iWUZGUlVWcGFHcVhxdmdobXBxWXRQZHdZaHRsMzRKQkU4Z1YxV25OemM5KzgrWWhiY1JjV0ZpWW1KaXA4UkE4ZVBFaElTQ0RMMmRuWkgxdURTQ1FxTEN6ODJGZEJqUkNzLzIvMzd0MEt3WnFRa0xCcjE2NmlULzJxbUpNblR3WUhCOWV5d2ovLy9CTVFFUERzMmJQcVQxMjRjT0diYjc0Wk5teFlWVlZWN1hzNWZ2ejRtREZqY25KeVBxM0lla1dvcjlmR3k1UEw1VjY5bm56cDZuVlZsNk04TVRFeDMzenp6WWVuNGI1OSs2WlBuLzc4K1gvZFlQVHZ2Ly8rNmFlZkpCTEppeGN2K3ZUcHMyTEZDcEZJeEQ2Ym5aMTkrYjlKcFZMMjJjckt5cUZEaDQ0YU5hcVduWXBFb3V6czdQdjM3NTg1YzJiYnRtMHBLU2xrcy9mKzI5T25Uei8rQTJoc2NOdkEyaHc1Y3NUQndhRkZpeFkxUGl1UlNKS1NrdVJickt5czlQWDFIeng0UUI0K2UvWk1KcE1sSmlheUt6ZzVPY2wvNi9XZE8zZUtpNHVyZncvMnJWdTM1c3laMDZSSmsyZlBua1ZGUlUyYU5LbVdJczNOemRQUzBzYVBINzlqeHc0ZEhaMVBlcVAxaFpxYVd2ZUFyanYzN012TEw5aXliYWRuUzNjOVhWMVZGMVhuSkJMSm1UTm4zTjNkemMzTlAyUjlrVWdVSHg4ZkVCRGc3T3dzM3k0UUNCaUdFWXZGZG5aMnExYXRXcmh3NGMyYk42T2pvdzBORFJtR09YLysvT3JWcStYWFQwcEswdExTSXN2YnQyOS8rZklsd3pENzkrOGZOR2lRd2g1djNMZ3hZY0lFc2ZqL3A4Rnh1Vnh2YjI5dmIrLzQrUGdkTzNiSXIyeHJhL3ZISDM5OC9NZlFxQ0JZMyt2R2pSc1pHUmsrUGo2SERoMnEvcXlWbFZXelpzMm1UNTh1M3poNDhHQWZINS8xNjllVGgrL2V2WlBKWk96RDlQVDBTWk1talJ3NWtqeFZVVkZ4NDhhTlpzMmFsWlNVa0Z2Y0d4a1pjVGljeE1URXVYUG5tcHFheHNURUpDUWtSRVJFYUdob2hJYUd2cS9PMXExYnIxKy8vdnZ2djEreFlzV3laY3RvZnd6SzV1THNORFprOU9wZjExMjZjbTNsMnZBNTA4TjBHMTIyaG9XRkpTY255N2VJUktLSER4LzYrUGpVOHFyQXdNQjU4K1l4REJNZkgxOVNVakorL0hpRkZVaXdWbFpXYW1wcWZ2WFZWOXUzYno5MDZKQ0JnUUc3QXBmTFBYLytQTU13aXhjdmZ2RGdnYWFtSm1sUFRrN2VzbVhMaUJFanhHSnhlSGk0dTd0N3MyYk41TGNza1VqRVl2SHMyYlB0N2UzMTlmVU5EUTBOREF5NDNQODkzaFVLaGJHeHNXUjUwNlpOOSsvZi82eFBwMUZBc0RLNXVibGthRWtpa2VUbTVxYW1wdko0UERzN08vSzdjdW5TcFV1WExsVi9WVkJRVUpzMmJXN2MrTjh2ZDFxNWN1V1JJMGQ2OWVyVnZIbHpYMTlmMHJodjM3NjFhOWV5LzcyN2RPbkN2bnpSb2tYa1Y1eGhtTzdkdTVPRmt5ZFA3dHk1YzgrZVBlYm01bEZSVVVLaGNNU0lFYytmUDQrT2puN3g0c1djT1hQZUZ6RWVIaDZUSmszNjdiZmZBZ01EYS8vamJCREdqQnlXbXZiOHlOSGplL2Yva1pQejVvZlFNWjR0UGRUVTFGUmRGelZCUVVGZVhsN3N3OTkvLzkzUTBIREVpQkcxdjhySnlZbDgvZTJPSFR2NjkrOXZiVzM5Nk5FakF3TUR0cDlMZ3JLd3NMQ2dvQ0FuSnljbkowZFhWM2ZwMHFWZVhsNUJRVUZrSFMwdExiRllmUFhxMVNGRGhuQTRISVpoWHI1OE9YdjJiQmNYRjVMVWQrL2VuVGh4NHUrLy8yNXJhNnRRUVB2Mjdhc2ZYWldVbEdocmExdGFXcEtIMnRyYW4vM3hOQVlJVm1iNzl1MXhjWEZrZWNlT0hUdDI3TkRYMTErMWFsVlNVdExnd1lPSERCbFMvU1gvK2M5L05EUTAySWVIRGgzYXYzLy9raVZMQkFKQmRIUTAyMzcvL3YycXFpcTJSU1FTWGIxNnRieTh2SDM3OXZQbnp4OHhZa1JJU01odnYvMUcvbUF1WHJ3WUVoS1NrWkdocWFuNXd3OC9aR2Rua3hHM3dNREFaOCtlL2ZYWFh6ZHUzQmcxYWxULy92MUp4MFRCNE1HRDE2OWYvK3V2djdadjM3NmhaNUNhbXRxOFdkTU1oUHBiZCs0K2wzVHAzb09IMzNUdkZqYnhCd09odnFwTG82TmJ0MjdzY2xKU1VrbEp5WlFwVThpaERNTXdWVlZWZCs3Y3NiQ3dxSEZrWU11V0xSS0paT3pZc1ZLcGRNR0NCWldWbFFNSERuejkrblZPVGc0NVU5cS9mMyt5Sm8vSE16WTJOamMzVitoK1hyMTZ0YlMwTkRBd2tJeFdqUjgvWGx0Yk95SWlRbDFkbldFWWN2UXphdFNvcFV1WHNsMEU0czJiTit5dkZwZkxKZVU5ZmZyVXpNeXNEajZraGczQnl2end3dytqUjQrdXFLam8zNzkvU0VoSXYzNzlHSWFaTkdtU1VDaWNNR0dDam83T3c0Y1BtemR2THYrU3Fxb3FQcDlQbG0vZnZyMXk1Y3JodzRjSEJnYmV1M2N2TlRXVlhTMDNONWRoR0xaRktwWG01ZVdscHFhNnVycTJiTm55NHNXTCt2cjZPVGs1eDQ0ZFc3bHk1VjkvL1ZWWVdEaHYzcnprNU9RVksxYkk3MDRvRk83Y3VYUHAwcVVIRGh6bzI3ZHZqZS9penAwNzVLekZzV1BIK3ZUcFV3ZWZrMUxwNmVwT0Q1c29sa2orT0hJMHY2QXdkcysrdzBkUERBc2VHTmc5d01MY1RLQ2hvYTZ1enVjMytOL2VxcXFxRFJzMjZPdnJ5dzlyaWtTaWtKQ1FNV1BHVEpnd1FXSDl4NDhmNzltelovcjA2VUtoTUNFaDRmbno1eXRXckRoNDhHQnBhYW1abVptam8yTm1adWFVS1ZOYXRXcGxibTV1Ykd6TUhxM0xPM1BtVFBQbXplM3Q3VStjT0xGeTVVb1RFNU1OR3phUWNWanl5N1pseTVhWk0yZE9tVEtsZS9mdTQ4YU5zN0d4SVUvSmowY0pCSUpMbHk0bEp5ZmZ1M2R2OHVUSmJEdWZ6eThvS0JDSlJEWCsrLzl5TlBoZnpjK25yYTJ0cmExOTVjb1ZpVVNpcmExdGJHejg2TkdqdExTMHhZc1g2K2pvM0w1OSt6Ly8rYys4ZWZQWWpnQVp4aUwvM3JPenM2ZFBuKzd0N1UxK3Q5emQzZGVzV2NPdVJvWUMySll1WGJvRUJRV3hIWlBMbHk5MzZOQ2hwS1FrSnllSHkrVXVXN2FNdytHWW1Kakk3NGdsRW9uNjkrL3Y0ZUhCbm0xUWtKaVl5T1B4N08zdHQyN2Qyck5uejRiZWFTVWRyZ1d6cDNmOXl2L29pWk4vblQyWG4xK3dhZk8yVFp1M3VUUjFidXJrYUc1dTJzVENRaWpVMTlMVTVQUDU2dXJxNnVwOEcydHJFMk1qVlJmK0VmYnUzZnYwNmROWnMyYXh3NTIxUzBoSWtFcWwyN1p0aTQ2T2Z2ZnVYZHUyYlFNQ0FnSUNBc2l6OSs3ZFMwcEtjblYxOWZEd3FHVWpGeTllREFvS2V2TGt5YUpGaTlxMWF6ZGh3b1EzYjk3STl6ci8rZWVmeFlzWEh6OStQRFkyZHRDZ1FXeXdidCsrM2NMQ2dpeHpPSncvLy94ejVjcVZabVptOHYvc1c3WnN1WHYzN3M2ZE82dXJxeTlZc09EcnI3LytwQSttd1VPdy9xL1RwMDh6REhQNDhPR0tpb3J2dnZ0dTc5NjlEZzRPNUpmSjBORHdtMisra1Y5WkxCYXp4MDBGQlFXNnVyb3JWNjVrR0tadDI3WW1KaWE3ZCs4bXEyVmtaRlJWVmMyWU1ZTThMQzB0WmJjZ2tVaXVYTGt5ZCs3Y3pNeE0wbUpxYWpwejVzeTdkKyt5NjRTRmhmWG8wYU9zckV3Z0VCUVZGUzFmdm56UG5qMDFGaThXaTArZE91WGo0OU8zYjkrcFU2ZWVQSG1TSFZOcjZEcTJiOXZhcytYM1kwWmR1bnp0ejlOL3BkeTgvZVRwc3lkUG41Ry9iUTBORFo2YUdsZU5xOFpWVTFQanVqVnZ2dXluK1JibURlUElOQ3NyYThPR0RVMmJOaDB3WU1BSHZpUW9LTWpRMEZCZlgvL1VxVk1QSGp5WU8zZXUvTFBrUEZWQlFZRk1Kc3ZOemMzSXlFaFBUOC9JeU1qSXlGaXlaQW03V25CdzhQYnQyNGNNR2JKMTY5WVdMVnBzM0xqeDRNR0RaOCtlWlZjSUNRbVpNbVZLU0VqSThPSEQ1VHVlUXFIUTJOaVlmZmo0OFdNZEhaMWZmdmxGWC8vL2gyaTZkdTI2YnQyNkowK2VjTG5jVnExYWZlcG4wK0FoV0JrU2VXZk9uT0h4ZUNZbUpwczJiY3JQejU4MmJSckRNQThmUGt4S1NwbzdkMjVxYWlxSHczRnpjeU9IYjFLcGxBU3JnNE9EcjY5dmVYbDVlWG41dFd2WHRMUzArdmJ0eTQ0YlNDU1NaOCtlc1ErdlhidkdIcG9sSnllTFJDSWZINS85Ky9lelpSUVVGSmlibTdkczJaSmhtS05IajVhWGwwc2tFajgvdjlqWVdDT2oyanBpWkJpaFY2OWVmbjUrRGc0T1c3ZHU3ZEdqUnlQb3RCSmNycHF1dHJhRmhabWhvWUdGdVZsNnhtdlNMcFBKcXFSU0NjTndaVlZWbkNxcGxQdXU1SjM4bEtENlRDS1J6SjQ5dTd5OGZNU0lFV3BxYXZJelQ4aGJlUHIwcVh5anM3T3ptNXRiaXhZdFdyUm84ZXpaczdWcjE0NGJOODdhMnJxcXFpb3pNNU5rNkQvLy9NTXd6Sm8xYTM3NjZTY3lnNVhQNXpkcDBzVEt5cXE4dkp6ZDFPalJvNDhlUGJwcDB5YjV0SzFSN1lmem9hR2g2dXJxVjY1Y3VYTGxpc0pUWm1abWplWmYrNmRCc0RKay9rcVRKazNldlh2bjQrTXpjT0RBV2JObTJkcmFEaHc0Y04yNmRjN096bjM3OXAwK2ZYcEdSa1pjWEJ5UHg2dXNyR1FZaGdScmNIRHdnQUVEaEVKaFpXV2xqNCtQaFlXRnZiMjl2YjA5MmV5K2Zmc3VYcno0M1hmZmtZZnNBaG1aVlZOVG16cDFhbloyZG1GaDRmZmZmKy9uNThjd1RKczJiY2pJMnVYTGx6K3dlSmxNdG0zYk5xRlE2T2ZueCtGd3Z2dnV1d1VMRmlRa0pKREI0b2J1OGRObmh4S09IVDl4T3ZQL0pzODcyTnM1Mk51Wm1oaWJtNW9hR1J0cWFXcHFxR3RvYUtocmFHaFltSnRaTmJGVWRja2Y1TmRmZnlYVGtzZ3YwcXBWcXhSV3VIejU4clZyMTlpSHc0WU5JLy9YS3lzckZ5eFk0T3pzVEdZUmxKU1VrQ0YxZ1VCZ1pXVWxFQWlNakl4STVscGJXOHRrTWtORFE0Vjg1UFA1L2ZyMWk0bUpXYkJnQWRrN21SN3dyK1N2ZGpFeU10cTZkZXZCZ3dlTGlvcDBkWFhaVXc3a2dzUG16WnNqV0w5MFJVVkZ1M2J0K3Y3Nzc4bjhxczZkTzIvYXRLbGx5NWFKaVluSnljbS8vLzY3bXByYTVNbVRCdzhlZk9EQWdlRGdZQktzWkZiQXNHSERBZ0lDeG84Zi8vejU4NnFxS2tkSHgzWHIxcDA2ZFlwc3VheXNyS3FxU3Y0M3pNN09MaW9xaW1FWWIyOXYwbnU5ZGV1V1dDejI5dmEydGJWTlNrbzZmLzU4VmxZV09RUDdnZlVuSkNUODg4OC9QLzc0STQvSFl4aW1SNDhlTzNiczJMaHhZN2R1M1JyNjlRTHhCdyt2MnhEejV1MWJpVVNpcTZNenNGL3ZyN3QrWmQya2lZNjJ0cWFtUUg1aVJzT3laOCtlZmZ2MnViaTRQSG55aExSY3ZYcVZmYmFzck16UHoyLzA2TkhWVDE2UmlYMHZYNzdjdUhIamd3Y1AwdExTZUR6ZXRtM2JMQzB0eVVINnBFbVRpb3VMeWRoQ1hsN2U2TkdqTFMwdDVXZXFFQzR1THBXVmxXL2Z2bTNTcEFtWkwvVWhaVStkT3BVOWN0TFEwREEyTmo1MjdGaTNidDBHRFJyRWxwcWVuajV3NE1CR01PZnZNeUZZbVczYnRzbGtzbDY5ZXJHVG5MMjh2UEx5OHRhc1dkTy9mMzh5VG1SdmI5K25UNS9vNk9pZ29LQ0tpZ28yV051M2IzL216Sm54NDhmZnZYdFhUVTNOemMzTjJOaTRYYnQyWkR2bnpwM2J2My8vd29VTDJYMnhwNTdhdEduVHBrMGJzdmZ5OHZLeFk4Y3lETE5yMXk1VFUxTjNkM2N5VnZBaHhSY1VGS3hidDg3T3ptN3c0TUdraGN2bGhvV0ZUWnc0TVR3OGZQNzgrYlEvTFNVUmlVUjc5aDFZRXg1WldWbXBvNjNkUGFEcm5CL0REQXlFcXE2TGdyeTh2UER3Y0E4UGoxbXpaZzBiTnV5alhudnYzcjBqUjQ2UUNYL2taejE4K1BEZXZYdXpLN2k3dTIvZHVyVzh2THkwdEpTRXJNTFZWZ1M1bUpXTU9SUVVGTWdQa3RhaVhidDJDdk5ZdGJTMEFnTUQ0K1BqUjQ0Y1NTWlpyMTY5K2tQbTVEWjZDRmJHMnRvNk5EUlU0Wi8yanovK21KT1RrNUtTTW1qUW9Nckt5b3FLaXRMUzByS3lzdDkvLzMzZ3dJRnNzUGJwMDJmLy92MkppWWtuVHB4bzA2WU5uODgzTURCZ3IzVjU5T2dSaDhOeGNYR1IzM0pKU1VuMWpxUlVLczNQejJjWXh0WFZsY3ljUFhEZ3dMOVdMcFBKRml4WVVGaFl1R1RKRXRKZEpUcDA2TkM1YytkRGh3NzUrUGgwN3R6NTh6NGVGWkRKWkdzam92YnVQMWhSVWVIdDVUbnBoKzg3dG0vYmFJYU1qWXlNcGsyYjlzMDMzeFFVZlBUOXZPM3M3QUlEQThsd2s2MnRyYlcxdGZ3eE9QblJSMGRIeDhiR0hqNTh1THk4ZlAzNjlZNk9qaEtKaFAzMTJMdDNiMWxaMmNtVEozVjBkS3lzck1oZ3JxT2o0NGZYVUZWVjlmYnQyNXljSEQ2ZjcrcnFHaElTY3ZMa3laOSsrbW5ObWpXUmtaR1hMMTlldTNidEZ6N1hDc0hLa0RPdFpLUkpYa0JBZ0w2K3ZxV2xwVkFvMU5QVDA5ZlgxOVBUTzM3OCtPWExsOG1GVW1SK2pLdXJhNGNPSGRhc1daT1RrN04wNmRMYnQyK1R2cWU4cmwyN3lqLzA5ZldOaUlpNGZQbnk0OGVQczdLeWJ0MjZsWjZlM3JGalJ6YzNOeTZYZStMRWlkdTNiek1Ndzg0V3FFVjRlUGlWSzFjR0R4N2NzV05IaGFmbXpKbHo2OWF0aFFzWC92Nzc3MDJiTnYzVXowWTFqaHo3YzllZWZaVmljYi9lUFdkT20yUm1hcXJxaWlnamc1V2ZFS3k2dXJvS1o1eEtTa29FQWdHYm02NnVybnA2ZXRIUjBmYjI5akV4TVZaV1Z0ZXZYNTg3ZCs3R2pSdkpDaTlmdnZ6amp6K2FOR215ZE9sU0hvK1hsWlgxOHVYTEdxK0NZWjA5ZTViTW1aa3paMDVCUWNIYnQyOUpoN2RQbno0TEZ5NDBNek9iTld2V29rV0x2di8rKzF1M2JrMlpNcVVoL2krbkRzRmE4Nm5Qb1VPSERoMDZWS0d4WmN1V21wcWFaRVlVZTFBL2MrYk1nUU1IQ2dRQ2YzOS9EUTJOYytmT3Nlc2ZPblJvL2ZyMThoTlp5UFJNaG1HT0hUdDI1ODRkR3hzYmdVQmdabVkyWThZTUp5ZW5oUXNYdXJtNTllalJnMkdZdFd2WGtyTUtKaVltQ3IwU1l1UEdqYnQyN1dyZnZ2MlBQLzVZL1Zrakk2T2ZmLzU1eXBRcEV5Wk1pSXlNVk9nMTEyZFoyVG1yZjQyb0ZJdjlmRG9zbmo5THQ0RVBFOWVGakl5TU8zZnUzTGx6NSs3ZHU2bXBxV2ZPbkJFS2hlU09hT3ZXclNzdUxtWVlac0tFQ2FSRCt1TEZpNEtDQXZZb2F0YXNXYk5teldJM0ZSOGZUL3E1dGV6dTFhdFg1TDVDTGk0dWpvNk9GaFlXNUtvd3NsTnl0d29ySzZ0YnQyNlptSmg4c1JOWEZTQllQd0laUlNLL1pLYi8xNDI2ZXZXcVZDcmxjRGlqUm8yYU1tV0tqNDhQTzZlS0RCZlVlSUgvOHVYTHljSzJiZHZPblR0SHBnUXdER05qWTBQKzRXL1lzSUZjM0hueTVFa3k1NUU5ZXlzU2lWYXNXSEhzMkRFSEI0ZFZxMWJKRHdMSTgvSHhDUXNMKysyMzM4YU1HZlBqanovMjdkdTN4dXR3NnB1L3pwN0x5ODgzTmpJS0dUM2lTMGhWbVV6R251MGt5Tm5SNTgrZks3UmJXbG8rZXZSbzgrYk5aTlRJMHRLeWRldld3NFlOMDlMUyt2dnZ2M2Z2M24zbnpoMW5aK2Z3OFBDMWE5ZXVXclhLMmRuWnlzcnEyYk5uWm1abTh2TlBXVmxaV2Z2MjdldmN1VE43Q1VDTlJvOGU3ZXJxT243OCtOR2pSeXVNc2VibjU4Zkd4c2JGeFdscGFZMGNPWkxNUlJrNGNHRHYzcjBiMFAveXVvQmcvWGZMbGkzamNyazZPanJxNnVyWjJkbW5UcDFxMHFRSnVVWEZ4WXNYZi9ubGwvNzkrdzhZTUdEKy9QbGhZV0hHeHNZZUhoNk9qbzU2ZW5vQ2dXRDI3Tm5IamgwakkxTVNpVVFpa1ZSV1ZqbzdPN01udUtwNy92eTVTQ1RLeTh2VDF0YVdTQ1NuVDUvVzB0SWlzNjhNREF4S1MwdEhqaHo1NHNXTHRtM2JybDY5dXZiei9zT0hENWRJSk92WHIxKzJiRmx4Y2ZIbzBhUHI1aE9pcHZqZHUrUWJOOFZpaWI5dmh3N3QycWk2SEdXUXlXVFZ6ekdTMjFDeHQra2hldmJzK2ZYWFgvdjYrbnA3ZTdkdTNacGNxcjk5Ky9aZXZYcmw1dVphV2xvdVhMaXdWNjllWEM3WDFOU1VYTzhmRUJCdzRzUUpjbHNBQmVRR0JUS1piTnk0Y1o5UTlwVXJWdzRlUEppVWxGUlZWZFczYjkrSkV5ZnE2K3QvOTkxM1VWRlJCdzhlM0x0M3I0bUp5Y3FWSzcvWWF3UVFyUC91N2R1M2x5NWRJamVjNXZGNDd1N3VNMmJNNEhBNE9UazVQLzc0bzZlbjU0d1pNOVRWMWZmdjMzL3g0c1h6NTgvZnYzLy8xcTFiNzk2OWswcWxNcG1zK2dZM2JkcFU0NDQwTkRUVTFkVVBIang0Ly81OVgxOWZmMzkvSG84WEhoNmVsNWZINC9FR0RCaGdZbUxDTUl5L3YzK2JObTJtVDUvK3ZyNnF2TkdqUjl2YTJoNC9mbno0OE9FMFBveTZsWmRYa0hMak5zTXdmWHNGZmNpN2F3UzRYTzRIemdBaEZHWXk2ZXZyMjlyYXpwNDl1MU9uVHV3UmlZdUx5NDRkTzM3NTVaY2pSNDdZMmRuVmVNL0p3c0xDcXFxcUJRc1drSHNBeVRNME5QelhTMnpUMDlQdjNiczNldlRvL3YzN3M1ZkQ2dW5welprelorTEVpYWRQbjM3MDZGSHRWOVkyY3JKNkpqeHlrNzFySzN2WFZ1R1JHMVZkeTM4Umk4WGw1ZVZWVlZYeWpmSHg4UlVWRlIveWNuSzlGcm12NWNmdVdpcVZ5dTlYb1liNkpqeHk0Ly85QkRkOTdHdFRidDZ5ZDIzbDBjYTNvcUtTVmowL3IxaEQ2dmw5eHk1YTIyd2NQdUZYa2VMTGxXYi9IMGZJTDhEME9RdVZ0dE12b2xOQUJZL0hxOTZIcW42djlmZmhjRGdmZUgxTGRRcGpvNSs4bmZvdk16T2JZUmdiYXl0MTlSck8xd0ZkbjNsTThJVWNVbnlhQm5BMkE3NGM2YTlmTXd4amJkVkUxWVVBZkJZRUs5UWpiOTdtTWd6VHNHNzlCMUFkZ2hYcUVZbFl3akFNajRkeEFHallFS3dBQUpRaFdBRUFLRU93QWdCUWhtQUZBS0FNd1FvQVFCbUNGUUNBTWdRckFBQmx1Q2dOdmhRWExsNSs5KzZkcXFzQVpYdjQ2SW55ZDRwZ2hTL0ZoWXVYTDF6ODBPKytCZmdjR0FxQVJzNnFpYVdXMXIvY0JBOGFQUTBORFZzYjZ3OVlrWTc2MjJPOWVqMkZZV3ErYnluVVoxZXZwNmk2aFAvUzg1dnVBb0hHbXplNXFpNEVWTW5ZMk9qcnp2NUsyMTM5RGRacnlUZXVKZDlRZFJYUTRKa1lHMzA3YUlDcXE0QXZTNzBiQ3JBd042djk2MGFnUWREUzByUXdOMU4xRlFDcVVlOTZyRjA3KzNPNTNOZVpXYW91cEs3a1pHZmxaR2N4REdObWJtRm1icUhxY3VxS3VabHBWeVVlZVFIVUsvVXVXSTBNRFFmMjY2M3FLdXBRVEV6TXFSTkhHWVlaTzNac2pWOUdCQUFOWGIwYkNnQUFhT2dRckFBQWxDRllBUUFvUTdBQ0FGQ0dZQVVBb0F6QkNnQkFHWUlWQUlBeUJDc0FBR1VJVmdBQXloQ3NBQUNVSVZnQkFDaERzQUlBVUlaZ0JRQ2dETUVLQUVBWmdoVUFnRElFS3dBQVpRaFdBQURLRUt3QUFKUWhXQUVBS0VPd0FnQlFobUFGQUtBTXdRb0FRQm1DRlFDQU1nUXJBQUJsQ0ZZQUFNb1FyQUFBbENGWUFRQW9RN0FDQUZDR1lBVUFvQXpCQ2dCQUdZSVZBSUF5bnFvTGFPU2tVbWxlWHA1RUltRmJpb3VMWlRJWldjak16R1RiMWRUVWpJMk4xZFRVVkZRcEFGQ0RZSzFiTXBsczVjcVZhV2xwYkV0eGNURlpPSDc4ZUZKU0V0dHVZV0VSR1JtcGlob0JnRElFYTkzaThYaU9qbzduejUrWGIrUndPQ1JoMlpCbEdNYmYzNS9IdzQ4RG9ESEFHR3VkNjlHakIwbFMwb0ZWUU5xNVhHN3YzcjFWV2lZQVVJTmdyWE1PRGc3Tm1qV3JmUjFuWjJjbkp5ZGxWUVFBZFF2Qld1YzRIRTVnWUtCQ0M5dUhKUUlDQWhSYUFLRGhRckFxZzUrZm40Nk96dnVlMWRQVDY5Q2hnM0lyQW9BNmhHQlZCZ01EQTFkWDEvYzkyNnhaTXhNVEUrVldCQUIxQ01HcURGcGFXbTV1YmdxbnNNZ3loOE54ZDNjWENvVXFMUkFBYUVLd0tnT1h5M1Z6YzlQVjFWVVlTT1Z3T0pxYW1tNXVibHd1ZmhBQWpRZitucFhFM2QzZHdNQ2dlcnUydHJhN3U3c3FLZ0tBdW9KZ1ZSSWpJeU1Tb0d5bmxTeDRlWG5WR0xnQTBIQWhXSlVuS0Npb2VtUGZ2bjFWVVFzQTFDRUVxL0o0ZW5xYW1wcVNaZEpkdGJDdzhQVDBWSFZkQUVBWmdsVjUrSHgrUUVDQS9HaEExNjVkK1h5K3F1c0NBTW9RckVyVnZYdDNkWFYxc2l3UUNEcDE2cVRxaWdDQVBnU3JVbGxhV3RyYjI1TmxSMGRIS3lzclZWY0VBUFFoV0pWS1cxdmJ6YzJOTEx1NXVlRzZBSUJHQ2NHcVZIdyszOFBEUTB0TFN5QVF1THU3czhNQ0FOQ1k0TTdLeWthdUZCQ0pSR3pYRlFBYUdRU3JzdG5hMnRyWTJGUlVWRmhiVzZ1NkZnQ29FL1V1V1BQeTh4TXZYSHo5T2t2VmhkUWhycnFXQms4UUVSV3Q2a0xxa0xtWjZkZGRPaGtaR3FxNkVBQVZxSGZCZWk3cDB2SlZ2eFlXRmFtNmtMcDMrbTlWVjFDSGRIUjBlSHplZ0Q2OVZGMElnQXJVdTVOWEdSbVpYMFNxTm5ZbEpTVVpHWmtmc0NKQUkxVHZlcXlzZG0xYXQyL3JyZW9xNEtOZHZaNXlMZm1HcXFzQVVLWDZHNnp0MjNwUG1UQk8xVlhBSjlpRVlJVXZYTDBiQ2dBQWFPZ1FyQUFBbENGWUFRQW9RN0FDQUZDR1lBVUFvQXpCQ2dCQUdZSVZBSUF5QkNzQUFHVUlWZ0FBeWhDc0FBQ1VJVmdCQUNoRHNINjAwdExTaElTRTNOeGNpdHVVU0NRVXQvYXhwRkpwVGs1T1NVbUpDbXNBYUV6cTcwMVlQb3BVS24zeTVFbjFka3RMeXhyYldXWm1abloyZGp0MzdteWRIRzRaQUFBZ0FFbEVRVlRWcXBXSGh3ZkRNT25wNlZLcFZHRTFjM056Z1VCQWx2UHo4My82NmFmbzZHaGpZMk9HWWFxcXFwS1Rreit3VGo2ZjcrWGxwZEM0YytmT2hJU0V1TGc0UHAvL2dkdGhHS2E0dVBqTm16Zi91cHBBSVBqWDc0TE55c3JxMDZmUGQ5OTlOM0hpeEE4dkFBRGVwNUVFYTFsWjJZZ1JJNnEzaDRlSGg0V0YxZkxDd1lNSFQ1MDY5ZXpac3hzM2JseTVjbVduVHAxR2pScFZWTzJHc05IUjBTNHVMaHMyYktpK0Y3RllQSDc4K0Erc1UxOWYvK3pac3dxTm5wNmVFUkVSQnc4ZURBNE9aaHV2WGJzMmYvNThoVFZkWFYzWHJWdEhsaytmUHIxaXhRcDlmZjFhZGljU2laeWRuWGZzMkZGN1ZUS1pqR0VZRG9memdlOENBR3JYU0lKVlcxdjc2TkdqN01QYzNOeEpreWE1dXJxMmI5LyszTGx6Ykh2UG5qMjdkT2t5YmRvMHRvWFA1NnVycTBkR1JrNllNR0hHakJrclZxeGdHR2Jnd0lGZHVuUWhLK1RsNVMxWXNJQmtkM3g4ZkdCZ1lJM2ZXVDFtekppUWtKRGFpL3psbDEvT25EbERsdFBTMG03ZHVzVStaV0ZoY2ZmdVhSN3ZmMzhjWm1abXBHczhlUEJnc2p1UlNMUno1ODZ5c2pLRmQvM0hIMy9Vc3NmTm16ZmZ2MysvOXFwSXA1dGhHRFUxdFg5ZEV3QStSQ01KVmk2WGEybHBlZXZXTFUxTlRRY0hoN2x6NXdxRndsV3JWdkg1ZlBiNG1nd2p0bXJWU2xkWFYrSGxPam82RVJFUk0yZk90TFcxSmQvMzE2NWR1L3o4ZkMwdHJmejgvQThwZ01mamFXaG8xTDZPZkhJOWV2Um8yN1p0OHMvZXVYUG56cDA3Wk5uVDA3Tjc5KzRNd3d3Wk1zVE96bzVobUFNSERqQU1FeGdZS1ArUzB0TFNvS0NnV3ZZb2tVaWFOV3YycjhXVFlPVnlNZUFPUUVjakNWWWlQajcrMHFWTEhoNGVhV2xwTzNic0lJZkphV2xwcjE2OVloam0yYk5uRE1NVUZSVWxKaWFTOVkyTmpkM2QzY215VUNpTWlZbVIzMXF2WHIwbVRKancxVmRmZmNpdXQyM2J0bWZQbnRyWEVZbEUydHJhWkxsbno1NDlldlRZdUhHanI2K3ZwNmNuYWN6TXpQejU1NTluekpqaDZPaVlsSlRFdmxBbWs4WEZ4Wm1hbXZicTlWOWZJYVdqbzNQKy9QbGE5cmh1M2JvYk4vNzludE1rV0RFVUFFQkxvd3JXSlV1V1RKczI3ZEtsU3hNblRuUndjQ0NOQ1FrSnUzYnRZdGVKaUloZ2wzMTlmU01pSW80ZlAxNVpXZG12WDcvUDJiV3ZyeTg3ZXZBK3g0NGRlL3o0TWZ1UXgrUGR2MzgvTVRGeDc5Njk2dXJxSkozdjM3K3ZvNk9qOE1MTGx5Ky9lUEZpM3J4NUNtZTNTa3BLZkh4OGF0bWpRby8xeElrVHk1WXRxNzRhR1dQZHNtWEw5dTNicXo4ckZBcVBIejllKzFzREFIbU5KRmdyS2lyeTh2SVlocGt5WmNyTGx5OWZ2WHFWbVpsSlJpSEpvVDBaaTB4UFR4ZUx4U1J6cDAyYlJzNyszNzU5KzQ4Ly9uajU4dVhreVpNLytYRFkyZGxaNFRpOXVvNGRPNWFXbHNxM3pKNDllL0Rnd2R1M2J3OE5EVTFQVDA5SVNKZzRjU0laWUpXM2RldFdhMnZyM3IxN3l6ZXFxNnVibXBwdTNMaXhsajNHeDhjL2YvNmNmV2h2Yno5a3lKRHFxMlZsWlowK2ZicEZpeGF0V3JXcS9xeW1wbWJ0NzRzaWFaV1VZUml1R2dZbG9HRnJKTUY2Nzk2OXNXUEhzZzh6TWpJU0VoTElTWC9TR1NRMmJOaVFtNXU3ZWZObStkZk9uVHRYWFYwOU5qWTJOemQzNmRLbG4xYkExcTFiZCs3YytTRnJPamc0eE1iR0ppWW12bnYzam1HWXRtM2JhbXBxSmlRa25EeDVrc2ZqNmVqb2tNclpRWU9iTjIvZXZuMTcrdlRwNU5SV1FVSEJvMGVQeURqR2dnVUx5UCtQOS9IMTlmWDE5YjE4K1RJNVArYnE2dXJxNmxwOXRVT0hEcDArZmRyUTBIRHk1TW1mOXZacGVmZXVoR0VZdldxRDRBQU5TeU1KVmxkWDE5allXSVpoWHI1OE9YLysvTGx6NTdxNnVvYUdoaG9aR1pIOHFnV0h3NWt4WTRaQUlHREhPajhLT1k3dTBxWExoNHpHYnQ2OG1heS9aOCtlOVBSMDBwaVdsa1lXZEhWMW82T2p5ZktrU1pQSWdvT0RnNWVYMThhTkcxMWNYTHk4dkZKVFUxZXRXaVVXaTNOeWNzek56ZG1KQkFVRkJWS3BsRXl0clZGUVVGQm9hR2lOVDVHa3Zubnpwa1FpWVRlb0VvV0ZSUXpER0JqVU5vY01vUDVySk1HcXJhM2R2SGx6OXN5N3JhMnRob1pHZVhsNTY5YXQ1YWRiVlZWVnZlOWdudzB5VmtWRnhZZWtESmtDNWU3dVRzN2oxMjdmdm4xa1FhSFhYQjE3OGtvb0ZFWkZSWkhaWUh2MzdtM1RwczJSSTBlZVBIa3lkT2pRelpzM1cxcGFrdFdXTFZ2MjVzMmI4UER3NmxjM2tQSGM5KzJvcXFycS9QbnpycTZ1ang0OVNrcEs2dHk1ODcrK2k3cVQ4L1lOd3pDR0JnWXFyQUhnOHpXU1lLMHVNVEZSVDAvUDNkMWRQbGhMUzB2WlEyd0YyZG5aSmlZbTdJeW9rcElTbVV4Vy9UeFNkV1RZbEt3NWMrYk1TNWN1VlYrbmQrL2VzMmJOSW1lVDJBSmV2SGlSbXBwYWZXV2hVT2p0N1MzZm9xNnV2bno1OHI1OSs4Ykd4c3BQd2gwM2JoeWJtSGw1ZWExYXRUcDkrdlRjdVhPcmIzUGZ2bjFPVGs0MTF2LzMzMy9uNXVaT21UTGx3SUVETzNic1VHR3c1dVhudjN5Vnp1Rnc3R3hzVkZVREFCV05ObGk3ZCsvdTVPU2swRk43K2ZKbG16WnRhbHcvUER3OE5UVjEvLzc5NUNFNVRxL2x5SnFWa1pIQnJsbFJVV0Z2YjY5d0lkYktsU3NyS2lySWNtVmxwYUdoSVZsT1RFeU1qSXhrcjVRbHhHS3htNXZiMXExYkZmWmlZbUxTc1dQSHk1Y3ZLd1Nya1pFUldZNkxpNVBKWkY5OTlkWDgrZk1qSWlMMjd0MUwzdnYyN2R0UG5qelpwRW1UR291dnFLall0R21Uc2JGeHQyN2QxTlhWWjgyYWRlclVxUS9wZXRlRksxZXZTeVJTUzBzTEUyTWpsUlFBUUV1akRWWnJhMnRyYTJ2NWx2VDA5TXpNekJyUDNwQVJSaWNuSnc2SG82YW14dUZ3YnQ2OHlUQ01vNk5qWldVbGw4dXRaWTRudVJkQjA2Wk55VU9oVU5peFkwZjVGYlMwdE5qbGlvb0srU1N0UGhGMS92ejU3enNmWldSa3hGNUJRSmlabVptYW1ySjdLUzB0MWREUTZObXpaMVJVMUxWcjEvcjA2Vk5ZV0hqMDZORng0OGE5Nzh4K1JFVEVpeGN2Rmk5ZXpPZnp1M1RwMHJ4NTgrWExsemR2M2x6aG8xT0Npc3JLdVAySEdJWnhjWExVMUZMZVBBU0F1dEJvZzdVNjBnMHNMeSt2L3RTTEZ5L3k4dkpHamh6Sk1NeGZmLzBsbFVxSERCbkM0L0VlUFhyazYrdEw3ckdTazVOVDQyYVRrNU9Oakl6WXZtMXBhYW5DYlYvWTdpcFovclRaUzJLeCtQYnQyeFlXRnZLTjhpZnh4V0p4aHc0ZHlFVzZJU0VoNGVIaDN0N2VxMWV2dHJhMkhqaHdZSTNiakkyTjNiZHZuNysvUDdudWdNdmxMbHk0Y09USWtlUEdqWXVPanY3WFc3ZlFkZmZlZ3dlUEhxbXBxYm03TmRkUzRnUXZnTHJRK0lOMTRzU0pQL3p3dzc1OSt4SVNFdXpzN05hdFczZjU4dVU1YythUTJ3SVExNjVkWXhpbWZmdjI1T0gyN2R1ZlAzL3U2ZWs1WmNxVTRPRGdLVk9ta0VtalNVbEpBb0hnOWV2WDdBdHpjM092WDcvZXQyOWZ0dVh1M2J0RGh3NVZxSUhNTjZpcXFzclB6emY0bURNekNRa0pmLzMxbDRHQndaczNiOTYrZmF0d1c1YjkrL2ZMbjd4S1QwOS84T0NCUUNBSURnNitldlhxc0dIRE9Cek83dDI3cTk4MFN5cVZybCsvUGpZMnRtblRwa3VXTEdIYm5aMmRGeTVjT0gvKy9GR2pSaTFldk5qUHorL0RTLzBjcGFWbEJ3OGZMUzUrWjJscDBhMUxaMXhjQ3cxZFl3dFdzVmlzY0hWbVJVVkZSRVRFSDMvODRlN3VIaFVWOWVUSmswV0xGZzBaTWlRME5IVFVxRkZrbmIvLy90dlkySmljM2psdzRNQ0dEUnM2ZE9pd2Z2MzY0OGVQTDF1MjdPYk5tNlRyUnc3cXliMVR5UzVpWTJPcnFxcllTd05hdEdqUnRHbFQwdk9WUjZMdDRjT0hZckdZWFB0UFNDUVM5dnBhUXFGZjNLeFpzL3YzNzVlWGx6czdPMCtZTUtGWHIxNHltZXpPblRzUEh6NGtleTh2TDgvT3pzN0p5Y25LeW1JWVp2SGl4VU9HRENrdExYMzc5aTM1S09MajQwZU1HTUVPeFRJTTg4OC8veXhac3VUdTNic3RXclJZdDI2ZHdnbTZiNzc1UmlLUkxGMjZOQ3dzckhQbnpoTW1UTEMzdDZmd2czay9rVWkwZWR2T3cwZVBNd3d6b0UrdjVxNHVkYm83QUNWb0pNSDY3dDI3K1BoNFRVMU5Na3VKNUVocGFlbmh3NGUzYmR0V1VGQkF6c3NMQkFJdkw2KzllL2V1WExreUtpcnEzTGx6UC8vOHM3NisvcTFidHdJREEwdEtTbjc5OWRjalI0NTRlbnF1WHIyYXcrSDA3Tm5Ud2NFaExDd3NKQ1FrTWpMeXpKa3ptcHFhWkdUQXhNU2txS2hvNzk2OUhoNGU3QVJZaFltaUowNmN1SGZ2bm9HQmdVQWdLQ3NyTzNic21McTZ1dndJckVna21qNTl1c0o3YWRteUpidmN0R2xUaFRzWWNEaWNsU3RYU3FWU1B6OC9McGZyNU9UazcrOXZZV0d4WjgrZTR1TGl2bjM3SGpod1lNV0tGYjE3OTk2MGFkUE5temNqSWlKMjc5N2RzbVhMME5CUUd4dWJyVnUzSGpseVJDS1I5TzdkZS9iczJUWGVPS1pYcjE2MnRyWUxGaXhJVEV4TVRFeHMzYnIxNnRXcmE3eW4xK2NyS242Myt0ZUlQNDRjcTZ5czdCSHc5ZmRqUnVLV0JkQUlOSkpnMWRUVWpJbUprVWdrV2xwYVE0Y09KYjNDeTVjdi8vcnJyODJhTlZ1K2ZIbmJ0bTNabGJXMXRaY3NXZEs2ZGV2MTY5ZVhsNWR6dVZ4WFY5ZDI3ZHJGeGNVbEpDUU1IVHAweXBRcDdIU0M1czJiNzl5NTgvWHIxM3A2ZWx1M2JxMnFxaElJQk45Kys2Mk5qUTNETUNOSGp1eldyZHY3cWhLSlJQdjM3eWRYQkpBclNwY3ZYODZPeG1wcGFkblkyQnc2ZEVqK0phdFhyLzdYMjFmdjNidTNlcU5BSUNndUxzN016RFEwTkl5TGl5TW4wenAxNnVUdjczL3o1czB6Wjg2NHVMaWtwS1FjUEhqUTNOeDgxcXhaL3Y3K3RlekN3OE1qUGo0K0xpNXV6NTQ5WDMvOU5mVlVsVXFsWXJINDRlTW5hMzViZnozbEpzTXdMazJkbHl5Y28vT2V5WEFBRFF1SC9iT3ZKeUtpb2lPaU5qRU1NMlhDMkNrVHhuM20xdExTMGh3ZEhkLzNyRWdrWXMvUlM2VlNtVXoyL1BseloyZm5XalpZeXlVR05aTEpaQlVWRlJLSlJDQVFxUGFpSnVMcTFhdGVYbDd5bC9uVzdoT3V4WXFJMmhRUkZjMHd6SlFKNDZaTStQL3JqSytuM0JSVlZJaktSVy9ldmsxNy91TEJ3OGNwTjIrUmNaTGVRVDIrLzI1a1UrZWFaOW9DTkRpcS8xT3ZVN1drS3VubHNjdmswb0RhVS9VVGJscks0WEFVWnFxcUZudUM3Z05SL0djd2RlWmNzVVFpcmhTWGxaV0pKUktHWWZoOFh2dTJiWUlIOWZmcDBBNzNCNERHcEpFSEs5UWZwV1ZsYWx3MUhrL053TURBcW9sRko3K09BVjkzZFVFdkZSb2pCQ3NvU2RSdmE3UzBOQVVDZ1ZCZjM4elVCSE9xb0JGRHNJS1MrSFJvcCtvU0FKUUV2UVlBQU1vUXJIVWxOemUzeGp2NDFTSTdPL3Zldlh0a1lqOEFORndJMWpyeDZOR2pQbjM2S0h3UDY3K0tpNHNiUFhwMFFVRkJuZFVGQU1xQVlLMFR6Wm8xYzNOejI3eDVNN2s1L3djaVBkejZNTjBWQUQ0SC9vWS9GN213dFhxN2hZWEZ3NGNQVDV3NGNlSENCWVduZXZUb1lXdHJXLzBsa3YrZDNhbDR6eFFBYUZnUXJKK3J1TGc0SmlhR3grUFYyTk1rM3c2cndOM2RIY0VLMElnaFdPa1lOMjdjZDk5OTkxRXZDUXNMSS9kellaSFRWbDI3ZHExeGZWZFgxeTFidG54ZW1RQ2dEQWpXdW5MeTVFbGRYVjBmSHgrMjVlWExsMDJhTkdFN3R0N2UzdXpYdEJEWHJsM0x5Y21wOFp0Ui92enp6L3AyVndjQWVCOEVLelgzNzk4L2NlTEVqQmt6eUkzdklpTWpiVzF0NVlNMU5EVFV3TUNBSFpBZFBueTR3aGJHalJ0WFhsNitjT0hDNmhzL2UvWnNqYmY0QTRCNkNMTUNxSG44K1BHK2ZmdnUzNzlQSHJaczJmTDI3ZHZzcE5SLy92a25OemVYdlhOcmpZcUtpdlQwOUdwOFNpd1dJMWdCR2dvRUt4MWNMdGZYMTVkMExVbEx5NVl0UlNJUm03UFhyMTluR0tiMkx6dDUvZnExdWJsNWpVK0p4ZUo2ZFpjc0FLZ0ZndlZ6a1c4bjFOVFVORGMzZDNaMlpyOXF4Y1BEZzJHWTI3ZHZrNGVYTGwwU0NBU3RXN2QrMzNheXM3TkxTMHZsdjdpRkpaRklwRklwZXF3QURRV0M5WE9WbHBhU0w3Sm1HTWJYMXpjOVBmM1ZxMWZrVnJBOEhvOThPWlZJSkVwSlNlbllzV010NFVpKzBMQkZpeGJWbnlMZjg0b2VLMEJEZ1dEOVhNWEZ4UXpENk9ycU1neER2Z0RteXBVclpEcXFqWTBOQ2RiazVPVEt5c3JPblR2WHNwMC8vL3p6ZlRlaVpqdkZkZmsrQUlBYUJPdm5Ta3RMWXhpR0hNSjdlSGp3K1h3U3JBekRPRGs1WldkbkZ4UVVuRDE3bHNmajFmSTFVOG5KeWNuSnliNit2aVltSnRXZkxTc3JRN0FDTkNBSTFzK1ZtcHFxcGFWbFpXVkZqdGJkM2QyVGs1UEpOVlFqUjQ3Y3UzZXZycTd1K2ZQbk8zVG9vUEJGMDZ5Q2dvTEZpeGR6dWR5eFk4Zld1RUpKU1FuNURzUTZmaXNBUUFmbXNYNFdzVmg4OWVwVk56YzM5a3ViSjAyYXBLdXJTNjRDY0hWMUphZXRpb3FLYXB6Mnp6Qk1mbjcrK1BIanM3T3p4NDRkMjd4NTh4clh5YzNOWlVjYkFLRCtRN0IrbGdzWExoUVZGUVVGQmJFdFpES0F2R1BIam1scGFkVTR3SHJ2M3IyWk0yZStlZk9tWDc5K29hR2hOZTVDSnBPZE9ISGlRNzdvRUFEcUNRVHJweE9KUk92V3JkUFIwZm42NjY5Lyt1a25jdmFwT25LTndGZGZmY1cyaElTRURCOCtQQ1ltWnRldVhWS3BOQ1FrWk55NC8vK2k3NnlzckZtelp1bnA2ZW5vNktpcHFhV21wcWFtcHJxNHVEUnQybFFwYndzQVBoZUM5ZE05Zi80OE96dDcxcXhaQW9HZ1M1Y3VOalkySC9qQ1ZxMWFQWGp3SURZMjFzREFZUDc4K1FvbnRVeE1USjQ5ZTFaWldVa2U2dWpvZE83Y2VmcjA2ZVFMdWdHZy9rT3dmanBYVjlmSXlFaHZiMjl5U1ZYdFYxVlZ0M3IxYWk4dkwzMTlmWVYySG85MzVjb1ZtVXdtbFVxcnFxclUxZFdwVmcwQWRRN0IrbG5hdEduenlhK3RmVm9yaDhQQlZ3a0FORkNZYmdVQVFCbUNGUUNBTWdRckFBQmxDRllBQU1vUXJBQUFsQ0ZZQVFBb1E3QUNBRkNHWUFVQW9BekJDZ0JBR1lJVkFJQ3krbnZSNU5YcktReXpTZFZWd0VlN2VqMUYxU1VBcUZqOURkWnJ5VGV1SmQ5UWRSVUFBQit0M2cwRldKaWJ2ZThyVEtBQjBkTFN0REEzVTNVVkFLcFI3M3FzWFR2N2M3bmMxNWxacWk0RVBvdTVtV25YenUvOThrU0F4bzBqazhsVVhRTUFRS05TNzRZQ0FBQWFPZ1FyQUFCbENGWUFBTW9RckFBQWxDRllBUUFvUTdBQ0FGQ0dZQVVBb0F6QkNnQkFHWUlWQUlBeUJDc0FBR1VJVmdBQXloQ3NBQUNVSVZnQkFDaERzQUlBVUlaZ0JRQ2dETUVLQUVBWmdoVUFnRElFS3dBQVpRaFdBQURLRUt3QUFKUWhXQUVBS0VPd0FnQlFobUFGQUtBTXdRb0FRQm1DRlFDQU1nUXJBQUJsQ0ZZQUFNb1FyQUFBbENGWUFRQW9RN0FDQUZDR1lBVUFvQXpCQ2dCQUdZSVZBSUF5QkNzQUFHVUlWZ0FBeWhDc0FBQ1VJVmdCQUNoRHNBSUFVSVpnQlFDZ0RNRUtBRUFaZ2hVQWdESUVLd0FBWlFoV0FBREtFS3dBQUpRaFdBRUFLRU93QWdCUWhtQUZBS0FNd1FvQVFCbUNGUUNBTWdRckFBQmxDRllBQU1vUXJBQUFsQ0ZZQVFBb1E3QUNBRkNHWUFVQW9BekJDZ0JBR1lJVkFJQXlCQ3NBQUdVSVZnQUF5aENzQUFDVUlWZ0JBQ2hEc0FJQVVJWmdCUUNnRE1FS0FFQVpnaFVBZ0RJRUt3QUFaUWhXQUFES0VLd0FBSlFoV0FFQUtFT3dBZ0JRaG1BRkFLQU13UW9BUUJtQ0ZRQ0FNZ1FyQUFCbENGWUFBTW9RckFBQWxDRllBUUFvUTdBQ0FGQ0dZQVVBb0F6QkNnQkFHWUlWQUlBeUJDc0FBR1VJVmdBQXloQ3NBQUNVSVZnQkFDaERzQUlBVUlaZ0JRQ2dETUVLQUVBWmdoVUFnRElFS3dBQVpRaFdBQURLRUt3QUFKUWhXQUVBS0VPd0FnQlFobUFGQUtBTXdRb0FRQm1DRlFDQU1nUXJBQUJsQ0ZZQUFNb1FyQUFBbENGWUFRQW9RN0FDQUZDR1lBVUFvQXpCQ2dCQUdZSVZBSUF5QkNzQUFHVUlWZ0FBeWhDc0FBQ1VJVmdCQUNoRHNBSUFVSVpnQlFDZ0RNRUtBRUFaZ2hVQWdESUVLd0FBWlFoV0FBREtFS3dBQUpRaFdBRUFLRU93QWdCUWhtQUZBS0FNd1FvQVFCbUNGUUNBTWdRckFBQmxDRllBQU1vUXJBQUFsQ0ZZQVFBb1E3QUNBRkNHWUFVQW9BekJDZ0JBR1lJVkFJQXlCQ3NBQUdVSVZnQUF5aENzQUFDVUlWZ0JBQ2hEc0FJQVVJWmdCUUNnRE1FS0FFQVpnaFVBZ0RJRUt3QUFaUWhXQUFES0VLd0FBSlFoV0FFQUtFT3dBZ0JRaG1BRkFLQU13UW9BUUJtQ0ZRQ0FNZ1FyQUFCbENGWUFBTW9RckFBQWxDRllBUUFvUTdBQ0FGQ0dZQVVBb0F6QkNnQkFHWUlWQUlBeUJDc0FBR1VJVmdBQXloQ3NBQUNVSVZnQkFDaERzQUlBVUlaZ0JRQ2dETUVLQUVBWmdoVUFnRElFS3dBQVpRaFdBQURLRUt3QUFKUWhXQUVBS0VPd0FnQlFobUFGQUtBTXdRb0FRQm1DRlFDQU1nUXJBQUJsQ0ZZQUFNb1FyQUFBbENGWUFRQW9RN0FDQUZDR1lBVUFvQXpCQ2dCQUdZSVZBSUF5QkNzQUFHVUlWZ0FBeWhDc0FBQ1VJVmdCQUNoRHNBSUFVSVpnQlFDZ0RNRUtBRUFaZ2hVQWdESUVLd0FBWlFoV0FBREtFS3dBQUpRaFdBRUFLRU93QWdCUWhtQUZBS0FNd1FvQVFCbUNGUUNBTWdRckFBQmxDRllBQU1vUXJBQUFsUDBQZTNjZVYxUCsvd0g4M0sxOUx5VlVLdTJMeXBLMHFMUVFJa1hFV01ZK0JrTW0yMkJtekpqdjhMWEx5RHEya0d6WmtqYWxza1FJYWJPVkZLbHU2KzF1L2Y0NE0vZDdmMjNDcVp1OG5uL000OXpQUGZlZTk4MzA2bk0vNTNNK0I4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ak5ueGgzeFgrdjdLMVdzdkN3bzcvdERRZWZUUTd1NDdZbmczRFhWSkZ3SkFQUWtFNjdYNHhBMWJ0dGZXMW5YOG9hSHprSmFXbHBXVkRScnZMK2xDQUtnbmdhR0FkKzlLa2FwUVgxLy83bDJwcEtzQWFCY1M2TEdLZUxxN2VnNTFrMkFCSUJIWDRoS3V4U2RLdWdxQWRpVEpZRFUzTXdudzg1VmdBU0FScjR1S0VLelF0V0ZXQUFBQXhSQ3NBQUFVUTdBQ0FGQU13UW9BUURFRUt3QUF4UkNzQUFBVVE3QUNBRkFNd1FvQVFERUVLd0FBeFJDc0FBQVVRN0FDQUZBTXdRb0FRTEV1R0t6bDVlVUZCUVVORFEyTjJqa2NUa0ZCUVYxZHU2eFlXRnJhZUFXODh2SnlEb2ZUSHNjQ2dFNnVxd1ZyVFUzTmhBa1Rmdi85ZHhxTjF1aXBMVnUyVEpnd29iNit2dW1yK0h6KzNyMTdxNnFxUHUyZ09UazVJMGFNU0VsSkVXL2N2SG56bURGaitIeitwNzNuSjlpK2ZmdTMzMzU3NXN5WlZ2YmhjRGdsSDZQcEh3d0ErQ0JKTGh2WUhzTEN3a3BMUzMxOWZXTmpZMFdOMnRyYXlzcks1ODZkczdhMlRrOVBGOTlmVDAvUHlNam80Y09IZS9mdWpZMk5EUTBOMWREUUlBamk2TkdqSCt4dmpoZ3hRbHRibXlBSVkyTmpKeWVubjMvK09TSWlRbFZWbFNDSXlzcksyTmpZOGVQSE01a3Qvb1NmUG4wYUZ4Zlg5byttb3FJeWFkS2tscDQ5ZHV6WW9VT0hhRFRhdTNmdlhGeGN5RS9SVkV4TXpDKy8vTkwyZ3lvcks4Zkh4N2Q5ZndEb2FzR2FuWjE5NHNRSktTbXA4UEJ3OFhZUEQ0L1hyMThMaGNJblQ1NnNYYnRXL0ttZ29DQWpJeU03Tzd2ZmYvOTkxYXBWTTJiTUNBc0w2OTY5Ky9Ianh5c3FLc1QzNUhLNVFxRlFSa1pHMU5Ldlh6OHlXQW1DV0w1OCtZWU5HN2hjTHZudzRzV0xYQzQzTlRVMU16T3phWjM5Ky9mLzdydnZjbkp5RGh3NDBQWlAxNnRYcjVhQzllTEZpMXUyYkxHMXRWMjhlUEg4K2ZNWExWb1VGaGFtb0tEUTBsdjk5dHR2clR3cmN2NzgrWHYzN3JXOVFnQWdkWjFnTFNrcCtlR0hIN1MxdFk4ZE81YVdsdWJzN0N3S3dmajQrSkNRa0EwYk5yaTd1eWNtSmc0ZVBGaEtTcXJSeXowOVBmbDgvazgvL2ZUSEgzOXMyN2J0MHFWTGpYYjQ4Y2NmYjkrK2ZmMzZkZkhHcFV1WGlyY2tKaVlTQkJFU0VuTDQ4R0ZMUzBzcks2dG1TKzNWcXhkQkVMNit2cjYramRmNUxpa3A4Zkh4bVRoeDR0S2xTOXY0d1E4ZlByeHQyelpUVTlQTm16Y3JLU250MkxGajNyeDVVNmRPM2I1OWU4K2VQWnQ5aVlPRGc0cUt5Z2ZmT1QwOUhjRUs4QW02U0xCV1YxY3ZYTGl3c3JLUzdBTnUzYnIxOU9uVDI3WnRrNWFXRGc4UFQwOVBYN1ZxbGJ1N2UwVkZ4UjkvL05HalI0K3RXN2NxS3lzM2VwUGh3NGZUNlhSN2UvdTJIM2ZTcEVtZW5wNHJWNjcwOS9mdjE2OGYyWmlVbEZSYVdycDc5KzdldlhzVEJMRml4WXBldlhyTm56K2YwazlNa0FQS2YvNzU1NlZMbDJ4dGJiZHMyYUtvcUVnUWhKV1YxYlp0MjVZdVhUcGx5cFNmZi83WjJkbTUyZGRldlhxMTJlRm1FU2NuSjhvTEJ2aEtkSkZnbFphVzF0RFFDQTRPTmpFeElVOGNMVjI2OVBuejUyZlBubzJNakZSVlZYMzQ4S0dKaVltNXVmbisvZnRuelpvVkZoWVdFaExTOUgyOHZiMC82cmkydHJaQ29YRGx5cFUyTmpia2EydHFhbjcvL1hkdmIyL1JLR2RwYVdsYnZuZC9yUHYzNzY5ZXZicW9xTWpQejIvWnNtVXNGa3YwVkw5Ky9ZNGVQYnAwNmRJZmZ2akIwOU56NmRLbFRZZGMvL3p6VHphYjNjcjc3OXUzai9LYUFiNFNYU1JZV1N4V2FHaW82S0dKaWNtdVhidCsrZVdYaHc4ZkxsdTJiUGp3NFFzWExwdzFhOWJLbFN0SGpCaXhmLy8rYnQyNmlYYU9pb3A2OCtZTnVXMWpZL05SUFZhQ0lIZzhIa0VRb3JFRmVYbjU4UER3cUtnb1gxL2ZScWQ5K0h6KzgrZlBLeW9xQmd3WThEa2Z0cmk0ZU1lT0hkSFIwZVJ3cmFtcDZmbno1NXZ1Tm5Ma3lFT0hEbDI3ZHUzNjlldWpSbzJhTW1VS09RUkJhc3NwS1hKa0F3QStWaGNKVm5FQ2dlRDgrZk5idDI2Vms1TUxEUTBsVSt5dnYvNWFzMmJObWpWcnJsMjc5dU9QUDRyMzcySmlZakl5TXNpcFNGT25UdjNZWUNWUFdJV0ZoWjA4ZVpJZ0NETXpzeVZMbHFpcnE1TkordXpaTXphYmZmdjI3U2xUcHVUbTVuSzVYRWRIeDg4SjF2THk4bkhqeHRYVzF2cjQrQmdhR3U3ZHUvZlJvMGN0N2F5am83TjU4Mlp5WUtSbno1NVRwMDc5NU9NQ1FOdDF0V0JOVFUzZHVuVnJmbjYrZzRORFNFaUlrcEtTNk9UK3lwVXJ6YzNOLy9yckx6OC9QMjl2NzZDZ0lETXpNNElnZHU3Y1NZYmd4MFlxaVF4V1BUMjk3dDI3SnlVbHljcktSa2RISnlRa1ZGWldPam82a3ZOWXUzZnYzcmR2MzhEQXdGT25Uc25LeW43T0IxUlZWVjJ4WWtYdjNyM056YzBKZ25kRm44UUFBQ0FBU1VSQlZKZzJiZG9IWDdKdjM3NWJ0MjQxVGZPV3BsNTVlSGg4MUpRc0FHaWtpd1FyajhlTGpvNCtkdXhZYm02dW5wN2VnZ1VMZHV6WTRlZm4xM1JQTXpPelBuMzZYTHAwNmZMbHl6MTY5Smd6Wjg3SWtTTS81OUJrc0U2YU5NblcxdmJGaXhkU1VsSUpDUWx2M3J5UmxwYisrZWVmVFV4TWZ2MzFWMzE5L2VEZ1lJSWd6cDQ5S3ljbjl6bUhJd2pDeDhmblkxL1M3TjhNUHAvUDRYQ0NnNFBGNTBnY1BYcFVOR2tNQUQ1TkZ3bFdEb2V6YTljdWdpQ1dMVnMyZHV4WVBwOHZPa2ZQNC9HRVFxRzB0RFQ1VUZGUnNYZnYzdE9tVFR0Ky9IaHNiR3hMTTZMYWpqd0ZSTVlsajhkVFZsYisvZmZmVDU0OEdSWVc1dW5wU1JDRStEVmdkWFYxbngrc3BETm56bXphdE9tRHV5a3FLcEtqc1MwWk0yYU1lRWxYcjE2bHBEeUFyMWtYQ1ZaRlJjVzllL2RxYW1vU0JISHo1azBuSnljeU1Ua2NqcmUzOTVJbFMwYVBIaTNhZWR1MmJmMzY5VnV4WWtWSVNBaUR3ZmpNUTVORERmTHk4bVR2VlpUZ1RmSDUvT0xpWXZIelpwK0R4K054T0p5NWMrZVNoMjVXWEZ4Y1hsNGVKWWNEZ0xicklzRXFtblYvK2ZMbDFhdFhoNGVIay9PdVpHUmtURXhNa3BPVFJjSDY0c1dMSTBlT1ZGVlZPVGs1dFpTcUhBNW4wNlpOczJmUGJrc0lGaGNYTXhnTUxTMHRnaURxNit2Rkw4MFNlZnYyN2VUSms2dXFxaW9xS2dZUEh2elpuL1YvL1B6OFdycDZsU0NJZ29LQ0R3WnJYbDZlK0IrRGRscWtCdUNyMG5XQ2xlVGw1YlZyMTY1ZHUzWnQyN2FOYkhGeWN0cXpadytQeHlObkFodytmRmhXVm5iZXZIa3R2VU5lWHQ3S2xTdno4L085dkx6YUVxeloyZGs2T2pya20zTTRuR2FEVlZOVFUwZEhoeUFJUjBmSDE2OWZQMzM2dE9rMVY1SXlmZnIwUmkxa3FRRHd5YnBhc0RLWnpPblRwNjlmdi83Qmd3ZDkrL1lsQ01MT3pxNnVyaTQ5UGQzQndlSFZxMWNYTDE2Y04yOGVPUjFLSEhrWjBvMGJOOExEdytYbDVUZHUzTmpHU1ZFWkdSbGs3NWg4azVaTytvc3VVZjN2Zi8rYm1wcmFlWUwxNE1HRGpZWXZsSlNVSkZjT1FGZlExWUtWdkFiL3dJRURqeDQ5SW9QVjFOUjAzcng1ZW5wNjVNd3FUVTNOb0tDZ3BxOGlMNHJQejg5M2NuSmF2WHAxMCsvWHBhV2xUWmVxZXZIaVJXNXU3cXhac3dpQ0VBcUZiRGFidk1pS3hXSnhPQnlCUU1CZ01QYnUzU3Yra3R6Y1hBTURnNWErcEpPbndnb0xDeE1TRXBvK0t5VWw1ZWpvK0VrL2xXWU1HelpzNk5DaHJRd0tjN25jcHFzdkFzQUhkWjFnemNyS2V2andJYm50NysvUFpETEpHZnZrcWEzazVPU2FtcHE0dURoWFY5ZHo1ODZKWGpWKy9IZ3lPd29LQ21nMDJwSWxTMFN4bTVHUmNmejRjU1VsSlNrcHFhS2lvb2NQSC9idjM3L1JRZmZ0MjZlZ29DQVFDTTZjT1pPVmxWVlhWMmRxYWtvUVJKOCtmZXJyNjVjdFd6Wnc0RUE2L1o5RmI0VkNZWFoyZG5wNit1clZxeE1TRWtTREZVMGxKeWNuSnljM2JXKzZpTi93NGNOYitaa0loY0pXcnFhbDArbE5VM1hyMXEwMU5UV3lzcklDZ2VEeTVjc1lGZ0Q0QkYwbldPL2Z2OStvYjlpVXNySnlSa1lHZVowVktTQWdnRHlGRlJRVU5IRGd3RDU5K29pZVVsQlFFSzJYeW1Bd3pNek1HcTA0eGVmek16TXo1OHlaOCtMRmk0TUhEOHJKeVFVRkJkbmEyaElFWVcxdFBYUG16TWpJeUVZZFR4VVZsVysrK2NiWDE3ZXlzdklUem1JMTdUTC8rT09QclVUbnhZc1hIejkrL0ZHSHFLK3Z2MzM3Tm5sZGc3R3g4UTgvL1BDeFJRSUFyZWt0VE5yYnR0Q3diYUc3Q1lKWU5IL09vdmx6Ty9qb0gwVzAvaitEd1dqMlMzRmhZYUcydHZibno5bjZCQUtCZ00vbnQvSkZ2dFBhRnJwN1cyZ1lRUkNMNXM5ZE5IK09wTXNCb0Y3WDZiRzJoMWJXL3llSkwydlN3UmdNaGtRQ0hRQStxS3ZkOHdvQVFPSVFyQUFBRkVPd0FnQlFETUVLQUVBeEJDc0FBTVVRckFBQUZFT3dBZ0JRRE1FS0FFQXhCQ3NBQU1VUXJBQUFGRU93QWdCUVRKSnJCZVEvZXhFVDE4eXFvOUMxNVQ5N0lla1NBTnFYSklQMTRwV3JGNi9nbnFBQTBOVklZQ2hBVFUxVi9FYjI4SFZpc1ZocWFxcVNyZ0tnWFVpZ3grbzExTFdxcXVyNWkxY2RmK2pPb0tMc2ZYblplNElnVk5YVVZkUWEzM3JyNjZHcjA4dHJxS3VrcXdCb0Z4Slk2UG9ydDJmUG5yQ3dNSUlnNXN5Wk0zdjJiRW1YQXdEVXc2d0FBQUNLSVZnQkFDaUdZQVVBb0JpQ0ZRQ0FZZ2hXQUFDS0lWZ0JBQ2lHWUFVQW9CaUNGUUNBWWdoV0FBQ0tJVmdCQUNpR1lBVUFvQmlDRlFDQVlnaFdBQUNLU1hLaDY2K0JRQ0I0Ly80OW44OFh0VlJXVnBJcmlsVldWaFlWRlluYUdReUdob1lHZzhHUVVLVUFRQmtzRzlpKytIeCtTRWhJZm42K3FLV3lzcExOWmhNRW9heXNyS1NrSkdyWDF0YmV1WE1uazRrL2RRQmZQUHdhdHk4bWsybG9hSGo5K25YeFJocU5SaVpzWldXbHFOSEZ4UVdwQ3RBMVlJeTEzUTBiTm94TVVvSWdHcG9nMitsMHVxK3ZyMFRMQkFES0lGamJuWUdCZ2FtcGFldjdHQmtaOWVuVHA2TXFBb0QyaFdCdGR6UWF6Y2ZIcDFHTHFBOUw4dkx5YXRRQ0FGOHVCR3RIY0haMlZsQlFhT2xaSlNVbEJ3ZUhqcTBJQU5vUmdyVWpxS3FxbXBtWnRmU3NxYWxwdDI3ZE9yWWlBR2hIQ05hT0lDY25aMmxwMmVnVUZybE5vOUdzckt4VVZGUWtXaUFBVUFuQjJoSG9kTHFscGFXaW9tS2pnVlFhalNZcksydHBhVW1uNHg4Q29PdkE3M01Ic2JLeVVsVlZiZG91THk5dlpXVWxpWW9Bb0wwZ1dEdUl1cm82R2FDaVRpdTVZV2RuMTJ6Z0FzQ1hDOEhhY1VhTUdORzBjY3lZTVpLb0JRRGFFWUsxNDlqYTJtcHFhcExiWkhkVlcxdmIxdFpXMG5VQkFNVVFyQjJIeFdKNWVYbUpqd1lNSFRxVXhXSkp1aTRBb0JpQ3RVTjVlM3RMU1VtUjJ6SXlNa09HREpGMFJRQkFQUVJyaCtyUm80ZSt2ajY1YldobzJLdFhMMGxYQkFEVVE3QjJLSGw1ZVV0TFMzTGIwdElTMXdVQWRFa0kxZzdGWXJHc3JhM2w1T1JrWkdTc3JLeEV3d0lBMEpWZ1plV09SbDRwd09Gd1JGMVhBT2hpRUt3ZFRVOVBUMWRYdDc2K1hrZEhSOUsxQUVDN2tNQTlyOTZYbFNVazNYajkrazBISDdmenlNL1BGd3FGUmtaR2tpNUVrcnByYVhxNEQxRlhVNU4wSVFEVWswQ1BOVEU1WmYyZm15dlk3STQvZE9jU0V5ZnBDaVJKUVVHQnlXTDZqeDRsNlVJQXFDZUJrMWVGaFVWSVZhaXVyaTRzTEdyRGpnQmZIa21Pc2RvUDZEZG9ZSDhKRmdBU2NmTjIrcTA3ZHlWZEJVQTdrbVN3RGhyWWY5SDh1UklzQUNSa040SVZ1amJNWXdVQW9CaUNGUUNBWWdoV0FBQ0tJVmdCQUNpR1lBVUFvQmlDRlFDQVlnaFdBQUNLSVZnQkFDaUdZQVVBb0JpQ0ZRQ0FZZ2hXQUFDS0lWZ0JBQ2lHWVAwZlBwOWZVVkhScVBITm13NWRrTHVxcW9yRDRaRGJOVFUxSlNVbEgzeko2OWV2Mjc4dUFQZ0lDTmIvV2JWcTFaSWxTd1FDZ2FpbHNMQnc1TWlSa1pHUjdYRTRVWUNLKyt1dnYwYU5Hc1hsY2dtQ21ETm56c0tGQzV2ZFRTUWhJY0hYMS9mS2xTdnRVU0VBZkJyYzgrcC9wazJiTm1YS2xQMzc5OCtlUFp0c09YMzZ0SlNVMU5DaFExdDUxWkVqUnlvcks5dCtGRTlQVDJOajQ3dDM3NGFFaEd6WnNzWGEybHIwVkUxTnpZVUxGMGFOR2tYZXZYWE9uRGsvL1BERGpoMDdmdnp4eDJiZnFxeXM3RC8vK1krQ2dnS1R5VXhJU0dqcGlFT0dES0hUOFJjVW9PTWdXUC9Iek14czl1elpHaG9hNUVNZWp4Y1ZGY1ZrTW9PRGc1dmRmOTI2ZFQxNzlqeHg0a1J4Y1hIYmo2S3ZyMjlzYkt5cnEwdW4wNE9EZzQ4ZVBhcWxwVVUrRlI0ZXp1RndKaytlVEQ1MGRuYWVNMmVPaTR0THMrL0Q1L09YTFZ0V1dscktaREovL3Zublp2Y2hlN3RwYVdtNHp6WkFSMEt3RWprNU9aTW1UUkp2V2I5K2ZZOGVQUUlEQXlzckt3TUNBaGdNUnJNdmxKYVdKZ2ppMHFWTFRaLzY5ZGRmejU4L241aVlxS2lvMk94cnUzWHI5c2NmZjh5Yk55ODRPSGpmdm4weU1qSnNOdnZvMGFOQ29YRGN1SEhpZXg0NmRFaTByYTJ0VFk1TENJWEMxYXRYMzc5L1gxZFhsOHZsL3ZYWFg3cTZ1dUt2cXF1cisvWFhYMk5pWXFaTW1ZSlVCZWhnQ0ZaQ1cxdjd0OTkraTQrUFQwOVBEd2tKSVJ2cjYrczNiZHJrN2UyOWJOa3lnaUF5TXpPWEwxOSs5T2hSVlZWVnFvN2J2My8vNzc3N2J1Zk9uYUdob2NIQndUdDM3cXl1cnZieDhYRndjQ0IzZVBueTViNTkrNzc5OWx0OWZYMnlSVlpXbHV4S3IxMjdOaVltWnUzYXRTNHVMak5tekpnNWMrYW1UWnVzckt6STNYSnpjMy82NmFlOHZMeFpzMmJObll0N05BQjBOQVFyb2FpbzZPM3RuWitmLy9UcFUyOXZiN0p4ejU0OUhBNW4wcVJKUEI2UHhXTFYxOWNYRnhlTG45ZWl4TFJwMHdRQ3diaHg0ekl5TXM2Y09VTU9SL2o0K0pEUFptUms3TnUzejk3ZXZuLy8vM2Ruc0dYTGxpVW5KLy8wMDArK3ZyNEVRZXphdFd2NTh1WFRwMDhmTTJiTXBFbVR3c1BEejUwN3A2U2t0R1hMbHBhR0VRQ2dYZUdjeGovNGZMNzRWK1laTTJiczI3ZHYvdno1Wk42SnE2aW9TRXRMS3kwdC9meUQwbWkwbVRObkVnVHgwMDgvOWVyVnE0MnZtanAxNm9ZTkcvejgvTWlIV2xwYSsvYnRjM056TzN2MmJFQkF3Smt6Wnl3c0xDSWpJNUdxQUpLQ0h1cy91Rnh1VVZIUnJGbXp5SWNoSVNHaWI5YnYzNy9QenM0bUNHTHQyclhQbno4bjU1WWVQbnhZZEpyck01MDZkYXEwdEhUMzd0MHpaODdjdG0xYmFHZ28yZDdRMEVBUXhJSUZDMFRuOU5ldVhldmw1ZFczYjEveVlYMTkvY09IRDFOVFV4TVNFZ29LQ2xSVVZBWU9ISGpyMXEzTXpFdy9QNysrZmZ1YW01djM3dDI3WjgrZUdob2FLaW9xTWpJeWxCUU1BSzFEc1A2RHkrVXFLQ2lZbUppVWw1ZEhSMGUvZVBFaU1UR3hycTV1NjlhdEd6WnNJUGVSbFpVTkRBeGtzVmliTm0waWh6cy9YMlptNXVUSmswMU1URXhNVEFpQzhQTHlhalRHT25ueVpORVlxNFdGUlVsSnlmWHIxL1B5OHJLeXNuSnljdmg4dnBLU2twT1QwNkpGaTV5ZG5abE1Kby9IdTNuelprcEt5cDA3ZDI3Y3VDRTYwSUlGQzZaTm0wWkp6UURRT2dUclA3aGNycjYrL3RLbFN6TXpNNk9qbzlsc2RteHNyRkFvOVBUMDlQZjNyNnFxV3J4NDhmTGx5elUwTk83Y3VVTVFoSnljM09jZnRLNnViczZjT2FOSGoxNjJiRmx0YlcxYnhsZ3JLeXZEd3NKa1pXVTFORFM4dkx6czdPeE1UVTNKTG0xK2ZqNjVqNmFtcHArZm41K2ZYM1YxZFhaMnRwU1VWRmxaMlRmZmZQUDVCUU5BV3lCWS84Rm1zOG1zNVBGNEJFRU1IRGd3SUNEQTNkM2R5c3JLMXRZMlBUMWR0R2RkWFIxVndacWNuRnhmWHo5NDhPQzJ2MFJKU1NrNk9wckZZbTNmdnYzUW9VUHg4ZkdpcC9oOFBwL1BGLysrTHhBSWVEeGVhbW9xT1RNTUFEb0dndlVmRlJVVjVPa2o4bkxTVnBLb3NMQlFSa2FtcFFtcUh5VXVMazVCUVdIUW9FR2lscnQzNzRxMnlVVUE0dUxpY25KeXlCWjdlM3REUTBNV2kwVSsxTlBURXorM0ZoNGVIaFlXZHYzNmRWSEwxYXRYVjY1YytmbDFBc0JIUWJEK283aTQyTjdlbmp3alJCQkVzK2Q1UWtORG56MTdscE9UNCtqb1NLUFJQdk9JSEE3bnhvMGJucDZlb3FBa2cvWHAwNmZrTnRsM2pvMk5GVTFYME5EUU1EUTAvTXpqQWtCN1E3QVNaSGYxN2R1M0JnWUdvc3RBbXcxV096czdhV2xwWjJmbkNSTW1iTnEwS1RBd3NPMXpwSnFLaTR2amNEaWVucDdpamJObnp3NEtDaUszTXpJeVpzNmMrY2NmZnpTYXh5cnk4dVZMUjBkSDBVTnlLRUM4aGZLSnR3RFFGZ2hXZ293d2dpREk4L0wxOWZVMEdxM1pvUUFIQjRkUm8wYVJpL3VGaDRkYldscCtUckNTMC9qSmJ2S242ZG16cDJodUZrRVFVVkZSSjA2Y0NBOFBGN1VrSnlkdjJyVHBrOThmQUQ0TmdwVWdDQ0ltSnNiUTBGQlBUNDhnaVBMeWNnVUZCYktkeFdMVjFOU1FsNStLajM3bTV1WVNCR0ZnWUpDY25Nem44NXUrSWJtS2EzSnljck96c295TmpSc2FHdTdkdXpkNjlHZ204Ly85RXhRVUZJaE9sT1hsNVpGTEdZanZZR1ZsSlFwOUpwT3BvNk1qZWtwVlZaVk9wNHUzcUt1cmYrcVBCQUErSFlLVmVQNzhlWHg4L0lRSkU0NGZQODVpc1NJaUlreE5UY21uK3ZUcGMrellNZkpjdkdqLzJ0cmEwNmRQZCsvZTNkRFFjTnEwYWEyc2w3cDY5ZXBtMjBOQ1Fzek56UTBNREx5OHZCbzlGUkVSRVJFUklkN1NxTXQ1NGNLRkhqMTZrTnQxZFhYSnljbWlwNTQ5ZThibjg4VmJSTU8xQU5DUkVLeEVabWFtbXByYTlPblRmWDE5K1h5K25wN2VraVZMeUtlQ2c0Ti8rZVdYc0xBdzhXNHBpOFV5TmpaZXRtd1puVTQvZXZUb0o0eGpkdXZXVFZsWitkU3BVK1MxVmVJV0wxNDhZY0tFVmw0cjNzTXRLeXZic21XTCtMTmFXbHJpTFdSM0d3QTZHSUtWOFBYMXRiR3hVVkZSU1VwS2F2U1VnWUdCK0twOVRZbXVpZm8wNGxNTDVPVGt4RWNiUG1qaHdvVUxGeTc4bktNRFFEdkJJaXdFUVJDTkZqTUZBUGdjQ0ZZQUFJb2hXQUVBS0laZ0JRQ2dHSUlWQUlCaUNGWUFBSW9oV0FFQUtJWmdCUUNnR0lJVkFJQmlDRllBQUlvaFdBRUFLQ2JKdFFKdTNrNG5pTjBTTEFBazR1YnQ5RGJzQmZBRmsyU3czcnB6OTlhZGoxaDJCQURnaXlDQm9RRHQ3bHFpbGFUaHF5VW5KNnZkWFV2U1ZRQzBDd24wV0llNnVkRHA5TmRGYnpyKzBKMkJRQ0I0blBtQTNMYTJzWk4wT1JMVFhVdHpxSnVMcEtzQWFCZTBwbXN0UTd1cXJxNGVNbVFJdWYxUkM3QUN3SmNDc3dJQUFDaUdZQVVBb0JpQ0ZRQ0FZZ2hXQUFDS0lWZ0JBQ2lHWUFVQW9CaUNGUUNBWWdoV0FBQ0tJVmdCQUNpR1lBVUFvQmlDRlFDQVlnaFdBQUNLSVZnQkFDaUdZQVVBb0JpQ0ZRQ0FZZ2hXQUFDS1NmS2VWMThWZ1VEdzl1M2Job2FHbXBvYTBlTGllL2Z1MWRUVXRMR3hZYkZZb2oxWkxKYXFxaXFUaVg4YWdDOFY3aURRUWNyTHk1Y3RXMVpTVXRMUTBGQllXRWcyMG1nMFdWbFpOVFUxR28wbTJ0UFcxbmJ4NHNYS3lzcVNLeFlBUGd1NlJSMUVXbHBhWFYyZHZCZUxlSXpXMWRXOWZ2MWE5SkJHbzdtNHVDQlZBYjVvR0dQdElMS3lzcmEydHVSWC9vYm1rTHRKU1VrTkhqeFkwc1VDd0dkQnNIWVFHbzFtYkd5c3JxN2UrbTRLQ2dxMnRyWWRWUlFBdEFzRWE4Y3hNVEhSMXRZV2I2SDlTOVRpN2UwdEl5TWppZW9BZ0RJSTFvNGpLeXM3WU1DQVJtT3M1TWdBdWNGZ01QejkvU1ZVSFFCUUJzSGFvZHpkM1p0dEo2UFcwdEpTVDArdnc0c0NBSW9oV0R1VWtaRVJHWjJpVHF2NGREZFBUODlHblZrQStCSWhXRHZheElrVFJkdmlxYXFxcWpwdzRFQUpGUVVBVkVLd2RqUTNOemM1T2JtbTdlYm01bXBxYXBLb0NBQW9obUR0YUlxS2l2Mzc5eGNmRGFEUmFIUTYzY0xDQXRjRkFIUU5DTmFPSmlVbE5XREFBQWFESWQ2b3JLemN0MjlmT2gzL0hBQmRBWDZUT3hxTlJqTXhNU0d2RkJCTllsVlRVN093c0pCMGFRQkFEUVNyQlBUdTNidG56NTdpTFFNR0RGQlVWSlJjUlFCQUpRU3JCS2lycTF0YVdvcVBCdmo0K0VpMElnQ2dFb0pWTXB5Y25LU2twTWh0YlcxdFUxTlRTVmNFQUpSQnNFcUdqWTJOYUVFV2YzLy9SdWV5QU9DTGhtQ1ZEQ2FUU1M0TElDOHY3K3JxS3VseUFJQktDRmFKR1RseUpKUEp0TEN3ME5EUWtIUXRBRUFsM0VGQVl0VFUxT3p0N2EydHJadTlFQXNBdmx3U3Z1ZFZiVzNkZzh4SFJXK0tKVmlEQkdWblo5UHBkQ01qSTBrWElnR3lzakkyMWxZOXRMdEx1aEFBNmttNHgvcncwZU1WYTM1OVZWQW8yVEtnNDBsTFMzODdaZEtTaGQvaHhCMTBQUkllWTMxZDlBYXArbldxcjY5L25QV1V6K2RMdWhBQTZuV1dNZFllMnQwZDdBZEl1Z3JvQ0VWRnhiZlM3d3FGUWtrWEF0QmVPa3V3V3BpWmJsei9xNlNyZ0k0UUU1dHc5LzRETHBjcjZVSUEyZ3VtV3dFQVVBekJDZ0JBTVFRckFBREZFS3dBQUJSRHNBSUFVQXpCQ2dCQU1RUXJBQURGRUt3QUFCUkRzQUlBVUF6QkNnQkFNUVFyQUFERkVLd0FBQlJEc0FJQVVBekJDZ0JBTVFRckFBREZFS3dBQUJSRHNBSUFVQXpCU2lVK24xOVJVZEdvOGMyYk54SXFCd0FrQThGS3BWV3JWaTFac2tRZ0VJaGFDZ3NMUjQ0Y0dSa1pLZEc2dWlBZWo0ZTdaa0duMVZudWVkVTFUSnMyYmNxVUtmdjM3NTg5ZXpiWmN2cjBhU2twcWFGRGg3YnlxaU5IamxSV1ZyYjlLSjZlbnNiR3hwOWQ3QmVwb2FIaDJiTm5pWW1KMmRuWksxZXVWRkZSa1hSRkFNMUFzRkxKek14czl1elpHaG9hNUVNZWp4Y1ZGY1ZrTW9PRGc1dmRmOTI2ZFQxNzlqeHg0a1J4Y1hIYmo2S3ZyLzlWQld0RFF3T1h5NjJzckV4T1RqNTM3dHlUSjA4YUdobzBORFI0UEo2a1N3Tm9Ib0tWQWprNU9aTW1UUkp2V2I5K2ZZOGVQUUlEQXlzckt3TUNBaGdNUnJNdmxKYVdKZ2ppMHFWTFRaLzY5ZGRmejU4L241aVlxS2lvMkc2RmQzYWxwYVhaMmRsUG56NjlkKy9lbzBlUHFxdXJKVjBSUUpzZ1dDbWdyYTM5MjIrL3hjZkhwNmVuaDRTRWtJMzE5ZldiTm0zeTl2WmV0bXdaUVJDWm1abkxseTgvZXZTb3FxcXFwT3Z0N0hnODN1M2J0K1BpNHJLenMwdEtTdGhzZHJQRHFUUWFUUkxWQVh3WWdwVUNpb3FLM3Q3ZStmbjVUNTgrOWZiMkpodjM3Tm5ENFhBbVRackU0L0ZZTEZaOWZYMXhjYkg0ZVMwUUp4QUllRHplcTFldkxsKytmT25TcGJLeU12Rm5HeG9heEI4aVVxR1RRN0JTaHMvblMwbEppUjdPbURIRHdjRmgvdno1YytiTUNRd01GTit6b3FJaUt5dkx5TWhJTkJyNzFXcG9hSGoxNnRXVEowOHlNek16TWpMeTgvUDVmTDc0c3kyOUVOa0tuUm1DbFRKY0xyZW9xR2pXckZua3c1Q1FFQ3NySzNMNy9mdjMyZG5aQkVHc1hidjIrZlBuSlNVbEJFRWNQbno0YXc3V2hvWUdkdm43dFd2WFBudjJyS1NrcEthbXB0R3o0ZzlGTVNwcXI2aW8rUEhISDFrczFtZVdZV0JnTUhYcVZHMXQ3Yzk4SHdCeENGYktjTGxjQlFVRkV4T1Q4dkx5Nk9qb0Z5OWVKQ1ltMXRYVmJkMjZkY09HRGVRK3NyS3lnWUdCTEJacjA2Wk5zckt5a2k1WndnUjgvdXZYcjkrOGVkUG8vSDRySFZVUkxwZjc0TUdEeisrMzNyOS9YMTlmdjlGWENvRFBoR0NsREpmTDFkZlhYN3AwYVdabVpuUjBOSnZOam8yTkZRcUZucDZlL3Y3K1ZWVlZpeGN2WHI1OHVZYUd4cDA3ZHdpQ2tKT1RrM1RKa2tTajBkUzZhWVh0MlB6NjlldlUxTlNJaUlqQ3drS3l2V24vdEduVVVqVVVJQkFJMkd3MkpXOEZJSUpncFF5YnpTYXprdXgvRFJ3NE1DQWd3TjNkM2NyS3l0YldOajA5WGJSblhWMGRnbFhFd01EQXdNREF3Y0dob3FLQ3pXYmZ2bjA3T1RtWm5OamJOR0ZGVkZSVVZxMWFwYXlzL01uSHZYRGh3b1VMRno2dmRvRG1JVmdwVTFGUjBhdFhMN0xyS3BxajJxekN3a0laR1ptdmVZSnFVNGFHaHVTR3U3djcwcVZMMDlMU1RwOCtmZS9lUFM2WHkrUHhtdlpQbVV5bXRiWDE1d3hTMzcxNzkvTktCbWdSZ3BVeXhjWEY5dmIyNUF4V2dpQmtaR1NhN2hNYUd2cnMyYk9jbkJ4SFIwZWMxMjRKazhsMGRuWjJkbll1TFMxTlNVbTVkKzllWGw3ZXk1Y3Z5WjYrU0Z1R1lnRWtBc0ZLallxS2lyZHYzeG9ZR0JBRXdlRndXZ3BXT3pzN2FXbHBaMmZuQ1JNbWJOcTBLVEF3a096a1FyTTBORFJHang3dDQrUHo1czJiRnk5ZTNMdDNMeVVsNWZuejU0aFU2T1FRck5USXlNZ2dDTUxFeElUc3NkSm90R2FIQWh3Y0hFYU5Ha1VRUkZWVlZYaDR1S1dsSllMMWcxZ3NscTZ1cnE2dXJvdUx5NkpGaTU0OGVYTDI3Tm1IRHgraXl3K2RGb0tWR2pFeE1ZYUdobnA2ZWdSQmxKZVhLeWdva08wc0ZvdWNvZG0vZjMveFFiM2MzRnp5dkUxeWNyTDRsSGdSY2hYWDVPVGtabWRsR1JzYjkrelpzejAvVUNkRm85RXNMQ3dzTEN5NFhHNUxLekFBU0J5Q2xRTFBueitQajQrZk1HSEM4ZVBIV1N4V1JFU0VxYWtwK1ZTZlBuMk9IVHRHRUlTU2twSm8vOXJhMnRPblQzZnYzdDNRMEhEYXRHbmswRUd6VnE5ZTNXeDdTRWpJVno3MVV2d2lONERPQnNGS2djek1URFUxdGVuVHAvdjYrdkw1ZkQwOXZTVkxscEJQQlFjSC8vTExMMkZoWWVMZFVoYUxaV3hzdkd6Wk1qcWRmdlRvMFU5WVFLQmJ0MjZVZmdJQW9CS0NsUUsrdnI0Mk5qWXFLaXBKU1VtTm5qSXdNRGgwNkZBcnI5WFgxMi9uNmdDZ28rSFdMTlRRMWRXVmRBa0EwRmtnV0FFQUtJWmdCUUNnR0lJVkFJQmlDRllBQUlvaFdBRUFLSVpnQlFDZ0dJSVZBSUJpQ0ZZQUFJb2hXQUVBS0laZ0JRQ2dHSUlWQUlCaUNGWUFBSW9oV0FFQUtJWmdCUUNnR0lJVkFJQmlDRllBQUlwMWxqc0laT2ZtcmZ0am82U3JnSTd3c3FCUTBOejlFd0c2ak00U3JLOEtDZzhlQ1pkMEZRQUFGSkR3VUVCM0xVMXQ3ZTZTclFFa1FrcEt5dGlvRDI1aERWMlNoSHVzZmEwdGYvbHBlVUhCYThtV0lSRnYzaFFWdm5wSkVJU2F1b1poSHlOSmw5UFI1T1JrSGV3SE1KbWQ1VHNUQUlVay9MKzFncnk4aDlzUXlkWWdLVWVPSERrZGNad2dpSkVqUjA2ZkVpVHBjZ0NBTXBnVkFBQkFNUVFyQUFERkVLd0FBQlJEc0FJQVVBekJDZ0JBTVFRckFBREZFS3dBQUJSRHNBSUFVQXpCQ2dCQU1RUXJBQURGRUt3QUFCUkRzQUlBVUF6QkNnQkFNUVFyQUFERkVLd0FBQlJEc0FJQVVBekJDZ0JBTWR3WUE2QkZmRDcvL2Z2M0gvc3FkWFYxM0hMbUs0ZC9mb0FXNWVmbkJ3Vjk5RjF6d3NQRFRVeE0ycWNpK0RJZ1dEdmFnd2NQSGp4NHdPRndIang0SU9sYTRBTjBkSFIyN2RyVnREMHZMMi83OXUwbUppYno1ODl2OWxVZFVoMTBYZ2pXanJaeDQ4YWNuQnlCUUNEcFF1REQ1T1RrN08zdEd6VW1KU1h0M3IxYlZWWDF6ei8vMU5EUVlMRllFcW9PT2krY3ZPcG9XVmxaNHFuS1lyRXNMUzBsV2hHMEZZZkQyYmh4NCtMRmk3VzF0ZCs5ZTNmanhvMmdvS0FWSzFZVUZoWkt1alRvWE5CamJVY05EUTFWVlZYVjFkV05Hc2tOWDE5ZmdpQTBORFJzYkd5S2lvb1VGQlNVbEpRa1ZDbDgySjA3ZC83em4vOFVGaFl1V0xEQTBkRnh3b1FKVWxKU2t5Wk5DZzBOOWZmM0h6dDI3TXlaTTlYVjFTVmRKblFLQ05iMkZSY1hkL2p3WWFGUTJQU3BqSXdNY3VQYXRXdDBPbjNLbENsanhveWgwV2dkWGlOOFFFRkJ3Ylp0MnhJU0VucjE2blhnd0FFTEM0dTh2RHlDSUdnMDJ1alJvejA4UFBidTNYdml4SWxMbHk3Tm5UczNNRENRd1dCSXVtU1FNQVJyTzZMUmFGcGFXdFhWMVdWbFplS041SWI0OTBjdExTMHRMUzJrYW1lVG01djc5OTkveDhURXNGaXNxVk9uenBneFExNWV2dEUrQ2dvS2l4Y3Y5dlB6VzdkdTNhWk5teTVjdUxCeTVVb3JLeXNKbFF5ZEFzWlkyNWVKaVltV2xoYTUzZEFjOGlsZFhWMVRVMU9KVmdyTmlJaUl1SHIxNnNpUkk4K2VQYnR3NGNLbXFTclN1M2Z2ZmZ2MmhZU0VGQlFVaEllSGQyeVowT21neDlxKzFOVFVMQzB0czdLeVd0L053c0pDVFUydG80cUN0bHE4ZVBHRUNSTU1EUTBidFd0cWFxNVlzY0xhMmxxOGtVYWpCUVlHdXJpNFlLd2NFS3p0aTBhanVibTVuVHAxaXR4dWFHZ1FmZDhYZFZjSmduQnljcEpjamRBaU9UazVRMFBEcUtpbzlldlh0MlgvbFN0WGt1Y2s0U3VIWUcxM2RuWjJXbHBhSlNVbFRaOGlRN1puejU2WWNkV1pDUVFDSG84M2QrNWNWVlhWbHZZcEx5L2Z2WHMzcGljRENjSGE3bGdzMW9nUkl3NGNPTkRTRG1QSGpzVWs4ODV2MkxCaHJWeFNWVkJRc0h2MzdvNnRDRG92bkx6cUNMNit2cUpWT2NnUkFORTRBSlBKOVBmM2wyaDFBRUF4Qkd0SDZOYXRHL2xsWDN4Q0ZibmR2MzkvUlVWRmlWWUhBQlREVUVCSGtKS1NHalJvMFAzNzk4bUgySmxyNFFBQUlBQkpSRUZVNHFldFhGeGNKRmNYZklUaTR1SlBmaGErTmdqV2prQ24wODNOelZWVlZjdkx5OFhidGJTMHNMN2NsMkx1M0xtU0xnRytHQWpXRG1KZ1lHQm9hSmllbmk3ZWFHcHFpaVhtdmhSYnRtd1JYZXZSVkVsSnllTEZpenUySXVpOEVLd2RSRXRMeThqSTZPN2R1K1E0QUkxR1l6QVk1dWJtdUM2ZzgvUDE5Zlh4OFpHU2ttcmxtbU1URTVPN2QrOTJiRjNRZWVIa1ZRZWgwK2tEQnc0a2Z6bkozMDk1ZVhrYkd4dXNEOUQ1TVJnTWFXbHAvRXRCMnlGWU80NmRuWjJ5c3JMb29hYW1wb1dGaFVRckFvQjJnV0R0T0FvS0NxNnVycUtIYm01dXNyS3lFcTBJQU5vRmdyVkQrZm41MGVsMDh0dmxpQkVqSkYwT0FMUUxCR3VITWpZMk5qSXlJZ2pDeXNvSzh3RUF1aW9FYTBjYk9uUW9lZUc1cEFzQmdQYUNZTzFvL2Z2MzE5Ylc3dCsvdjZRTEFZRDJnbUR0YUpWVk5ib0dSc21wdDhyS3l0dXdPd0I4ZVhDQlFNZkplcHE5YTgrQnRGdDNxcXFycnFmY1BIRDQySVJ4WTZjRVRaQ1R3OXdBZ0M0RndkcStoRUxodTlMU0oxblprV2ZQeHlVbWM3bGNzcDNINDc4cUtOeXdlZnZCdytHQkFYNWVROTMwOWZYazVlUWtYUzhBVUFEQjJvNWV2SHgxTlRZKzZVYnF2WXdIOWY5R3FvcXlzclBqb05MM1pXbTM3aEFFOGE2ME5EUnMzK2x6VVFQNjJRN3o5SEFjYksrb29DRHB3Z0hnc3lCWTIwVkp5YnNkdS9kY2pyNVdWVjB0dWwySG1xcnFsS0RBYnlZRnlzdkpDNFdDNXk5ZmJ0NytWMkxTRFlGQThLYTRKT3BTZEhSTW5LNXVyNW5UcG96M0h5UHBUd0FBbnc3QlNxV0tDblpPWG43VXBTdG5veTdXMVhISVJnVUZlVjJkWHNNOGhvNFBHS1BacmR1Lys3TE1URXpDZG15K2QvL2hzWk9SR2ZjZkZCVzk0Zko0ZWZuUGw2LytKV3ovMzVNbmpuZHlzTmZUMVpXU3dsMWJBTDR3Q0ZacXZDdDlIeHVma0ppY2N2ZmVnN0ovRjEyVms1TjFHK0k4MU5YRndYNmdsbWEzcHEraTArbjk3V3hzcksyeXNyTlQwbTVkaVlsOS9PU3BVQ2g4L3VMbCtnMmJlK3ZwT3RnUEdPN2xZV2ZiVjFwS3FzTS9Fd0I4SWdUcjU2cmpjUFlkUEhMODFPblMwdmQ4UHA5c2xKYVc5aHMxWXU2czZkMjFORmtzVnVzTEl6R1pEQ3NMY3dzejAyK0NBdStrMzl1MExmUngxbE9CUUpELzdIbitzK2VuenB3M056WCtmdDVzVjJkSExMQUU4RVZBc0g2aW1wcmE1eTlmeHNZbkhnay9XVjdCSmh1bHBLUjBkWG81RHg0MGVlSjQvZDU2SC9XR2REcGRYazdPMWNYSjJkRWgvbnJ5cVRQbk14ODlLWG43dHI2K1B1TkI1c3g1Qy92WjJreWVPTTYycjdWMmR5M1JyUWtCb0JQQzcrZEhxNm1wdVJvYkh4T2JjUC9obzdmdjNwR05NakxTVG9NZGZMdzkrdG5hOU95aFRhNjA4bWtZRElhbnU2dVRnMzEyYnQ3TjIrbG56bC9NZi9hOG9hRWgvVjVHeG9PSFJvWUdBd2YwR3pOcWhJMjFKWFdmQ1FDb2hHRDlDRnd1OTl5Rnk3djNIaWg2VTh6bDhVVHRRNXdjRjN3MzI5elVSRnE2dFVYbVA0cXNyS3lOdFpXVnBjV0VjV09qcjhWdjIvbFh5ZHQzQW9IZ2FVNXVUbDcrcVRQbkIvYXpXN3h3bnJVbFZuUUY2SFFRckI5V1cxdjM3TVdMbExSYkowK2RlZkdxZ0d4a01CZ0crcjN0Qi9TYk9ON2Z6TVM0blE3Tm9OTlZsSlVuQlBqNWp4NTU4VXJNNWVpWXpNZFAzcjRycmF1cnUzNGpKZTMySFNjSCs3RmpSbGxibW10Mzc4NWdNTnFwREFENEtBalcxZ2lGd3NUa0cxZXV4dDY1bS9HcW9KQnNaREFZdG4ydGZVY01IOURQeGtDL040dlZFZE9oV0N5V24rOElEemVYek1kWjE1TlR6bDI4L081ZEtaZkxqYitlbkp4NjA5TGMxR213dzVoUkkvUjc2M1pBTVFEUU9wcjRQZTVCaE0vblgwOU9YYjloOC9PWEw4WGIrMXBaaGl4Wk9HaGdmOG1lb0srdjV4NE9QN0ZuLzZIM1pXV2lSanFkUHRMSE8zamg5enE5ZWtpd3RpL0ZuajE3d3NMQ0NJS1lNMmZPN05tekpWME9kQ25vc2Y0L1BCNy81YXRYdDlQdm5qb1RsZm40aVZBb0pBT3Jady90dmxhVzQvM0hEQnJZdnpPY2taZVdscG81N1p1eG8wZWRpN3AwTFQ0aEp6ZS9nczBXQ29WUkY2L0V4aVY2RG5YMUhUSGMwc0s4bTRhNnBDc0YrQnBKUGlNNkNhRlFtUEhnNGNYTE1UZnZwT2ZtNVpPUlNoQkVIME1EM3hIREhCM3N6VTFOcEtXbEpWM20vOUJvTkhVMTFSblRKby94OWJtWDhTQTI0ZnJGeTFmck9KemF1cnJ6RjY4a0pOMndzakFmNHV3NGNyaDNkeTFOU1JjTDhIWEJVQUJCRU1UanJPejFHemJmdkgxSC9LZWgzMXQzMGZmemZIMittS1grSzZ1cXRtemZkZXBzVkcxdHJhaFJTVWt4S0REZ2gvbHpwWER0MXYrSG9RQm9QMTkxajdYZ2RWSEcvUWRuemw5TVNiMHBFQXJKYnFDR2hycWxtZW1ZVVNQY1hKMFY1T1VsWGVOSFVGSlVYTHRxMmJSdmdzNUdYVXBNdXBHYm4xOVh4Nm1zck5xOTkrRFI0NmNDeHZoNmU3cWJtNWxnOVN5QTl2WTFCbXREUTBOV2RzNnBNK2R2cDkvTGYvWmN0RWFxdHBhV3Y1K3ZxNHVUdWFteGpJeU1wTXY4UkhxNk9qOThQM2ZDdUxHWmo1NWN1QndkRzUvSXFhK3ZycTcrKzJqNGhjdFhqSTM2RFBmeUdEVml1TEtTb3FRckJlaXl2cnBnZmZ1dWRPT1c3VkdYb25saU0veFZsSlhuekp3Mlkrcmt6bkJpaWhMZHRUUzdhMmw2RG5YTmUvWjg0K2J0MStJVENZSjRYMWFlZHV0TzJxMDdvV0g3NXMrWk9kNS9ETVlIQU5wREY4bVJEM3BUWEhMbjdyM29hM0Z4Q1VtaVNGVlJVZWxuMDlmRGZZaTNoN3VLaXJLa2Eyd1hmUXowdzNadXljbkx2M0RwU3RLTnRDZFBzd1VDUWNuYmQydlcvUkcyLysrUnc3M2RoamhibUp2aTVnVUFGT3I2d1ZyMHB2ak0rUXVKU1NrNXVYblZOVFZrbzVxcXFzOHd6MkdlUTgzTlRKU1ZsTHI4cWxIR2ZRd1h6Wi9uUDhiMzRhTW5wODZjdTNYbkxwL1BmMTMwSm16LzMxR1hydlMxc2h6cDR6M2N5NlBML3h3QU9rWlhEdFlLZHVXK0E0Y09IZ212NDNERTJ5ZFBERnd3YjJZM0RRM0psU1lCVENhanQ1NXViejNka2NPOWJ0NisrOGZHelkrem5wSjkrVGZGSmRIWDRuUjY5VndaRWp6VTFibkxqSWNBU0VvWC9CVXFLeTkva1Brb052NzYxZGg0MFMybVpXVmtiUHBhRFhGMkhEMXl1SmJtVnoydmswNm5EeDQwNE1McDQ3ZlQ3MTI4Y2pYdDFwM25MMTRLaGNLQ3d0ZnpmMWhxYW16a08zTDQ0RUVEK3hnYXlIU21lYnNBWDVBdUZheDFITTdaOHhldXhpWThmUFNZemE0a0crVmtaVjJIT1BtTkdtRnBidGF0bThibkxPalh4UXpzYjJkamJmbnMrWXViZCs1R25qbi81R20yVUNoODhqVDd5ZE5zZlQzZGZuWTJZMzFIMmt2NjRsMkFMMUZYQ0ZhQlFGQmV3VDUvOGZLV0hidHFhK3ZJUmpxZExpc2pNOVJ0eUtMdjUranJmZHlhMDE4UEtTa3BVeE5qVXhQaktVR0IxK0lTZDRidHk4M0w1M0s1ejErK2V2N3lWZVRacUFIOWJILzRmcDZOdGFXTWpBd1NGcUNOdnV4Z3JhbXB6WHo4SkRrbDlWTDBOZEhxVTFKU1VxWW1SbzZEN0gxSEREYzJNa1FjdEFXZFR2ZjJkSGQySEhRajlkYmxxOWZ1WnR3dmVsUGMwTkJ3NTI3RzFGbnordHZaamhqdVBXaGdmNFBlZXZoNUFuelFseHFzOWZYMTBkZmlUcCs3a1BVMCsvMi9BNmtFUWJnNERaNFE0TmZYMmtwTHN4dSs5WDhzT1RrNUx3ODNWeGZIWjg5ZlhMK1JlaVQ4Wk5HYllqNWZjUE4yK3QyTSs3MTY5T2huWnp0NXdqZ3JTM1BFSzBBcnZyQmdGUXFGSEU3OXRiaUVyYUc3WC82NzVqUkJFTEt5TXYxc2JWYjh1TGo5MXB6K2VvakdCMlovTy9YUXNSTi9Id2wvVTF6TTQvSEo4WUdvaTVlSHVEZ3REMTdVbzRjMjdoMEwwS3d2SmxpRlF1R2pKMW1wYWJlakxrYy96YzRoR3hrTWhrRnZ2Zjc5YkVmNURMT3o2U3NsMVJGclRuODlhRFRhdE1rVFI0OFlmaTArNFZyODlZejdEOHJLSzdnODNyVzRoSVRyeVI3dVE0WjVEaDNRejA2N3U1YWtLd1hvWEw2QVlPWHhlRGZ2M0QxNi9PU2p4MWx2MzVVS0JBS3kzZHpNWlBLRThRNzJBM1I2OWNTMy92YWpxcW95M3QvUHg5c3I3OW16SzFkalQ1Ky9VRlpXenVmem8yUGlyaWVuNlBUcTVlYmlOR0c4djU1T0wwbFhDdEJaZE41Z2JXaG9xSyt2Zi9qb3lhYXRPKy9lZnlCYUlGVktTc3JFcU0vQytYT0d1cnA4MUx1eDJXd3BLU201VnEvZFRFaEl1SGZ2WG5Cd01Qa3dPVGs1S3l2cm0yKytrWldWL2J4UDAxbHdPSndQcmkrVGxwWW1MeTl2YlcwdDNxaWdJRzlqYldWamJUVjMxcmNIRHg4N0hINmlwcWEycm82VGs1dVhrNXQzSlB5a3Y1L3YzSm5UTmRUVldhek8rejhWUU1mb2pMOERRcUh3YVhiT2piUmIxK0lTN21ZOEVMWDMxdE1aYkcvdjRUN0V3WDZndFBUL0c5MFRDQVRpUzZuU2FMUkdkOWE3ZlBueW1qVnJnb09EZzRLQ1dqbjBreWRQTGwyNkpBclc4K2ZQMzd0M2I4YU1HYTI4cEtxcUtqVTE5WU1mU2xWVmRlREFnYUtINzk2OUUvMnBhQ05GUlVVNU9ibUdob1lqUjQ1b2Ftb09HemFNSUFnMm0vM3UzMXR3dDZSUG56N2tSbWhvYUdwcTZvRURCMXBmc1h2anhvMjllL2Zldkhsejh4OUVSWG5Kd3U4bVR4d2ZFNWR3UGVsRzJxMDd0WFYxdFhWMVI4SlBucjl3MlcySXM3dXI4NkNCQTNEekF2aWFkYTVnYldob3lIcWFmZVI0eEswN2Q0dUszb2h1TWEybnF6Tnh2TCtyaTVOdXI1N05kcmltVHAyYWxaVWxlcWlrcEpTUWtDQjZ5T1Z5ZCszYVJhZlRUNTQ4T1hiczJEWXVDVmhYVjVlV2x1Ymw1ZFg2M1UrTGlvcFdybHdwSlNYVnluQUVsOHUxc3JJU0Q5YUFnSURxNnVxMmxDRWkrcXR3Ky9idCsvZnZtNW1aNmVucFJVZEhiOWl3b2ZVWDNycDFpN3hLZGRDZ1FRY1BIdnp6enovWHJGbnpVWWR1U3JPYlJ0QjRmeDh2ajd6OFp4Rm56OGRjaTYrdXFhbXNxanAvOFhKOFlwSlJINE5obmg3akE4WW9LV0p4UXZnYWRaWmdyYXlxeXNuTkM5djNkMkx5RFlIZ242NmNuSnhzRDIzdFdkT25qQmptSlNmWDJwZnhrSkFRVVU1ZHZIanh5Wk1uNHMvdTJMR2pyS3hzMTY1ZFM1Y3UzYjU5ZTBoSWlQaXpDUWtKOSsvZlg3eDRjYVAzakkyTjVYQTQ3dTd1YmFsL3g0NGQvZnYzYituWkpVdVdWRlJVaUxkczNyeVp6K2MzMnEycXFtcmp4bzA4SG0vMTZ0Vk5oeXowOVBUSXp2alBQLzg4YnR5NFZhdFcvZjMzMy83Ky9xTkdqUklJQkZldVhQSHc4Q0QvWnZCNHZOT25UeDg2ZEVoUlVYSDI3Tm1pYS8vNzllczNjZUxFOFBCd1oyZG5OemUzdG55dVZ0RHBkRFUxMVlGcS9RWU82UGR5N3F6OWg0NUd4OFN5S3l1cnFxdnYzWDk0Ny83RDdidkNwbjBURk9EbnE2V2xpZmtEOEZXUmNMQTJORFM4ZkZWdzgzWjZiSHhpeXMzYjlmWDFaTHVHaHZwZyt3SHVRMXc4aDdxMlpYelQydG82UER4Y1QwL1AwZEV4T1RsWlJVVkY5RlJ5Y25KNGVQakNoUXNIREJpd2JObXkxYXRYR3hzYmp4a3pSclJEWm1ibWhRc1htZ2JyK2ZQbkNZTEl5c3JLeTh0cmVrUXZMNitlUFh1S0hqNTgrTEN1cnE2bDhzckt5aHIxWi92MTY5ZG9uNWN2WC83blAvK3BxS2pZdkhtenZiMTlLeXVoYUdob2hJU0UvUFRUVHlkT25KZzhlVEtUeWN6TnpUMTU4bVJZV05nMzMzeWpwcVlXRmhiRzUvUG56NTgvZHV6WVJ1OHpmLzc4eE1URWd3Y1BEaGt5NU1TSkU4MitmMlZsWldGaFlYaDRPRG52SWpBd3NLVktSUFIwZFg1ZHZXTGE1SW5SMStLVFUxSXpIbVJ5dWR6cW1wcWR1L2VlaWJvNDFOWEYxZG1wbjExZmRHRGhLeUhKWUMwdWVYdjB4S200aE9zdlhyNFNSYXFhbXVwWTM1RytJNGJyNnZaU1ZGQm8rMFQwRXlkT0JBUUVPRG82VmxSVUtDdi9zN2pxZ3djUFZxeFk0ZUxpTW1YS0ZJSWdmSHg4c3JPejE2OWZ6Mkt4Um93WTBjcTdQWG55SkNNamc4bGtIanAwU05USTQvRUVBZ0haS3pRM054Y1AxcjE3OTM1d0tLQ1Z3NTA1YzJiejVzMXFhbW9NQmlNbUppWW1KdWJGaXhjTEZpeG9xUmM4ZlBod05wczlldlJvUHAvLzRzVUxHbzMybi8vOEp5WW1adi8rL2JXMXRVWkdScXRYcjVhV2xuN3g0Z1haMVdXeC9wbUlKaU1qczNYclZtMXQ3WWFHaHREUTBHYmZuTVBoc05sczhsbHBhZW0yQkN2SlFMLzNuQmxUL1h4SFpENTZjdnpVNlJ1cE53VUNRVkhSbXlQaEp5OUhYek0zTXhrenltZkVNRy9NaW9NdVR3TEJXbHRiOStMVnE2UEhJMDZkT1MrYU95VXRMYVhacmRzNHY5RkJFd0xVVkZVLzRXM2Z2Myt2cXFwS25zL1IwTkFnQ0NJOVBUMDRPRmhmWDMvZHVuV2lnRjYwYUZGWldkbWFOV3RldlhvMWE5YXNsanFHWko1T21EQkJ2Q2Y3L2ZmZlYxVlZpVWV0eU1jT0JZZ1VGaFp1MkxBaEpTVmwyTEJoSzFhczhQWDFKUWhpOU9qUkd6ZHVuRE5uenVEQmd4Y3NXR0JzM014VkR4TW1UQ0JIZUpzR1gyNXVMdm1IaEhUNjlPbmV2WHVMSGhvYUdwSWJLU2twelpZMGR1ellWazVldFk3QllHaDMxOUx1cnVYbDRmYjR5ZE8vOWgxTXUzbWJYVm41dnF3c09TVXRPU1Z0MDdaZGMyZE45eHJxcXFxaUlvcDdnQzZtUTRPVncrRWtwYVJGeDhRbEp0Mm9ZTFBKUm1VbEpUdmJ2bTR1VHNNOGgycDg2cW5rbXBvYURvZERCbXRGUlVXZlBuMGlJaUwrKzkvLzZ1bnAvZjc3NzN3K1h6elhGaTllM05EUXNHL2Z2c2VQSCsvY3ViUHB1K1htNXNiR3hoSUU4ZWJORy9IMjB0SlNYVjNkWmd0SVRVMHRLaXBxcWJ6aTR1S21aOHlxcTZ2Mzc5OS8vUGh4SnBQNTg4OC9qeG8xU3ZTVW5aM2RzV1BIenAwN0Z4b2FHaFFVNU8vdi8vMzMzeXNxS25JNG5JaUlDSEtmUG4zNkRCNDhtTndPRFEwbFowZmw1ZVZObno3OTZOR2o1SUJzZG5iMnpKa3p5WDBlUG53b09yL240K09qcUtoSWpwT1ltNXVycTdmTEdYd0xjOU90RzlablBuNGNFeHVmY3ZQMjAreGNQcDlmOU9iTjJuVi9IRDErMHR0amFFL3RiZ1V2WHpLWlRDYVRTZjhYdWMxZ01CZ01ocWlGM0JiOVYveFowYmJvVFZwcUVYODVuVTRYL1ZFSG9GeUhCbXR5U3RxcW4zOTcvNzZNZk1oZ01NYU5IVDBoWUd4dlBWMmx6N3UzM2Z2Mzc4a3BUV1NQVlVWRlJWVlZkZkRnd2U3dTduNStmazMzLy9iYmI0T0RnMDFNVEpwOXR5Tkhqc2pJeUF3YU5FaDhkRlVvRkw1Ky9kckJ3YUhabDBSR1JyWXlLbHBUVTJOaFlTRmViWGg0K0tsVHAycHFhanc4UEJZc1dOQ3JWK1BaOVhRNmZlellzWjZlbmx1MmJJbU1qSXlMaS92aGh4OEdEeDVNM3JHNXZyNSt4SWdSb21CdGk5VFUxQ05IamdpRlFpNlhhMjl2cjZpb3lHYXpWNjllcmErdnYyZlBubmJxUERLWkROdSsxdGFXbHRQZWw2YmZ1Ny92NEpFSG1ZOGFHaHB5Y3ZQejhwOGI2bXFYbHJ5aDBXams5d25SaHZoMjAwWlJ1L2gvRyszV2JHT2o5bytkbFFIUWRoMGFyTlUxdGZXY2V2RVdLU2twZVhrNTVtZFBLU2VETlNjbnA2eXNyS0tpb3FTa1pNaVFJVnUzYmkwdkx5ZVRxQkZ0YlczeEVkSkdwazZkYW1Sa3BLNnV2bnIxNnJkdjMycHFhcExkMk5yYTJrYlQ1c2tiWjQwZE8zYnk1TWw2TFM5T0dCa1pXVnRiSzNxWW5wNys5OTkvMjluWkxWcTB5TkxTc3BYUHBhaW91R2JOR205djc5OSsrMjN2M3IzdTd1N2s5L2R4NDhhSjd6Wi8vbnp4aDVNblQyNzZWblBuenAwN2QyNUNRc0xTcFV2SkZtVmw1VjkvL1hYeDRzVWJObXhZdFdwVksyVjhKaHFOa0phV2xwZVRVMUZSbHBHVzV0VFhrK2N0eVpuSERhSXRTV2c2NVJuZzgzVm9zSHA3dU5IcHRDc3hjVGR2MzZtc3JCSUlCSWVQbllpNmVHV3d3MEQzSVM2dXpvNXFhcDh5dWlvNjdiNSsvWHJ5WVdSa3BJeU16T0xGaTFrc2xxMnRMWVBCbUR0M3JxT2o0emZmZkVQT2F0cThlWE5RVUpDUmtWR3o3MlpvYUdob2FFaStaMnhzTERsN05DVWxoVWFqMmRyYWluYUxpb29pZXozNit2b3BLU2t0RFZtU21Fd21lWjdkeHNiRzI5dTdSNDhlelo3T1dyeDRjZmZ1M1JzMTJ0dmJSMFJFbEpXVnRYVFoySysvL2tyMnZsKytmQmtTRXJKbHk1WWVQWG9RQlBIczJiTVZLMWEwVXBXTGk4dmt5Wk9QSGoxcVpXVkZEdTlTU3lBUVBNM09UVXk2a1pCMEkvUFJZOTYvTTh6MGUrdTV1VGdaR2VpeEs4ckpVNEpDb1ZEOHY0MGVOalEwOFBsODhqS1FsdlloTjhTM0d4b2F5Qlp5bzlIKzVIKzdkKzl1YW1wSytRZUhyMXlIQnF1Y25Oem9rVDZ1ems0NWVma25JOCtjdjNoRklCQlVzTm1YbzY5ZFQwclIwZWs1MW5la3Y1K3ZxdGhrcVRZYU9uVG9uVHQzUkE4REFnS2twS1Jldm53NWZ2ejRyVnUzT2pnNE1Kbk1HemR1a01GNi9mcjFxS2lvOGVQSE4zMGYwZVFFZ2lEVTFOUUdEUm9VRVJFeGNlSkVjdmJWNE1HRHhTZHluVDkvL3ZYcjEwM2ZSQ0FRbEpXVktTb3FObnNsQXBQSk5EYzN0N0t5S2l3c0RBZ0lhTXVuR3o1OCtOcTFhMXZwWXZmbzBZTzh2SW9jTjlUVjFTWFBWbkc1M0ErKytmZmZmMy9uenAzSXlNaVJJMGRTdStUQzAremNBMGVPcGFiZEtubjdUalNnMmIyNzF2UnZnanpkWGJXMXU1T1RXeHYrSmRxbTBXaU5Hc1gvSzk3RGJkclk3TTVOMzFEMERpd1dTK1hqLzM4RGFKMEVaZ1VvS3lzTjZHYzdvSjl0OEtMdjl4NDhrbkE5NmMyYjRwcmEycWZadWVzM2J0bHo0TkRFOGY1alJvM1EwdXdtS3l2N3NldCsxdFRVc05sc0hvOG5JeU9qcDZlbnBxWjI5ZXBWQndlSEFRTUc3TnExcTdhMlZrNU9MaTR1cmsrZlBtWm1adVJMeU4reGUvZnVIVGh3SUMwdFRUUlZpeUNJNmRPbno1bzFLekl5VWs1T3JyQ3dVUFFsbXJSLy8zNXlJeXNyNjltelp4NGVIdVNsb25sNWVZR0JnU0VoSVQ0K1BxMlUydERRd09QeGZIeDgrdmJ0MjhwdU8zYnNFTjJ2dXlYejU4OG5mMURrWjVrMGFaTDRSMnNkaThYYXVuV3Jpb29LSmFrcUZBckxLOWhQczNNT0hUdVJtSlRNNS8rVHA0cUtpa2FHQnVQR2p2YnpIZGxvdXBYNFNDaEExeURKZWF6YTNiVldMdzhPR2ovMitvM1V4T3MzN3R6TDRISzVwZS9MZHZ5MU4rTDBlYmNoVHE0dVRpNk9EaCs4QXBYTlpsKzdkaTBySyt2eDQ4ZDVlWGtCQVFIMTlmWGtxMXhkWFM5ZnZyeHExYXFCQXdkdTM3NDlJeVBEeHNibTVzMmIzMzMzbmVqbHo1OC9aN1BaczJiTjZ0V3JWNzkrL2NSUFdObloyYm01dWUzY3VWTmFXcnBmdjM3T3pzN05GbkR5NU1ta3BDUXZMeS94eHN6TXpLYURkODdPem8yK3p0dloyVFY3ZWsxazM3NTlyWDk4c3RkSlRxSXFMQ3hjdjM3OXNtWEx0TFMweUpHQlAvLzg4NE12MS96L2QxZXNxYW41dEpCOVZWQklmdXUvZVR0ZDFQZlgwdXptTkhpUXE0dXprNE85c3JMU0o3d3R3QmRId2xkZTBXaTBQb1lHaGdiNm8wZjZQSHFTOWZlUjhKUzBtd0tCc09UdDI1T1JaNi9FeE9ycjZVMmROTUhMdzYyVjY2OXFhMnMzYmRwa1lXSGg3T3k4YU5FaWEydnI2T2hvTWxqZDNOd2lJaUp1Mzc3dDRPQ2dxS2o0Nk5HamQrL2VDUVFDVVYrU3orZm41K2ZMeWNuTm16ZHYzTGh4ZS9ic2FYU2RWWEJ3c0srdmIzVjE5YzgvLzl6czBhdXFxaElTRWx4ZFhSdWRXRDk3OW14VVZGU2puVStlUE5uNjhscWZ4c3pNakJ6OEpiL1ZtcHViOSs3ZG04bGtzdGxzY3BML0I5OWgxNjVkNUJodVVWRlJhV2xwSzhNT3pTcDhYWFQwZUVUMHRiaVN0KzlFa1Nvdkx6OXh2TCtmN3dnOUhaM1dyMGdHNkdJNnhWb0JOQnBOUTEzTjFkbHhpTlBnek1kUDl2OTk1TTdkak5MM1pXeDI1ZjJIbWZjZlpocm85NTQyZWFLcmk2Tm10MjVTVGE0NjE5YldUa3BLRXMrMXVybzZNb2p0N094c2JXMkZRaUdkVG8rSWlORFUxSncyYlpxRGc0Tm81aWFUeWR5NWM2ZEFJREF3TUdoYVdHRmhZVWhJQ0oxT1YxQlFXTEZpeGFKRmk4YU1HZE9vTjNmZ3dJSHE2dXJZMk5oSmt5YUp6K1JmczJaTjYwTUJueXduSjZlNHVGaEhSNmVsSFo0OWV4WVlHQ2dsSmNYbGNuVjBkTWplS3preUVCOGZUMDdJRmI5a2dDQ0lnb0tDbUpnWWN0dk16S3oxTmNCRTcxWlZYVjFZK1BwWVJPVEZTMWVyL3AyOUpDY25xOU9yMTRoaG5sT0NBcFdVMEVXRnIxR25DRllSR28xbWJXbXgrYy9mSHo1NmNqMzVSbUpTeXNOSGp3bUNlUGI4eFpwMWYvUXhOSEJ6Y1hKMWNlcG4yN2RSdklxbmFsbFpHWi9QSi90dVRDWlQ5RlZhVTFQeitmUG5tWm1aamI0ZE56dE5TaUFRUkVaRzd0eTVrOGxrN3RpeG8xZXZYc3VYTC8vOTk5L0R3OE9uVHAzcTdlMU5GcENSa1JFZUhqNXo1c3pIangvUG1qVnI1Y3FWalFZRVBxaTh2THlnb0tDVkhScXRMcGlYbHpkMzdsdzFOYldrcEtTSWlJaVJJMGV1WGJ0VzlCRjBkSFIyN2RwbFlXSHgwMDgvOFhnOGFXbnBJVU9Ha0g4Skdob2FmdnZ0dDh1WEwrdnA2YTFhdGVxLy8vMnYrTFNFZGV2V3JWNjlXaWdVc2xpc3R2UnczNWVWWFU5T0piLzQxOVRVa0kyS0N2S0RCOWtQY1hGMGRYYnFycVg1b2ZjQTZMSm9FcHhDMkRxQlFGQlZWWjN4SUhQbjdqMzNIejRpNjZUUmFBb0s4aFptcG5ObVRoL2k5UCtteDU4NWMwWWdFRWhMUzErN2R1MzI3ZHZyMXEzYnVIRmpvL2ZrY3JuVjFkV2lFelV6Wjg1c2REMW9hR2pvNmRPbjE2MWJ0MzM3OXJ5OHZFR0RCcTFaczRiczhRa0VncE1uVCs3ZHU3ZXlzbEpSVVhINTh1VUdCZ2JmZmZlZHRyYjJ3WU1IYTJ0clY2MWFsWnFhcXFPalkycHFldTNhdGJGang0cm1acEhUZmZoOFBwL1BWMU5UOC9Ed0lEdUo0bXZCdEdMNDhPRy8vZlliT1YwM01EQlFXbHI2OE9IRDU4NmQyN1ZybDVtWm1aT1RVN2R1M2FTa3BCZ01odWdpSlI2UHgrZnplVHdldWRHM2I5KzdkKzl1MmJKbHhvd1pVNmRPWGJCZ3djT0hEd2NNR0dCcmE2dW1wc1ppc2NqTG44aXJrcmhjYm4xOWZYMTlQYmt4YnR3NFJiSEZVeXJZbGVFblQ0V2ZqSHhmVmk3NjFpOHJLK003d3VmYnFaTjZhbXZqV3o5QTUrcXhpbU13R0NvcXltNURuSndHMnllbjNOeC82RWhPYmw1NUJidXFxdnJtN2ZTYnQ5T3RMUzIrblRwNVlIODd6VzRhZERyOXpwMDc1SmRaRlJXVlpjdVcyZGpZekprenAvVkR0TFF3Q3B2TnJxbXArZjMzMzhuRnBFWDFCQVVGK2ZyNm5qcDFLaTB0VFY5ZmYvcjA2ZDI2ZGR1NGNTT1R5VlJTVXRxeFkwZGlZdUxseTVlenNyS2twYVhQbkRsejVzeVpwbTgrZCs1YzhZZXpaczFxZlFVLzhjbi9LaW9xNnVycTY5YXRVMWRYbnpGamhvV0ZSVVJFUkZSVVZGbFpXZXN6QjA2Y09HRnJhK3ZtNWpadjNqd2FqYlozNzk0TEZ5NWN2WHIxN05temJEYWJ5K1cyOVBmVjBORHcyMisvSlVkWENsOFhYYm9TRXg0UldmcnZ0WE5TVWxKYW10MWNYWnltVFo2bzM3dkY2eU1BdmphZHQ4ZmFpRkFvdkp2eElPbEc2dFhZK0x6OFoyUWprOGswTWVyajZERFF5OFBkeXNLY3dXQUlCQUpLcnM0VUNBUWZ2Q0RucjcvK0Nnd01WRk5UYS9aWjhkbnA1QlIzc2wxR1JvWjg1NGFHQmk2WFMvWVQyMTVZZFhXMWdvSkNzMC94L2tYTzNLVFJhR1RIbkU2bmsyZk0rSHgrUzlmZENnUUNIbzlISnF6NFpmVk1Kck9DelU2K2tScVhtSngyNi9hNzB2ZmsvZ3dHdzluUndjTjlpTE9qZzg1SG51a0M2UEsrbUdBbDhYaDhkbVhsdGJpRTNmdi9MaWdvSkJ0cE5KcUtpdktBZm5aTEZuNW4zTWRRMGpWMkhVS2g4R1RrMmFNbklsNitLcWl0L1dlMVdSYVQ2ZVRvOE1QOHVYcDZPaCsxcmlQQTErTUxDMVlSRG9jVGRlbkt5Y2h6ZWMrZVZWWDlieldOb1c1RHBnUUZtcHVacXFvbzQ5YXRuNGJINHhXOUtiNmVuTHJ2NzhPRnIvOVpzb3ZKWkhiVFVMZnRhejE5eWlRN0cydmtLVUFydnRSZ0pWVlZWYWZmeTdoK0l6VXVJZW4xdjZ2MlNVdEw5N1d5ZEhGeThQWndOOUR2alFob3U3cTZ1dHZwOTY3Rko2YWszU29vS0JRMk5KQXJWRmxiV25oNXVMczREVFl4Nm9NK3Y2RkZBQUFINEVsRVFWU2ZKOEFIZmRuQlN1Snl1Y1VsYnk5Y2p0NjFaMzlkSFlkc1pER1pLaXJLUTEySHpKazFUYS9sS1o5QUVncUZDVW5KZXc4Y3pzck9FZjhHWU52WCtydlozOXJaOWxWU1ZNUXFVQUJ0MUJXQ1ZhUzJydTVFeE9rck1iSFpPWG5WLzA2dWxKZVQ4L1owRC9BYmJkVEhRSldpSytLN0RCNlA5N3JveloyN0djZE9SRHg4OUw4N01QYnNvVzF0WlRFaFlLelQ0RUhvb2dKOHJDNFZyS1IzNzBwdnB0OU51SjU4UFNtbC9OOGJCOGpKeVE0YTJOL1YyY25iY3lodWVVL0tlSkFaRXh1ZmRDTTFKeStQdkRNdW5VN3ZZNkR2NWVFK3hIbXdoWmxwRys4VERnQ05kTUZnSmZGNC9MZnYzaDA2ZXZ6b2lWTWN6ai9qQXd3R1ExWldadUw0Z05uVHA2aXJOejlOcXNzVENvWHA5KzV2M2hiNjhQSGordnIveldEdDJVTjc2US9mdXcxeFZwQ1hSNzhlNEhOMDJXQVZLU3dxT240eU1pRXA1ZVdyVjZJUldBMTFOVC9ma1Q3ZW5nWUd2UlhrNWIrR2I3c0NnYURrN2J2c25Od2p4eU5TVW0rSzFweldVRmN6TlRIMjh4M3A1OXZhYldzQm9PMjZmckNTQ2d1TGJxU2x4Y1pmVDA1SkUyV0t1cnFhNHlCN2QxZG5WMmVuejd6cFZpZjM3UG1McTdIeENkZVRNeDVraXRhYzF1NnU1ZUh1T3RUVnhkYkdXckdGaXc0QTRCTjhMY0ZLcXVkeVg3OStzMzNYN2lzeGNmL1gzcjMvTkhYR2NSd0hXNUNsVUoxUU55NEZsVkoxNDlLV3F3S0NpR0NseXQxTGxFeW5NM0hPeGN4bCt3OWNvaHZiTkpLTXhDV0x5NXlTZ1pYYVdxeUFJQ2hZT2dSS3JTSVhMeFNJSUZkcHdiYjc0WXdUdkFRdlBBV0J6K3ZISjZTY2x1Uk5lMDdQOTZIdkFYVndZQzdtY0Q3L2JHZlc5aTBUYkFnNFF6VzN0QjdQeVZVVmx4cE5KbnFleTJLTzI5NWRXUm1weWM3T3JObjNsQUdtM2R3S0s4VnF0VFpvZGFmUG5GTnIvbTF2TjR5TUZkYlR3MzNIdHN6WTZLaWxTMzNtdnpTY2NHYnA3dW5SMzJuS2w4cmt5aUxqMkFhT0N4YXdsM2g3SjRrVE1sSTJMMXk0NEhXUEFRRHZhQzZHbGRiYzJsWlZyWllwbE5WcURmVUIyZDdlM3Yzamo0S0ZncVFONnlOWFI3QnNNSlRhcHF4VzY4TjJnK0xTNVpLeThnYXRibWhzYTFobkZpdEpuSkFZSHljU0N0Z3UrTlFQWUZ0ek9xeFVpVXdtVTcxVzk5T3ZKMi9XYU9oWHc5SFJrYy96L1hMZm5nMEo2NmI3R04vVXdNREF5ZDlPRlZ5UTlUenBwVStrdXJnNFo2YWw3UDlpTjl1RjdURHBiY1lCNEUzTTliRFNMQlpMbGJxbTRMeXNwdlpXYTl0OSttVlp3ZmZMVEV1T0NBLzFYYnJrNWMwTDNnZTlmWDNheHR0RlYwcitLYmp3ZFBqL1VTa3NGb3ZQV3hZVEhaV1J1dG5EL2NYOXRBSEFwaERXNTR5TWp0NjllNi9pUmxYaHhVczYvUjNxYWcrRHdWamk0eDBhTEV6ZG5DUVVCREhmanpzN3JWWnJiMitmb2tpbEtybGEzNkR0N25sQ3JYL2c1TFFtT2xJaVRnZ1dDakRHSDJCYUlLeXY5dXpaczZ2bGxVZU9acmUwdFkxZkR3cncvLzd3MStHaElkUDcxZGRoby9IMFgyZHpmLytqWjZ5bjFEOEF5Y2JFYnc0ZTRIcDVUT094QVFEQ09oR3oyVngwcGFSUXJyeFZWMi9vNktRV0dReEdlR2h3Um1weVVLQS8xOU5qS3IrdU5EUTBkS2ZwWHRtMXlyTjVCUjFkWGRTaWd3T1Q1N3RzVlhqWXRveFVudThydGtRRWdDbUdzTDdlNE5CUW8wNWZjZjNHK1VMNWc0ZVBxRVVtazdsaU9UOHlJaXd0V2VKbisrbmFvNk9qbDR0TGxhcmlHazF0dTZHRFduUjBjQWdMRFphSUUwTkVBaDl2THFaUEFid25FTmEzWURLWjh2S2x4M055SDNkM2oxK1BYeHY3N2FFRGZqeGZXNXdmR0JrWlVSU3BqbVlmcDk4eVU4S0NoZDhkUGlRU0JCTC9qUUF3U1Fqcld4c2NISkxLNU1yTHhUcTlmdndsbzNWcll6WWxiUWo0ZE9WaURtZnlRMHlNUmxOclcxdTFXdk4zWHI3K2JoUDFaMkl3R0Z3dnp4Q1JZRXQ2YW9oSVFPTFpBQUI1Q09zNzZoOFkxTjNXRjVlVzVlVkxlL3Y2cUVVbnAvbDhIaTg2Y2xWbVdySTMxK3ZkSHRsc05wZFgzSkRLTG1wcTYrZ3pEL2IyOWtFQi9wbnB5YUVpb1RlWDYraElZTU5FQUxBUmhIV3luZzRQNStTZSt2UE11ZjcrQVhyUnljbHBhM3JLd2YzN0ZpMzY4TTBmeW1LeDNGUnJmdmp4NS9FenArM3M3SmI3OFE0ZittcGQ3SnE1TUlVTFlCWkFXTW5vN09xU3laV2w1UlVOamJxK3ZuNXEwWm5GRWlmR3g4ZkZpb0lDSnhqL2FqYWJtNXBicXRVMTBrSkZiVjA5OWVYWmVmUG1jYjA4aFVHQktaczJob2VGelBUWkJRQnpDc0pLMHVQdW52b0dyYUpJSlZNb3g0OCs0Zk44RStMamtpVmlOOWZuTmkrd1dDeTM2clg1NXk5VTEyaGFXKy9UOHd4OXVGNlo2U2xScXlPVzgvMlFWSUFaQjJHMUNVTkg1N0ZmVHNnVlJmVG9MRHM3T3pjMzE3MjdzblpuN2FEdTJYL3c4TkdSWTltcTRxdjBmZjNVak5UOSsvYnMzSlk1VFFjT0FBUWdyRGJVM05JcWxjbXZWVlpwRzNWMFlWMWRGOFd2alRGMGRKWmRxNlIva3VQbUZ1RC9pVVNjR0JjVHhXYXpwKytRQVlBQWhOVzJMQlpMdThGUVc5Y2dMWlNYVlZ3ZkhmY0dsc0xodUtaSU5zYkZ4cXhjd1dlN3pPWmREQURtRG9SMTZqUm9kZGtuY3FwdXFvMUdFNVBKWkxzNDc5eStkZSt1TEJacmhrMTlCWUNKSWF4VHJiYXVYcTVVZWJxN0o0blh2M0F0Q3dCbUI0UVZBSUF3YkI4UEFFQVl3Z29BUUJqQ0NnQkFHTUlLQUVBWXdnb0FRQmpDQ2dCQUdNSUtBRUFZd2dvQVFCakNDZ0JBR01JS0FFQVl3Z29BUUJqQ0NnQkFHTUlLQUVBWXdnb0FRQmpDQ2dCQUdNSUtBRUFZd2dvQVFCakNDZ0JBR01JS0FFQVl3Z29BUUJqQ0NnQkFHTUlLQUVBWXdnb0FRQmpDQ2dCQUdNSUtBRUFZd2dvQVFCakNDZ0JBR01JS0FFQVl3Z29BUUJqQ0NnQkFHTUlLQUVBWXdnb0FRQmpDQ2dCQUdNSUtBRURZZjMvY3RKRWt2WWwrQUFBQUFFbEZUa1N1UW1DQyIsCgkiVGhlbWUiIDogIiIsCgkiVHlwZSIgOiAiZmxvdyIsCgkiVXNlcklkIiA6ICI5MDg3OTM4MzQiLAoJIlZlcnNpb24iIDogIjIwIgp9Cg==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1129</Words>
  <Application>WPS 演示</Application>
  <PresentationFormat>Widescreen</PresentationFormat>
  <Paragraphs>80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7" baseType="lpstr">
      <vt:lpstr>Arial</vt:lpstr>
      <vt:lpstr>SimSun</vt:lpstr>
      <vt:lpstr>Wingdings</vt:lpstr>
      <vt:lpstr>汉仪书宋二KW</vt:lpstr>
      <vt:lpstr>Microsoft YaHei</vt:lpstr>
      <vt:lpstr>汉仪旗黑</vt:lpstr>
      <vt:lpstr>Times New Roman</vt:lpstr>
      <vt:lpstr>SimHei</vt:lpstr>
      <vt:lpstr>汉仪中黑KW</vt:lpstr>
      <vt:lpstr>Tahoma</vt:lpstr>
      <vt:lpstr>Century Gothic</vt:lpstr>
      <vt:lpstr>苹方-简</vt:lpstr>
      <vt:lpstr>SimSun</vt:lpstr>
      <vt:lpstr>Arial Unicode MS</vt:lpstr>
      <vt:lpstr>幼圆</vt:lpstr>
      <vt:lpstr>Microsoft YaHei</vt:lpstr>
      <vt:lpstr>SimHei</vt:lpstr>
      <vt:lpstr>Wingdings</vt:lpstr>
      <vt:lpstr>汉仪正圆-75W</vt:lpstr>
      <vt:lpstr>汉仪正圆 55简</vt:lpstr>
      <vt:lpstr>BatangChe</vt:lpstr>
      <vt:lpstr>Apple SD Gothic Neo</vt:lpstr>
      <vt:lpstr>DejaVuMathTeXGyre</vt:lpstr>
      <vt:lpstr>DejaVu Math TeX Gyre</vt:lpstr>
      <vt:lpstr>Calibri</vt:lpstr>
      <vt:lpstr>Helvetica Neue</vt:lpstr>
      <vt:lpstr>Calibri</vt:lpstr>
      <vt:lpstr>SimSun</vt:lpstr>
      <vt:lpstr>Default Design</vt:lpstr>
      <vt:lpstr>PowerPoint 演示文稿</vt:lpstr>
      <vt:lpstr>核心问题</vt:lpstr>
      <vt:lpstr>不同边界条件的影响</vt:lpstr>
      <vt:lpstr>公式修正</vt:lpstr>
      <vt:lpstr>PowerPoint 演示文稿</vt:lpstr>
      <vt:lpstr>PowerPoint 演示文稿</vt:lpstr>
      <vt:lpstr>子结构法</vt:lpstr>
      <vt:lpstr>PowerPoint 演示文稿</vt:lpstr>
    </vt:vector>
  </TitlesOfParts>
  <Company>Guild Desing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 PowerTemplate</dc:title>
  <dc:creator>www.themegallery.com</dc:creator>
  <cp:lastModifiedBy>酸菜馅饺子</cp:lastModifiedBy>
  <cp:revision>2170</cp:revision>
  <dcterms:created xsi:type="dcterms:W3CDTF">2026-04-02T09:27:36Z</dcterms:created>
  <dcterms:modified xsi:type="dcterms:W3CDTF">2026-04-02T09:27:36Z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81BED8106B4DB7BE062FCE699721D4BC_43</vt:lpwstr>
  </property>
  <property fmtid="{D5CDD505-2E9C-101B-9397-08002B2CF9AE}" pid="3" name="KSOProductBuildVer">
    <vt:lpwstr>2052-12.1.25205.25205</vt:lpwstr>
  </property>
</Properties>
</file>