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1017" r:id="rId3"/>
    <p:sldId id="1018" r:id="rId11"/>
    <p:sldId id="1019" r:id="rId10"/>
    <p:sldId id="1020" r:id="rId9"/>
    <p:sldId id="1021" r:id="rId8"/>
    <p:sldId id="1022" r:id="rId7"/>
    <p:sldId id="1023" r:id="rId6"/>
    <p:sldId id="1024" r:id="rId5"/>
    <p:sldId id="1025" r:id="rId18"/>
    <p:sldId id="1026" r:id="rId19"/>
    <p:sldId id="1027" r:id="rId20"/>
    <p:sldId id="1028" r:id="rId21"/>
    <p:sldId id="1029" r:id="rId22"/>
    <p:sldId id="1030" r:id="rId23"/>
  </p:sldIdLst>
  <p:sldSz cx="12192000" cy="6858000"/>
  <p:notesSz cx="6858000" cy="9144000"/>
  <p:embeddedFontLst>
    <p:embeddedFont>
      <p:font typeface="DejaVu Math TeX Gyre" panose="02000503000000000000" charset="0"/>
      <p:regular r:id="rId17"/>
    </p:embeddedFont>
  </p:embeddedFontLst>
  <p:defaultTextStyle>
    <a:defPPr>
      <a:defRPr lang="en-US"/>
    </a:defPPr>
    <a:lvl1pPr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5pPr>
    <a:lvl6pPr marL="2286000" algn="l" defTabSz="914400" rtl="0" eaLnBrk="1" latinLnBrk="0" hangingPunct="1">
      <a:defRPr kern="1200">
        <a:solidFill>
          <a:schemeClr val="tx1"/>
        </a:solidFill>
        <a:latin typeface="Arial" panose="020B0604020202090204" pitchFamily="34" charset="0"/>
        <a:ea typeface="SimSun" pitchFamily="2" charset="-122"/>
        <a:cs typeface="+mn-cs"/>
      </a:defRPr>
    </a:lvl6pPr>
    <a:lvl7pPr marL="2743200" algn="l" defTabSz="914400" rtl="0" eaLnBrk="1" latinLnBrk="0" hangingPunct="1">
      <a:defRPr kern="1200">
        <a:solidFill>
          <a:schemeClr val="tx1"/>
        </a:solidFill>
        <a:latin typeface="Arial" panose="020B0604020202090204" pitchFamily="34" charset="0"/>
        <a:ea typeface="SimSun" pitchFamily="2" charset="-122"/>
        <a:cs typeface="+mn-cs"/>
      </a:defRPr>
    </a:lvl7pPr>
    <a:lvl8pPr marL="3200400" algn="l" defTabSz="914400" rtl="0" eaLnBrk="1" latinLnBrk="0" hangingPunct="1">
      <a:defRPr kern="1200">
        <a:solidFill>
          <a:schemeClr val="tx1"/>
        </a:solidFill>
        <a:latin typeface="Arial" panose="020B0604020202090204" pitchFamily="34" charset="0"/>
        <a:ea typeface="SimSun" pitchFamily="2" charset="-122"/>
        <a:cs typeface="+mn-cs"/>
      </a:defRPr>
    </a:lvl8pPr>
    <a:lvl9pPr marL="3657600" algn="l" defTabSz="914400" rtl="0" eaLnBrk="1" latinLnBrk="0" hangingPunct="1">
      <a:defRPr kern="1200">
        <a:solidFill>
          <a:schemeClr val="tx1"/>
        </a:solidFill>
        <a:latin typeface="Arial" panose="020B0604020202090204" pitchFamily="34" charset="0"/>
        <a:ea typeface="SimSun" pitchFamily="2" charset="-122"/>
        <a:cs typeface="+mn-cs"/>
      </a:defRPr>
    </a:lvl9pPr>
  </p:defaultTextStyle>
  <p:extLst>
    <p:ext uri="{EFAFB233-063F-42B5-8137-9DF3F51BA10A}">
      <p15:sldGuideLst xmlns:p15="http://schemas.microsoft.com/office/powerpoint/2012/main">
        <p15:guide id="1" orient="horz" pos="2229"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CC"/>
    <a:srgbClr val="0000FF"/>
    <a:srgbClr val="8AF38A"/>
    <a:srgbClr val="FBF0DD"/>
    <a:srgbClr val="00CC00"/>
    <a:srgbClr val="008000"/>
    <a:srgbClr val="DDFADD"/>
    <a:srgbClr val="B9F5B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564" autoAdjust="0"/>
    <p:restoredTop sz="87347" autoAdjust="0"/>
  </p:normalViewPr>
  <p:slideViewPr>
    <p:cSldViewPr showGuides="1">
      <p:cViewPr varScale="1">
        <p:scale>
          <a:sx n="107" d="100"/>
          <a:sy n="107" d="100"/>
        </p:scale>
        <p:origin x="864" y="160"/>
      </p:cViewPr>
      <p:guideLst>
        <p:guide orient="horz" pos="2229"/>
        <p:guide pos="3840"/>
      </p:guideLst>
    </p:cSldViewPr>
  </p:slideViewPr>
  <p:notesTextViewPr>
    <p:cViewPr>
      <p:scale>
        <a:sx n="100" d="100"/>
        <a:sy n="100" d="100"/>
      </p:scale>
      <p:origin x="0" y="0"/>
    </p:cViewPr>
  </p:notesTextViewPr>
  <p:sorterViewPr>
    <p:cViewPr varScale="1">
      <p:scale>
        <a:sx n="100" d="100"/>
        <a:sy n="100" d="100"/>
      </p:scale>
      <p:origin x="0" y="-26331"/>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3.xml"/><Relationship Id="rId11" Type="http://schemas.openxmlformats.org/officeDocument/2006/relationships/slide" Target="slides/slide2.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customXmlProps" Target="../customXml/itemProps1.xml"/><Relationship Id="rId16" Type="http://schemas.openxmlformats.org/officeDocument/2006/relationships/customXml" Target="../customXml/item1.xml"/><Relationship Id="rId17" Type="http://schemas.openxmlformats.org/officeDocument/2006/relationships/font" Target="fonts/font1.fntdata"/><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i="0">
                <a:solidFill>
                  <a:srgbClr val="262626"/>
                </a:solidFill>
                <a:latin typeface="Arial"/>
                <a:ea typeface="Microsoft YaHei"/>
              </a:rPr>
              <a:t>一次分析的耗时（s）</a:t>
            </a:r>
          </a:p>
        </c:rich>
      </c:tx>
      <c:layout/>
      <c:overlay val="0"/>
    </c:title>
    <c:autoTitleDeleted val="0"/>
    <c:plotArea>
      <c:barChart>
        <c:barDir val="col"/>
        <c:grouping val="clustered"/>
        <c:ser>
          <c:idx val="0"/>
          <c:order val="0"/>
          <c:tx>
            <c:strRef>
              <c:f>Sheet1!$B$1</c:f>
              <c:strCache>
                <c:ptCount val="1"/>
                <c:pt idx="0">
                  <c:v>整体点阵直接求解（16 线程）</c:v>
                </c:pt>
              </c:strCache>
            </c:strRef>
          </c:tx>
          <c:spPr>
            <a:solidFill>
              <a:srgbClr val="8A94A0"/>
            </a:solidFill>
          </c:spPr>
          <c:cat>
            <c:strRef>
              <c:f>Sheet1!$A$2:$A$3</c:f>
              <c:strCache>
                <c:ptCount val="2"/>
                <c:pt idx="0">
                  <c:v>八胞元块体</c:v>
                </c:pt>
                <c:pt idx="1">
                  <c:v>八胞元单层</c:v>
                </c:pt>
              </c:strCache>
            </c:strRef>
          </c:cat>
          <c:val>
            <c:numRef>
              <c:f>Sheet1!$B$2:$B$3</c:f>
              <c:numCache>
                <c:formatCode>General</c:formatCode>
                <c:ptCount val="2"/>
                <c:pt idx="0">
                  <c:v>868</c:v>
                </c:pt>
                <c:pt idx="1">
                  <c:v>1042</c:v>
                </c:pt>
              </c:numCache>
            </c:numRef>
          </c:val>
        </c:ser>
        <c:ser>
          <c:idx val="1"/>
          <c:order val="1"/>
          <c:tx>
            <c:strRef>
              <c:f>Sheet1!$C$1</c:f>
              <c:strCache>
                <c:ptCount val="1"/>
                <c:pt idx="0">
                  <c:v>常规精确静力凝聚（16 线程）</c:v>
                </c:pt>
              </c:strCache>
            </c:strRef>
          </c:tx>
          <c:spPr>
            <a:solidFill>
              <a:srgbClr val="C9CFD6"/>
            </a:solidFill>
          </c:spPr>
          <c:cat>
            <c:strRef>
              <c:f>Sheet1!$A$2:$A$3</c:f>
              <c:strCache>
                <c:ptCount val="2"/>
                <c:pt idx="0">
                  <c:v>八胞元块体</c:v>
                </c:pt>
                <c:pt idx="1">
                  <c:v>八胞元单层</c:v>
                </c:pt>
              </c:strCache>
            </c:strRef>
          </c:cat>
          <c:val>
            <c:numRef>
              <c:f>Sheet1!$C$2:$C$3</c:f>
              <c:numCache>
                <c:formatCode>General</c:formatCode>
                <c:ptCount val="2"/>
                <c:pt idx="0">
                  <c:v>950</c:v>
                </c:pt>
                <c:pt idx="1">
                  <c:v>1218</c:v>
                </c:pt>
              </c:numCache>
            </c:numRef>
          </c:val>
        </c:ser>
        <c:ser>
          <c:idx val="2"/>
          <c:order val="2"/>
          <c:tx>
            <c:strRef>
              <c:f>Sheet1!$D$1</c:f>
              <c:strCache>
                <c:ptCount val="1"/>
                <c:pt idx="0">
                  <c:v>NICE（一块 GPU，含灵敏度）</c:v>
                </c:pt>
              </c:strCache>
            </c:strRef>
          </c:tx>
          <c:spPr>
            <a:solidFill>
              <a:srgbClr val="C00000"/>
            </a:solidFill>
          </c:spPr>
          <c:cat>
            <c:strRef>
              <c:f>Sheet1!$A$2:$A$3</c:f>
              <c:strCache>
                <c:ptCount val="2"/>
                <c:pt idx="0">
                  <c:v>八胞元块体</c:v>
                </c:pt>
                <c:pt idx="1">
                  <c:v>八胞元单层</c:v>
                </c:pt>
              </c:strCache>
            </c:strRef>
          </c:cat>
          <c:val>
            <c:numRef>
              <c:f>Sheet1!$D$2:$D$3</c:f>
              <c:numCache>
                <c:formatCode>General</c:formatCode>
                <c:ptCount val="2"/>
                <c:pt idx="0">
                  <c:v>79.2</c:v>
                </c:pt>
                <c:pt idx="1">
                  <c:v>105.5</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400.0"/>
        </c:scaling>
        <c:delete val="0"/>
        <c:axPos val="l"/>
        <c:majorGridlines>
          <c:spPr>
            <a:ln>
              <a:solidFill>
                <a:srgbClr val="E5E7EB"/>
              </a:solidFill>
            </a:ln>
          </c:spPr>
        </c:majorGridlines>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b="0">
                <a:latin typeface="Arial" panose="020B0604020202090204" pitchFamily="34" charset="0"/>
                <a:ea typeface="+mn-ea"/>
              </a:defRPr>
            </a:lvl1pPr>
          </a:lstStyle>
          <a:p>
            <a:pPr>
              <a:defRPr/>
            </a:pPr>
            <a:endParaRPr lang="en-US" altLang="zh-CN"/>
          </a:p>
        </p:txBody>
      </p:sp>
      <p:sp>
        <p:nvSpPr>
          <p:cNvPr id="32771"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b="0">
                <a:latin typeface="Arial" panose="020B0604020202090204" pitchFamily="34" charset="0"/>
                <a:ea typeface="+mn-ea"/>
              </a:defRPr>
            </a:lvl1pPr>
          </a:lstStyle>
          <a:p>
            <a:pPr>
              <a:defRPr/>
            </a:pPr>
            <a:endParaRPr lang="en-US" altLang="zh-CN"/>
          </a:p>
        </p:txBody>
      </p:sp>
      <p:sp>
        <p:nvSpPr>
          <p:cNvPr id="3076"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32773"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en-US" altLang="zh-CN" noProof="0"/>
              <a:t>Click to edit Master text styles</a:t>
            </a:r>
            <a:endParaRPr lang="en-US" altLang="zh-CN" noProof="0"/>
          </a:p>
          <a:p>
            <a:pPr lvl="1"/>
            <a:r>
              <a:rPr lang="en-US" altLang="zh-CN" noProof="0"/>
              <a:t>Second level</a:t>
            </a:r>
            <a:endParaRPr lang="en-US" altLang="zh-CN" noProof="0"/>
          </a:p>
          <a:p>
            <a:pPr lvl="2"/>
            <a:r>
              <a:rPr lang="en-US" altLang="zh-CN" noProof="0"/>
              <a:t>Third level</a:t>
            </a:r>
            <a:endParaRPr lang="en-US" altLang="zh-CN" noProof="0"/>
          </a:p>
          <a:p>
            <a:pPr lvl="3"/>
            <a:r>
              <a:rPr lang="en-US" altLang="zh-CN" noProof="0"/>
              <a:t>Fourth level</a:t>
            </a:r>
            <a:endParaRPr lang="en-US" altLang="zh-CN" noProof="0"/>
          </a:p>
          <a:p>
            <a:pPr lvl="4"/>
            <a:r>
              <a:rPr lang="en-US" altLang="zh-CN" noProof="0"/>
              <a:t>Fifth level</a:t>
            </a:r>
            <a:endParaRPr lang="en-US" altLang="zh-CN" noProof="0"/>
          </a:p>
        </p:txBody>
      </p:sp>
      <p:sp>
        <p:nvSpPr>
          <p:cNvPr id="32774"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b="0">
                <a:latin typeface="Arial" panose="020B0604020202090204" pitchFamily="34" charset="0"/>
                <a:ea typeface="+mn-ea"/>
              </a:defRPr>
            </a:lvl1pPr>
          </a:lstStyle>
          <a:p>
            <a:pPr>
              <a:defRPr/>
            </a:pPr>
            <a:endParaRPr lang="en-US" altLang="zh-CN"/>
          </a:p>
        </p:txBody>
      </p:sp>
      <p:sp>
        <p:nvSpPr>
          <p:cNvPr id="32775"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vl1pPr>
          </a:lstStyle>
          <a:p>
            <a:pPr>
              <a:defRPr/>
            </a:pPr>
            <a:fld id="{B8A8E8E4-9E6C-4A57-865F-D85E807DFE7B}" type="slidenum">
              <a:rPr lang="en-US" altLang="zh-CN"/>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ChangeArrowheads="1" noTextEdit="1"/>
          </p:cNvSpPr>
          <p:nvPr>
            <p:ph type="sldImg"/>
          </p:nvPr>
        </p:nvSpPr>
        <p:spPr bwMode="auto">
          <a:xfrm>
            <a:off x="381000" y="685800"/>
            <a:ext cx="6096000" cy="3429000"/>
          </a:xfrm>
          <a:noFill/>
          <a:ln>
            <a:solidFill>
              <a:srgbClr val="000000"/>
            </a:solidFill>
            <a:miter lim="800000"/>
          </a:ln>
        </p:spPr>
      </p:sp>
      <p:sp>
        <p:nvSpPr>
          <p:cNvPr id="20483" name="Notes Placeholder 2"/>
          <p:cNvSpPr>
            <a:spLocks noGrp="1" noChangeArrowheads="1"/>
          </p:cNvSpPr>
          <p:nvPr>
            <p:ph type="body" idx="1"/>
          </p:nvPr>
        </p:nvSpPr>
        <p:spPr bwMode="auto">
          <a:noFill/>
        </p:spPr>
        <p:txBody>
          <a:bodyPr wrap="square" numCol="1" anchor="t" anchorCtr="0" compatLnSpc="1"/>
          <a:lstStyle/>
          <a:p>
            <a:r>
              <a:t>各位老师、同学好。今天用十分钟汇报 P1：带平衡校正的神经初始化静力凝聚，简称 NICE，以及这一方法在切割 TPMS 点阵厚度设计中的应用。</a:t>
            </a:r>
          </a:p>
        </p:txBody>
      </p:sp>
      <p:sp>
        <p:nvSpPr>
          <p:cNvPr id="20484" name="Slide Number Placeholder 3"/>
          <p:cNvSpPr>
            <a:spLocks noGrp="1" noChangeArrowheads="1"/>
          </p:cNvSpPr>
          <p:nvPr>
            <p:ph type="sldNum" sz="quarter" idx="5"/>
          </p:nvPr>
        </p:nvSpPr>
        <p:spPr bwMode="auto">
          <a:noFill/>
          <a:ln>
            <a:miter lim="800000"/>
          </a:ln>
        </p:spPr>
        <p:txBody>
          <a:bodyPr/>
          <a:lstStyle/>
          <a:p>
            <a:fld id="{6312656B-DCF6-4E74-B3C7-059311E4196A}" type="slidenum">
              <a:rPr lang="en-US" altLang="en-US" smtClean="0"/>
            </a:fld>
            <a:endParaRPr lang="en-US" alt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研究对象是按零件外形切割的 TPMS 点阵，左图的点阵在切割面上固支，支撑由切割胞元承担。厚度设计每次迭代都要重新分析全部胞元。均匀化在切割、无尺度分离时不准，后面的固支板上把初始设计的柔度低估了 27%；细尺度精确分析准确，但八胞元点阵分析一次就要 14 到 20 分钟。切割面上的支撑和载荷作用在切割平面单元的全部节点上，这些自由度须全部保留，每个胞元有两千多到四万多个；组内的学习子结构以少量边界自由度换取规模，这里的要求不同。所以本文保留静力凝聚的框架和全部主自由度，只近似内部位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离散采用稳定化切割有限元。左边是二维示意，背景网格固定，实际每轴 32 个 Q2 单元。与材料相交的单元为激活单元；材料边界不需要贴体网格，只决定哪些单元激活、在哪里积分。积分在单元的材料部分上进行，用子胞元细分和裁剪四面体计算；只含少量材料的单元由 ghost 罚项稳定。主自由度有两类：胞元边界面上的节点（蓝点）和切割平面单元的全部节点（棕点）；其余为内部自由度，约为主自由度的六倍。厚度或切割改变时只重算积分，不重新划分网格；右图是四个验证胞元。</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保留全部主自由度，只近似内部位移，分三步。第一步，网络以胞元几何为输入，由主自由度位移预测内部位移，对位移是线性的。第二步，主自由度位移不变，施加一次固定的两重网格修正：八步 Chebyshev 光滑、Q1 粗网格校正、再八步光滑，减小网络遗留的内部不平衡力，修正不含可训练参数。第三步，凝聚刚度矩阵由修正后位移场的应变能计算。装配方程组用预条件共轭梯度法求解，只需要矩阵–向量乘积，所以不分解内部刚度矩阵，也不形成稠密的凝聚刚度矩阵。设计迭代中网络参数不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网络逼近精确位移恢复的内部部分。难点是主自由度有两千多到四万多个，并且随切割变化，不能给每个自由度设一个输出。网络分两支：几何分支是非线性的，由单元矩和节点指标算出各运算的系数，每个几何只算一次；位移分支对主自由度位移线性，把位移提升为 32 个通道，在 27 节点的模板上做局部交互，再经过每轴 65、33、17、9 的 U 形多层网格，最后转换为内部位移。刚体运动绕过网络，主自由度位移在输出端重新赋值，这两项由构造保证。权重不对应具体自由度，所以约 60 万参数的同一个网络适用于所有主自由度集合。训练损失由修正后的算子计算，包括能量和灵敏度两项。</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这一页讲性质和精度。凝聚刚度矩阵由应变能计算，只要位移恢复在主自由度上等于给定位移、精确再现刚体运动，就有经典的 Ritz 恒等式：近似值减精确值等于内部误差的能量，半正定。由此得到三点：可组装，对任意网络参数都对称半正定；可改进，修正不增大误差，部署时还能增加修正步数；可追溯，柔度误差不超过按应变能占比加权的能量误差 β，灵敏度误差含一阶项，所以两者分别检验。下面的误差都相对同一离散模型的精确静力凝聚：单个胞元平均能量误差 0.074%，基础网络只加修正就从 6.89% 降到 0.0965%；两胞元装配 32 种构型，柔度不超过 0.27%，灵敏度不超过 1.49%；两个八胞元点阵的胞元都没有参与训练，柔度误差低于 0.015%，梯度误差不超过 0.09%。最右边的例子中柔度误差只有 0.000073%，被测胞元的灵敏度误差是 0.598%，所以只看柔度不够。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成本方面，两个八胞元点阵上，NICE 在一块 GPU 上含灵敏度的一次分析是 79 和 105 秒，16 线程直接求解是 868 和 1,042 秒，约为十倍，常规精确静力凝聚更慢；GPU 内存峰值 9.2 GiB，直接求解要 71 到 86 GiB。两条路线运行在不同处理器上，比较的是各自部署方式下的成本，都不含数据生成和训练。快的原因在于每个胞元的内部位移由一次网络计算和固定步数的修正得到，不分解内部刚度矩阵，装配问题只在主自由度上求解。右图是规模：24 到 110 胞元的板，每胞元每次设计迭代 10 到 11 秒，耗时随胞元数线性增长；110 胞元板有 3270 万个自由度，一次迭代 19.4 分钟。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设计问题是体积约束下的柔度最小化，设计变量是顶点处的角点厚度参数，用 MMA 求解。算例 A 是八胞元块体，另用精确静力凝聚做了一次对照优化，左图两条曲线几乎重合，最终角点参数之差至多 0.0051。第二个算例是切割面固支的 24 胞元板，右图是 NICE 的最终设计。紫色曲线是均匀化模型，把均匀初始设计的柔度低估了 27%，宏观网格加密后仍有 25.8%，这块单层板在厚度方向没有尺度分离。NICE 经精确校核，最终设计的柔度偏差 0.03%，梯度偏差 0.3%；用均匀化模型优化得到的设计，精确柔度比 NICE 设计高 2.44%，材料少 0.18%。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三点：保留全部主自由度、只近似内部位移；性质由构造保证，与网络精度无关；柔度和灵敏度分别检验，点阵误差小，分析快约十倍，设计复现精确静力凝聚的结果。局限主要是三条：只训练了一种胞族和单平面切割，新胞族需要重新训练；柔度被低估，不是保守估计；规模受预条件子中直接分解的限制。</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最后是进展。论文的中英文正文和补充材料已经修订完成，剩下作者信息与声明、图形摘要和通读定稿，计划投 CMAME，同时挂 arXiv。后续两个方向：一是以应力等局部量为目标或约束的设计，配后验误差估计与自适应修正；二是跨胞族和几何的泛化。另外要改进预条件子，扩大可分析的规模。谢谢大家。</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谢谢大家，欢迎提问。</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备用页。损失函数第一项是能量比的对数平均，由命题 1 非负，只有恢复位移场精确时为零；第二项是八分量厚度灵敏度相对参考值的误差。损失由修正后的算子计算，梯度经过光滑和粗网格校正传到网络参数，训练和部署用同一个算子。右表是三个变体。</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备用页。固定基础网络的参数单独看修正：H2 的误差主要在高频，八步光滑就从 35% 降到 0.2%；M1 的误差有很大一部分在光滑区间以下，要靠粗网格校正。下表是同一修正作用在四种初始场上，图调和初始场修正后遗留的误差是 NICE 的 5.4 到 265 倍，所以网络和修正互补。</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备用页，所有装配算例都相对同一离散模型的精确静力凝聚。两胞元装配里只有被测胞元是学习胞元，其余算例全部是学习胞元。柔度误差最大 0.27%；全学习的点阵和设计中，柔度误差不超过 0.069%，梯度误差不超过 0.33%。88 和 110 胞元板没有算精确参考解。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2_标题幻灯片">
    <p:bg>
      <p:bgRef idx="1001">
        <a:schemeClr val="bg1"/>
      </p:bgRef>
    </p:bg>
    <p:spTree>
      <p:nvGrpSpPr>
        <p:cNvPr id="1" name=""/>
        <p:cNvGrpSpPr/>
        <p:nvPr/>
      </p:nvGrpSpPr>
      <p:grpSpPr>
        <a:xfrm>
          <a:off x="0" y="0"/>
          <a:ext cx="0" cy="0"/>
          <a:chOff x="0" y="0"/>
          <a:chExt cx="0" cy="0"/>
        </a:xfrm>
      </p:grpSpPr>
      <p:sp>
        <p:nvSpPr>
          <p:cNvPr id="3" name="矩形 7"/>
          <p:cNvSpPr>
            <a:spLocks noChangeArrowheads="1"/>
          </p:cNvSpPr>
          <p:nvPr userDrawn="1"/>
        </p:nvSpPr>
        <p:spPr bwMode="auto">
          <a:xfrm>
            <a:off x="-12699" y="0"/>
            <a:ext cx="12204700" cy="72000"/>
          </a:xfrm>
          <a:prstGeom prst="rect">
            <a:avLst/>
          </a:prstGeom>
          <a:solidFill>
            <a:srgbClr val="C00000"/>
          </a:solidFill>
          <a:ln>
            <a:noFill/>
          </a:ln>
        </p:spPr>
        <p:txBody>
          <a:bodyPr>
            <a:spAutoFit/>
          </a:bodyPr>
          <a:lstStyle>
            <a:lvl1pPr eaLnBrk="0" hangingPunct="0">
              <a:defRPr sz="2800">
                <a:solidFill>
                  <a:schemeClr val="tx1"/>
                </a:solidFill>
                <a:latin typeface="Times New Roman" panose="02020503050405090304" pitchFamily="18" charset="0"/>
                <a:ea typeface="SimHei" panose="02010609060101010101" pitchFamily="49" charset="-122"/>
              </a:defRPr>
            </a:lvl1pPr>
            <a:lvl2pPr marL="742950" indent="-285750" eaLnBrk="0" hangingPunct="0">
              <a:defRPr sz="2800">
                <a:solidFill>
                  <a:schemeClr val="tx1"/>
                </a:solidFill>
                <a:latin typeface="Times New Roman" panose="02020503050405090304" pitchFamily="18" charset="0"/>
                <a:ea typeface="SimHei" panose="02010609060101010101" pitchFamily="49" charset="-122"/>
              </a:defRPr>
            </a:lvl2pPr>
            <a:lvl3pPr marL="1143000" indent="-228600" eaLnBrk="0" hangingPunct="0">
              <a:defRPr sz="2800">
                <a:solidFill>
                  <a:schemeClr val="tx1"/>
                </a:solidFill>
                <a:latin typeface="Times New Roman" panose="02020503050405090304" pitchFamily="18" charset="0"/>
                <a:ea typeface="SimHei" panose="02010609060101010101" pitchFamily="49" charset="-122"/>
              </a:defRPr>
            </a:lvl3pPr>
            <a:lvl4pPr marL="1600200" indent="-228600" eaLnBrk="0" hangingPunct="0">
              <a:defRPr sz="2800">
                <a:solidFill>
                  <a:schemeClr val="tx1"/>
                </a:solidFill>
                <a:latin typeface="Times New Roman" panose="02020503050405090304" pitchFamily="18" charset="0"/>
                <a:ea typeface="SimHei" panose="02010609060101010101" pitchFamily="49" charset="-122"/>
              </a:defRPr>
            </a:lvl4pPr>
            <a:lvl5pPr marL="2057400" indent="-228600" eaLnBrk="0" hangingPunct="0">
              <a:defRPr sz="2800">
                <a:solidFill>
                  <a:schemeClr val="tx1"/>
                </a:solidFill>
                <a:latin typeface="Times New Roman" panose="02020503050405090304" pitchFamily="18" charset="0"/>
                <a:ea typeface="SimHei" panose="02010609060101010101" pitchFamily="49" charset="-122"/>
              </a:defRPr>
            </a:lvl5pPr>
            <a:lvl6pPr marL="25146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6pPr>
            <a:lvl7pPr marL="29718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7pPr>
            <a:lvl8pPr marL="34290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8pPr>
            <a:lvl9pPr marL="38862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9pPr>
          </a:lstStyle>
          <a:p>
            <a:pPr eaLnBrk="1" hangingPunct="1">
              <a:spcBef>
                <a:spcPct val="50000"/>
              </a:spcBef>
              <a:defRPr/>
            </a:pPr>
            <a:endParaRPr lang="en-US" altLang="zh-CN" sz="2800">
              <a:solidFill>
                <a:srgbClr val="C00000"/>
              </a:solidFill>
            </a:endParaRPr>
          </a:p>
        </p:txBody>
      </p:sp>
      <p:sp>
        <p:nvSpPr>
          <p:cNvPr id="4" name="TextBox 9"/>
          <p:cNvSpPr txBox="1">
            <a:spLocks noChangeArrowheads="1"/>
          </p:cNvSpPr>
          <p:nvPr userDrawn="1"/>
        </p:nvSpPr>
        <p:spPr bwMode="auto">
          <a:xfrm>
            <a:off x="11211984" y="6550026"/>
            <a:ext cx="980016" cy="307975"/>
          </a:xfrm>
          <a:prstGeom prst="rect">
            <a:avLst/>
          </a:prstGeom>
          <a:noFill/>
          <a:ln>
            <a:noFill/>
          </a:ln>
        </p:spPr>
        <p:txBody>
          <a:bodyPr>
            <a:spAutoFit/>
          </a:bodyPr>
          <a:lstStyle>
            <a:lvl1pPr>
              <a:defRPr kumimoji="1" sz="1600">
                <a:solidFill>
                  <a:schemeClr val="tx1"/>
                </a:solidFill>
                <a:latin typeface="Tahoma" panose="020B0604030504040204" pitchFamily="34" charset="0"/>
                <a:ea typeface="SimSun" pitchFamily="2" charset="-122"/>
              </a:defRPr>
            </a:lvl1pPr>
            <a:lvl2pPr marL="742950" indent="-285750">
              <a:defRPr kumimoji="1" sz="1600">
                <a:solidFill>
                  <a:schemeClr val="tx1"/>
                </a:solidFill>
                <a:latin typeface="Tahoma" panose="020B0604030504040204" pitchFamily="34" charset="0"/>
                <a:ea typeface="SimSun" pitchFamily="2" charset="-122"/>
              </a:defRPr>
            </a:lvl2pPr>
            <a:lvl3pPr marL="1143000" indent="-228600">
              <a:defRPr kumimoji="1" sz="1600">
                <a:solidFill>
                  <a:schemeClr val="tx1"/>
                </a:solidFill>
                <a:latin typeface="Tahoma" panose="020B0604030504040204" pitchFamily="34" charset="0"/>
                <a:ea typeface="SimSun" pitchFamily="2" charset="-122"/>
              </a:defRPr>
            </a:lvl3pPr>
            <a:lvl4pPr marL="1600200" indent="-228600">
              <a:defRPr kumimoji="1" sz="1600">
                <a:solidFill>
                  <a:schemeClr val="tx1"/>
                </a:solidFill>
                <a:latin typeface="Tahoma" panose="020B0604030504040204" pitchFamily="34" charset="0"/>
                <a:ea typeface="SimSun" pitchFamily="2" charset="-122"/>
              </a:defRPr>
            </a:lvl4pPr>
            <a:lvl5pPr marL="2057400" indent="-228600">
              <a:defRPr kumimoji="1" sz="1600">
                <a:solidFill>
                  <a:schemeClr val="tx1"/>
                </a:solidFill>
                <a:latin typeface="Tahoma" panose="020B0604030504040204" pitchFamily="34" charset="0"/>
                <a:ea typeface="SimSun" pitchFamily="2" charset="-122"/>
              </a:defRPr>
            </a:lvl5pPr>
            <a:lvl6pPr marL="25146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6pPr>
            <a:lvl7pPr marL="29718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7pPr>
            <a:lvl8pPr marL="34290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8pPr>
            <a:lvl9pPr marL="38862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9pPr>
          </a:lstStyle>
          <a:p>
            <a:pPr algn="r" eaLnBrk="1" hangingPunct="1">
              <a:spcBef>
                <a:spcPct val="50000"/>
              </a:spcBef>
              <a:defRPr/>
            </a:pPr>
            <a:fld id="{4097D269-82ED-7444-A9F2-76BF1199FCEE}" type="slidenum">
              <a:rPr lang="en-US" altLang="zh-CN" sz="1400" b="1" smtClean="0">
                <a:solidFill>
                  <a:srgbClr val="7F7F7F"/>
                </a:solidFill>
                <a:latin typeface="Times New Roman" panose="02020503050405090304" pitchFamily="18" charset="0"/>
                <a:ea typeface="SimHei" panose="02010609060101010101" pitchFamily="49" charset="-122"/>
              </a:rPr>
            </a:fld>
            <a:r>
              <a:rPr lang="en-US" altLang="zh-CN" sz="1400" b="1">
                <a:solidFill>
                  <a:srgbClr val="7F7F7F"/>
                </a:solidFill>
                <a:latin typeface="Times New Roman" panose="02020503050405090304" pitchFamily="18" charset="0"/>
                <a:ea typeface="SimHei" panose="02010609060101010101" pitchFamily="49" charset="-122"/>
              </a:rPr>
              <a:t>/14</a:t>
            </a:r>
            <a:endParaRPr lang="en-US" altLang="zh-CN" sz="1400" b="1">
              <a:solidFill>
                <a:srgbClr val="7F7F7F"/>
              </a:solidFill>
              <a:latin typeface="Times New Roman" panose="02020503050405090304" pitchFamily="18" charset="0"/>
              <a:ea typeface="SimHei" panose="02010609060101010101" pitchFamily="49" charset="-122"/>
            </a:endParaRPr>
          </a:p>
        </p:txBody>
      </p:sp>
      <p:sp>
        <p:nvSpPr>
          <p:cNvPr id="6" name="矩形 5"/>
          <p:cNvSpPr>
            <a:spLocks noChangeArrowheads="1"/>
          </p:cNvSpPr>
          <p:nvPr userDrawn="1"/>
        </p:nvSpPr>
        <p:spPr bwMode="auto">
          <a:xfrm>
            <a:off x="0" y="6568422"/>
            <a:ext cx="12192000" cy="288000"/>
          </a:xfrm>
          <a:prstGeom prst="rect">
            <a:avLst/>
          </a:prstGeom>
          <a:solidFill>
            <a:srgbClr val="FFC000"/>
          </a:solidFill>
          <a:ln>
            <a:noFill/>
          </a:ln>
        </p:spPr>
        <p:txBody>
          <a:bodyPr>
            <a:spAutoFit/>
          </a:bodyPr>
          <a:lstStyle>
            <a:lvl1pPr eaLnBrk="0" hangingPunct="0">
              <a:defRPr sz="2800">
                <a:solidFill>
                  <a:schemeClr val="tx1"/>
                </a:solidFill>
                <a:latin typeface="Times New Roman" panose="02020503050405090304" pitchFamily="18" charset="0"/>
                <a:ea typeface="SimHei" panose="02010609060101010101" pitchFamily="49" charset="-122"/>
              </a:defRPr>
            </a:lvl1pPr>
            <a:lvl2pPr marL="742950" indent="-285750" eaLnBrk="0" hangingPunct="0">
              <a:defRPr sz="2800">
                <a:solidFill>
                  <a:schemeClr val="tx1"/>
                </a:solidFill>
                <a:latin typeface="Times New Roman" panose="02020503050405090304" pitchFamily="18" charset="0"/>
                <a:ea typeface="SimHei" panose="02010609060101010101" pitchFamily="49" charset="-122"/>
              </a:defRPr>
            </a:lvl2pPr>
            <a:lvl3pPr marL="1143000" indent="-228600" eaLnBrk="0" hangingPunct="0">
              <a:defRPr sz="2800">
                <a:solidFill>
                  <a:schemeClr val="tx1"/>
                </a:solidFill>
                <a:latin typeface="Times New Roman" panose="02020503050405090304" pitchFamily="18" charset="0"/>
                <a:ea typeface="SimHei" panose="02010609060101010101" pitchFamily="49" charset="-122"/>
              </a:defRPr>
            </a:lvl3pPr>
            <a:lvl4pPr marL="1600200" indent="-228600" eaLnBrk="0" hangingPunct="0">
              <a:defRPr sz="2800">
                <a:solidFill>
                  <a:schemeClr val="tx1"/>
                </a:solidFill>
                <a:latin typeface="Times New Roman" panose="02020503050405090304" pitchFamily="18" charset="0"/>
                <a:ea typeface="SimHei" panose="02010609060101010101" pitchFamily="49" charset="-122"/>
              </a:defRPr>
            </a:lvl4pPr>
            <a:lvl5pPr marL="2057400" indent="-228600" eaLnBrk="0" hangingPunct="0">
              <a:defRPr sz="2800">
                <a:solidFill>
                  <a:schemeClr val="tx1"/>
                </a:solidFill>
                <a:latin typeface="Times New Roman" panose="02020503050405090304" pitchFamily="18" charset="0"/>
                <a:ea typeface="SimHei" panose="02010609060101010101" pitchFamily="49" charset="-122"/>
              </a:defRPr>
            </a:lvl5pPr>
            <a:lvl6pPr marL="25146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6pPr>
            <a:lvl7pPr marL="29718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7pPr>
            <a:lvl8pPr marL="34290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8pPr>
            <a:lvl9pPr marL="38862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9pPr>
          </a:lstStyle>
          <a:p>
            <a:pPr eaLnBrk="1" hangingPunct="1">
              <a:spcBef>
                <a:spcPct val="50000"/>
              </a:spcBef>
              <a:defRPr/>
            </a:pPr>
            <a:endParaRPr lang="en-US" sz="2800"/>
          </a:p>
        </p:txBody>
      </p:sp>
      <p:pic>
        <p:nvPicPr>
          <p:cNvPr id="7" name="图片 5"/>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4558" y="6570663"/>
            <a:ext cx="143510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1"/>
          <p:cNvSpPr>
            <a:spLocks noChangeArrowheads="1"/>
          </p:cNvSpPr>
          <p:nvPr userDrawn="1"/>
        </p:nvSpPr>
        <p:spPr bwMode="auto">
          <a:xfrm>
            <a:off x="928297" y="6523879"/>
            <a:ext cx="3217333" cy="369332"/>
          </a:xfrm>
          <a:prstGeom prst="rect">
            <a:avLst/>
          </a:prstGeom>
          <a:noFill/>
          <a:ln>
            <a:noFill/>
          </a:ln>
        </p:spPr>
        <p:txBody>
          <a:bodyPr wrap="square">
            <a:spAutoFit/>
          </a:bodyPr>
          <a:lstStyle>
            <a:lvl1pPr>
              <a:defRPr sz="2800">
                <a:solidFill>
                  <a:schemeClr val="tx1"/>
                </a:solidFill>
                <a:latin typeface="Times New Roman" panose="02020503050405090304" pitchFamily="18" charset="0"/>
                <a:ea typeface="SimHei" panose="02010609060101010101" pitchFamily="49" charset="-122"/>
              </a:defRPr>
            </a:lvl1pPr>
            <a:lvl2pPr marL="742950" indent="-285750">
              <a:defRPr sz="2800">
                <a:solidFill>
                  <a:schemeClr val="tx1"/>
                </a:solidFill>
                <a:latin typeface="Times New Roman" panose="02020503050405090304" pitchFamily="18" charset="0"/>
                <a:ea typeface="SimHei" panose="02010609060101010101" pitchFamily="49" charset="-122"/>
              </a:defRPr>
            </a:lvl2pPr>
            <a:lvl3pPr marL="1143000" indent="-228600">
              <a:defRPr sz="2800">
                <a:solidFill>
                  <a:schemeClr val="tx1"/>
                </a:solidFill>
                <a:latin typeface="Times New Roman" panose="02020503050405090304" pitchFamily="18" charset="0"/>
                <a:ea typeface="SimHei" panose="02010609060101010101" pitchFamily="49" charset="-122"/>
              </a:defRPr>
            </a:lvl3pPr>
            <a:lvl4pPr marL="1600200" indent="-228600">
              <a:defRPr sz="2800">
                <a:solidFill>
                  <a:schemeClr val="tx1"/>
                </a:solidFill>
                <a:latin typeface="Times New Roman" panose="02020503050405090304" pitchFamily="18" charset="0"/>
                <a:ea typeface="SimHei" panose="02010609060101010101" pitchFamily="49" charset="-122"/>
              </a:defRPr>
            </a:lvl4pPr>
            <a:lvl5pPr marL="2057400" indent="-228600">
              <a:defRPr sz="2800">
                <a:solidFill>
                  <a:schemeClr val="tx1"/>
                </a:solidFill>
                <a:latin typeface="Times New Roman" panose="02020503050405090304" pitchFamily="18" charset="0"/>
                <a:ea typeface="SimHei" panose="02010609060101010101" pitchFamily="49" charset="-122"/>
              </a:defRPr>
            </a:lvl5pPr>
            <a:lvl6pPr marL="25146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6pPr>
            <a:lvl7pPr marL="29718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7pPr>
            <a:lvl8pPr marL="34290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8pPr>
            <a:lvl9pPr marL="38862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9pPr>
          </a:lstStyle>
          <a:p>
            <a:pPr algn="ctr" eaLnBrk="1" hangingPunct="1">
              <a:defRPr/>
            </a:pPr>
            <a:r>
              <a:rPr lang="en-US" altLang="zh-CN" sz="900" b="1" dirty="0">
                <a:solidFill>
                  <a:srgbClr val="0000FF"/>
                </a:solidFill>
                <a:latin typeface="Arial" panose="020B0604020202090204" pitchFamily="34" charset="0"/>
                <a:cs typeface="Arial" panose="020B0604020202090204" pitchFamily="34" charset="0"/>
              </a:rPr>
              <a:t>Research group of </a:t>
            </a:r>
            <a:r>
              <a:rPr lang="en-US" altLang="zh-CN" sz="900" b="1" dirty="0">
                <a:solidFill>
                  <a:srgbClr val="FF0000"/>
                </a:solidFill>
                <a:latin typeface="Arial" panose="020B0604020202090204" pitchFamily="34" charset="0"/>
                <a:cs typeface="Arial" panose="020B0604020202090204" pitchFamily="34" charset="0"/>
              </a:rPr>
              <a:t>i</a:t>
            </a:r>
            <a:r>
              <a:rPr lang="en-US" altLang="zh-CN" sz="900" b="1" dirty="0">
                <a:solidFill>
                  <a:srgbClr val="0000FF"/>
                </a:solidFill>
                <a:latin typeface="Arial" panose="020B0604020202090204" pitchFamily="34" charset="0"/>
                <a:cs typeface="Arial" panose="020B0604020202090204" pitchFamily="34" charset="0"/>
              </a:rPr>
              <a:t>nnovation </a:t>
            </a:r>
            <a:r>
              <a:rPr lang="en-US" altLang="zh-CN" sz="900" b="1" dirty="0">
                <a:solidFill>
                  <a:srgbClr val="FF0000"/>
                </a:solidFill>
                <a:latin typeface="Arial" panose="020B0604020202090204" pitchFamily="34" charset="0"/>
                <a:cs typeface="Arial" panose="020B0604020202090204" pitchFamily="34" charset="0"/>
              </a:rPr>
              <a:t>D</a:t>
            </a:r>
            <a:r>
              <a:rPr lang="en-US" altLang="zh-CN" sz="900" b="1" dirty="0">
                <a:solidFill>
                  <a:srgbClr val="0000FF"/>
                </a:solidFill>
                <a:latin typeface="Arial" panose="020B0604020202090204" pitchFamily="34" charset="0"/>
                <a:cs typeface="Arial" panose="020B0604020202090204" pitchFamily="34" charset="0"/>
              </a:rPr>
              <a:t>esign</a:t>
            </a:r>
            <a:endParaRPr lang="en-US" altLang="zh-CN" sz="900" b="1" dirty="0">
              <a:solidFill>
                <a:srgbClr val="0000FF"/>
              </a:solidFill>
              <a:latin typeface="Arial" panose="020B0604020202090204" pitchFamily="34" charset="0"/>
              <a:cs typeface="Arial" panose="020B0604020202090204" pitchFamily="34" charset="0"/>
            </a:endParaRPr>
          </a:p>
          <a:p>
            <a:pPr algn="ctr" eaLnBrk="1" hangingPunct="1">
              <a:defRPr/>
            </a:pPr>
            <a:r>
              <a:rPr lang="en-US" altLang="zh-CN" sz="900" b="1" dirty="0">
                <a:solidFill>
                  <a:srgbClr val="0000FF"/>
                </a:solidFill>
                <a:latin typeface="Arial" panose="020B0604020202090204" pitchFamily="34" charset="0"/>
                <a:cs typeface="Arial" panose="020B0604020202090204" pitchFamily="34" charset="0"/>
              </a:rPr>
              <a:t>in </a:t>
            </a:r>
            <a:r>
              <a:rPr lang="en-US" altLang="zh-CN" sz="900" b="1" dirty="0">
                <a:solidFill>
                  <a:srgbClr val="FF0000"/>
                </a:solidFill>
                <a:latin typeface="Arial" panose="020B0604020202090204" pitchFamily="34" charset="0"/>
                <a:cs typeface="Arial" panose="020B0604020202090204" pitchFamily="34" charset="0"/>
              </a:rPr>
              <a:t>E</a:t>
            </a:r>
            <a:r>
              <a:rPr lang="en-US" altLang="zh-CN" sz="900" b="1" dirty="0">
                <a:solidFill>
                  <a:srgbClr val="0000FF"/>
                </a:solidFill>
                <a:latin typeface="Arial" panose="020B0604020202090204" pitchFamily="34" charset="0"/>
                <a:cs typeface="Arial" panose="020B0604020202090204" pitchFamily="34" charset="0"/>
              </a:rPr>
              <a:t>ngineering &amp; </a:t>
            </a:r>
            <a:r>
              <a:rPr lang="en-US" altLang="zh-CN" sz="900" b="1" dirty="0">
                <a:solidFill>
                  <a:srgbClr val="FF0000"/>
                </a:solidFill>
                <a:latin typeface="Arial" panose="020B0604020202090204" pitchFamily="34" charset="0"/>
                <a:cs typeface="Arial" panose="020B0604020202090204" pitchFamily="34" charset="0"/>
              </a:rPr>
              <a:t>A</a:t>
            </a:r>
            <a:r>
              <a:rPr lang="en-US" altLang="zh-CN" sz="900" b="1" dirty="0">
                <a:solidFill>
                  <a:srgbClr val="0000FF"/>
                </a:solidFill>
                <a:latin typeface="Arial" panose="020B0604020202090204" pitchFamily="34" charset="0"/>
                <a:cs typeface="Arial" panose="020B0604020202090204" pitchFamily="34" charset="0"/>
              </a:rPr>
              <a:t>dvanced </a:t>
            </a:r>
            <a:r>
              <a:rPr lang="en-US" altLang="zh-CN" sz="900" b="1" dirty="0">
                <a:solidFill>
                  <a:srgbClr val="FF0000"/>
                </a:solidFill>
                <a:latin typeface="Arial" panose="020B0604020202090204" pitchFamily="34" charset="0"/>
                <a:cs typeface="Arial" panose="020B0604020202090204" pitchFamily="34" charset="0"/>
              </a:rPr>
              <a:t>S</a:t>
            </a:r>
            <a:r>
              <a:rPr lang="en-US" altLang="zh-CN" sz="900" b="1" dirty="0">
                <a:solidFill>
                  <a:srgbClr val="0000FF"/>
                </a:solidFill>
                <a:latin typeface="Arial" panose="020B0604020202090204" pitchFamily="34" charset="0"/>
                <a:cs typeface="Arial" panose="020B0604020202090204" pitchFamily="34" charset="0"/>
              </a:rPr>
              <a:t>cience</a:t>
            </a:r>
            <a:endParaRPr lang="zh-CN" altLang="en-US" sz="900" b="1" dirty="0">
              <a:solidFill>
                <a:srgbClr val="0000FF"/>
              </a:solidFill>
              <a:latin typeface="Arial" panose="020B0604020202090204" pitchFamily="34" charset="0"/>
              <a:cs typeface="Arial" panose="020B0604020202090204" pitchFamily="34" charset="0"/>
            </a:endParaRPr>
          </a:p>
        </p:txBody>
      </p:sp>
      <p:sp>
        <p:nvSpPr>
          <p:cNvPr id="9" name="矩形 8"/>
          <p:cNvSpPr/>
          <p:nvPr userDrawn="1"/>
        </p:nvSpPr>
        <p:spPr>
          <a:xfrm>
            <a:off x="4876800" y="6610990"/>
            <a:ext cx="3940735" cy="246221"/>
          </a:xfrm>
          <a:prstGeom prst="rect">
            <a:avLst/>
          </a:prstGeom>
        </p:spPr>
        <p:txBody>
          <a:bodyPr wrap="square">
            <a:spAutoFit/>
          </a:bodyPr>
          <a:lstStyle>
            <a:lvl1pPr>
              <a:defRPr kumimoji="1" sz="1600">
                <a:solidFill>
                  <a:schemeClr val="tx1"/>
                </a:solidFill>
                <a:latin typeface="Tahoma" panose="020B0604030504040204" pitchFamily="34" charset="0"/>
                <a:ea typeface="SimSun" pitchFamily="2" charset="-122"/>
              </a:defRPr>
            </a:lvl1pPr>
            <a:lvl2pPr marL="742950" indent="-285750">
              <a:defRPr kumimoji="1" sz="1600">
                <a:solidFill>
                  <a:schemeClr val="tx1"/>
                </a:solidFill>
                <a:latin typeface="Tahoma" panose="020B0604030504040204" pitchFamily="34" charset="0"/>
                <a:ea typeface="SimSun" pitchFamily="2" charset="-122"/>
              </a:defRPr>
            </a:lvl2pPr>
            <a:lvl3pPr marL="1143000" indent="-228600">
              <a:defRPr kumimoji="1" sz="1600">
                <a:solidFill>
                  <a:schemeClr val="tx1"/>
                </a:solidFill>
                <a:latin typeface="Tahoma" panose="020B0604030504040204" pitchFamily="34" charset="0"/>
                <a:ea typeface="SimSun" pitchFamily="2" charset="-122"/>
              </a:defRPr>
            </a:lvl3pPr>
            <a:lvl4pPr marL="1600200" indent="-228600">
              <a:defRPr kumimoji="1" sz="1600">
                <a:solidFill>
                  <a:schemeClr val="tx1"/>
                </a:solidFill>
                <a:latin typeface="Tahoma" panose="020B0604030504040204" pitchFamily="34" charset="0"/>
                <a:ea typeface="SimSun" pitchFamily="2" charset="-122"/>
              </a:defRPr>
            </a:lvl4pPr>
            <a:lvl5pPr marL="2057400" indent="-228600">
              <a:defRPr kumimoji="1" sz="1600">
                <a:solidFill>
                  <a:schemeClr val="tx1"/>
                </a:solidFill>
                <a:latin typeface="Tahoma" panose="020B0604030504040204" pitchFamily="34" charset="0"/>
                <a:ea typeface="SimSun" pitchFamily="2" charset="-122"/>
              </a:defRPr>
            </a:lvl5pPr>
            <a:lvl6pPr marL="25146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6pPr>
            <a:lvl7pPr marL="29718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7pPr>
            <a:lvl8pPr marL="34290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8pPr>
            <a:lvl9pPr marL="38862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9pPr>
          </a:lstStyle>
          <a:p>
            <a:pPr algn="r" eaLnBrk="1" hangingPunct="1">
              <a:defRPr/>
            </a:pPr>
            <a:r>
              <a:rPr lang="zh-CN" altLang="en-US" sz="1000" b="0" dirty="0">
                <a:solidFill>
                  <a:srgbClr val="7F7F7F"/>
                </a:solidFill>
                <a:latin typeface="Microsoft YaHei" panose="020B0503020204020204" pitchFamily="34" charset="-122"/>
                <a:ea typeface="Microsoft YaHei" panose="020B0503020204020204" pitchFamily="34" charset="-122"/>
              </a:rPr>
              <a:t>大连理工大学  工业装备结构分析优化与</a:t>
            </a:r>
            <a:r>
              <a:rPr lang="en-US" altLang="zh-CN" sz="1000" b="0" dirty="0">
                <a:solidFill>
                  <a:srgbClr val="7F7F7F"/>
                </a:solidFill>
                <a:latin typeface="Microsoft YaHei" panose="020B0503020204020204" pitchFamily="34" charset="-122"/>
                <a:ea typeface="Microsoft YaHei" panose="020B0503020204020204" pitchFamily="34" charset="-122"/>
              </a:rPr>
              <a:t>CAE</a:t>
            </a:r>
            <a:r>
              <a:rPr lang="zh-CN" altLang="en-US" sz="1000" b="0" dirty="0">
                <a:solidFill>
                  <a:srgbClr val="7F7F7F"/>
                </a:solidFill>
                <a:latin typeface="Microsoft YaHei" panose="020B0503020204020204" pitchFamily="34" charset="-122"/>
                <a:ea typeface="Microsoft YaHei" panose="020B0503020204020204" pitchFamily="34" charset="-122"/>
              </a:rPr>
              <a:t>软件全国重点实验室</a:t>
            </a:r>
            <a:endParaRPr lang="zh-CN" altLang="en-US" sz="1000" b="0" dirty="0">
              <a:solidFill>
                <a:srgbClr val="7F7F7F"/>
              </a:solidFill>
              <a:latin typeface="Microsoft YaHei" panose="020B0503020204020204" pitchFamily="34" charset="-122"/>
              <a:ea typeface="Microsoft YaHei" panose="020B0503020204020204" pitchFamily="34" charset="-122"/>
            </a:endParaRPr>
          </a:p>
        </p:txBody>
      </p:sp>
      <p:sp>
        <p:nvSpPr>
          <p:cNvPr id="10" name="灯片编号占位符 2"/>
          <p:cNvSpPr txBox="1"/>
          <p:nvPr userDrawn="1"/>
        </p:nvSpPr>
        <p:spPr bwMode="auto">
          <a:xfrm>
            <a:off x="11409892" y="6565349"/>
            <a:ext cx="584200" cy="274637"/>
          </a:xfrm>
          <a:prstGeom prst="rect">
            <a:avLst/>
          </a:prstGeom>
          <a:noFill/>
        </p:spPr>
        <p:txBody>
          <a:bodyPr/>
          <a:lstStyle>
            <a:lvl1pPr>
              <a:defRPr kumimoji="1" sz="1600">
                <a:solidFill>
                  <a:schemeClr val="tx1"/>
                </a:solidFill>
                <a:latin typeface="Tahoma" panose="020B0604030504040204" pitchFamily="34" charset="0"/>
                <a:ea typeface="SimSun" pitchFamily="2" charset="-122"/>
              </a:defRPr>
            </a:lvl1pPr>
            <a:lvl2pPr marL="742950" indent="-285750">
              <a:defRPr kumimoji="1" sz="1600">
                <a:solidFill>
                  <a:schemeClr val="tx1"/>
                </a:solidFill>
                <a:latin typeface="Tahoma" panose="020B0604030504040204" pitchFamily="34" charset="0"/>
                <a:ea typeface="SimSun" pitchFamily="2" charset="-122"/>
              </a:defRPr>
            </a:lvl2pPr>
            <a:lvl3pPr marL="1143000" indent="-228600">
              <a:defRPr kumimoji="1" sz="1600">
                <a:solidFill>
                  <a:schemeClr val="tx1"/>
                </a:solidFill>
                <a:latin typeface="Tahoma" panose="020B0604030504040204" pitchFamily="34" charset="0"/>
                <a:ea typeface="SimSun" pitchFamily="2" charset="-122"/>
              </a:defRPr>
            </a:lvl3pPr>
            <a:lvl4pPr marL="1600200" indent="-228600">
              <a:defRPr kumimoji="1" sz="1600">
                <a:solidFill>
                  <a:schemeClr val="tx1"/>
                </a:solidFill>
                <a:latin typeface="Tahoma" panose="020B0604030504040204" pitchFamily="34" charset="0"/>
                <a:ea typeface="SimSun" pitchFamily="2" charset="-122"/>
              </a:defRPr>
            </a:lvl4pPr>
            <a:lvl5pPr marL="2057400" indent="-228600">
              <a:defRPr kumimoji="1" sz="1600">
                <a:solidFill>
                  <a:schemeClr val="tx1"/>
                </a:solidFill>
                <a:latin typeface="Tahoma" panose="020B0604030504040204" pitchFamily="34" charset="0"/>
                <a:ea typeface="SimSun" pitchFamily="2" charset="-122"/>
              </a:defRPr>
            </a:lvl5pPr>
            <a:lvl6pPr marL="25146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6pPr>
            <a:lvl7pPr marL="29718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7pPr>
            <a:lvl8pPr marL="34290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8pPr>
            <a:lvl9pPr marL="38862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9pPr>
          </a:lstStyle>
          <a:p>
            <a:pPr algn="r">
              <a:defRPr/>
            </a:pPr>
            <a:fld id="{80C2D1C4-173E-4D48-969F-1B76B066F58F}" type="slidenum">
              <a:rPr lang="en-US" altLang="zh-CN" sz="1200" smtClean="0">
                <a:solidFill>
                  <a:srgbClr val="7F7F7F"/>
                </a:solidFill>
                <a:latin typeface="Times New Roman" panose="02020503050405090304" pitchFamily="18" charset="0"/>
                <a:ea typeface="SimHei" panose="02010609060101010101" pitchFamily="49" charset="-122"/>
              </a:rPr>
            </a:fld>
            <a:endParaRPr lang="en-US" altLang="zh-CN" sz="1200" dirty="0">
              <a:solidFill>
                <a:srgbClr val="7F7F7F"/>
              </a:solidFill>
              <a:latin typeface="Times New Roman" panose="02020503050405090304" pitchFamily="18" charset="0"/>
              <a:ea typeface="SimHei" panose="02010609060101010101" pitchFamily="49" charset="-122"/>
            </a:endParaRPr>
          </a:p>
        </p:txBody>
      </p:sp>
      <p:sp>
        <p:nvSpPr>
          <p:cNvPr id="5" name="标题 4"/>
          <p:cNvSpPr>
            <a:spLocks noGrp="1"/>
          </p:cNvSpPr>
          <p:nvPr>
            <p:ph type="title"/>
          </p:nvPr>
        </p:nvSpPr>
        <p:spPr>
          <a:xfrm>
            <a:off x="-14558" y="61303"/>
            <a:ext cx="12192000" cy="720000"/>
          </a:xfrm>
          <a:prstGeom prst="rect">
            <a:avLst/>
          </a:prstGeom>
        </p:spPr>
        <p:txBody>
          <a:bodyPr/>
          <a:lstStyle>
            <a:lvl1pPr algn="ctr">
              <a:defRPr>
                <a:solidFill>
                  <a:srgbClr val="C00000"/>
                </a:solidFill>
                <a:latin typeface="Microsoft YaHei" panose="020B0503020204020204" pitchFamily="34" charset="-122"/>
                <a:ea typeface="Microsoft YaHei" panose="020B0503020204020204" pitchFamily="34" charset="-122"/>
              </a:defRPr>
            </a:lvl1pPr>
          </a:lstStyle>
          <a:p>
            <a:r>
              <a:rPr lang="zh-CN" altLang="en-US" dirty="0"/>
              <a:t>单击此处编辑母版标题样式</a:t>
            </a:r>
            <a:endParaRPr lang="en-US"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5000" advClick="0"/>
    </mc:Choice>
    <mc:Fallback>
      <p:transition spd="slow" advClick="0"/>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dt="0"/>
  <p:txStyles>
    <p:titleStyle>
      <a:lvl1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cs typeface="+mj-cs"/>
        </a:defRPr>
      </a:lvl1pPr>
      <a:lvl2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2pPr>
      <a:lvl3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3pPr>
      <a:lvl4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4pPr>
      <a:lvl5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5pPr>
      <a:lvl6pPr marL="457200" algn="l" rtl="0" fontAlgn="base">
        <a:spcBef>
          <a:spcPct val="0"/>
        </a:spcBef>
        <a:spcAft>
          <a:spcPct val="0"/>
        </a:spcAft>
        <a:defRPr sz="3600" b="1">
          <a:solidFill>
            <a:srgbClr val="FFFFFF"/>
          </a:solidFill>
          <a:latin typeface="Arial" panose="020B0604020202090204" pitchFamily="34" charset="0"/>
        </a:defRPr>
      </a:lvl6pPr>
      <a:lvl7pPr marL="914400" algn="l" rtl="0" fontAlgn="base">
        <a:spcBef>
          <a:spcPct val="0"/>
        </a:spcBef>
        <a:spcAft>
          <a:spcPct val="0"/>
        </a:spcAft>
        <a:defRPr sz="3600" b="1">
          <a:solidFill>
            <a:srgbClr val="FFFFFF"/>
          </a:solidFill>
          <a:latin typeface="Arial" panose="020B0604020202090204" pitchFamily="34" charset="0"/>
        </a:defRPr>
      </a:lvl7pPr>
      <a:lvl8pPr marL="1371600" algn="l" rtl="0" fontAlgn="base">
        <a:spcBef>
          <a:spcPct val="0"/>
        </a:spcBef>
        <a:spcAft>
          <a:spcPct val="0"/>
        </a:spcAft>
        <a:defRPr sz="3600" b="1">
          <a:solidFill>
            <a:srgbClr val="FFFFFF"/>
          </a:solidFill>
          <a:latin typeface="Arial" panose="020B0604020202090204" pitchFamily="34" charset="0"/>
        </a:defRPr>
      </a:lvl8pPr>
      <a:lvl9pPr marL="1828800" algn="l" rtl="0" fontAlgn="base">
        <a:spcBef>
          <a:spcPct val="0"/>
        </a:spcBef>
        <a:spcAft>
          <a:spcPct val="0"/>
        </a:spcAft>
        <a:defRPr sz="3600" b="1">
          <a:solidFill>
            <a:srgbClr val="FFFFFF"/>
          </a:solidFill>
          <a:latin typeface="Arial" panose="020B0604020202090204"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536865" y="4447603"/>
            <a:ext cx="9144000" cy="1107996"/>
          </a:xfrm>
          <a:prstGeom prst="rect">
            <a:avLst/>
          </a:prstGeom>
          <a:noFill/>
        </p:spPr>
        <p:txBody>
          <a:bodyPr wrap="square" rtlCol="0">
            <a:spAutoFit/>
          </a:bodyPr>
          <a:lstStyle/>
          <a:p>
            <a:pPr algn="ctr">
              <a:spcBef>
                <a:spcPts val="600"/>
              </a:spcBef>
              <a:spcAft>
                <a:spcPts val="0"/>
              </a:spcAft>
            </a:pPr>
            <a:r>
              <a:rPr kumimoji="1" lang="zh-CN" altLang="en-US" sz="2000" b="1" dirty="0">
                <a:solidFill>
                  <a:srgbClr val="002060"/>
                </a:solidFill>
                <a:latin typeface="Microsoft YaHei" panose="020B0503020204020204" pitchFamily="34" charset="-122"/>
                <a:ea typeface="Microsoft YaHei" panose="020B0503020204020204" pitchFamily="34" charset="-122"/>
              </a:rPr>
              <a:t>大连理工大学</a:t>
            </a:r>
            <a:endParaRPr kumimoji="1" lang="zh-CN" altLang="en-US" sz="2000" b="1" dirty="0">
              <a:solidFill>
                <a:srgbClr val="002060"/>
              </a:solidFill>
              <a:latin typeface="Microsoft YaHei" panose="020B0503020204020204" pitchFamily="34" charset="-122"/>
              <a:ea typeface="Microsoft YaHei" panose="020B0503020204020204" pitchFamily="34" charset="-122"/>
            </a:endParaRPr>
          </a:p>
          <a:p>
            <a:pPr algn="ctr">
              <a:spcBef>
                <a:spcPts val="600"/>
              </a:spcBef>
              <a:spcAft>
                <a:spcPts val="0"/>
              </a:spcAft>
            </a:pPr>
            <a:r>
              <a:rPr kumimoji="1" lang="zh-CN" altLang="en-US" dirty="0">
                <a:solidFill>
                  <a:srgbClr val="002060"/>
                </a:solidFill>
                <a:latin typeface="Microsoft YaHei" panose="020B0503020204020204" pitchFamily="34" charset="-122"/>
                <a:ea typeface="Microsoft YaHei" panose="020B0503020204020204" pitchFamily="34" charset="-122"/>
              </a:rPr>
              <a:t>工业装备结构分析优化与</a:t>
            </a:r>
            <a:r>
              <a:rPr kumimoji="1" lang="en-US" altLang="zh-CN" dirty="0">
                <a:solidFill>
                  <a:srgbClr val="002060"/>
                </a:solidFill>
                <a:latin typeface="Microsoft YaHei" panose="020B0503020204020204" pitchFamily="34" charset="-122"/>
                <a:ea typeface="Microsoft YaHei" panose="020B0503020204020204" pitchFamily="34" charset="-122"/>
              </a:rPr>
              <a:t>CAE</a:t>
            </a:r>
            <a:r>
              <a:rPr kumimoji="1" lang="zh-CN" altLang="en-US" dirty="0">
                <a:solidFill>
                  <a:srgbClr val="002060"/>
                </a:solidFill>
                <a:latin typeface="Microsoft YaHei" panose="020B0503020204020204" pitchFamily="34" charset="-122"/>
                <a:ea typeface="Microsoft YaHei" panose="020B0503020204020204" pitchFamily="34" charset="-122"/>
              </a:rPr>
              <a:t>软件全国重点实验室</a:t>
            </a:r>
            <a:endParaRPr kumimoji="1" lang="en-US" altLang="zh-CN" dirty="0">
              <a:solidFill>
                <a:srgbClr val="002060"/>
              </a:solidFill>
              <a:latin typeface="Microsoft YaHei" panose="020B0503020204020204" pitchFamily="34" charset="-122"/>
              <a:ea typeface="Microsoft YaHei" panose="020B0503020204020204" pitchFamily="34" charset="-122"/>
            </a:endParaRPr>
          </a:p>
          <a:p>
            <a:pPr algn="ctr">
              <a:spcBef>
                <a:spcPts val="600"/>
              </a:spcBef>
              <a:spcAft>
                <a:spcPts val="0"/>
              </a:spcAft>
            </a:pPr>
            <a:r>
              <a:rPr kumimoji="1" lang="zh-CN" altLang="en-US" dirty="0">
                <a:solidFill>
                  <a:srgbClr val="002060"/>
                </a:solidFill>
                <a:latin typeface="Microsoft YaHei" panose="020B0503020204020204" pitchFamily="34" charset="-122"/>
                <a:ea typeface="Microsoft YaHei" panose="020B0503020204020204" pitchFamily="34" charset="-122"/>
              </a:rPr>
              <a:t>力学与航空航天学院</a:t>
            </a:r>
            <a:endParaRPr kumimoji="1" lang="en-US" altLang="zh-CN" dirty="0">
              <a:solidFill>
                <a:srgbClr val="002060"/>
              </a:solidFill>
              <a:latin typeface="Microsoft YaHei" panose="020B0503020204020204" pitchFamily="34" charset="-122"/>
              <a:ea typeface="Microsoft YaHei" panose="020B0503020204020204" pitchFamily="34" charset="-122"/>
            </a:endParaRPr>
          </a:p>
        </p:txBody>
      </p:sp>
      <p:sp>
        <p:nvSpPr>
          <p:cNvPr id="4" name="TextBox 3"/>
          <p:cNvSpPr txBox="1"/>
          <p:nvPr/>
        </p:nvSpPr>
        <p:spPr>
          <a:xfrm>
            <a:off x="1496122" y="3429000"/>
            <a:ext cx="9144000" cy="583565"/>
          </a:xfrm>
          <a:prstGeom prst="rect">
            <a:avLst/>
          </a:prstGeom>
          <a:noFill/>
        </p:spPr>
        <p:txBody>
          <a:bodyPr wrap="square" rtlCol="0">
            <a:spAutoFit/>
          </a:bodyPr>
          <a:lstStyle>
            <a:defPPr>
              <a:defRPr lang="en-US"/>
            </a:defPPr>
            <a:lvl1pPr algn="ctr">
              <a:spcBef>
                <a:spcPts val="600"/>
              </a:spcBef>
              <a:spcAft>
                <a:spcPts val="600"/>
              </a:spcAft>
              <a:defRPr kumimoji="1" sz="2800" b="1">
                <a:solidFill>
                  <a:srgbClr val="002060"/>
                </a:solidFill>
                <a:latin typeface="Microsoft YaHei" panose="020B0503020204020204" pitchFamily="34" charset="-122"/>
                <a:ea typeface="Microsoft YaHei" panose="020B0503020204020204" pitchFamily="34" charset="-122"/>
              </a:defRPr>
            </a:lvl1pPr>
          </a:lstStyle>
          <a:p>
            <a:r>
              <a:rPr lang="zh-CN" sz="3200" dirty="0"/>
              <a:t>范芷瑞</a:t>
            </a:r>
            <a:endParaRPr lang="zh-CN" sz="3200" dirty="0"/>
          </a:p>
        </p:txBody>
      </p:sp>
      <p:sp>
        <p:nvSpPr>
          <p:cNvPr id="7" name="TextBox 6"/>
          <p:cNvSpPr txBox="1"/>
          <p:nvPr/>
        </p:nvSpPr>
        <p:spPr>
          <a:xfrm>
            <a:off x="7434" y="1432551"/>
            <a:ext cx="12192000" cy="706755"/>
          </a:xfrm>
          <a:prstGeom prst="rect">
            <a:avLst/>
          </a:prstGeom>
          <a:noFill/>
        </p:spPr>
        <p:txBody>
          <a:bodyPr wrap="square">
            <a:spAutoFit/>
          </a:bodyPr>
          <a:lstStyle/>
          <a:p>
            <a:pPr algn="ctr">
              <a:spcBef>
                <a:spcPts val="1800"/>
              </a:spcBef>
              <a:spcAft>
                <a:spcPts val="600"/>
              </a:spcAft>
            </a:pPr>
            <a:r>
              <a:rPr lang="zh-CN" altLang="en-US" sz="3400" b="1" dirty="0">
                <a:solidFill>
                  <a:srgbClr val="C00000"/>
                </a:solidFill>
                <a:latin typeface="Microsoft YaHei" panose="020B0503020204020204" pitchFamily="34" charset="-122"/>
                <a:ea typeface="Microsoft YaHei" panose="020B0503020204020204" pitchFamily="34" charset="-122"/>
              </a:rPr>
              <a:t>带平衡校正的神经初始化静力凝聚（NICE）</a:t>
            </a:r>
            <a:endParaRPr lang="zh-CN" altLang="en-US" sz="4000" b="1" dirty="0">
              <a:solidFill>
                <a:srgbClr val="C00000"/>
              </a:solidFill>
              <a:latin typeface="Microsoft YaHei" panose="020B0503020204020204" pitchFamily="34" charset="-122"/>
              <a:ea typeface="Microsoft YaHei" panose="020B0503020204020204" pitchFamily="34" charset="-122"/>
            </a:endParaRPr>
          </a:p>
        </p:txBody>
      </p:sp>
      <p:sp>
        <p:nvSpPr>
          <p:cNvPr id="8" name="TextBox 7"/>
          <p:cNvSpPr txBox="1"/>
          <p:nvPr/>
        </p:nvSpPr>
        <p:spPr>
          <a:xfrm>
            <a:off x="457200" y="2240280"/>
            <a:ext cx="11274552" cy="548640"/>
          </a:xfrm>
          <a:prstGeom prst="rect">
            <a:avLst/>
          </a:prstGeom>
          <a:noFill/>
        </p:spPr>
        <p:txBody>
          <a:bodyPr wrap="square" lIns="73152" rIns="73152" tIns="36576" bIns="36576" anchor="t">
            <a:spAutoFit/>
          </a:bodyPr>
          <a:lstStyle/>
          <a:p>
            <a:pPr algn="ctr">
              <a:spcAft>
                <a:spcPts val="600"/>
              </a:spcAft>
            </a:pPr>
            <a:r>
              <a:rPr sz="1800" b="0" i="0">
                <a:solidFill>
                  <a:srgbClr val="595959"/>
                </a:solidFill>
                <a:latin typeface="Arial"/>
                <a:ea typeface="Microsoft YaHei"/>
              </a:rPr>
              <a:t>及其在切割 TPMS 点阵厚度设计中的应用　·　组会汇报　·　2026 年 10 月</a:t>
            </a:r>
          </a:p>
        </p:txBody>
      </p:sp>
    </p:spTree>
  </p:cSld>
  <p:clrMapOvr>
    <a:masterClrMapping/>
  </p:clrMapOvr>
  <mc:AlternateContent xmlns:mc="http://schemas.openxmlformats.org/markup-compatibility/2006">
    <mc:Choice xmlns:p14="http://schemas.microsoft.com/office/powerpoint/2010/main" Requires="p14">
      <p:transition spd="slow" p14:dur="5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切割点阵的厚度设计：均匀化不准，细尺度分析太慢</a:t>
            </a:r>
          </a:p>
        </p:txBody>
      </p:sp>
      <p:pic>
        <p:nvPicPr>
          <p:cNvPr id="3" name="Picture 2" descr="F00_problem.png"/>
          <p:cNvPicPr>
            <a:picLocks noChangeAspect="1"/>
          </p:cNvPicPr>
          <p:nvPr/>
        </p:nvPicPr>
        <p:blipFill>
          <a:blip r:embed="rId3"/>
          <a:stretch>
            <a:fillRect/>
          </a:stretch>
        </p:blipFill>
        <p:spPr>
          <a:xfrm>
            <a:off x="2367009" y="987552"/>
            <a:ext cx="7454933" cy="3154680"/>
          </a:xfrm>
          <a:prstGeom prst="rect">
            <a:avLst/>
          </a:prstGeom>
        </p:spPr>
      </p:pic>
      <p:sp>
        <p:nvSpPr>
          <p:cNvPr id="4" name="Rounded Rectangle 3"/>
          <p:cNvSpPr/>
          <p:nvPr/>
        </p:nvSpPr>
        <p:spPr>
          <a:xfrm>
            <a:off x="457200" y="4242816"/>
            <a:ext cx="3575304" cy="1298448"/>
          </a:xfrm>
          <a:prstGeom prst="roundRect">
            <a:avLst>
              <a:gd name="adj" fmla="val 3500"/>
            </a:avLst>
          </a:prstGeom>
          <a:solidFill>
            <a:srgbClr val="F4F6F9"/>
          </a:solidFill>
          <a:ln>
            <a:noFill/>
          </a:ln>
        </p:spPr>
        <p:txBody>
          <a:bodyPr rtlCol="0" anchor="ctr"/>
          <a:lstStyle/>
          <a:p>
            <a:pPr algn="ctr"/>
          </a:p>
        </p:txBody>
      </p:sp>
      <p:sp>
        <p:nvSpPr>
          <p:cNvPr id="5" name="TextBox 4"/>
          <p:cNvSpPr txBox="1"/>
          <p:nvPr/>
        </p:nvSpPr>
        <p:spPr>
          <a:xfrm>
            <a:off x="548640" y="4352544"/>
            <a:ext cx="3392424"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27%</a:t>
            </a:r>
          </a:p>
        </p:txBody>
      </p:sp>
      <p:sp>
        <p:nvSpPr>
          <p:cNvPr id="6" name="TextBox 5"/>
          <p:cNvSpPr txBox="1"/>
          <p:nvPr/>
        </p:nvSpPr>
        <p:spPr>
          <a:xfrm>
            <a:off x="640080" y="5010912"/>
            <a:ext cx="3209544" cy="475487"/>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均匀化：切割面固支板上低估初始柔度</a:t>
            </a:r>
          </a:p>
        </p:txBody>
      </p:sp>
      <p:sp>
        <p:nvSpPr>
          <p:cNvPr id="7" name="Rounded Rectangle 6"/>
          <p:cNvSpPr/>
          <p:nvPr/>
        </p:nvSpPr>
        <p:spPr>
          <a:xfrm>
            <a:off x="4306824" y="4242816"/>
            <a:ext cx="3575304" cy="1298448"/>
          </a:xfrm>
          <a:prstGeom prst="roundRect">
            <a:avLst>
              <a:gd name="adj" fmla="val 3500"/>
            </a:avLst>
          </a:prstGeom>
          <a:solidFill>
            <a:srgbClr val="F4F6F9"/>
          </a:solidFill>
          <a:ln>
            <a:noFill/>
          </a:ln>
        </p:spPr>
        <p:txBody>
          <a:bodyPr rtlCol="0" anchor="ctr"/>
          <a:lstStyle/>
          <a:p>
            <a:pPr algn="ctr"/>
          </a:p>
        </p:txBody>
      </p:sp>
      <p:sp>
        <p:nvSpPr>
          <p:cNvPr id="8" name="TextBox 7"/>
          <p:cNvSpPr txBox="1"/>
          <p:nvPr/>
        </p:nvSpPr>
        <p:spPr>
          <a:xfrm>
            <a:off x="4398264" y="4352544"/>
            <a:ext cx="3392424"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14–20 min</a:t>
            </a:r>
          </a:p>
        </p:txBody>
      </p:sp>
      <p:sp>
        <p:nvSpPr>
          <p:cNvPr id="9" name="TextBox 8"/>
          <p:cNvSpPr txBox="1"/>
          <p:nvPr/>
        </p:nvSpPr>
        <p:spPr>
          <a:xfrm>
            <a:off x="4489704" y="5010912"/>
            <a:ext cx="3209544" cy="475487"/>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细尺度精确分析：八胞元点阵分析一次（16 线程），每次迭代都要重做</a:t>
            </a:r>
          </a:p>
        </p:txBody>
      </p:sp>
      <p:sp>
        <p:nvSpPr>
          <p:cNvPr id="10" name="Rounded Rectangle 9"/>
          <p:cNvSpPr/>
          <p:nvPr/>
        </p:nvSpPr>
        <p:spPr>
          <a:xfrm>
            <a:off x="8156448" y="4242816"/>
            <a:ext cx="3575304" cy="1298448"/>
          </a:xfrm>
          <a:prstGeom prst="roundRect">
            <a:avLst>
              <a:gd name="adj" fmla="val 3500"/>
            </a:avLst>
          </a:prstGeom>
          <a:solidFill>
            <a:srgbClr val="F4F6F9"/>
          </a:solidFill>
          <a:ln>
            <a:noFill/>
          </a:ln>
        </p:spPr>
        <p:txBody>
          <a:bodyPr rtlCol="0" anchor="ctr"/>
          <a:lstStyle/>
          <a:p>
            <a:pPr algn="ctr"/>
          </a:p>
        </p:txBody>
      </p:sp>
      <p:sp>
        <p:nvSpPr>
          <p:cNvPr id="11" name="TextBox 10"/>
          <p:cNvSpPr txBox="1"/>
          <p:nvPr/>
        </p:nvSpPr>
        <p:spPr>
          <a:xfrm>
            <a:off x="8247888" y="4352544"/>
            <a:ext cx="3392424"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2,679–45,900</a:t>
            </a:r>
          </a:p>
        </p:txBody>
      </p:sp>
      <p:sp>
        <p:nvSpPr>
          <p:cNvPr id="12" name="TextBox 11"/>
          <p:cNvSpPr txBox="1"/>
          <p:nvPr/>
        </p:nvSpPr>
        <p:spPr>
          <a:xfrm>
            <a:off x="8339327" y="5010912"/>
            <a:ext cx="3209544" cy="475487"/>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各胞元保留的主自由度：切割面上的支撑和载荷作用于切割平面单元的全部节点</a:t>
            </a:r>
          </a:p>
        </p:txBody>
      </p:sp>
      <p:sp>
        <p:nvSpPr>
          <p:cNvPr id="13" name="Rounded Rectangle 12"/>
          <p:cNvSpPr/>
          <p:nvPr/>
        </p:nvSpPr>
        <p:spPr>
          <a:xfrm>
            <a:off x="457200" y="5632704"/>
            <a:ext cx="11274552" cy="512064"/>
          </a:xfrm>
          <a:prstGeom prst="roundRect">
            <a:avLst>
              <a:gd name="adj" fmla="val 3500"/>
            </a:avLst>
          </a:prstGeom>
          <a:solidFill>
            <a:srgbClr val="FBF1F1"/>
          </a:solidFill>
          <a:ln>
            <a:noFill/>
          </a:ln>
        </p:spPr>
        <p:txBody>
          <a:bodyPr rtlCol="0" anchor="ctr"/>
          <a:lstStyle/>
          <a:p>
            <a:pPr algn="ctr"/>
          </a:p>
        </p:txBody>
      </p:sp>
      <p:sp>
        <p:nvSpPr>
          <p:cNvPr id="14" name="TextBox 13"/>
          <p:cNvSpPr txBox="1"/>
          <p:nvPr/>
        </p:nvSpPr>
        <p:spPr>
          <a:xfrm>
            <a:off x="640080" y="5632704"/>
            <a:ext cx="10908792" cy="512064"/>
          </a:xfrm>
          <a:prstGeom prst="rect">
            <a:avLst/>
          </a:prstGeom>
          <a:noFill/>
        </p:spPr>
        <p:txBody>
          <a:bodyPr wrap="square" lIns="18288" rIns="18288" tIns="36576" bIns="36576" anchor="ctr">
            <a:spAutoFit/>
          </a:bodyPr>
          <a:lstStyle/>
          <a:p>
            <a:pPr algn="l">
              <a:lnSpc>
                <a:spcPct val="112000"/>
              </a:lnSpc>
              <a:spcAft>
                <a:spcPts val="600"/>
              </a:spcAft>
            </a:pPr>
            <a:r>
              <a:rPr sz="1600" b="1" i="0">
                <a:solidFill>
                  <a:srgbClr val="C00000"/>
                </a:solidFill>
                <a:latin typeface="Arial"/>
                <a:ea typeface="Microsoft YaHei"/>
              </a:rPr>
              <a:t>思路：</a:t>
            </a:r>
            <a:r>
              <a:rPr sz="1600" b="0" i="0">
                <a:solidFill>
                  <a:srgbClr val="262626"/>
                </a:solidFill>
                <a:latin typeface="Arial"/>
                <a:ea typeface="Microsoft YaHei"/>
              </a:rPr>
              <a:t>保留静力凝聚的框架和全部主自由度，只近似内部位移，免去内部刚度矩阵的分解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切割有限元离散：几何改变无需重新划分网格</a:t>
            </a:r>
          </a:p>
        </p:txBody>
      </p:sp>
      <p:pic>
        <p:nvPicPr>
          <p:cNvPr id="3" name="Picture 2" descr="cutfem_schematic.png"/>
          <p:cNvPicPr>
            <a:picLocks noChangeAspect="1"/>
          </p:cNvPicPr>
          <p:nvPr/>
        </p:nvPicPr>
        <p:blipFill>
          <a:blip r:embed="rId3"/>
          <a:stretch>
            <a:fillRect/>
          </a:stretch>
        </p:blipFill>
        <p:spPr>
          <a:xfrm>
            <a:off x="457200" y="987552"/>
            <a:ext cx="4315968" cy="4315968"/>
          </a:xfrm>
          <a:prstGeom prst="rect">
            <a:avLst/>
          </a:prstGeom>
        </p:spPr>
      </p:pic>
      <p:sp>
        <p:nvSpPr>
          <p:cNvPr id="4" name="Rectangle 3"/>
          <p:cNvSpPr/>
          <p:nvPr/>
        </p:nvSpPr>
        <p:spPr>
          <a:xfrm>
            <a:off x="502920" y="5431536"/>
            <a:ext cx="201168" cy="146304"/>
          </a:xfrm>
          <a:prstGeom prst="rect">
            <a:avLst/>
          </a:prstGeom>
          <a:solidFill>
            <a:srgbClr val="7FA5CD"/>
          </a:solidFill>
          <a:ln>
            <a:noFill/>
          </a:ln>
        </p:spPr>
        <p:txBody>
          <a:bodyPr rtlCol="0" anchor="ctr"/>
          <a:lstStyle/>
          <a:p>
            <a:pPr algn="ctr"/>
          </a:p>
        </p:txBody>
      </p:sp>
      <p:sp>
        <p:nvSpPr>
          <p:cNvPr id="5" name="TextBox 4"/>
          <p:cNvSpPr txBox="1"/>
          <p:nvPr/>
        </p:nvSpPr>
        <p:spPr>
          <a:xfrm>
            <a:off x="777240" y="5376672"/>
            <a:ext cx="1170432" cy="256032"/>
          </a:xfrm>
          <a:prstGeom prst="rect">
            <a:avLst/>
          </a:prstGeom>
          <a:noFill/>
        </p:spPr>
        <p:txBody>
          <a:bodyPr wrap="square" lIns="0" rIns="0" tIns="36576" bIns="36576" anchor="ctr">
            <a:spAutoFit/>
          </a:bodyPr>
          <a:lstStyle/>
          <a:p>
            <a:pPr algn="l">
              <a:spcAft>
                <a:spcPts val="600"/>
              </a:spcAft>
            </a:pPr>
            <a:r>
              <a:rPr sz="1100" b="0" i="0">
                <a:solidFill>
                  <a:srgbClr val="262626"/>
                </a:solidFill>
                <a:latin typeface="Arial"/>
                <a:ea typeface="Microsoft YaHei"/>
              </a:rPr>
              <a:t>材料层</a:t>
            </a:r>
          </a:p>
        </p:txBody>
      </p:sp>
      <p:sp>
        <p:nvSpPr>
          <p:cNvPr id="6" name="Rectangle 5"/>
          <p:cNvSpPr/>
          <p:nvPr/>
        </p:nvSpPr>
        <p:spPr>
          <a:xfrm>
            <a:off x="1965960" y="5431536"/>
            <a:ext cx="201168" cy="146304"/>
          </a:xfrm>
          <a:prstGeom prst="rect">
            <a:avLst/>
          </a:prstGeom>
          <a:solidFill>
            <a:srgbClr val="D5DAE0"/>
          </a:solidFill>
          <a:ln>
            <a:noFill/>
          </a:ln>
        </p:spPr>
        <p:txBody>
          <a:bodyPr rtlCol="0" anchor="ctr"/>
          <a:lstStyle/>
          <a:p>
            <a:pPr algn="ctr"/>
          </a:p>
        </p:txBody>
      </p:sp>
      <p:sp>
        <p:nvSpPr>
          <p:cNvPr id="7" name="TextBox 6"/>
          <p:cNvSpPr txBox="1"/>
          <p:nvPr/>
        </p:nvSpPr>
        <p:spPr>
          <a:xfrm>
            <a:off x="2240280" y="5376672"/>
            <a:ext cx="1170432" cy="256032"/>
          </a:xfrm>
          <a:prstGeom prst="rect">
            <a:avLst/>
          </a:prstGeom>
          <a:noFill/>
        </p:spPr>
        <p:txBody>
          <a:bodyPr wrap="square" lIns="0" rIns="0" tIns="36576" bIns="36576" anchor="ctr">
            <a:spAutoFit/>
          </a:bodyPr>
          <a:lstStyle/>
          <a:p>
            <a:pPr algn="l">
              <a:spcAft>
                <a:spcPts val="600"/>
              </a:spcAft>
            </a:pPr>
            <a:r>
              <a:rPr sz="1100" b="0" i="0">
                <a:solidFill>
                  <a:srgbClr val="262626"/>
                </a:solidFill>
                <a:latin typeface="Arial"/>
                <a:ea typeface="Microsoft YaHei"/>
              </a:rPr>
              <a:t>切除部分</a:t>
            </a:r>
          </a:p>
        </p:txBody>
      </p:sp>
      <p:sp>
        <p:nvSpPr>
          <p:cNvPr id="8" name="Rectangle 7"/>
          <p:cNvSpPr/>
          <p:nvPr/>
        </p:nvSpPr>
        <p:spPr>
          <a:xfrm>
            <a:off x="3429000" y="5481828"/>
            <a:ext cx="219456" cy="45720"/>
          </a:xfrm>
          <a:prstGeom prst="rect">
            <a:avLst/>
          </a:prstGeom>
          <a:solidFill>
            <a:srgbClr val="8C6A2F"/>
          </a:solidFill>
          <a:ln>
            <a:noFill/>
          </a:ln>
        </p:spPr>
        <p:txBody>
          <a:bodyPr rtlCol="0" anchor="ctr"/>
          <a:lstStyle/>
          <a:p>
            <a:pPr algn="ctr"/>
          </a:p>
        </p:txBody>
      </p:sp>
      <p:sp>
        <p:nvSpPr>
          <p:cNvPr id="9" name="TextBox 8"/>
          <p:cNvSpPr txBox="1"/>
          <p:nvPr/>
        </p:nvSpPr>
        <p:spPr>
          <a:xfrm>
            <a:off x="3703320" y="5376672"/>
            <a:ext cx="1170432" cy="256032"/>
          </a:xfrm>
          <a:prstGeom prst="rect">
            <a:avLst/>
          </a:prstGeom>
          <a:noFill/>
        </p:spPr>
        <p:txBody>
          <a:bodyPr wrap="square" lIns="0" rIns="0" tIns="36576" bIns="36576" anchor="ctr">
            <a:spAutoFit/>
          </a:bodyPr>
          <a:lstStyle/>
          <a:p>
            <a:pPr algn="l">
              <a:spcAft>
                <a:spcPts val="600"/>
              </a:spcAft>
            </a:pPr>
            <a:r>
              <a:rPr sz="1100" b="0" i="0">
                <a:solidFill>
                  <a:srgbClr val="262626"/>
                </a:solidFill>
                <a:latin typeface="Arial"/>
                <a:ea typeface="Microsoft YaHei"/>
              </a:rPr>
              <a:t>切割平面</a:t>
            </a:r>
          </a:p>
        </p:txBody>
      </p:sp>
      <p:sp>
        <p:nvSpPr>
          <p:cNvPr id="10" name="Rectangle 9"/>
          <p:cNvSpPr/>
          <p:nvPr/>
        </p:nvSpPr>
        <p:spPr>
          <a:xfrm>
            <a:off x="502920" y="5678424"/>
            <a:ext cx="201168" cy="146304"/>
          </a:xfrm>
          <a:prstGeom prst="rect">
            <a:avLst/>
          </a:prstGeom>
          <a:solidFill>
            <a:srgbClr val="E9EFF6"/>
          </a:solidFill>
          <a:ln w="9525">
            <a:solidFill>
              <a:srgbClr val="B9C1CA"/>
            </a:solidFill>
          </a:ln>
        </p:spPr>
        <p:txBody>
          <a:bodyPr rtlCol="0" anchor="ctr"/>
          <a:lstStyle/>
          <a:p>
            <a:pPr algn="ctr"/>
          </a:p>
        </p:txBody>
      </p:sp>
      <p:sp>
        <p:nvSpPr>
          <p:cNvPr id="11" name="TextBox 10"/>
          <p:cNvSpPr txBox="1"/>
          <p:nvPr/>
        </p:nvSpPr>
        <p:spPr>
          <a:xfrm>
            <a:off x="777240" y="5623560"/>
            <a:ext cx="1170432" cy="256032"/>
          </a:xfrm>
          <a:prstGeom prst="rect">
            <a:avLst/>
          </a:prstGeom>
          <a:noFill/>
        </p:spPr>
        <p:txBody>
          <a:bodyPr wrap="square" lIns="0" rIns="0" tIns="36576" bIns="36576" anchor="ctr">
            <a:spAutoFit/>
          </a:bodyPr>
          <a:lstStyle/>
          <a:p>
            <a:pPr algn="l">
              <a:spcAft>
                <a:spcPts val="600"/>
              </a:spcAft>
            </a:pPr>
            <a:r>
              <a:rPr sz="1100" b="0" i="0">
                <a:solidFill>
                  <a:srgbClr val="262626"/>
                </a:solidFill>
                <a:latin typeface="Arial"/>
                <a:ea typeface="Microsoft YaHei"/>
              </a:rPr>
              <a:t>激活单元</a:t>
            </a:r>
          </a:p>
        </p:txBody>
      </p:sp>
      <p:sp>
        <p:nvSpPr>
          <p:cNvPr id="12" name="Rectangle 11"/>
          <p:cNvSpPr/>
          <p:nvPr/>
        </p:nvSpPr>
        <p:spPr>
          <a:xfrm>
            <a:off x="1965960" y="5678424"/>
            <a:ext cx="201168" cy="146304"/>
          </a:xfrm>
          <a:prstGeom prst="rect">
            <a:avLst/>
          </a:prstGeom>
          <a:solidFill>
            <a:srgbClr val="F2E6CC"/>
          </a:solidFill>
          <a:ln>
            <a:noFill/>
          </a:ln>
        </p:spPr>
        <p:txBody>
          <a:bodyPr rtlCol="0" anchor="ctr"/>
          <a:lstStyle/>
          <a:p>
            <a:pPr algn="ctr"/>
          </a:p>
        </p:txBody>
      </p:sp>
      <p:sp>
        <p:nvSpPr>
          <p:cNvPr id="13" name="TextBox 12"/>
          <p:cNvSpPr txBox="1"/>
          <p:nvPr/>
        </p:nvSpPr>
        <p:spPr>
          <a:xfrm>
            <a:off x="2240280" y="5623560"/>
            <a:ext cx="1170432" cy="256032"/>
          </a:xfrm>
          <a:prstGeom prst="rect">
            <a:avLst/>
          </a:prstGeom>
          <a:noFill/>
        </p:spPr>
        <p:txBody>
          <a:bodyPr wrap="square" lIns="0" rIns="0" tIns="36576" bIns="36576" anchor="ctr">
            <a:spAutoFit/>
          </a:bodyPr>
          <a:lstStyle/>
          <a:p>
            <a:pPr algn="l">
              <a:spcAft>
                <a:spcPts val="600"/>
              </a:spcAft>
            </a:pPr>
            <a:r>
              <a:rPr sz="1100" b="0" i="0">
                <a:solidFill>
                  <a:srgbClr val="262626"/>
                </a:solidFill>
                <a:latin typeface="Arial"/>
                <a:ea typeface="Microsoft YaHei"/>
              </a:rPr>
              <a:t>切割平面单元</a:t>
            </a:r>
          </a:p>
        </p:txBody>
      </p:sp>
      <p:sp>
        <p:nvSpPr>
          <p:cNvPr id="14" name="Rectangle 13"/>
          <p:cNvSpPr/>
          <p:nvPr/>
        </p:nvSpPr>
        <p:spPr>
          <a:xfrm>
            <a:off x="3429000" y="5728716"/>
            <a:ext cx="219456" cy="45720"/>
          </a:xfrm>
          <a:prstGeom prst="rect">
            <a:avLst/>
          </a:prstGeom>
          <a:solidFill>
            <a:srgbClr val="C8393B"/>
          </a:solidFill>
          <a:ln>
            <a:noFill/>
          </a:ln>
        </p:spPr>
        <p:txBody>
          <a:bodyPr rtlCol="0" anchor="ctr"/>
          <a:lstStyle/>
          <a:p>
            <a:pPr algn="ctr"/>
          </a:p>
        </p:txBody>
      </p:sp>
      <p:sp>
        <p:nvSpPr>
          <p:cNvPr id="15" name="TextBox 14"/>
          <p:cNvSpPr txBox="1"/>
          <p:nvPr/>
        </p:nvSpPr>
        <p:spPr>
          <a:xfrm>
            <a:off x="3703320" y="5623560"/>
            <a:ext cx="1170432" cy="256032"/>
          </a:xfrm>
          <a:prstGeom prst="rect">
            <a:avLst/>
          </a:prstGeom>
          <a:noFill/>
        </p:spPr>
        <p:txBody>
          <a:bodyPr wrap="square" lIns="0" rIns="0" tIns="36576" bIns="36576" anchor="ctr">
            <a:spAutoFit/>
          </a:bodyPr>
          <a:lstStyle/>
          <a:p>
            <a:pPr algn="l">
              <a:spcAft>
                <a:spcPts val="600"/>
              </a:spcAft>
            </a:pPr>
            <a:r>
              <a:rPr sz="1100" b="0" i="0">
                <a:solidFill>
                  <a:srgbClr val="262626"/>
                </a:solidFill>
                <a:latin typeface="Arial"/>
                <a:ea typeface="Microsoft YaHei"/>
              </a:rPr>
              <a:t>ghost 面</a:t>
            </a:r>
          </a:p>
        </p:txBody>
      </p:sp>
      <p:sp>
        <p:nvSpPr>
          <p:cNvPr id="16" name="Oval 15"/>
          <p:cNvSpPr/>
          <p:nvPr/>
        </p:nvSpPr>
        <p:spPr>
          <a:xfrm>
            <a:off x="534924" y="5929883"/>
            <a:ext cx="137160" cy="137160"/>
          </a:xfrm>
          <a:prstGeom prst="ellipse">
            <a:avLst/>
          </a:prstGeom>
          <a:solidFill>
            <a:srgbClr val="2E5C8A"/>
          </a:solidFill>
          <a:ln>
            <a:noFill/>
          </a:ln>
        </p:spPr>
        <p:txBody>
          <a:bodyPr rtlCol="0" anchor="ctr"/>
          <a:lstStyle/>
          <a:p>
            <a:pPr algn="ctr"/>
          </a:p>
        </p:txBody>
      </p:sp>
      <p:sp>
        <p:nvSpPr>
          <p:cNvPr id="17" name="TextBox 16"/>
          <p:cNvSpPr txBox="1"/>
          <p:nvPr/>
        </p:nvSpPr>
        <p:spPr>
          <a:xfrm>
            <a:off x="777240" y="5870448"/>
            <a:ext cx="1170432" cy="256032"/>
          </a:xfrm>
          <a:prstGeom prst="rect">
            <a:avLst/>
          </a:prstGeom>
          <a:noFill/>
        </p:spPr>
        <p:txBody>
          <a:bodyPr wrap="square" lIns="0" rIns="0" tIns="36576" bIns="36576" anchor="ctr">
            <a:spAutoFit/>
          </a:bodyPr>
          <a:lstStyle/>
          <a:p>
            <a:pPr algn="l">
              <a:spcAft>
                <a:spcPts val="600"/>
              </a:spcAft>
            </a:pPr>
            <a:r>
              <a:rPr sz="1100" b="0" i="0">
                <a:solidFill>
                  <a:srgbClr val="262626"/>
                </a:solidFill>
                <a:latin typeface="Arial"/>
                <a:ea typeface="Microsoft YaHei"/>
              </a:rPr>
              <a:t>边界面主节点</a:t>
            </a:r>
          </a:p>
        </p:txBody>
      </p:sp>
      <p:sp>
        <p:nvSpPr>
          <p:cNvPr id="18" name="Oval 17"/>
          <p:cNvSpPr/>
          <p:nvPr/>
        </p:nvSpPr>
        <p:spPr>
          <a:xfrm>
            <a:off x="1997964" y="5929883"/>
            <a:ext cx="137160" cy="137160"/>
          </a:xfrm>
          <a:prstGeom prst="ellipse">
            <a:avLst/>
          </a:prstGeom>
          <a:solidFill>
            <a:srgbClr val="8C6A2F"/>
          </a:solidFill>
          <a:ln>
            <a:noFill/>
          </a:ln>
        </p:spPr>
        <p:txBody>
          <a:bodyPr rtlCol="0" anchor="ctr"/>
          <a:lstStyle/>
          <a:p>
            <a:pPr algn="ctr"/>
          </a:p>
        </p:txBody>
      </p:sp>
      <p:sp>
        <p:nvSpPr>
          <p:cNvPr id="19" name="TextBox 18"/>
          <p:cNvSpPr txBox="1"/>
          <p:nvPr/>
        </p:nvSpPr>
        <p:spPr>
          <a:xfrm>
            <a:off x="2240280" y="5870448"/>
            <a:ext cx="1170432" cy="256032"/>
          </a:xfrm>
          <a:prstGeom prst="rect">
            <a:avLst/>
          </a:prstGeom>
          <a:noFill/>
        </p:spPr>
        <p:txBody>
          <a:bodyPr wrap="square" lIns="0" rIns="0" tIns="36576" bIns="36576" anchor="ctr">
            <a:spAutoFit/>
          </a:bodyPr>
          <a:lstStyle/>
          <a:p>
            <a:pPr algn="l">
              <a:spcAft>
                <a:spcPts val="600"/>
              </a:spcAft>
            </a:pPr>
            <a:r>
              <a:rPr sz="1100" b="0" i="0">
                <a:solidFill>
                  <a:srgbClr val="262626"/>
                </a:solidFill>
                <a:latin typeface="Arial"/>
                <a:ea typeface="Microsoft YaHei"/>
              </a:rPr>
              <a:t>切割单元主节点</a:t>
            </a:r>
          </a:p>
        </p:txBody>
      </p:sp>
      <p:sp>
        <p:nvSpPr>
          <p:cNvPr id="20" name="Oval 19"/>
          <p:cNvSpPr/>
          <p:nvPr/>
        </p:nvSpPr>
        <p:spPr>
          <a:xfrm>
            <a:off x="3493008" y="5961888"/>
            <a:ext cx="73152" cy="73152"/>
          </a:xfrm>
          <a:prstGeom prst="ellipse">
            <a:avLst/>
          </a:prstGeom>
          <a:solidFill>
            <a:srgbClr val="9AA4AE"/>
          </a:solidFill>
          <a:ln>
            <a:noFill/>
          </a:ln>
        </p:spPr>
        <p:txBody>
          <a:bodyPr rtlCol="0" anchor="ctr"/>
          <a:lstStyle/>
          <a:p>
            <a:pPr algn="ctr"/>
          </a:p>
        </p:txBody>
      </p:sp>
      <p:sp>
        <p:nvSpPr>
          <p:cNvPr id="21" name="TextBox 20"/>
          <p:cNvSpPr txBox="1"/>
          <p:nvPr/>
        </p:nvSpPr>
        <p:spPr>
          <a:xfrm>
            <a:off x="3703320" y="5870448"/>
            <a:ext cx="1170432" cy="256032"/>
          </a:xfrm>
          <a:prstGeom prst="rect">
            <a:avLst/>
          </a:prstGeom>
          <a:noFill/>
        </p:spPr>
        <p:txBody>
          <a:bodyPr wrap="square" lIns="0" rIns="0" tIns="36576" bIns="36576" anchor="ctr">
            <a:spAutoFit/>
          </a:bodyPr>
          <a:lstStyle/>
          <a:p>
            <a:pPr algn="l">
              <a:spcAft>
                <a:spcPts val="600"/>
              </a:spcAft>
            </a:pPr>
            <a:r>
              <a:rPr sz="1100" b="0" i="0">
                <a:solidFill>
                  <a:srgbClr val="262626"/>
                </a:solidFill>
                <a:latin typeface="Arial"/>
                <a:ea typeface="Microsoft YaHei"/>
              </a:rPr>
              <a:t>内部节点</a:t>
            </a:r>
          </a:p>
        </p:txBody>
      </p:sp>
      <p:pic>
        <p:nvPicPr>
          <p:cNvPr id="22" name="Picture 21" descr="F08_geometry.png"/>
          <p:cNvPicPr>
            <a:picLocks noChangeAspect="1"/>
          </p:cNvPicPr>
          <p:nvPr/>
        </p:nvPicPr>
        <p:blipFill>
          <a:blip r:embed="rId4"/>
          <a:stretch>
            <a:fillRect/>
          </a:stretch>
        </p:blipFill>
        <p:spPr>
          <a:xfrm>
            <a:off x="5074920" y="988330"/>
            <a:ext cx="6656832" cy="2266155"/>
          </a:xfrm>
          <a:prstGeom prst="rect">
            <a:avLst/>
          </a:prstGeom>
        </p:spPr>
      </p:pic>
      <p:sp>
        <p:nvSpPr>
          <p:cNvPr id="23" name="TextBox 22"/>
          <p:cNvSpPr txBox="1"/>
          <p:nvPr/>
        </p:nvSpPr>
        <p:spPr>
          <a:xfrm>
            <a:off x="5074920" y="3401568"/>
            <a:ext cx="6656832" cy="2743200"/>
          </a:xfrm>
          <a:prstGeom prst="rect">
            <a:avLst/>
          </a:prstGeom>
          <a:noFill/>
        </p:spPr>
        <p:txBody>
          <a:bodyPr wrap="square" lIns="54864" rIns="54864" tIns="36576" bIns="36576" anchor="t">
            <a:spAutoFit/>
          </a:bodyPr>
          <a:lstStyle/>
          <a:p>
            <a:pPr algn="l">
              <a:lnSpc>
                <a:spcPct val="112000"/>
              </a:lnSpc>
              <a:spcAft>
                <a:spcPts val="1000"/>
              </a:spcAft>
            </a:pPr>
            <a:r>
              <a:rPr sz="1600" b="1" i="0">
                <a:solidFill>
                  <a:srgbClr val="C00000"/>
                </a:solidFill>
                <a:latin typeface="Arial"/>
                <a:ea typeface="Microsoft YaHei"/>
              </a:rPr>
              <a:t>几何　</a:t>
            </a:r>
            <a:r>
              <a:rPr sz="1600" b="0" i="0">
                <a:solidFill>
                  <a:srgbClr val="262626"/>
                </a:solidFill>
                <a:latin typeface="Arial"/>
                <a:ea typeface="Microsoft YaHei"/>
              </a:rPr>
              <a:t>Schwarz-P 材料层；8 个角点厚度参数插值；至多一个平面切割</a:t>
            </a:r>
          </a:p>
          <a:p>
            <a:pPr algn="l">
              <a:lnSpc>
                <a:spcPct val="112000"/>
              </a:lnSpc>
              <a:spcAft>
                <a:spcPts val="1000"/>
              </a:spcAft>
            </a:pPr>
            <a:r>
              <a:rPr sz="1600" b="1" i="0">
                <a:solidFill>
                  <a:srgbClr val="C00000"/>
                </a:solidFill>
                <a:latin typeface="Arial"/>
                <a:ea typeface="Microsoft YaHei"/>
              </a:rPr>
              <a:t>网格　</a:t>
            </a:r>
            <a:r>
              <a:rPr sz="1600" b="0" i="0">
                <a:solidFill>
                  <a:srgbClr val="262626"/>
                </a:solidFill>
                <a:latin typeface="Arial"/>
                <a:ea typeface="Microsoft YaHei"/>
              </a:rPr>
              <a:t>固定笛卡尔背景网格，每轴 32 个 Q2 单元（左图为每轴 8 个单元的二维示意）</a:t>
            </a:r>
          </a:p>
          <a:p>
            <a:pPr algn="l">
              <a:lnSpc>
                <a:spcPct val="112000"/>
              </a:lnSpc>
              <a:spcAft>
                <a:spcPts val="1000"/>
              </a:spcAft>
            </a:pPr>
            <a:r>
              <a:rPr sz="1600" b="1" i="0">
                <a:solidFill>
                  <a:srgbClr val="C00000"/>
                </a:solidFill>
                <a:latin typeface="Arial"/>
                <a:ea typeface="Microsoft YaHei"/>
              </a:rPr>
              <a:t>积分　</a:t>
            </a:r>
            <a:r>
              <a:rPr sz="1600" b="0" i="0">
                <a:solidFill>
                  <a:srgbClr val="262626"/>
                </a:solidFill>
                <a:latin typeface="Arial"/>
                <a:ea typeface="Microsoft YaHei"/>
              </a:rPr>
              <a:t>在单元的材料部分上积分：子胞元细分，材料边界处裁剪四面体</a:t>
            </a:r>
          </a:p>
          <a:p>
            <a:pPr algn="l">
              <a:lnSpc>
                <a:spcPct val="112000"/>
              </a:lnSpc>
              <a:spcAft>
                <a:spcPts val="1000"/>
              </a:spcAft>
            </a:pPr>
            <a:r>
              <a:rPr sz="1600" b="1" i="0">
                <a:solidFill>
                  <a:srgbClr val="C00000"/>
                </a:solidFill>
                <a:latin typeface="Arial"/>
                <a:ea typeface="Microsoft YaHei"/>
              </a:rPr>
              <a:t>稳定　</a:t>
            </a:r>
            <a:r>
              <a:rPr sz="1600" b="0" i="0">
                <a:solidFill>
                  <a:srgbClr val="262626"/>
                </a:solidFill>
                <a:latin typeface="Arial"/>
                <a:ea typeface="Microsoft YaHei"/>
              </a:rPr>
              <a:t>ghost 罚项控制只含少量材料的单元（</a:t>
            </a:r>
            <a:r>
              <a:rPr sz="1600" b="0" i="0">
                <a:solidFill>
                  <a:srgbClr val="262626"/>
                </a:solidFill>
                <a:latin typeface="Arial"/>
                <a:ea typeface="Microsoft YaHei"/>
              </a:rPr>
              <a:t>γ = 10</a:t>
            </a:r>
            <a:r>
              <a:rPr sz="1600" b="0" i="0" baseline="30000">
                <a:solidFill>
                  <a:srgbClr val="262626"/>
                </a:solidFill>
                <a:latin typeface="Arial"/>
                <a:ea typeface="Microsoft YaHei"/>
              </a:rPr>
              <a:t>−4</a:t>
            </a:r>
            <a:r>
              <a:rPr sz="1600" b="0" i="0">
                <a:solidFill>
                  <a:srgbClr val="262626"/>
                </a:solidFill>
                <a:latin typeface="Arial"/>
                <a:ea typeface="Microsoft YaHei"/>
              </a:rPr>
              <a:t>）</a:t>
            </a:r>
          </a:p>
          <a:p>
            <a:pPr algn="l">
              <a:lnSpc>
                <a:spcPct val="112000"/>
              </a:lnSpc>
              <a:spcAft>
                <a:spcPts val="1000"/>
              </a:spcAft>
            </a:pPr>
            <a:r>
              <a:rPr sz="1600" b="1" i="0">
                <a:solidFill>
                  <a:srgbClr val="C00000"/>
                </a:solidFill>
                <a:latin typeface="Arial"/>
                <a:ea typeface="Microsoft YaHei"/>
              </a:rPr>
              <a:t>主自由度　</a:t>
            </a:r>
            <a:r>
              <a:rPr sz="1600" b="0" i="0">
                <a:solidFill>
                  <a:srgbClr val="262626"/>
                </a:solidFill>
                <a:latin typeface="Arial"/>
                <a:ea typeface="Microsoft YaHei"/>
              </a:rPr>
              <a:t>胞元边界面节点和切割平面单元的全部节点：2,679–45,900 个；内部自由度约为其 6 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NICE：保留全部主自由度，只近似内部位移</a:t>
            </a:r>
          </a:p>
        </p:txBody>
      </p:sp>
      <p:pic>
        <p:nvPicPr>
          <p:cNvPr id="3" name="Picture 2" descr="F01_method_overview.png"/>
          <p:cNvPicPr>
            <a:picLocks noChangeAspect="1"/>
          </p:cNvPicPr>
          <p:nvPr/>
        </p:nvPicPr>
        <p:blipFill>
          <a:blip r:embed="rId3"/>
          <a:stretch>
            <a:fillRect/>
          </a:stretch>
        </p:blipFill>
        <p:spPr>
          <a:xfrm>
            <a:off x="457200" y="1000587"/>
            <a:ext cx="6309360" cy="5112857"/>
          </a:xfrm>
          <a:prstGeom prst="rect">
            <a:avLst/>
          </a:prstGeom>
        </p:spPr>
      </p:pic>
      <p:sp>
        <p:nvSpPr>
          <p:cNvPr id="4" name="Rounded Rectangle 3"/>
          <p:cNvSpPr/>
          <p:nvPr/>
        </p:nvSpPr>
        <p:spPr>
          <a:xfrm>
            <a:off x="7086600" y="1024128"/>
            <a:ext cx="4645152" cy="868680"/>
          </a:xfrm>
          <a:prstGeom prst="roundRect">
            <a:avLst>
              <a:gd name="adj" fmla="val 3500"/>
            </a:avLst>
          </a:prstGeom>
          <a:solidFill>
            <a:srgbClr val="EDF2F8"/>
          </a:solidFill>
          <a:ln>
            <a:noFill/>
          </a:ln>
        </p:spPr>
        <p:txBody>
          <a:bodyPr rtlCol="0" anchor="ctr"/>
          <a:lstStyle/>
          <a:p>
            <a:pPr algn="ctr"/>
          </a:p>
        </p:txBody>
      </p:sp>
      <p:pic>
        <p:nvPicPr>
          <p:cNvPr id="5" name="Picture 4" descr="3328deb75825.png"/>
          <p:cNvPicPr>
            <a:picLocks noChangeAspect="1"/>
          </p:cNvPicPr>
          <p:nvPr/>
        </p:nvPicPr>
        <p:blipFill>
          <a:blip r:embed="rId4"/>
          <a:stretch>
            <a:fillRect/>
          </a:stretch>
        </p:blipFill>
        <p:spPr>
          <a:xfrm>
            <a:off x="7699248" y="1281684"/>
            <a:ext cx="3419856" cy="353568"/>
          </a:xfrm>
          <a:prstGeom prst="rect">
            <a:avLst/>
          </a:prstGeom>
        </p:spPr>
      </p:pic>
      <p:sp>
        <p:nvSpPr>
          <p:cNvPr id="6" name="TextBox 5"/>
          <p:cNvSpPr txBox="1"/>
          <p:nvPr/>
        </p:nvSpPr>
        <p:spPr>
          <a:xfrm>
            <a:off x="7086600" y="2066543"/>
            <a:ext cx="502920" cy="548640"/>
          </a:xfrm>
          <a:prstGeom prst="rect">
            <a:avLst/>
          </a:prstGeom>
          <a:noFill/>
        </p:spPr>
        <p:txBody>
          <a:bodyPr wrap="square" lIns="0" rIns="0" tIns="36576" bIns="36576" anchor="t">
            <a:spAutoFit/>
          </a:bodyPr>
          <a:lstStyle/>
          <a:p>
            <a:pPr algn="l">
              <a:spcAft>
                <a:spcPts val="600"/>
              </a:spcAft>
            </a:pPr>
            <a:r>
              <a:rPr sz="2800" b="1" i="0">
                <a:solidFill>
                  <a:srgbClr val="C00000"/>
                </a:solidFill>
                <a:latin typeface="Arial"/>
                <a:ea typeface="Microsoft YaHei"/>
              </a:rPr>
              <a:t>1</a:t>
            </a:r>
          </a:p>
        </p:txBody>
      </p:sp>
      <p:sp>
        <p:nvSpPr>
          <p:cNvPr id="7" name="TextBox 6"/>
          <p:cNvSpPr txBox="1"/>
          <p:nvPr/>
        </p:nvSpPr>
        <p:spPr>
          <a:xfrm>
            <a:off x="7589520" y="2103120"/>
            <a:ext cx="4142232" cy="347472"/>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262626"/>
                </a:solidFill>
                <a:latin typeface="Arial"/>
                <a:ea typeface="Microsoft YaHei"/>
              </a:rPr>
              <a:t>网络</a:t>
            </a:r>
          </a:p>
        </p:txBody>
      </p:sp>
      <p:sp>
        <p:nvSpPr>
          <p:cNvPr id="8" name="TextBox 7"/>
          <p:cNvSpPr txBox="1"/>
          <p:nvPr/>
        </p:nvSpPr>
        <p:spPr>
          <a:xfrm>
            <a:off x="7589520" y="2450591"/>
            <a:ext cx="4142232" cy="603504"/>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262626"/>
                </a:solidFill>
                <a:latin typeface="Arial"/>
                <a:ea typeface="Microsoft YaHei"/>
              </a:rPr>
              <a:t>由主自由度位移预测内部位移；以几何为输入，对 q 线性</a:t>
            </a:r>
          </a:p>
        </p:txBody>
      </p:sp>
      <p:sp>
        <p:nvSpPr>
          <p:cNvPr id="9" name="TextBox 8"/>
          <p:cNvSpPr txBox="1"/>
          <p:nvPr/>
        </p:nvSpPr>
        <p:spPr>
          <a:xfrm>
            <a:off x="7086600" y="3054096"/>
            <a:ext cx="502920" cy="548640"/>
          </a:xfrm>
          <a:prstGeom prst="rect">
            <a:avLst/>
          </a:prstGeom>
          <a:noFill/>
        </p:spPr>
        <p:txBody>
          <a:bodyPr wrap="square" lIns="0" rIns="0" tIns="36576" bIns="36576" anchor="t">
            <a:spAutoFit/>
          </a:bodyPr>
          <a:lstStyle/>
          <a:p>
            <a:pPr algn="l">
              <a:spcAft>
                <a:spcPts val="600"/>
              </a:spcAft>
            </a:pPr>
            <a:r>
              <a:rPr sz="2800" b="1" i="0">
                <a:solidFill>
                  <a:srgbClr val="C00000"/>
                </a:solidFill>
                <a:latin typeface="Arial"/>
                <a:ea typeface="Microsoft YaHei"/>
              </a:rPr>
              <a:t>2</a:t>
            </a:r>
          </a:p>
        </p:txBody>
      </p:sp>
      <p:sp>
        <p:nvSpPr>
          <p:cNvPr id="10" name="TextBox 9"/>
          <p:cNvSpPr txBox="1"/>
          <p:nvPr/>
        </p:nvSpPr>
        <p:spPr>
          <a:xfrm>
            <a:off x="7589520" y="3090672"/>
            <a:ext cx="4142232" cy="347472"/>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262626"/>
                </a:solidFill>
                <a:latin typeface="Arial"/>
                <a:ea typeface="Microsoft YaHei"/>
              </a:rPr>
              <a:t>修正</a:t>
            </a:r>
          </a:p>
        </p:txBody>
      </p:sp>
      <p:sp>
        <p:nvSpPr>
          <p:cNvPr id="11" name="TextBox 10"/>
          <p:cNvSpPr txBox="1"/>
          <p:nvPr/>
        </p:nvSpPr>
        <p:spPr>
          <a:xfrm>
            <a:off x="7589520" y="3438144"/>
            <a:ext cx="4142232" cy="603504"/>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262626"/>
                </a:solidFill>
                <a:latin typeface="Arial"/>
                <a:ea typeface="Microsoft YaHei"/>
              </a:rPr>
              <a:t>固定的两重网格修正 8 / Q1(17) / 8，减小内部不平衡力；不含训练参数</a:t>
            </a:r>
          </a:p>
        </p:txBody>
      </p:sp>
      <p:sp>
        <p:nvSpPr>
          <p:cNvPr id="12" name="TextBox 11"/>
          <p:cNvSpPr txBox="1"/>
          <p:nvPr/>
        </p:nvSpPr>
        <p:spPr>
          <a:xfrm>
            <a:off x="7086600" y="4041648"/>
            <a:ext cx="502920" cy="548640"/>
          </a:xfrm>
          <a:prstGeom prst="rect">
            <a:avLst/>
          </a:prstGeom>
          <a:noFill/>
        </p:spPr>
        <p:txBody>
          <a:bodyPr wrap="square" lIns="0" rIns="0" tIns="36576" bIns="36576" anchor="t">
            <a:spAutoFit/>
          </a:bodyPr>
          <a:lstStyle/>
          <a:p>
            <a:pPr algn="l">
              <a:spcAft>
                <a:spcPts val="600"/>
              </a:spcAft>
            </a:pPr>
            <a:r>
              <a:rPr sz="2800" b="1" i="0">
                <a:solidFill>
                  <a:srgbClr val="C00000"/>
                </a:solidFill>
                <a:latin typeface="Arial"/>
                <a:ea typeface="Microsoft YaHei"/>
              </a:rPr>
              <a:t>3</a:t>
            </a:r>
          </a:p>
        </p:txBody>
      </p:sp>
      <p:sp>
        <p:nvSpPr>
          <p:cNvPr id="13" name="TextBox 12"/>
          <p:cNvSpPr txBox="1"/>
          <p:nvPr/>
        </p:nvSpPr>
        <p:spPr>
          <a:xfrm>
            <a:off x="7589520" y="4078224"/>
            <a:ext cx="4142232" cy="347472"/>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262626"/>
                </a:solidFill>
                <a:latin typeface="Arial"/>
                <a:ea typeface="Microsoft YaHei"/>
              </a:rPr>
              <a:t>刚度</a:t>
            </a:r>
          </a:p>
        </p:txBody>
      </p:sp>
      <p:sp>
        <p:nvSpPr>
          <p:cNvPr id="14" name="TextBox 13"/>
          <p:cNvSpPr txBox="1"/>
          <p:nvPr/>
        </p:nvSpPr>
        <p:spPr>
          <a:xfrm>
            <a:off x="7589520" y="4425696"/>
            <a:ext cx="4142232" cy="603504"/>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262626"/>
                </a:solidFill>
                <a:latin typeface="Arial"/>
                <a:ea typeface="Microsoft YaHei"/>
              </a:rPr>
              <a:t>由修正后位移场的应变能计算；装配求解只需矩阵–向量乘积</a:t>
            </a:r>
          </a:p>
        </p:txBody>
      </p:sp>
      <p:sp>
        <p:nvSpPr>
          <p:cNvPr id="15" name="Rounded Rectangle 14"/>
          <p:cNvSpPr/>
          <p:nvPr/>
        </p:nvSpPr>
        <p:spPr>
          <a:xfrm>
            <a:off x="7086600" y="5138928"/>
            <a:ext cx="4645152" cy="960120"/>
          </a:xfrm>
          <a:prstGeom prst="roundRect">
            <a:avLst>
              <a:gd name="adj" fmla="val 3500"/>
            </a:avLst>
          </a:prstGeom>
          <a:solidFill>
            <a:srgbClr val="FBF1F1"/>
          </a:solidFill>
          <a:ln>
            <a:noFill/>
          </a:ln>
        </p:spPr>
        <p:txBody>
          <a:bodyPr rtlCol="0" anchor="ctr"/>
          <a:lstStyle/>
          <a:p>
            <a:pPr algn="ctr"/>
          </a:p>
        </p:txBody>
      </p:sp>
      <p:sp>
        <p:nvSpPr>
          <p:cNvPr id="16" name="TextBox 15"/>
          <p:cNvSpPr txBox="1"/>
          <p:nvPr/>
        </p:nvSpPr>
        <p:spPr>
          <a:xfrm>
            <a:off x="7086600" y="5138928"/>
            <a:ext cx="4645152" cy="960120"/>
          </a:xfrm>
          <a:prstGeom prst="rect">
            <a:avLst/>
          </a:prstGeom>
          <a:noFill/>
        </p:spPr>
        <p:txBody>
          <a:bodyPr wrap="square" lIns="164592" rIns="164592" tIns="36576" bIns="36576" anchor="ctr">
            <a:spAutoFit/>
          </a:bodyPr>
          <a:lstStyle/>
          <a:p>
            <a:pPr algn="l">
              <a:lnSpc>
                <a:spcPct val="112000"/>
              </a:lnSpc>
              <a:spcAft>
                <a:spcPts val="600"/>
              </a:spcAft>
            </a:pPr>
            <a:r>
              <a:rPr sz="1500" b="0" i="0">
                <a:solidFill>
                  <a:srgbClr val="262626"/>
                </a:solidFill>
                <a:latin typeface="Arial"/>
                <a:ea typeface="Microsoft YaHei"/>
              </a:rPr>
              <a:t>不分解内部刚度矩阵，不形成稠密凝聚刚度矩阵；</a:t>
            </a:r>
            <a:r>
              <a:rPr sz="1500" b="1" i="0">
                <a:solidFill>
                  <a:srgbClr val="C00000"/>
                </a:solidFill>
                <a:latin typeface="Arial"/>
                <a:ea typeface="Microsoft YaHei"/>
              </a:rPr>
              <a:t>设计迭代中网络参数不变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网络：几何分支算系数，位移分支对 q 线性</a:t>
            </a:r>
          </a:p>
        </p:txBody>
      </p:sp>
      <p:pic>
        <p:nvPicPr>
          <p:cNvPr id="3" name="Picture 2" descr="F11_network_architecture.png"/>
          <p:cNvPicPr>
            <a:picLocks noChangeAspect="1"/>
          </p:cNvPicPr>
          <p:nvPr/>
        </p:nvPicPr>
        <p:blipFill>
          <a:blip r:embed="rId3"/>
          <a:srcRect b="48500"/>
          <a:stretch>
            <a:fillRect/>
          </a:stretch>
        </p:blipFill>
        <p:spPr>
          <a:xfrm>
            <a:off x="457200" y="996853"/>
            <a:ext cx="7086600" cy="4461956"/>
          </a:xfrm>
          <a:prstGeom prst="rect">
            <a:avLst/>
          </a:prstGeom>
        </p:spPr>
      </p:pic>
      <p:sp>
        <p:nvSpPr>
          <p:cNvPr id="4" name="TextBox 3"/>
          <p:cNvSpPr txBox="1"/>
          <p:nvPr/>
        </p:nvSpPr>
        <p:spPr>
          <a:xfrm>
            <a:off x="7772400" y="1051560"/>
            <a:ext cx="3959352" cy="4434840"/>
          </a:xfrm>
          <a:prstGeom prst="rect">
            <a:avLst/>
          </a:prstGeom>
          <a:noFill/>
        </p:spPr>
        <p:txBody>
          <a:bodyPr wrap="square" lIns="54864" rIns="54864" tIns="36576" bIns="36576" anchor="t">
            <a:spAutoFit/>
          </a:bodyPr>
          <a:lstStyle/>
          <a:p>
            <a:pPr algn="l">
              <a:lnSpc>
                <a:spcPct val="112000"/>
              </a:lnSpc>
              <a:spcAft>
                <a:spcPts val="1200"/>
              </a:spcAft>
            </a:pPr>
            <a:r>
              <a:rPr sz="1500" b="1" i="0">
                <a:solidFill>
                  <a:srgbClr val="C00000"/>
                </a:solidFill>
                <a:latin typeface="Arial"/>
                <a:ea typeface="Microsoft YaHei"/>
              </a:rPr>
              <a:t>几何分支　</a:t>
            </a:r>
            <a:r>
              <a:rPr sz="1500" b="0" i="0">
                <a:solidFill>
                  <a:srgbClr val="262626"/>
                </a:solidFill>
                <a:latin typeface="Arial"/>
                <a:ea typeface="Microsoft YaHei"/>
              </a:rPr>
              <a:t>非线性，每个几何算一次：由单元矩和节点指标算出各运算的系数</a:t>
            </a:r>
          </a:p>
          <a:p>
            <a:pPr algn="l">
              <a:lnSpc>
                <a:spcPct val="112000"/>
              </a:lnSpc>
              <a:spcAft>
                <a:spcPts val="1200"/>
              </a:spcAft>
            </a:pPr>
            <a:r>
              <a:rPr sz="1500" b="1" i="0">
                <a:solidFill>
                  <a:srgbClr val="C00000"/>
                </a:solidFill>
                <a:latin typeface="Arial"/>
                <a:ea typeface="Microsoft YaHei"/>
              </a:rPr>
              <a:t>位移分支　</a:t>
            </a:r>
            <a:r>
              <a:rPr sz="1500" b="0" i="0">
                <a:solidFill>
                  <a:srgbClr val="262626"/>
                </a:solidFill>
                <a:latin typeface="Arial"/>
                <a:ea typeface="Microsoft YaHei"/>
              </a:rPr>
              <a:t>对 q 线性：32 个通道；局部交互（27 节点模板、4 个头）与 U 形多层网格（每轴 65 / 33 / 17 / 9）</a:t>
            </a:r>
          </a:p>
          <a:p>
            <a:pPr algn="l">
              <a:lnSpc>
                <a:spcPct val="112000"/>
              </a:lnSpc>
              <a:spcAft>
                <a:spcPts val="1200"/>
              </a:spcAft>
            </a:pPr>
            <a:r>
              <a:rPr sz="1500" b="1" i="0">
                <a:solidFill>
                  <a:srgbClr val="C00000"/>
                </a:solidFill>
                <a:latin typeface="Arial"/>
                <a:ea typeface="Microsoft YaHei"/>
              </a:rPr>
              <a:t>构造保证　</a:t>
            </a:r>
            <a:r>
              <a:rPr sz="1500" b="0" i="0">
                <a:solidFill>
                  <a:srgbClr val="262626"/>
                </a:solidFill>
                <a:latin typeface="Arial"/>
                <a:ea typeface="Microsoft YaHei"/>
              </a:rPr>
              <a:t>刚体运动绕过网络重构；主自由度位移在输出端重新赋值</a:t>
            </a:r>
          </a:p>
          <a:p>
            <a:pPr algn="l">
              <a:lnSpc>
                <a:spcPct val="112000"/>
              </a:lnSpc>
              <a:spcAft>
                <a:spcPts val="1200"/>
              </a:spcAft>
            </a:pPr>
            <a:r>
              <a:rPr sz="1500" b="1" i="0">
                <a:solidFill>
                  <a:srgbClr val="C00000"/>
                </a:solidFill>
                <a:latin typeface="Arial"/>
                <a:ea typeface="Microsoft YaHei"/>
              </a:rPr>
              <a:t>规模无关　</a:t>
            </a:r>
            <a:r>
              <a:rPr sz="1500" b="0" i="0">
                <a:solidFill>
                  <a:srgbClr val="262626"/>
                </a:solidFill>
                <a:latin typeface="Arial"/>
                <a:ea typeface="Microsoft YaHei"/>
              </a:rPr>
              <a:t>权重不对应具体自由度：约 </a:t>
            </a:r>
            <a:r>
              <a:rPr sz="1500" b="0" i="0">
                <a:solidFill>
                  <a:srgbClr val="262626"/>
                </a:solidFill>
                <a:latin typeface="Arial"/>
                <a:ea typeface="Microsoft YaHei"/>
              </a:rPr>
              <a:t>6×10</a:t>
            </a:r>
            <a:r>
              <a:rPr sz="1500" b="0" i="0" baseline="30000">
                <a:solidFill>
                  <a:srgbClr val="262626"/>
                </a:solidFill>
                <a:latin typeface="Arial"/>
                <a:ea typeface="Microsoft YaHei"/>
              </a:rPr>
              <a:t>5</a:t>
            </a:r>
            <a:r>
              <a:rPr sz="1500" b="0" i="0">
                <a:solidFill>
                  <a:srgbClr val="262626"/>
                </a:solidFill>
                <a:latin typeface="Arial"/>
                <a:ea typeface="Microsoft YaHei"/>
              </a:rPr>
              <a:t> 参数的同一网络适用于 2,679–45,900 个主自由度</a:t>
            </a:r>
          </a:p>
        </p:txBody>
      </p:sp>
      <p:sp>
        <p:nvSpPr>
          <p:cNvPr id="5" name="Rounded Rectangle 4"/>
          <p:cNvSpPr/>
          <p:nvPr/>
        </p:nvSpPr>
        <p:spPr>
          <a:xfrm>
            <a:off x="457200" y="5596128"/>
            <a:ext cx="11274552" cy="512064"/>
          </a:xfrm>
          <a:prstGeom prst="roundRect">
            <a:avLst>
              <a:gd name="adj" fmla="val 3500"/>
            </a:avLst>
          </a:prstGeom>
          <a:solidFill>
            <a:srgbClr val="FBF1F1"/>
          </a:solidFill>
          <a:ln>
            <a:noFill/>
          </a:ln>
        </p:spPr>
        <p:txBody>
          <a:bodyPr rtlCol="0" anchor="ctr"/>
          <a:lstStyle/>
          <a:p>
            <a:pPr algn="ctr"/>
          </a:p>
        </p:txBody>
      </p:sp>
      <p:sp>
        <p:nvSpPr>
          <p:cNvPr id="6" name="TextBox 5"/>
          <p:cNvSpPr txBox="1"/>
          <p:nvPr/>
        </p:nvSpPr>
        <p:spPr>
          <a:xfrm>
            <a:off x="640080" y="5596128"/>
            <a:ext cx="10908792" cy="512064"/>
          </a:xfrm>
          <a:prstGeom prst="rect">
            <a:avLst/>
          </a:prstGeom>
          <a:noFill/>
        </p:spPr>
        <p:txBody>
          <a:bodyPr wrap="square" lIns="18288" rIns="18288" tIns="36576" bIns="36576" anchor="ctr">
            <a:spAutoFit/>
          </a:bodyPr>
          <a:lstStyle/>
          <a:p>
            <a:pPr algn="l">
              <a:lnSpc>
                <a:spcPct val="112000"/>
              </a:lnSpc>
              <a:spcAft>
                <a:spcPts val="600"/>
              </a:spcAft>
            </a:pPr>
            <a:r>
              <a:rPr sz="1600" b="1" i="0">
                <a:solidFill>
                  <a:srgbClr val="C00000"/>
                </a:solidFill>
                <a:latin typeface="Arial"/>
                <a:ea typeface="Microsoft YaHei"/>
              </a:rPr>
              <a:t>训练：</a:t>
            </a:r>
            <a:r>
              <a:rPr sz="1600" b="0" i="0">
                <a:solidFill>
                  <a:srgbClr val="262626"/>
                </a:solidFill>
                <a:latin typeface="Arial"/>
                <a:ea typeface="Microsoft YaHei"/>
              </a:rPr>
              <a:t>损失 = 能量比的对数 + 灵敏度误差；由修正后的算子计算，梯度经修正传到网络参数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性质由构造保证；从单胞到点阵，误差不累积</a:t>
            </a:r>
          </a:p>
        </p:txBody>
      </p:sp>
      <p:sp>
        <p:nvSpPr>
          <p:cNvPr id="3" name="Rounded Rectangle 2"/>
          <p:cNvSpPr/>
          <p:nvPr/>
        </p:nvSpPr>
        <p:spPr>
          <a:xfrm>
            <a:off x="457200" y="1005840"/>
            <a:ext cx="4160520" cy="1143000"/>
          </a:xfrm>
          <a:prstGeom prst="roundRect">
            <a:avLst>
              <a:gd name="adj" fmla="val 3500"/>
            </a:avLst>
          </a:prstGeom>
          <a:solidFill>
            <a:srgbClr val="EDF2F8"/>
          </a:solidFill>
          <a:ln>
            <a:noFill/>
          </a:ln>
        </p:spPr>
        <p:txBody>
          <a:bodyPr rtlCol="0" anchor="ctr"/>
          <a:lstStyle/>
          <a:p>
            <a:pPr algn="ctr"/>
          </a:p>
        </p:txBody>
      </p:sp>
      <p:pic>
        <p:nvPicPr>
          <p:cNvPr id="4" name="Picture 3" descr="2249a29684b2.png"/>
          <p:cNvPicPr>
            <a:picLocks noChangeAspect="1"/>
          </p:cNvPicPr>
          <p:nvPr/>
        </p:nvPicPr>
        <p:blipFill>
          <a:blip r:embed="rId3"/>
          <a:stretch>
            <a:fillRect/>
          </a:stretch>
        </p:blipFill>
        <p:spPr>
          <a:xfrm>
            <a:off x="870204" y="1326642"/>
            <a:ext cx="3334512" cy="501396"/>
          </a:xfrm>
          <a:prstGeom prst="rect">
            <a:avLst/>
          </a:prstGeom>
        </p:spPr>
      </p:pic>
      <p:sp>
        <p:nvSpPr>
          <p:cNvPr id="5" name="TextBox 4"/>
          <p:cNvSpPr txBox="1"/>
          <p:nvPr/>
        </p:nvSpPr>
        <p:spPr>
          <a:xfrm>
            <a:off x="457200" y="2212848"/>
            <a:ext cx="4160520" cy="868680"/>
          </a:xfrm>
          <a:prstGeom prst="rect">
            <a:avLst/>
          </a:prstGeom>
          <a:noFill/>
        </p:spPr>
        <p:txBody>
          <a:bodyPr wrap="square" lIns="54864" rIns="54864" tIns="36576" bIns="36576" anchor="t">
            <a:spAutoFit/>
          </a:bodyPr>
          <a:lstStyle/>
          <a:p>
            <a:pPr algn="l">
              <a:lnSpc>
                <a:spcPct val="112000"/>
              </a:lnSpc>
              <a:spcAft>
                <a:spcPts val="600"/>
              </a:spcAft>
            </a:pPr>
            <a:r>
              <a:rPr sz="1300" b="1" i="0">
                <a:solidFill>
                  <a:srgbClr val="262626"/>
                </a:solidFill>
                <a:latin typeface="Arial"/>
                <a:ea typeface="Microsoft YaHei"/>
              </a:rPr>
              <a:t>命题 1（Ritz 恒等式）</a:t>
            </a:r>
            <a:r>
              <a:rPr sz="1300" b="0" i="0">
                <a:solidFill>
                  <a:srgbClr val="6B7280"/>
                </a:solidFill>
                <a:latin typeface="Arial"/>
                <a:ea typeface="Microsoft YaHei"/>
              </a:rPr>
              <a:t>：位移恢复在主自由度上等于给定位移、精确再现刚体运动时成立，与网络参数无关</a:t>
            </a:r>
          </a:p>
        </p:txBody>
      </p:sp>
      <p:sp>
        <p:nvSpPr>
          <p:cNvPr id="6" name="Rounded Rectangle 5"/>
          <p:cNvSpPr/>
          <p:nvPr/>
        </p:nvSpPr>
        <p:spPr>
          <a:xfrm>
            <a:off x="4846320" y="1005840"/>
            <a:ext cx="2173224" cy="2075688"/>
          </a:xfrm>
          <a:prstGeom prst="roundRect">
            <a:avLst>
              <a:gd name="adj" fmla="val 3500"/>
            </a:avLst>
          </a:prstGeom>
          <a:solidFill>
            <a:srgbClr val="F4F6F9"/>
          </a:solidFill>
          <a:ln>
            <a:noFill/>
          </a:ln>
        </p:spPr>
        <p:txBody>
          <a:bodyPr rtlCol="0" anchor="ctr"/>
          <a:lstStyle/>
          <a:p>
            <a:pPr algn="ctr"/>
          </a:p>
        </p:txBody>
      </p:sp>
      <p:sp>
        <p:nvSpPr>
          <p:cNvPr id="7" name="TextBox 6"/>
          <p:cNvSpPr txBox="1"/>
          <p:nvPr/>
        </p:nvSpPr>
        <p:spPr>
          <a:xfrm>
            <a:off x="5029200" y="1133856"/>
            <a:ext cx="1807464"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可组装</a:t>
            </a:r>
          </a:p>
        </p:txBody>
      </p:sp>
      <p:sp>
        <p:nvSpPr>
          <p:cNvPr id="8" name="TextBox 7"/>
          <p:cNvSpPr txBox="1"/>
          <p:nvPr/>
        </p:nvSpPr>
        <p:spPr>
          <a:xfrm>
            <a:off x="5029200" y="1572768"/>
            <a:ext cx="1807464" cy="1389888"/>
          </a:xfrm>
          <a:prstGeom prst="rect">
            <a:avLst/>
          </a:prstGeom>
          <a:noFill/>
        </p:spPr>
        <p:txBody>
          <a:bodyPr wrap="square" lIns="54864" rIns="54864" tIns="36576" bIns="36576" anchor="t">
            <a:spAutoFit/>
          </a:bodyPr>
          <a:lstStyle/>
          <a:p>
            <a:pPr algn="l">
              <a:lnSpc>
                <a:spcPct val="112000"/>
              </a:lnSpc>
              <a:spcAft>
                <a:spcPts val="600"/>
              </a:spcAft>
            </a:pPr>
            <a:r>
              <a:rPr sz="1400" b="0" i="0">
                <a:solidFill>
                  <a:srgbClr val="262626"/>
                </a:solidFill>
                <a:latin typeface="Arial"/>
                <a:ea typeface="Microsoft YaHei"/>
              </a:rPr>
              <a:t>对称半正定，只有刚体零能模态；不低于精确值，误差为二阶小量</a:t>
            </a:r>
          </a:p>
        </p:txBody>
      </p:sp>
      <p:sp>
        <p:nvSpPr>
          <p:cNvPr id="9" name="Rounded Rectangle 8"/>
          <p:cNvSpPr/>
          <p:nvPr/>
        </p:nvSpPr>
        <p:spPr>
          <a:xfrm>
            <a:off x="7202424" y="1005840"/>
            <a:ext cx="2173224" cy="2075688"/>
          </a:xfrm>
          <a:prstGeom prst="roundRect">
            <a:avLst>
              <a:gd name="adj" fmla="val 3500"/>
            </a:avLst>
          </a:prstGeom>
          <a:solidFill>
            <a:srgbClr val="F4F6F9"/>
          </a:solidFill>
          <a:ln>
            <a:noFill/>
          </a:ln>
        </p:spPr>
        <p:txBody>
          <a:bodyPr rtlCol="0" anchor="ctr"/>
          <a:lstStyle/>
          <a:p>
            <a:pPr algn="ctr"/>
          </a:p>
        </p:txBody>
      </p:sp>
      <p:sp>
        <p:nvSpPr>
          <p:cNvPr id="10" name="TextBox 9"/>
          <p:cNvSpPr txBox="1"/>
          <p:nvPr/>
        </p:nvSpPr>
        <p:spPr>
          <a:xfrm>
            <a:off x="7385304" y="1133856"/>
            <a:ext cx="1807464"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可改进</a:t>
            </a:r>
          </a:p>
        </p:txBody>
      </p:sp>
      <p:sp>
        <p:nvSpPr>
          <p:cNvPr id="11" name="TextBox 10"/>
          <p:cNvSpPr txBox="1"/>
          <p:nvPr/>
        </p:nvSpPr>
        <p:spPr>
          <a:xfrm>
            <a:off x="7385304" y="1572768"/>
            <a:ext cx="1807464" cy="1389888"/>
          </a:xfrm>
          <a:prstGeom prst="rect">
            <a:avLst/>
          </a:prstGeom>
          <a:noFill/>
        </p:spPr>
        <p:txBody>
          <a:bodyPr wrap="square" lIns="54864" rIns="54864" tIns="36576" bIns="36576" anchor="t">
            <a:spAutoFit/>
          </a:bodyPr>
          <a:lstStyle/>
          <a:p>
            <a:pPr algn="l">
              <a:lnSpc>
                <a:spcPct val="112000"/>
              </a:lnSpc>
              <a:spcAft>
                <a:spcPts val="600"/>
              </a:spcAft>
            </a:pPr>
            <a:r>
              <a:rPr sz="1400" b="0" i="0">
                <a:solidFill>
                  <a:srgbClr val="262626"/>
                </a:solidFill>
                <a:latin typeface="Arial"/>
                <a:ea typeface="Microsoft YaHei"/>
              </a:rPr>
              <a:t>修正不增大误差；部署时可增加修正步数，无需重新训练</a:t>
            </a:r>
          </a:p>
        </p:txBody>
      </p:sp>
      <p:sp>
        <p:nvSpPr>
          <p:cNvPr id="12" name="Rounded Rectangle 11"/>
          <p:cNvSpPr/>
          <p:nvPr/>
        </p:nvSpPr>
        <p:spPr>
          <a:xfrm>
            <a:off x="9558528" y="1005840"/>
            <a:ext cx="2173224" cy="2075688"/>
          </a:xfrm>
          <a:prstGeom prst="roundRect">
            <a:avLst>
              <a:gd name="adj" fmla="val 3500"/>
            </a:avLst>
          </a:prstGeom>
          <a:solidFill>
            <a:srgbClr val="F4F6F9"/>
          </a:solidFill>
          <a:ln>
            <a:noFill/>
          </a:ln>
        </p:spPr>
        <p:txBody>
          <a:bodyPr rtlCol="0" anchor="ctr"/>
          <a:lstStyle/>
          <a:p>
            <a:pPr algn="ctr"/>
          </a:p>
        </p:txBody>
      </p:sp>
      <p:sp>
        <p:nvSpPr>
          <p:cNvPr id="13" name="TextBox 12"/>
          <p:cNvSpPr txBox="1"/>
          <p:nvPr/>
        </p:nvSpPr>
        <p:spPr>
          <a:xfrm>
            <a:off x="9741408" y="1133856"/>
            <a:ext cx="1807464"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可追溯</a:t>
            </a:r>
          </a:p>
        </p:txBody>
      </p:sp>
      <p:sp>
        <p:nvSpPr>
          <p:cNvPr id="14" name="TextBox 13"/>
          <p:cNvSpPr txBox="1"/>
          <p:nvPr/>
        </p:nvSpPr>
        <p:spPr>
          <a:xfrm>
            <a:off x="9741408" y="1572768"/>
            <a:ext cx="1807464" cy="1389888"/>
          </a:xfrm>
          <a:prstGeom prst="rect">
            <a:avLst/>
          </a:prstGeom>
          <a:noFill/>
        </p:spPr>
        <p:txBody>
          <a:bodyPr wrap="square" lIns="54864" rIns="54864" tIns="36576" bIns="36576" anchor="t">
            <a:spAutoFit/>
          </a:bodyPr>
          <a:lstStyle/>
          <a:p>
            <a:pPr algn="l">
              <a:lnSpc>
                <a:spcPct val="112000"/>
              </a:lnSpc>
              <a:spcAft>
                <a:spcPts val="600"/>
              </a:spcAft>
            </a:pPr>
            <a:r>
              <a:rPr sz="1400" b="0" i="0">
                <a:solidFill>
                  <a:srgbClr val="262626"/>
                </a:solidFill>
                <a:latin typeface="Arial"/>
                <a:ea typeface="Microsoft YaHei"/>
              </a:rPr>
              <a:t>柔度误差不超过 β（能量误差按应变能占比加权）；灵敏度误差含一阶项，两者分别检验</a:t>
            </a:r>
          </a:p>
        </p:txBody>
      </p:sp>
      <p:sp>
        <p:nvSpPr>
          <p:cNvPr id="15" name="Rounded Rectangle 14"/>
          <p:cNvSpPr/>
          <p:nvPr/>
        </p:nvSpPr>
        <p:spPr>
          <a:xfrm>
            <a:off x="457200" y="3291840"/>
            <a:ext cx="2612898" cy="2788920"/>
          </a:xfrm>
          <a:prstGeom prst="roundRect">
            <a:avLst>
              <a:gd name="adj" fmla="val 3500"/>
            </a:avLst>
          </a:prstGeom>
          <a:solidFill>
            <a:srgbClr val="F4F6F9"/>
          </a:solidFill>
          <a:ln>
            <a:noFill/>
          </a:ln>
        </p:spPr>
        <p:txBody>
          <a:bodyPr rtlCol="0" anchor="ctr"/>
          <a:lstStyle/>
          <a:p>
            <a:pPr algn="ctr"/>
          </a:p>
        </p:txBody>
      </p:sp>
      <p:sp>
        <p:nvSpPr>
          <p:cNvPr id="16" name="TextBox 15"/>
          <p:cNvSpPr txBox="1"/>
          <p:nvPr/>
        </p:nvSpPr>
        <p:spPr>
          <a:xfrm>
            <a:off x="530352" y="3383280"/>
            <a:ext cx="2466594" cy="329184"/>
          </a:xfrm>
          <a:prstGeom prst="rect">
            <a:avLst/>
          </a:prstGeom>
          <a:noFill/>
        </p:spPr>
        <p:txBody>
          <a:bodyPr wrap="square" lIns="54864" rIns="54864" tIns="36576" bIns="36576" anchor="t">
            <a:spAutoFit/>
          </a:bodyPr>
          <a:lstStyle/>
          <a:p>
            <a:pPr algn="ctr">
              <a:lnSpc>
                <a:spcPct val="112000"/>
              </a:lnSpc>
              <a:spcAft>
                <a:spcPts val="600"/>
              </a:spcAft>
            </a:pPr>
            <a:r>
              <a:rPr sz="1500" b="1" i="0">
                <a:solidFill>
                  <a:srgbClr val="262626"/>
                </a:solidFill>
                <a:latin typeface="Arial"/>
                <a:ea typeface="Microsoft YaHei"/>
              </a:rPr>
              <a:t>单个胞元</a:t>
            </a:r>
          </a:p>
        </p:txBody>
      </p:sp>
      <p:sp>
        <p:nvSpPr>
          <p:cNvPr id="17" name="TextBox 16"/>
          <p:cNvSpPr txBox="1"/>
          <p:nvPr/>
        </p:nvSpPr>
        <p:spPr>
          <a:xfrm>
            <a:off x="530352" y="3712464"/>
            <a:ext cx="2466594" cy="292608"/>
          </a:xfrm>
          <a:prstGeom prst="rect">
            <a:avLst/>
          </a:prstGeom>
          <a:noFill/>
        </p:spPr>
        <p:txBody>
          <a:bodyPr wrap="square" lIns="54864" rIns="54864" tIns="36576" bIns="36576" anchor="t">
            <a:spAutoFit/>
          </a:bodyPr>
          <a:lstStyle/>
          <a:p>
            <a:pPr algn="ctr">
              <a:lnSpc>
                <a:spcPct val="112000"/>
              </a:lnSpc>
              <a:spcAft>
                <a:spcPts val="600"/>
              </a:spcAft>
            </a:pPr>
            <a:r>
              <a:rPr sz="1200" b="0" i="0">
                <a:solidFill>
                  <a:srgbClr val="6B7280"/>
                </a:solidFill>
                <a:latin typeface="Arial"/>
                <a:ea typeface="Microsoft YaHei"/>
              </a:rPr>
              <a:t>80 个验证几何，面力载荷</a:t>
            </a:r>
          </a:p>
        </p:txBody>
      </p:sp>
      <p:sp>
        <p:nvSpPr>
          <p:cNvPr id="18" name="TextBox 17"/>
          <p:cNvSpPr txBox="1"/>
          <p:nvPr/>
        </p:nvSpPr>
        <p:spPr>
          <a:xfrm>
            <a:off x="493776" y="4041648"/>
            <a:ext cx="2539746" cy="566928"/>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0.074%</a:t>
            </a:r>
          </a:p>
        </p:txBody>
      </p:sp>
      <p:sp>
        <p:nvSpPr>
          <p:cNvPr id="19" name="TextBox 18"/>
          <p:cNvSpPr txBox="1"/>
          <p:nvPr/>
        </p:nvSpPr>
        <p:spPr>
          <a:xfrm>
            <a:off x="530352" y="4608576"/>
            <a:ext cx="2466594" cy="292608"/>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平均能量误差</a:t>
            </a:r>
          </a:p>
        </p:txBody>
      </p:sp>
      <p:sp>
        <p:nvSpPr>
          <p:cNvPr id="20" name="Rectangle 19"/>
          <p:cNvSpPr/>
          <p:nvPr/>
        </p:nvSpPr>
        <p:spPr>
          <a:xfrm>
            <a:off x="822960" y="4992624"/>
            <a:ext cx="1881378" cy="12801"/>
          </a:xfrm>
          <a:prstGeom prst="rect">
            <a:avLst/>
          </a:prstGeom>
          <a:solidFill>
            <a:srgbClr val="D9DDE3"/>
          </a:solidFill>
          <a:ln>
            <a:noFill/>
          </a:ln>
        </p:spPr>
        <p:txBody>
          <a:bodyPr rtlCol="0" anchor="ctr"/>
          <a:lstStyle/>
          <a:p>
            <a:pPr algn="ctr"/>
          </a:p>
        </p:txBody>
      </p:sp>
      <p:sp>
        <p:nvSpPr>
          <p:cNvPr id="21" name="TextBox 20"/>
          <p:cNvSpPr txBox="1"/>
          <p:nvPr/>
        </p:nvSpPr>
        <p:spPr>
          <a:xfrm>
            <a:off x="493776" y="5084064"/>
            <a:ext cx="2539746" cy="475488"/>
          </a:xfrm>
          <a:prstGeom prst="rect">
            <a:avLst/>
          </a:prstGeom>
          <a:noFill/>
        </p:spPr>
        <p:txBody>
          <a:bodyPr wrap="square" lIns="54864" rIns="54864" tIns="36576" bIns="36576" anchor="ctr">
            <a:spAutoFit/>
          </a:bodyPr>
          <a:lstStyle/>
          <a:p>
            <a:pPr algn="ctr">
              <a:lnSpc>
                <a:spcPct val="112000"/>
              </a:lnSpc>
              <a:spcAft>
                <a:spcPts val="600"/>
              </a:spcAft>
            </a:pPr>
            <a:r>
              <a:rPr sz="2200" b="1" i="0">
                <a:solidFill>
                  <a:srgbClr val="1F3864"/>
                </a:solidFill>
                <a:latin typeface="Arial"/>
                <a:ea typeface="Microsoft YaHei"/>
              </a:rPr>
              <a:t>6.89% → 0.0965%</a:t>
            </a:r>
          </a:p>
        </p:txBody>
      </p:sp>
      <p:sp>
        <p:nvSpPr>
          <p:cNvPr id="22" name="TextBox 21"/>
          <p:cNvSpPr txBox="1"/>
          <p:nvPr/>
        </p:nvSpPr>
        <p:spPr>
          <a:xfrm>
            <a:off x="530352" y="5559552"/>
            <a:ext cx="2466594" cy="45720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基础网络只在部署时加修正</a:t>
            </a:r>
          </a:p>
        </p:txBody>
      </p:sp>
      <p:sp>
        <p:nvSpPr>
          <p:cNvPr id="23" name="Chevron 22"/>
          <p:cNvSpPr/>
          <p:nvPr/>
        </p:nvSpPr>
        <p:spPr>
          <a:xfrm>
            <a:off x="3115818" y="4407408"/>
            <a:ext cx="182880" cy="310896"/>
          </a:xfrm>
          <a:prstGeom prst="chevron">
            <a:avLst/>
          </a:prstGeom>
          <a:solidFill>
            <a:srgbClr val="6B7280"/>
          </a:solidFill>
          <a:ln>
            <a:noFill/>
          </a:ln>
        </p:spPr>
        <p:txBody>
          <a:bodyPr rtlCol="0" anchor="ctr"/>
          <a:lstStyle/>
          <a:p>
            <a:pPr algn="ctr"/>
          </a:p>
        </p:txBody>
      </p:sp>
      <p:sp>
        <p:nvSpPr>
          <p:cNvPr id="24" name="Rounded Rectangle 23"/>
          <p:cNvSpPr/>
          <p:nvPr/>
        </p:nvSpPr>
        <p:spPr>
          <a:xfrm>
            <a:off x="3344418" y="3291840"/>
            <a:ext cx="2612898" cy="2788920"/>
          </a:xfrm>
          <a:prstGeom prst="roundRect">
            <a:avLst>
              <a:gd name="adj" fmla="val 3500"/>
            </a:avLst>
          </a:prstGeom>
          <a:solidFill>
            <a:srgbClr val="F4F6F9"/>
          </a:solidFill>
          <a:ln>
            <a:noFill/>
          </a:ln>
        </p:spPr>
        <p:txBody>
          <a:bodyPr rtlCol="0" anchor="ctr"/>
          <a:lstStyle/>
          <a:p>
            <a:pPr algn="ctr"/>
          </a:p>
        </p:txBody>
      </p:sp>
      <p:sp>
        <p:nvSpPr>
          <p:cNvPr id="25" name="TextBox 24"/>
          <p:cNvSpPr txBox="1"/>
          <p:nvPr/>
        </p:nvSpPr>
        <p:spPr>
          <a:xfrm>
            <a:off x="3417570" y="3383280"/>
            <a:ext cx="2466594" cy="329184"/>
          </a:xfrm>
          <a:prstGeom prst="rect">
            <a:avLst/>
          </a:prstGeom>
          <a:noFill/>
        </p:spPr>
        <p:txBody>
          <a:bodyPr wrap="square" lIns="54864" rIns="54864" tIns="36576" bIns="36576" anchor="t">
            <a:spAutoFit/>
          </a:bodyPr>
          <a:lstStyle/>
          <a:p>
            <a:pPr algn="ctr">
              <a:lnSpc>
                <a:spcPct val="112000"/>
              </a:lnSpc>
              <a:spcAft>
                <a:spcPts val="600"/>
              </a:spcAft>
            </a:pPr>
            <a:r>
              <a:rPr sz="1500" b="1" i="0">
                <a:solidFill>
                  <a:srgbClr val="262626"/>
                </a:solidFill>
                <a:latin typeface="Arial"/>
                <a:ea typeface="Microsoft YaHei"/>
              </a:rPr>
              <a:t>两胞元装配</a:t>
            </a:r>
          </a:p>
        </p:txBody>
      </p:sp>
      <p:sp>
        <p:nvSpPr>
          <p:cNvPr id="26" name="TextBox 25"/>
          <p:cNvSpPr txBox="1"/>
          <p:nvPr/>
        </p:nvSpPr>
        <p:spPr>
          <a:xfrm>
            <a:off x="3417570" y="3712464"/>
            <a:ext cx="2466594" cy="292608"/>
          </a:xfrm>
          <a:prstGeom prst="rect">
            <a:avLst/>
          </a:prstGeom>
          <a:noFill/>
        </p:spPr>
        <p:txBody>
          <a:bodyPr wrap="square" lIns="54864" rIns="54864" tIns="36576" bIns="36576" anchor="t">
            <a:spAutoFit/>
          </a:bodyPr>
          <a:lstStyle/>
          <a:p>
            <a:pPr algn="ctr">
              <a:lnSpc>
                <a:spcPct val="112000"/>
              </a:lnSpc>
              <a:spcAft>
                <a:spcPts val="600"/>
              </a:spcAft>
            </a:pPr>
            <a:r>
              <a:rPr sz="1200" b="0" i="0">
                <a:solidFill>
                  <a:srgbClr val="6B7280"/>
                </a:solidFill>
                <a:latin typeface="Arial"/>
                <a:ea typeface="Microsoft YaHei"/>
              </a:rPr>
              <a:t>32 种构型，面载荷</a:t>
            </a:r>
          </a:p>
        </p:txBody>
      </p:sp>
      <p:sp>
        <p:nvSpPr>
          <p:cNvPr id="27" name="TextBox 26"/>
          <p:cNvSpPr txBox="1"/>
          <p:nvPr/>
        </p:nvSpPr>
        <p:spPr>
          <a:xfrm>
            <a:off x="3380994" y="4041648"/>
            <a:ext cx="2539746" cy="566928"/>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≤0.27%</a:t>
            </a:r>
          </a:p>
        </p:txBody>
      </p:sp>
      <p:sp>
        <p:nvSpPr>
          <p:cNvPr id="28" name="TextBox 27"/>
          <p:cNvSpPr txBox="1"/>
          <p:nvPr/>
        </p:nvSpPr>
        <p:spPr>
          <a:xfrm>
            <a:off x="3417570" y="4608576"/>
            <a:ext cx="2466594" cy="292608"/>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柔度误差</a:t>
            </a:r>
          </a:p>
        </p:txBody>
      </p:sp>
      <p:sp>
        <p:nvSpPr>
          <p:cNvPr id="29" name="Rectangle 28"/>
          <p:cNvSpPr/>
          <p:nvPr/>
        </p:nvSpPr>
        <p:spPr>
          <a:xfrm>
            <a:off x="3710178" y="4992624"/>
            <a:ext cx="1881378" cy="12801"/>
          </a:xfrm>
          <a:prstGeom prst="rect">
            <a:avLst/>
          </a:prstGeom>
          <a:solidFill>
            <a:srgbClr val="D9DDE3"/>
          </a:solidFill>
          <a:ln>
            <a:noFill/>
          </a:ln>
        </p:spPr>
        <p:txBody>
          <a:bodyPr rtlCol="0" anchor="ctr"/>
          <a:lstStyle/>
          <a:p>
            <a:pPr algn="ctr"/>
          </a:p>
        </p:txBody>
      </p:sp>
      <p:sp>
        <p:nvSpPr>
          <p:cNvPr id="30" name="TextBox 29"/>
          <p:cNvSpPr txBox="1"/>
          <p:nvPr/>
        </p:nvSpPr>
        <p:spPr>
          <a:xfrm>
            <a:off x="3380994" y="5084064"/>
            <a:ext cx="2539746" cy="475488"/>
          </a:xfrm>
          <a:prstGeom prst="rect">
            <a:avLst/>
          </a:prstGeom>
          <a:noFill/>
        </p:spPr>
        <p:txBody>
          <a:bodyPr wrap="square" lIns="54864" rIns="54864" tIns="36576" bIns="36576" anchor="ctr">
            <a:spAutoFit/>
          </a:bodyPr>
          <a:lstStyle/>
          <a:p>
            <a:pPr algn="ctr">
              <a:lnSpc>
                <a:spcPct val="112000"/>
              </a:lnSpc>
              <a:spcAft>
                <a:spcPts val="600"/>
              </a:spcAft>
            </a:pPr>
            <a:r>
              <a:rPr sz="2200" b="1" i="0">
                <a:solidFill>
                  <a:srgbClr val="1F3864"/>
                </a:solidFill>
                <a:latin typeface="Arial"/>
                <a:ea typeface="Microsoft YaHei"/>
              </a:rPr>
              <a:t>≤1.49%</a:t>
            </a:r>
          </a:p>
        </p:txBody>
      </p:sp>
      <p:sp>
        <p:nvSpPr>
          <p:cNvPr id="31" name="TextBox 30"/>
          <p:cNvSpPr txBox="1"/>
          <p:nvPr/>
        </p:nvSpPr>
        <p:spPr>
          <a:xfrm>
            <a:off x="3417570" y="5559552"/>
            <a:ext cx="2466594" cy="45720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灵敏度误差</a:t>
            </a:r>
          </a:p>
        </p:txBody>
      </p:sp>
      <p:sp>
        <p:nvSpPr>
          <p:cNvPr id="32" name="Chevron 31"/>
          <p:cNvSpPr/>
          <p:nvPr/>
        </p:nvSpPr>
        <p:spPr>
          <a:xfrm>
            <a:off x="6003036" y="4407408"/>
            <a:ext cx="182880" cy="310896"/>
          </a:xfrm>
          <a:prstGeom prst="chevron">
            <a:avLst/>
          </a:prstGeom>
          <a:solidFill>
            <a:srgbClr val="6B7280"/>
          </a:solidFill>
          <a:ln>
            <a:noFill/>
          </a:ln>
        </p:spPr>
        <p:txBody>
          <a:bodyPr rtlCol="0" anchor="ctr"/>
          <a:lstStyle/>
          <a:p>
            <a:pPr algn="ctr"/>
          </a:p>
        </p:txBody>
      </p:sp>
      <p:sp>
        <p:nvSpPr>
          <p:cNvPr id="33" name="Rounded Rectangle 32"/>
          <p:cNvSpPr/>
          <p:nvPr/>
        </p:nvSpPr>
        <p:spPr>
          <a:xfrm>
            <a:off x="6231636" y="3291840"/>
            <a:ext cx="2612898" cy="2788920"/>
          </a:xfrm>
          <a:prstGeom prst="roundRect">
            <a:avLst>
              <a:gd name="adj" fmla="val 3500"/>
            </a:avLst>
          </a:prstGeom>
          <a:solidFill>
            <a:srgbClr val="F4F6F9"/>
          </a:solidFill>
          <a:ln>
            <a:noFill/>
          </a:ln>
        </p:spPr>
        <p:txBody>
          <a:bodyPr rtlCol="0" anchor="ctr"/>
          <a:lstStyle/>
          <a:p>
            <a:pPr algn="ctr"/>
          </a:p>
        </p:txBody>
      </p:sp>
      <p:sp>
        <p:nvSpPr>
          <p:cNvPr id="34" name="TextBox 33"/>
          <p:cNvSpPr txBox="1"/>
          <p:nvPr/>
        </p:nvSpPr>
        <p:spPr>
          <a:xfrm>
            <a:off x="6304788" y="3383280"/>
            <a:ext cx="2466594" cy="329184"/>
          </a:xfrm>
          <a:prstGeom prst="rect">
            <a:avLst/>
          </a:prstGeom>
          <a:noFill/>
        </p:spPr>
        <p:txBody>
          <a:bodyPr wrap="square" lIns="54864" rIns="54864" tIns="36576" bIns="36576" anchor="t">
            <a:spAutoFit/>
          </a:bodyPr>
          <a:lstStyle/>
          <a:p>
            <a:pPr algn="ctr">
              <a:lnSpc>
                <a:spcPct val="112000"/>
              </a:lnSpc>
              <a:spcAft>
                <a:spcPts val="600"/>
              </a:spcAft>
            </a:pPr>
            <a:r>
              <a:rPr sz="1500" b="1" i="0">
                <a:solidFill>
                  <a:srgbClr val="262626"/>
                </a:solidFill>
                <a:latin typeface="Arial"/>
                <a:ea typeface="Microsoft YaHei"/>
              </a:rPr>
              <a:t>八胞元点阵</a:t>
            </a:r>
          </a:p>
        </p:txBody>
      </p:sp>
      <p:sp>
        <p:nvSpPr>
          <p:cNvPr id="35" name="TextBox 34"/>
          <p:cNvSpPr txBox="1"/>
          <p:nvPr/>
        </p:nvSpPr>
        <p:spPr>
          <a:xfrm>
            <a:off x="6304788" y="3712464"/>
            <a:ext cx="2466594" cy="292608"/>
          </a:xfrm>
          <a:prstGeom prst="rect">
            <a:avLst/>
          </a:prstGeom>
          <a:noFill/>
        </p:spPr>
        <p:txBody>
          <a:bodyPr wrap="square" lIns="54864" rIns="54864" tIns="36576" bIns="36576" anchor="t">
            <a:spAutoFit/>
          </a:bodyPr>
          <a:lstStyle/>
          <a:p>
            <a:pPr algn="ctr">
              <a:lnSpc>
                <a:spcPct val="112000"/>
              </a:lnSpc>
              <a:spcAft>
                <a:spcPts val="600"/>
              </a:spcAft>
            </a:pPr>
            <a:r>
              <a:rPr sz="1200" b="0" i="0">
                <a:solidFill>
                  <a:srgbClr val="6B7280"/>
                </a:solidFill>
                <a:latin typeface="Arial"/>
                <a:ea typeface="Microsoft YaHei"/>
              </a:rPr>
              <a:t>16 个胞元均未参与训练，面载荷</a:t>
            </a:r>
          </a:p>
        </p:txBody>
      </p:sp>
      <p:sp>
        <p:nvSpPr>
          <p:cNvPr id="36" name="TextBox 35"/>
          <p:cNvSpPr txBox="1"/>
          <p:nvPr/>
        </p:nvSpPr>
        <p:spPr>
          <a:xfrm>
            <a:off x="6268212" y="4041648"/>
            <a:ext cx="2539746" cy="566928"/>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&lt;0.015%</a:t>
            </a:r>
          </a:p>
        </p:txBody>
      </p:sp>
      <p:sp>
        <p:nvSpPr>
          <p:cNvPr id="37" name="TextBox 36"/>
          <p:cNvSpPr txBox="1"/>
          <p:nvPr/>
        </p:nvSpPr>
        <p:spPr>
          <a:xfrm>
            <a:off x="6304788" y="4608576"/>
            <a:ext cx="2466594" cy="292608"/>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柔度误差</a:t>
            </a:r>
          </a:p>
        </p:txBody>
      </p:sp>
      <p:sp>
        <p:nvSpPr>
          <p:cNvPr id="38" name="Rectangle 37"/>
          <p:cNvSpPr/>
          <p:nvPr/>
        </p:nvSpPr>
        <p:spPr>
          <a:xfrm>
            <a:off x="6597396" y="4992624"/>
            <a:ext cx="1881378" cy="12801"/>
          </a:xfrm>
          <a:prstGeom prst="rect">
            <a:avLst/>
          </a:prstGeom>
          <a:solidFill>
            <a:srgbClr val="D9DDE3"/>
          </a:solidFill>
          <a:ln>
            <a:noFill/>
          </a:ln>
        </p:spPr>
        <p:txBody>
          <a:bodyPr rtlCol="0" anchor="ctr"/>
          <a:lstStyle/>
          <a:p>
            <a:pPr algn="ctr"/>
          </a:p>
        </p:txBody>
      </p:sp>
      <p:sp>
        <p:nvSpPr>
          <p:cNvPr id="39" name="TextBox 38"/>
          <p:cNvSpPr txBox="1"/>
          <p:nvPr/>
        </p:nvSpPr>
        <p:spPr>
          <a:xfrm>
            <a:off x="6268212" y="5084064"/>
            <a:ext cx="2539746" cy="475488"/>
          </a:xfrm>
          <a:prstGeom prst="rect">
            <a:avLst/>
          </a:prstGeom>
          <a:noFill/>
        </p:spPr>
        <p:txBody>
          <a:bodyPr wrap="square" lIns="54864" rIns="54864" tIns="36576" bIns="36576" anchor="ctr">
            <a:spAutoFit/>
          </a:bodyPr>
          <a:lstStyle/>
          <a:p>
            <a:pPr algn="ctr">
              <a:lnSpc>
                <a:spcPct val="112000"/>
              </a:lnSpc>
              <a:spcAft>
                <a:spcPts val="600"/>
              </a:spcAft>
            </a:pPr>
            <a:r>
              <a:rPr sz="2200" b="1" i="0">
                <a:solidFill>
                  <a:srgbClr val="1F3864"/>
                </a:solidFill>
                <a:latin typeface="Arial"/>
                <a:ea typeface="Microsoft YaHei"/>
              </a:rPr>
              <a:t>≤0.09%</a:t>
            </a:r>
          </a:p>
        </p:txBody>
      </p:sp>
      <p:sp>
        <p:nvSpPr>
          <p:cNvPr id="40" name="TextBox 39"/>
          <p:cNvSpPr txBox="1"/>
          <p:nvPr/>
        </p:nvSpPr>
        <p:spPr>
          <a:xfrm>
            <a:off x="6304788" y="5559552"/>
            <a:ext cx="2466594" cy="45720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梯度误差</a:t>
            </a:r>
          </a:p>
        </p:txBody>
      </p:sp>
      <p:sp>
        <p:nvSpPr>
          <p:cNvPr id="41" name="Rounded Rectangle 40"/>
          <p:cNvSpPr/>
          <p:nvPr/>
        </p:nvSpPr>
        <p:spPr>
          <a:xfrm>
            <a:off x="9118854" y="3291840"/>
            <a:ext cx="2612898" cy="2788920"/>
          </a:xfrm>
          <a:prstGeom prst="roundRect">
            <a:avLst>
              <a:gd name="adj" fmla="val 3500"/>
            </a:avLst>
          </a:prstGeom>
          <a:solidFill>
            <a:srgbClr val="FBF1F1"/>
          </a:solidFill>
          <a:ln>
            <a:noFill/>
          </a:ln>
        </p:spPr>
        <p:txBody>
          <a:bodyPr rtlCol="0" anchor="ctr"/>
          <a:lstStyle/>
          <a:p>
            <a:pPr algn="ctr"/>
          </a:p>
        </p:txBody>
      </p:sp>
      <p:sp>
        <p:nvSpPr>
          <p:cNvPr id="42" name="TextBox 41"/>
          <p:cNvSpPr txBox="1"/>
          <p:nvPr/>
        </p:nvSpPr>
        <p:spPr>
          <a:xfrm>
            <a:off x="9192006" y="3383280"/>
            <a:ext cx="2466594" cy="329184"/>
          </a:xfrm>
          <a:prstGeom prst="rect">
            <a:avLst/>
          </a:prstGeom>
          <a:noFill/>
        </p:spPr>
        <p:txBody>
          <a:bodyPr wrap="square" lIns="54864" rIns="54864" tIns="36576" bIns="36576" anchor="t">
            <a:spAutoFit/>
          </a:bodyPr>
          <a:lstStyle/>
          <a:p>
            <a:pPr algn="ctr">
              <a:lnSpc>
                <a:spcPct val="112000"/>
              </a:lnSpc>
              <a:spcAft>
                <a:spcPts val="600"/>
              </a:spcAft>
            </a:pPr>
            <a:r>
              <a:rPr sz="1500" b="1" i="0">
                <a:solidFill>
                  <a:srgbClr val="262626"/>
                </a:solidFill>
                <a:latin typeface="Arial"/>
                <a:ea typeface="Microsoft YaHei"/>
              </a:rPr>
              <a:t>柔度准 ≠ 灵敏度准</a:t>
            </a:r>
          </a:p>
        </p:txBody>
      </p:sp>
      <p:sp>
        <p:nvSpPr>
          <p:cNvPr id="43" name="TextBox 42"/>
          <p:cNvSpPr txBox="1"/>
          <p:nvPr/>
        </p:nvSpPr>
        <p:spPr>
          <a:xfrm>
            <a:off x="9192006" y="3712464"/>
            <a:ext cx="2466594" cy="292608"/>
          </a:xfrm>
          <a:prstGeom prst="rect">
            <a:avLst/>
          </a:prstGeom>
          <a:noFill/>
        </p:spPr>
        <p:txBody>
          <a:bodyPr wrap="square" lIns="54864" rIns="54864" tIns="36576" bIns="36576" anchor="t">
            <a:spAutoFit/>
          </a:bodyPr>
          <a:lstStyle/>
          <a:p>
            <a:pPr algn="ctr">
              <a:lnSpc>
                <a:spcPct val="112000"/>
              </a:lnSpc>
              <a:spcAft>
                <a:spcPts val="600"/>
              </a:spcAft>
            </a:pPr>
            <a:r>
              <a:rPr sz="1200" b="0" i="0">
                <a:solidFill>
                  <a:srgbClr val="6B7280"/>
                </a:solidFill>
                <a:latin typeface="Arial"/>
                <a:ea typeface="Microsoft YaHei"/>
              </a:rPr>
              <a:t>例：U1/x，载荷加在相邻胞元上</a:t>
            </a:r>
          </a:p>
        </p:txBody>
      </p:sp>
      <p:sp>
        <p:nvSpPr>
          <p:cNvPr id="44" name="TextBox 43"/>
          <p:cNvSpPr txBox="1"/>
          <p:nvPr/>
        </p:nvSpPr>
        <p:spPr>
          <a:xfrm>
            <a:off x="9155430" y="4041648"/>
            <a:ext cx="2539746" cy="566928"/>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0.000073%</a:t>
            </a:r>
          </a:p>
        </p:txBody>
      </p:sp>
      <p:sp>
        <p:nvSpPr>
          <p:cNvPr id="45" name="TextBox 44"/>
          <p:cNvSpPr txBox="1"/>
          <p:nvPr/>
        </p:nvSpPr>
        <p:spPr>
          <a:xfrm>
            <a:off x="9192006" y="4608576"/>
            <a:ext cx="2466594" cy="292608"/>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柔度误差</a:t>
            </a:r>
          </a:p>
        </p:txBody>
      </p:sp>
      <p:sp>
        <p:nvSpPr>
          <p:cNvPr id="46" name="Rectangle 45"/>
          <p:cNvSpPr/>
          <p:nvPr/>
        </p:nvSpPr>
        <p:spPr>
          <a:xfrm>
            <a:off x="9484614" y="4992624"/>
            <a:ext cx="1881378" cy="12801"/>
          </a:xfrm>
          <a:prstGeom prst="rect">
            <a:avLst/>
          </a:prstGeom>
          <a:solidFill>
            <a:srgbClr val="D9DDE3"/>
          </a:solidFill>
          <a:ln>
            <a:noFill/>
          </a:ln>
        </p:spPr>
        <p:txBody>
          <a:bodyPr rtlCol="0" anchor="ctr"/>
          <a:lstStyle/>
          <a:p>
            <a:pPr algn="ctr"/>
          </a:p>
        </p:txBody>
      </p:sp>
      <p:sp>
        <p:nvSpPr>
          <p:cNvPr id="47" name="TextBox 46"/>
          <p:cNvSpPr txBox="1"/>
          <p:nvPr/>
        </p:nvSpPr>
        <p:spPr>
          <a:xfrm>
            <a:off x="9155430" y="5084064"/>
            <a:ext cx="2539746" cy="475488"/>
          </a:xfrm>
          <a:prstGeom prst="rect">
            <a:avLst/>
          </a:prstGeom>
          <a:noFill/>
        </p:spPr>
        <p:txBody>
          <a:bodyPr wrap="square" lIns="54864" rIns="54864" tIns="36576" bIns="36576" anchor="ctr">
            <a:spAutoFit/>
          </a:bodyPr>
          <a:lstStyle/>
          <a:p>
            <a:pPr algn="ctr">
              <a:lnSpc>
                <a:spcPct val="112000"/>
              </a:lnSpc>
              <a:spcAft>
                <a:spcPts val="600"/>
              </a:spcAft>
            </a:pPr>
            <a:r>
              <a:rPr sz="2200" b="1" i="0">
                <a:solidFill>
                  <a:srgbClr val="1F3864"/>
                </a:solidFill>
                <a:latin typeface="Arial"/>
                <a:ea typeface="Microsoft YaHei"/>
              </a:rPr>
              <a:t>0.598%</a:t>
            </a:r>
          </a:p>
        </p:txBody>
      </p:sp>
      <p:sp>
        <p:nvSpPr>
          <p:cNvPr id="48" name="TextBox 47"/>
          <p:cNvSpPr txBox="1"/>
          <p:nvPr/>
        </p:nvSpPr>
        <p:spPr>
          <a:xfrm>
            <a:off x="9192006" y="5559552"/>
            <a:ext cx="2466594" cy="45720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被测胞元的灵敏度误差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成本：快约十倍，耗时随胞元数线性增长</a:t>
            </a:r>
          </a:p>
        </p:txBody>
      </p:sp>
      <p:graphicFrame>
        <p:nvGraphicFramePr>
          <p:cNvPr id="3" name="Chart 2"/>
          <p:cNvGraphicFramePr>
            <a:graphicFrameLocks noGrp="1"/>
          </p:cNvGraphicFramePr>
          <p:nvPr/>
        </p:nvGraphicFramePr>
        <p:xfrm>
          <a:off x="457200" y="987552"/>
          <a:ext cx="5669280" cy="2971800"/>
        </p:xfrm>
        <a:graphic>
          <a:graphicData uri="http://schemas.openxmlformats.org/drawingml/2006/chart">
            <c:chart xmlns:c="http://schemas.openxmlformats.org/drawingml/2006/chart" r:id="rId3"/>
          </a:graphicData>
        </a:graphic>
      </p:graphicFrame>
      <p:pic>
        <p:nvPicPr>
          <p:cNvPr id="4" name="Picture 3" descr="F16_scale_plates.png"/>
          <p:cNvPicPr>
            <a:picLocks noChangeAspect="1"/>
          </p:cNvPicPr>
          <p:nvPr/>
        </p:nvPicPr>
        <p:blipFill>
          <a:blip r:embed="rId4"/>
          <a:stretch>
            <a:fillRect/>
          </a:stretch>
        </p:blipFill>
        <p:spPr>
          <a:xfrm>
            <a:off x="6355080" y="1042251"/>
            <a:ext cx="5376672" cy="2862400"/>
          </a:xfrm>
          <a:prstGeom prst="rect">
            <a:avLst/>
          </a:prstGeom>
        </p:spPr>
      </p:pic>
      <p:sp>
        <p:nvSpPr>
          <p:cNvPr id="5" name="Rounded Rectangle 4"/>
          <p:cNvSpPr/>
          <p:nvPr/>
        </p:nvSpPr>
        <p:spPr>
          <a:xfrm>
            <a:off x="457200" y="4096512"/>
            <a:ext cx="2647188" cy="1325880"/>
          </a:xfrm>
          <a:prstGeom prst="roundRect">
            <a:avLst>
              <a:gd name="adj" fmla="val 3500"/>
            </a:avLst>
          </a:prstGeom>
          <a:solidFill>
            <a:srgbClr val="F4F6F9"/>
          </a:solidFill>
          <a:ln>
            <a:noFill/>
          </a:ln>
        </p:spPr>
        <p:txBody>
          <a:bodyPr rtlCol="0" anchor="ctr"/>
          <a:lstStyle/>
          <a:p>
            <a:pPr algn="ctr"/>
          </a:p>
        </p:txBody>
      </p:sp>
      <p:sp>
        <p:nvSpPr>
          <p:cNvPr id="6" name="TextBox 5"/>
          <p:cNvSpPr txBox="1"/>
          <p:nvPr/>
        </p:nvSpPr>
        <p:spPr>
          <a:xfrm>
            <a:off x="548640" y="4206240"/>
            <a:ext cx="2464308" cy="640080"/>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1F3864"/>
                </a:solidFill>
                <a:latin typeface="Arial"/>
                <a:ea typeface="Microsoft YaHei"/>
              </a:rPr>
              <a:t>79–105 s</a:t>
            </a:r>
          </a:p>
        </p:txBody>
      </p:sp>
      <p:sp>
        <p:nvSpPr>
          <p:cNvPr id="7" name="TextBox 6"/>
          <p:cNvSpPr txBox="1"/>
          <p:nvPr/>
        </p:nvSpPr>
        <p:spPr>
          <a:xfrm>
            <a:off x="640080" y="4864608"/>
            <a:ext cx="2281428" cy="50291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NICE 一次分析（含灵敏度）</a:t>
            </a:r>
          </a:p>
        </p:txBody>
      </p:sp>
      <p:sp>
        <p:nvSpPr>
          <p:cNvPr id="8" name="Rounded Rectangle 7"/>
          <p:cNvSpPr/>
          <p:nvPr/>
        </p:nvSpPr>
        <p:spPr>
          <a:xfrm>
            <a:off x="3332988" y="4096512"/>
            <a:ext cx="2647188" cy="1325880"/>
          </a:xfrm>
          <a:prstGeom prst="roundRect">
            <a:avLst>
              <a:gd name="adj" fmla="val 3500"/>
            </a:avLst>
          </a:prstGeom>
          <a:solidFill>
            <a:srgbClr val="F4F6F9"/>
          </a:solidFill>
          <a:ln>
            <a:noFill/>
          </a:ln>
        </p:spPr>
        <p:txBody>
          <a:bodyPr rtlCol="0" anchor="ctr"/>
          <a:lstStyle/>
          <a:p>
            <a:pPr algn="ctr"/>
          </a:p>
        </p:txBody>
      </p:sp>
      <p:sp>
        <p:nvSpPr>
          <p:cNvPr id="9" name="TextBox 8"/>
          <p:cNvSpPr txBox="1"/>
          <p:nvPr/>
        </p:nvSpPr>
        <p:spPr>
          <a:xfrm>
            <a:off x="3424428" y="4206240"/>
            <a:ext cx="2464308" cy="640080"/>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1F3864"/>
                </a:solidFill>
                <a:latin typeface="Arial"/>
                <a:ea typeface="Microsoft YaHei"/>
              </a:rPr>
              <a:t>9.2 GiB</a:t>
            </a:r>
          </a:p>
        </p:txBody>
      </p:sp>
      <p:sp>
        <p:nvSpPr>
          <p:cNvPr id="10" name="TextBox 9"/>
          <p:cNvSpPr txBox="1"/>
          <p:nvPr/>
        </p:nvSpPr>
        <p:spPr>
          <a:xfrm>
            <a:off x="3515868" y="4864608"/>
            <a:ext cx="2281428" cy="50291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GPU 内存峰值（直接求解 71–86 GiB）</a:t>
            </a:r>
          </a:p>
        </p:txBody>
      </p:sp>
      <p:sp>
        <p:nvSpPr>
          <p:cNvPr id="11" name="Rounded Rectangle 10"/>
          <p:cNvSpPr/>
          <p:nvPr/>
        </p:nvSpPr>
        <p:spPr>
          <a:xfrm>
            <a:off x="6208776" y="4096512"/>
            <a:ext cx="2647188" cy="1325880"/>
          </a:xfrm>
          <a:prstGeom prst="roundRect">
            <a:avLst>
              <a:gd name="adj" fmla="val 3500"/>
            </a:avLst>
          </a:prstGeom>
          <a:solidFill>
            <a:srgbClr val="F4F6F9"/>
          </a:solidFill>
          <a:ln>
            <a:noFill/>
          </a:ln>
        </p:spPr>
        <p:txBody>
          <a:bodyPr rtlCol="0" anchor="ctr"/>
          <a:lstStyle/>
          <a:p>
            <a:pPr algn="ctr"/>
          </a:p>
        </p:txBody>
      </p:sp>
      <p:sp>
        <p:nvSpPr>
          <p:cNvPr id="12" name="TextBox 11"/>
          <p:cNvSpPr txBox="1"/>
          <p:nvPr/>
        </p:nvSpPr>
        <p:spPr>
          <a:xfrm>
            <a:off x="6300216" y="4206240"/>
            <a:ext cx="2464308" cy="640080"/>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1F3864"/>
                </a:solidFill>
                <a:latin typeface="Arial"/>
                <a:ea typeface="Microsoft YaHei"/>
              </a:rPr>
              <a:t>10.1–10.9 s</a:t>
            </a:r>
          </a:p>
        </p:txBody>
      </p:sp>
      <p:sp>
        <p:nvSpPr>
          <p:cNvPr id="13" name="TextBox 12"/>
          <p:cNvSpPr txBox="1"/>
          <p:nvPr/>
        </p:nvSpPr>
        <p:spPr>
          <a:xfrm>
            <a:off x="6391656" y="4864608"/>
            <a:ext cx="2281428" cy="50291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每胞元每次设计迭代（24–110 胞元）</a:t>
            </a:r>
          </a:p>
        </p:txBody>
      </p:sp>
      <p:sp>
        <p:nvSpPr>
          <p:cNvPr id="14" name="Rounded Rectangle 13"/>
          <p:cNvSpPr/>
          <p:nvPr/>
        </p:nvSpPr>
        <p:spPr>
          <a:xfrm>
            <a:off x="9084564" y="4096512"/>
            <a:ext cx="2647188" cy="1325880"/>
          </a:xfrm>
          <a:prstGeom prst="roundRect">
            <a:avLst>
              <a:gd name="adj" fmla="val 3500"/>
            </a:avLst>
          </a:prstGeom>
          <a:solidFill>
            <a:srgbClr val="F4F6F9"/>
          </a:solidFill>
          <a:ln>
            <a:noFill/>
          </a:ln>
        </p:spPr>
        <p:txBody>
          <a:bodyPr rtlCol="0" anchor="ctr"/>
          <a:lstStyle/>
          <a:p>
            <a:pPr algn="ctr"/>
          </a:p>
        </p:txBody>
      </p:sp>
      <p:sp>
        <p:nvSpPr>
          <p:cNvPr id="15" name="TextBox 14"/>
          <p:cNvSpPr txBox="1"/>
          <p:nvPr/>
        </p:nvSpPr>
        <p:spPr>
          <a:xfrm>
            <a:off x="9176004" y="4206240"/>
            <a:ext cx="2464308" cy="640080"/>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1F3864"/>
                </a:solidFill>
                <a:latin typeface="Arial"/>
                <a:ea typeface="Microsoft YaHei"/>
              </a:rPr>
              <a:t>19.4 min</a:t>
            </a:r>
          </a:p>
        </p:txBody>
      </p:sp>
      <p:sp>
        <p:nvSpPr>
          <p:cNvPr id="16" name="TextBox 15"/>
          <p:cNvSpPr txBox="1"/>
          <p:nvPr/>
        </p:nvSpPr>
        <p:spPr>
          <a:xfrm>
            <a:off x="9267444" y="4864608"/>
            <a:ext cx="2281428" cy="50291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110 胞元板一次迭代（3270 万自由度）</a:t>
            </a:r>
          </a:p>
        </p:txBody>
      </p:sp>
      <p:sp>
        <p:nvSpPr>
          <p:cNvPr id="17" name="Rounded Rectangle 16"/>
          <p:cNvSpPr/>
          <p:nvPr/>
        </p:nvSpPr>
        <p:spPr>
          <a:xfrm>
            <a:off x="457200" y="5532120"/>
            <a:ext cx="11274552" cy="548640"/>
          </a:xfrm>
          <a:prstGeom prst="roundRect">
            <a:avLst>
              <a:gd name="adj" fmla="val 3500"/>
            </a:avLst>
          </a:prstGeom>
          <a:solidFill>
            <a:srgbClr val="FBF1F1"/>
          </a:solidFill>
          <a:ln>
            <a:noFill/>
          </a:ln>
        </p:spPr>
        <p:txBody>
          <a:bodyPr rtlCol="0" anchor="ctr"/>
          <a:lstStyle/>
          <a:p>
            <a:pPr algn="ctr"/>
          </a:p>
        </p:txBody>
      </p:sp>
      <p:sp>
        <p:nvSpPr>
          <p:cNvPr id="18" name="TextBox 17"/>
          <p:cNvSpPr txBox="1"/>
          <p:nvPr/>
        </p:nvSpPr>
        <p:spPr>
          <a:xfrm>
            <a:off x="640080" y="5532120"/>
            <a:ext cx="10908792" cy="548640"/>
          </a:xfrm>
          <a:prstGeom prst="rect">
            <a:avLst/>
          </a:prstGeom>
          <a:noFill/>
        </p:spPr>
        <p:txBody>
          <a:bodyPr wrap="square" lIns="18288" rIns="18288" tIns="36576" bIns="36576" anchor="ctr">
            <a:spAutoFit/>
          </a:bodyPr>
          <a:lstStyle/>
          <a:p>
            <a:pPr algn="l">
              <a:lnSpc>
                <a:spcPct val="112000"/>
              </a:lnSpc>
              <a:spcAft>
                <a:spcPts val="600"/>
              </a:spcAft>
            </a:pPr>
            <a:r>
              <a:rPr sz="1600" b="1" i="0">
                <a:solidFill>
                  <a:srgbClr val="C00000"/>
                </a:solidFill>
                <a:latin typeface="Arial"/>
                <a:ea typeface="Microsoft YaHei"/>
              </a:rPr>
              <a:t>快的原因：</a:t>
            </a:r>
            <a:r>
              <a:rPr sz="1600" b="0" i="0">
                <a:solidFill>
                  <a:srgbClr val="262626"/>
                </a:solidFill>
                <a:latin typeface="Arial"/>
                <a:ea typeface="Microsoft YaHei"/>
              </a:rPr>
              <a:t>内部位移由一次网络计算和固定步数的修正得到，不分解内部刚度矩阵；装配问题只在主自由度上求解</a:t>
            </a:r>
          </a:p>
        </p:txBody>
      </p:sp>
      <p:sp>
        <p:nvSpPr>
          <p:cNvPr id="19" name="TextBox 18"/>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一块 GPU 对 16 个 CPU 线程，比较的是各自部署方式下的成本；均不含数据生成和训练</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厚度设计：复现精确静力凝聚的结果</a:t>
            </a:r>
          </a:p>
        </p:txBody>
      </p:sp>
      <p:pic>
        <p:nvPicPr>
          <p:cNvPr id="3" name="Picture 2" descr="F13_optimisation.png"/>
          <p:cNvPicPr>
            <a:picLocks noChangeAspect="1"/>
          </p:cNvPicPr>
          <p:nvPr/>
        </p:nvPicPr>
        <p:blipFill>
          <a:blip r:embed="rId3"/>
          <a:stretch>
            <a:fillRect/>
          </a:stretch>
        </p:blipFill>
        <p:spPr>
          <a:xfrm>
            <a:off x="457200" y="994569"/>
            <a:ext cx="7086600" cy="3387532"/>
          </a:xfrm>
          <a:prstGeom prst="rect">
            <a:avLst/>
          </a:prstGeom>
        </p:spPr>
      </p:pic>
      <p:pic>
        <p:nvPicPr>
          <p:cNvPr id="4" name="Picture 3" descr="F14_plate_design3d.png"/>
          <p:cNvPicPr>
            <a:picLocks noChangeAspect="1"/>
          </p:cNvPicPr>
          <p:nvPr/>
        </p:nvPicPr>
        <p:blipFill>
          <a:blip r:embed="rId4"/>
          <a:srcRect r="50000" b="47000"/>
          <a:stretch>
            <a:fillRect/>
          </a:stretch>
        </p:blipFill>
        <p:spPr>
          <a:xfrm>
            <a:off x="7772400" y="1023316"/>
            <a:ext cx="3959352" cy="2854551"/>
          </a:xfrm>
          <a:prstGeom prst="rect">
            <a:avLst/>
          </a:prstGeom>
        </p:spPr>
      </p:pic>
      <p:sp>
        <p:nvSpPr>
          <p:cNvPr id="5" name="TextBox 4"/>
          <p:cNvSpPr txBox="1"/>
          <p:nvPr/>
        </p:nvSpPr>
        <p:spPr>
          <a:xfrm>
            <a:off x="7772400" y="3931920"/>
            <a:ext cx="3959352" cy="365760"/>
          </a:xfrm>
          <a:prstGeom prst="rect">
            <a:avLst/>
          </a:prstGeom>
          <a:noFill/>
        </p:spPr>
        <p:txBody>
          <a:bodyPr wrap="square" lIns="54864" rIns="54864" tIns="36576" bIns="36576" anchor="t">
            <a:spAutoFit/>
          </a:bodyPr>
          <a:lstStyle/>
          <a:p>
            <a:pPr algn="ctr">
              <a:lnSpc>
                <a:spcPct val="112000"/>
              </a:lnSpc>
              <a:spcAft>
                <a:spcPts val="600"/>
              </a:spcAft>
            </a:pPr>
            <a:r>
              <a:rPr sz="1200" b="0" i="0">
                <a:solidFill>
                  <a:srgbClr val="6B7280"/>
                </a:solidFill>
                <a:latin typeface="Arial"/>
                <a:ea typeface="Microsoft YaHei"/>
              </a:rPr>
              <a:t>切割面固支板的 NICE 最终设计</a:t>
            </a:r>
          </a:p>
        </p:txBody>
      </p:sp>
      <p:sp>
        <p:nvSpPr>
          <p:cNvPr id="6" name="Rounded Rectangle 5"/>
          <p:cNvSpPr/>
          <p:nvPr/>
        </p:nvSpPr>
        <p:spPr>
          <a:xfrm>
            <a:off x="457200" y="4572000"/>
            <a:ext cx="2647188" cy="1371600"/>
          </a:xfrm>
          <a:prstGeom prst="roundRect">
            <a:avLst>
              <a:gd name="adj" fmla="val 3500"/>
            </a:avLst>
          </a:prstGeom>
          <a:solidFill>
            <a:srgbClr val="F4F6F9"/>
          </a:solidFill>
          <a:ln>
            <a:noFill/>
          </a:ln>
        </p:spPr>
        <p:txBody>
          <a:bodyPr rtlCol="0" anchor="ctr"/>
          <a:lstStyle/>
          <a:p>
            <a:pPr algn="ctr"/>
          </a:p>
        </p:txBody>
      </p:sp>
      <p:sp>
        <p:nvSpPr>
          <p:cNvPr id="7" name="TextBox 6"/>
          <p:cNvSpPr txBox="1"/>
          <p:nvPr/>
        </p:nvSpPr>
        <p:spPr>
          <a:xfrm>
            <a:off x="548640" y="4681728"/>
            <a:ext cx="2464308" cy="640080"/>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1F3864"/>
                </a:solidFill>
                <a:latin typeface="Arial"/>
                <a:ea typeface="Microsoft YaHei"/>
              </a:rPr>
              <a:t>≤0.0051</a:t>
            </a:r>
          </a:p>
        </p:txBody>
      </p:sp>
      <p:sp>
        <p:nvSpPr>
          <p:cNvPr id="8" name="TextBox 7"/>
          <p:cNvSpPr txBox="1"/>
          <p:nvPr/>
        </p:nvSpPr>
        <p:spPr>
          <a:xfrm>
            <a:off x="640080" y="5340096"/>
            <a:ext cx="2281428" cy="54864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算例 A：与精确静力凝聚设计的角点参数之差</a:t>
            </a:r>
          </a:p>
        </p:txBody>
      </p:sp>
      <p:sp>
        <p:nvSpPr>
          <p:cNvPr id="9" name="Rounded Rectangle 8"/>
          <p:cNvSpPr/>
          <p:nvPr/>
        </p:nvSpPr>
        <p:spPr>
          <a:xfrm>
            <a:off x="3332988" y="4572000"/>
            <a:ext cx="2647188" cy="1371600"/>
          </a:xfrm>
          <a:prstGeom prst="roundRect">
            <a:avLst>
              <a:gd name="adj" fmla="val 3500"/>
            </a:avLst>
          </a:prstGeom>
          <a:solidFill>
            <a:srgbClr val="F4F6F9"/>
          </a:solidFill>
          <a:ln>
            <a:noFill/>
          </a:ln>
        </p:spPr>
        <p:txBody>
          <a:bodyPr rtlCol="0" anchor="ctr"/>
          <a:lstStyle/>
          <a:p>
            <a:pPr algn="ctr"/>
          </a:p>
        </p:txBody>
      </p:sp>
      <p:sp>
        <p:nvSpPr>
          <p:cNvPr id="10" name="TextBox 9"/>
          <p:cNvSpPr txBox="1"/>
          <p:nvPr/>
        </p:nvSpPr>
        <p:spPr>
          <a:xfrm>
            <a:off x="3424428" y="4681728"/>
            <a:ext cx="2464308" cy="640080"/>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1F3864"/>
                </a:solidFill>
                <a:latin typeface="Arial"/>
                <a:ea typeface="Microsoft YaHei"/>
              </a:rPr>
              <a:t>27%</a:t>
            </a:r>
          </a:p>
        </p:txBody>
      </p:sp>
      <p:sp>
        <p:nvSpPr>
          <p:cNvPr id="11" name="TextBox 10"/>
          <p:cNvSpPr txBox="1"/>
          <p:nvPr/>
        </p:nvSpPr>
        <p:spPr>
          <a:xfrm>
            <a:off x="3515868" y="5340096"/>
            <a:ext cx="2281428" cy="54864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固支板：均匀化低估初始设计柔度（加密后 25.8%）</a:t>
            </a:r>
          </a:p>
        </p:txBody>
      </p:sp>
      <p:sp>
        <p:nvSpPr>
          <p:cNvPr id="12" name="Rounded Rectangle 11"/>
          <p:cNvSpPr/>
          <p:nvPr/>
        </p:nvSpPr>
        <p:spPr>
          <a:xfrm>
            <a:off x="6208776" y="4572000"/>
            <a:ext cx="2647188" cy="1371600"/>
          </a:xfrm>
          <a:prstGeom prst="roundRect">
            <a:avLst>
              <a:gd name="adj" fmla="val 3500"/>
            </a:avLst>
          </a:prstGeom>
          <a:solidFill>
            <a:srgbClr val="F4F6F9"/>
          </a:solidFill>
          <a:ln>
            <a:noFill/>
          </a:ln>
        </p:spPr>
        <p:txBody>
          <a:bodyPr rtlCol="0" anchor="ctr"/>
          <a:lstStyle/>
          <a:p>
            <a:pPr algn="ctr"/>
          </a:p>
        </p:txBody>
      </p:sp>
      <p:sp>
        <p:nvSpPr>
          <p:cNvPr id="13" name="TextBox 12"/>
          <p:cNvSpPr txBox="1"/>
          <p:nvPr/>
        </p:nvSpPr>
        <p:spPr>
          <a:xfrm>
            <a:off x="6300216" y="4681728"/>
            <a:ext cx="2464308" cy="640080"/>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1F3864"/>
                </a:solidFill>
                <a:latin typeface="Arial"/>
                <a:ea typeface="Microsoft YaHei"/>
              </a:rPr>
              <a:t>0.03% / 0.3%</a:t>
            </a:r>
          </a:p>
        </p:txBody>
      </p:sp>
      <p:sp>
        <p:nvSpPr>
          <p:cNvPr id="14" name="TextBox 13"/>
          <p:cNvSpPr txBox="1"/>
          <p:nvPr/>
        </p:nvSpPr>
        <p:spPr>
          <a:xfrm>
            <a:off x="6391656" y="5340096"/>
            <a:ext cx="2281428" cy="54864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NICE 最终设计的柔度 / 梯度偏差</a:t>
            </a:r>
          </a:p>
        </p:txBody>
      </p:sp>
      <p:sp>
        <p:nvSpPr>
          <p:cNvPr id="15" name="Rounded Rectangle 14"/>
          <p:cNvSpPr/>
          <p:nvPr/>
        </p:nvSpPr>
        <p:spPr>
          <a:xfrm>
            <a:off x="9084564" y="4572000"/>
            <a:ext cx="2647188" cy="1371600"/>
          </a:xfrm>
          <a:prstGeom prst="roundRect">
            <a:avLst>
              <a:gd name="adj" fmla="val 3500"/>
            </a:avLst>
          </a:prstGeom>
          <a:solidFill>
            <a:srgbClr val="F4F6F9"/>
          </a:solidFill>
          <a:ln>
            <a:noFill/>
          </a:ln>
        </p:spPr>
        <p:txBody>
          <a:bodyPr rtlCol="0" anchor="ctr"/>
          <a:lstStyle/>
          <a:p>
            <a:pPr algn="ctr"/>
          </a:p>
        </p:txBody>
      </p:sp>
      <p:sp>
        <p:nvSpPr>
          <p:cNvPr id="16" name="TextBox 15"/>
          <p:cNvSpPr txBox="1"/>
          <p:nvPr/>
        </p:nvSpPr>
        <p:spPr>
          <a:xfrm>
            <a:off x="9176004" y="4681728"/>
            <a:ext cx="2464308" cy="640080"/>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1F3864"/>
                </a:solidFill>
                <a:latin typeface="Arial"/>
                <a:ea typeface="Microsoft YaHei"/>
              </a:rPr>
              <a:t>+2.44%</a:t>
            </a:r>
          </a:p>
        </p:txBody>
      </p:sp>
      <p:sp>
        <p:nvSpPr>
          <p:cNvPr id="17" name="TextBox 16"/>
          <p:cNvSpPr txBox="1"/>
          <p:nvPr/>
        </p:nvSpPr>
        <p:spPr>
          <a:xfrm>
            <a:off x="9267444" y="5340096"/>
            <a:ext cx="2281428" cy="54864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均匀化设计的精确柔度（材料少 0.18%）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结论与局限</a:t>
            </a:r>
          </a:p>
        </p:txBody>
      </p:sp>
      <p:sp>
        <p:nvSpPr>
          <p:cNvPr id="3" name="Rounded Rectangle 2"/>
          <p:cNvSpPr/>
          <p:nvPr/>
        </p:nvSpPr>
        <p:spPr>
          <a:xfrm>
            <a:off x="457200" y="1051560"/>
            <a:ext cx="3575304" cy="2743200"/>
          </a:xfrm>
          <a:prstGeom prst="roundRect">
            <a:avLst>
              <a:gd name="adj" fmla="val 3500"/>
            </a:avLst>
          </a:prstGeom>
          <a:solidFill>
            <a:srgbClr val="F4F6F9"/>
          </a:solidFill>
          <a:ln>
            <a:noFill/>
          </a:ln>
        </p:spPr>
        <p:txBody>
          <a:bodyPr rtlCol="0" anchor="ctr"/>
          <a:lstStyle/>
          <a:p>
            <a:pPr algn="ctr"/>
          </a:p>
        </p:txBody>
      </p:sp>
      <p:sp>
        <p:nvSpPr>
          <p:cNvPr id="4" name="TextBox 3"/>
          <p:cNvSpPr txBox="1"/>
          <p:nvPr/>
        </p:nvSpPr>
        <p:spPr>
          <a:xfrm>
            <a:off x="658368" y="1143000"/>
            <a:ext cx="914400" cy="548640"/>
          </a:xfrm>
          <a:prstGeom prst="rect">
            <a:avLst/>
          </a:prstGeom>
          <a:noFill/>
        </p:spPr>
        <p:txBody>
          <a:bodyPr wrap="square" lIns="0" rIns="0" tIns="36576" bIns="36576" anchor="t">
            <a:spAutoFit/>
          </a:bodyPr>
          <a:lstStyle/>
          <a:p>
            <a:pPr algn="l">
              <a:spcAft>
                <a:spcPts val="600"/>
              </a:spcAft>
            </a:pPr>
            <a:r>
              <a:rPr sz="3000" b="1" i="0">
                <a:solidFill>
                  <a:srgbClr val="C00000"/>
                </a:solidFill>
                <a:latin typeface="Arial"/>
                <a:ea typeface="Microsoft YaHei"/>
              </a:rPr>
              <a:t>01</a:t>
            </a:r>
          </a:p>
        </p:txBody>
      </p:sp>
      <p:sp>
        <p:nvSpPr>
          <p:cNvPr id="5" name="TextBox 4"/>
          <p:cNvSpPr txBox="1"/>
          <p:nvPr/>
        </p:nvSpPr>
        <p:spPr>
          <a:xfrm>
            <a:off x="640080" y="1737360"/>
            <a:ext cx="3209544" cy="411480"/>
          </a:xfrm>
          <a:prstGeom prst="rect">
            <a:avLst/>
          </a:prstGeom>
          <a:noFill/>
        </p:spPr>
        <p:txBody>
          <a:bodyPr wrap="square" lIns="54864" rIns="54864" tIns="36576" bIns="36576" anchor="t">
            <a:spAutoFit/>
          </a:bodyPr>
          <a:lstStyle/>
          <a:p>
            <a:pPr algn="l">
              <a:lnSpc>
                <a:spcPct val="112000"/>
              </a:lnSpc>
              <a:spcAft>
                <a:spcPts val="600"/>
              </a:spcAft>
            </a:pPr>
            <a:r>
              <a:rPr sz="1800" b="1" i="0">
                <a:solidFill>
                  <a:srgbClr val="262626"/>
                </a:solidFill>
                <a:latin typeface="Arial"/>
                <a:ea typeface="Microsoft YaHei"/>
              </a:rPr>
              <a:t>只近似内部位移</a:t>
            </a:r>
          </a:p>
        </p:txBody>
      </p:sp>
      <p:sp>
        <p:nvSpPr>
          <p:cNvPr id="6" name="TextBox 5"/>
          <p:cNvSpPr txBox="1"/>
          <p:nvPr/>
        </p:nvSpPr>
        <p:spPr>
          <a:xfrm>
            <a:off x="640080" y="2212848"/>
            <a:ext cx="3209544" cy="1508760"/>
          </a:xfrm>
          <a:prstGeom prst="rect">
            <a:avLst/>
          </a:prstGeom>
          <a:noFill/>
        </p:spPr>
        <p:txBody>
          <a:bodyPr wrap="square" lIns="54864" rIns="54864" tIns="36576" bIns="36576" anchor="t">
            <a:spAutoFit/>
          </a:bodyPr>
          <a:lstStyle/>
          <a:p>
            <a:pPr algn="l">
              <a:lnSpc>
                <a:spcPct val="118000"/>
              </a:lnSpc>
              <a:spcAft>
                <a:spcPts val="600"/>
              </a:spcAft>
            </a:pPr>
            <a:r>
              <a:rPr sz="1500" b="0" i="0">
                <a:solidFill>
                  <a:srgbClr val="262626"/>
                </a:solidFill>
                <a:latin typeface="Arial"/>
                <a:ea typeface="Microsoft YaHei"/>
              </a:rPr>
              <a:t>保留全部主自由度：切割面上的支撑和载荷直接施加；同一网络适用于随切割变化的主自由度集合</a:t>
            </a:r>
          </a:p>
        </p:txBody>
      </p:sp>
      <p:sp>
        <p:nvSpPr>
          <p:cNvPr id="7" name="Rounded Rectangle 6"/>
          <p:cNvSpPr/>
          <p:nvPr/>
        </p:nvSpPr>
        <p:spPr>
          <a:xfrm>
            <a:off x="4306824" y="1051560"/>
            <a:ext cx="3575304" cy="2743200"/>
          </a:xfrm>
          <a:prstGeom prst="roundRect">
            <a:avLst>
              <a:gd name="adj" fmla="val 3500"/>
            </a:avLst>
          </a:prstGeom>
          <a:solidFill>
            <a:srgbClr val="F4F6F9"/>
          </a:solidFill>
          <a:ln>
            <a:noFill/>
          </a:ln>
        </p:spPr>
        <p:txBody>
          <a:bodyPr rtlCol="0" anchor="ctr"/>
          <a:lstStyle/>
          <a:p>
            <a:pPr algn="ctr"/>
          </a:p>
        </p:txBody>
      </p:sp>
      <p:sp>
        <p:nvSpPr>
          <p:cNvPr id="8" name="TextBox 7"/>
          <p:cNvSpPr txBox="1"/>
          <p:nvPr/>
        </p:nvSpPr>
        <p:spPr>
          <a:xfrm>
            <a:off x="4507992" y="1143000"/>
            <a:ext cx="914400" cy="548640"/>
          </a:xfrm>
          <a:prstGeom prst="rect">
            <a:avLst/>
          </a:prstGeom>
          <a:noFill/>
        </p:spPr>
        <p:txBody>
          <a:bodyPr wrap="square" lIns="0" rIns="0" tIns="36576" bIns="36576" anchor="t">
            <a:spAutoFit/>
          </a:bodyPr>
          <a:lstStyle/>
          <a:p>
            <a:pPr algn="l">
              <a:spcAft>
                <a:spcPts val="600"/>
              </a:spcAft>
            </a:pPr>
            <a:r>
              <a:rPr sz="3000" b="1" i="0">
                <a:solidFill>
                  <a:srgbClr val="C00000"/>
                </a:solidFill>
                <a:latin typeface="Arial"/>
                <a:ea typeface="Microsoft YaHei"/>
              </a:rPr>
              <a:t>02</a:t>
            </a:r>
          </a:p>
        </p:txBody>
      </p:sp>
      <p:sp>
        <p:nvSpPr>
          <p:cNvPr id="9" name="TextBox 8"/>
          <p:cNvSpPr txBox="1"/>
          <p:nvPr/>
        </p:nvSpPr>
        <p:spPr>
          <a:xfrm>
            <a:off x="4489704" y="1737360"/>
            <a:ext cx="3209544" cy="411480"/>
          </a:xfrm>
          <a:prstGeom prst="rect">
            <a:avLst/>
          </a:prstGeom>
          <a:noFill/>
        </p:spPr>
        <p:txBody>
          <a:bodyPr wrap="square" lIns="54864" rIns="54864" tIns="36576" bIns="36576" anchor="t">
            <a:spAutoFit/>
          </a:bodyPr>
          <a:lstStyle/>
          <a:p>
            <a:pPr algn="l">
              <a:lnSpc>
                <a:spcPct val="112000"/>
              </a:lnSpc>
              <a:spcAft>
                <a:spcPts val="600"/>
              </a:spcAft>
            </a:pPr>
            <a:r>
              <a:rPr sz="1800" b="1" i="0">
                <a:solidFill>
                  <a:srgbClr val="262626"/>
                </a:solidFill>
                <a:latin typeface="Arial"/>
                <a:ea typeface="Microsoft YaHei"/>
              </a:rPr>
              <a:t>性质由构造保证</a:t>
            </a:r>
          </a:p>
        </p:txBody>
      </p:sp>
      <p:sp>
        <p:nvSpPr>
          <p:cNvPr id="10" name="TextBox 9"/>
          <p:cNvSpPr txBox="1"/>
          <p:nvPr/>
        </p:nvSpPr>
        <p:spPr>
          <a:xfrm>
            <a:off x="4489704" y="2212848"/>
            <a:ext cx="3209544" cy="1508760"/>
          </a:xfrm>
          <a:prstGeom prst="rect">
            <a:avLst/>
          </a:prstGeom>
          <a:noFill/>
        </p:spPr>
        <p:txBody>
          <a:bodyPr wrap="square" lIns="54864" rIns="54864" tIns="36576" bIns="36576" anchor="t">
            <a:spAutoFit/>
          </a:bodyPr>
          <a:lstStyle/>
          <a:p>
            <a:pPr algn="l">
              <a:lnSpc>
                <a:spcPct val="118000"/>
              </a:lnSpc>
              <a:spcAft>
                <a:spcPts val="600"/>
              </a:spcAft>
            </a:pPr>
            <a:r>
              <a:rPr sz="1500" b="0" i="0">
                <a:solidFill>
                  <a:srgbClr val="262626"/>
                </a:solidFill>
                <a:latin typeface="Arial"/>
                <a:ea typeface="Microsoft YaHei"/>
              </a:rPr>
              <a:t>对称半正定、不低于精确值、误差为二阶小量，与网络精度无关；修正不增大误差</a:t>
            </a:r>
          </a:p>
        </p:txBody>
      </p:sp>
      <p:sp>
        <p:nvSpPr>
          <p:cNvPr id="11" name="Rounded Rectangle 10"/>
          <p:cNvSpPr/>
          <p:nvPr/>
        </p:nvSpPr>
        <p:spPr>
          <a:xfrm>
            <a:off x="8156448" y="1051560"/>
            <a:ext cx="3575304" cy="2743200"/>
          </a:xfrm>
          <a:prstGeom prst="roundRect">
            <a:avLst>
              <a:gd name="adj" fmla="val 3500"/>
            </a:avLst>
          </a:prstGeom>
          <a:solidFill>
            <a:srgbClr val="F4F6F9"/>
          </a:solidFill>
          <a:ln>
            <a:noFill/>
          </a:ln>
        </p:spPr>
        <p:txBody>
          <a:bodyPr rtlCol="0" anchor="ctr"/>
          <a:lstStyle/>
          <a:p>
            <a:pPr algn="ctr"/>
          </a:p>
        </p:txBody>
      </p:sp>
      <p:sp>
        <p:nvSpPr>
          <p:cNvPr id="12" name="TextBox 11"/>
          <p:cNvSpPr txBox="1"/>
          <p:nvPr/>
        </p:nvSpPr>
        <p:spPr>
          <a:xfrm>
            <a:off x="8357616" y="1143000"/>
            <a:ext cx="914400" cy="548640"/>
          </a:xfrm>
          <a:prstGeom prst="rect">
            <a:avLst/>
          </a:prstGeom>
          <a:noFill/>
        </p:spPr>
        <p:txBody>
          <a:bodyPr wrap="square" lIns="0" rIns="0" tIns="36576" bIns="36576" anchor="t">
            <a:spAutoFit/>
          </a:bodyPr>
          <a:lstStyle/>
          <a:p>
            <a:pPr algn="l">
              <a:spcAft>
                <a:spcPts val="600"/>
              </a:spcAft>
            </a:pPr>
            <a:r>
              <a:rPr sz="3000" b="1" i="0">
                <a:solidFill>
                  <a:srgbClr val="C00000"/>
                </a:solidFill>
                <a:latin typeface="Arial"/>
                <a:ea typeface="Microsoft YaHei"/>
              </a:rPr>
              <a:t>03</a:t>
            </a:r>
          </a:p>
        </p:txBody>
      </p:sp>
      <p:sp>
        <p:nvSpPr>
          <p:cNvPr id="13" name="TextBox 12"/>
          <p:cNvSpPr txBox="1"/>
          <p:nvPr/>
        </p:nvSpPr>
        <p:spPr>
          <a:xfrm>
            <a:off x="8339327" y="1737360"/>
            <a:ext cx="3209544" cy="411480"/>
          </a:xfrm>
          <a:prstGeom prst="rect">
            <a:avLst/>
          </a:prstGeom>
          <a:noFill/>
        </p:spPr>
        <p:txBody>
          <a:bodyPr wrap="square" lIns="54864" rIns="54864" tIns="36576" bIns="36576" anchor="t">
            <a:spAutoFit/>
          </a:bodyPr>
          <a:lstStyle/>
          <a:p>
            <a:pPr algn="l">
              <a:lnSpc>
                <a:spcPct val="112000"/>
              </a:lnSpc>
              <a:spcAft>
                <a:spcPts val="600"/>
              </a:spcAft>
            </a:pPr>
            <a:r>
              <a:rPr sz="1800" b="1" i="0">
                <a:solidFill>
                  <a:srgbClr val="262626"/>
                </a:solidFill>
                <a:latin typeface="Arial"/>
                <a:ea typeface="Microsoft YaHei"/>
              </a:rPr>
              <a:t>柔度与灵敏度分别检验</a:t>
            </a:r>
          </a:p>
        </p:txBody>
      </p:sp>
      <p:sp>
        <p:nvSpPr>
          <p:cNvPr id="14" name="TextBox 13"/>
          <p:cNvSpPr txBox="1"/>
          <p:nvPr/>
        </p:nvSpPr>
        <p:spPr>
          <a:xfrm>
            <a:off x="8339327" y="2212848"/>
            <a:ext cx="3209544" cy="1508760"/>
          </a:xfrm>
          <a:prstGeom prst="rect">
            <a:avLst/>
          </a:prstGeom>
          <a:noFill/>
        </p:spPr>
        <p:txBody>
          <a:bodyPr wrap="square" lIns="54864" rIns="54864" tIns="36576" bIns="36576" anchor="t">
            <a:spAutoFit/>
          </a:bodyPr>
          <a:lstStyle/>
          <a:p>
            <a:pPr algn="l">
              <a:lnSpc>
                <a:spcPct val="118000"/>
              </a:lnSpc>
              <a:spcAft>
                <a:spcPts val="600"/>
              </a:spcAft>
            </a:pPr>
            <a:r>
              <a:rPr sz="1500" b="0" i="0">
                <a:solidFill>
                  <a:srgbClr val="262626"/>
                </a:solidFill>
                <a:latin typeface="Arial"/>
                <a:ea typeface="Microsoft YaHei"/>
              </a:rPr>
              <a:t>八胞元点阵柔度误差 &lt;0.015%、梯度 ≤0.09%；分析快约十倍；设计复现精确静力凝聚的结果</a:t>
            </a:r>
          </a:p>
        </p:txBody>
      </p:sp>
      <p:sp>
        <p:nvSpPr>
          <p:cNvPr id="15" name="TextBox 14"/>
          <p:cNvSpPr txBox="1"/>
          <p:nvPr/>
        </p:nvSpPr>
        <p:spPr>
          <a:xfrm>
            <a:off x="457200" y="3977639"/>
            <a:ext cx="11274552" cy="411480"/>
          </a:xfrm>
          <a:prstGeom prst="rect">
            <a:avLst/>
          </a:prstGeom>
          <a:noFill/>
        </p:spPr>
        <p:txBody>
          <a:bodyPr wrap="square" lIns="54864" rIns="54864" tIns="36576" bIns="36576" anchor="t">
            <a:spAutoFit/>
          </a:bodyPr>
          <a:lstStyle/>
          <a:p>
            <a:pPr algn="l">
              <a:lnSpc>
                <a:spcPct val="112000"/>
              </a:lnSpc>
              <a:spcAft>
                <a:spcPts val="600"/>
              </a:spcAft>
            </a:pPr>
            <a:r>
              <a:rPr sz="1900" b="1" i="0">
                <a:solidFill>
                  <a:srgbClr val="262626"/>
                </a:solidFill>
                <a:latin typeface="Arial"/>
                <a:ea typeface="Microsoft YaHei"/>
              </a:rPr>
              <a:t>局限</a:t>
            </a:r>
          </a:p>
        </p:txBody>
      </p:sp>
      <p:sp>
        <p:nvSpPr>
          <p:cNvPr id="16" name="Rounded Rectangle 15"/>
          <p:cNvSpPr/>
          <p:nvPr/>
        </p:nvSpPr>
        <p:spPr>
          <a:xfrm>
            <a:off x="457200" y="4462272"/>
            <a:ext cx="3575304" cy="1627632"/>
          </a:xfrm>
          <a:prstGeom prst="roundRect">
            <a:avLst>
              <a:gd name="adj" fmla="val 3500"/>
            </a:avLst>
          </a:prstGeom>
          <a:solidFill>
            <a:srgbClr val="FBF1F1"/>
          </a:solidFill>
          <a:ln>
            <a:noFill/>
          </a:ln>
        </p:spPr>
        <p:txBody>
          <a:bodyPr rtlCol="0" anchor="ctr"/>
          <a:lstStyle/>
          <a:p>
            <a:pPr algn="ctr"/>
          </a:p>
        </p:txBody>
      </p:sp>
      <p:sp>
        <p:nvSpPr>
          <p:cNvPr id="17" name="TextBox 16"/>
          <p:cNvSpPr txBox="1"/>
          <p:nvPr/>
        </p:nvSpPr>
        <p:spPr>
          <a:xfrm>
            <a:off x="640080" y="4590288"/>
            <a:ext cx="3209544"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适用范围</a:t>
            </a:r>
          </a:p>
        </p:txBody>
      </p:sp>
      <p:sp>
        <p:nvSpPr>
          <p:cNvPr id="18" name="TextBox 17"/>
          <p:cNvSpPr txBox="1"/>
          <p:nvPr/>
        </p:nvSpPr>
        <p:spPr>
          <a:xfrm>
            <a:off x="640080" y="5029200"/>
            <a:ext cx="3209544" cy="941832"/>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262626"/>
                </a:solidFill>
                <a:latin typeface="Arial"/>
                <a:ea typeface="Microsoft YaHei"/>
              </a:rPr>
              <a:t>一种胞族（Schwarz-P）、单平面切割、一种分辨率；新胞族需重新训练</a:t>
            </a:r>
          </a:p>
        </p:txBody>
      </p:sp>
      <p:sp>
        <p:nvSpPr>
          <p:cNvPr id="19" name="Rounded Rectangle 18"/>
          <p:cNvSpPr/>
          <p:nvPr/>
        </p:nvSpPr>
        <p:spPr>
          <a:xfrm>
            <a:off x="4306824" y="4462272"/>
            <a:ext cx="3575304" cy="1627632"/>
          </a:xfrm>
          <a:prstGeom prst="roundRect">
            <a:avLst>
              <a:gd name="adj" fmla="val 3500"/>
            </a:avLst>
          </a:prstGeom>
          <a:solidFill>
            <a:srgbClr val="FBF1F1"/>
          </a:solidFill>
          <a:ln>
            <a:noFill/>
          </a:ln>
        </p:spPr>
        <p:txBody>
          <a:bodyPr rtlCol="0" anchor="ctr"/>
          <a:lstStyle/>
          <a:p>
            <a:pPr algn="ctr"/>
          </a:p>
        </p:txBody>
      </p:sp>
      <p:sp>
        <p:nvSpPr>
          <p:cNvPr id="20" name="TextBox 19"/>
          <p:cNvSpPr txBox="1"/>
          <p:nvPr/>
        </p:nvSpPr>
        <p:spPr>
          <a:xfrm>
            <a:off x="4489704" y="4590288"/>
            <a:ext cx="3209544"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误差</a:t>
            </a:r>
          </a:p>
        </p:txBody>
      </p:sp>
      <p:sp>
        <p:nvSpPr>
          <p:cNvPr id="21" name="TextBox 20"/>
          <p:cNvSpPr txBox="1"/>
          <p:nvPr/>
        </p:nvSpPr>
        <p:spPr>
          <a:xfrm>
            <a:off x="4489704" y="5029200"/>
            <a:ext cx="3209544" cy="941832"/>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262626"/>
                </a:solidFill>
                <a:latin typeface="Arial"/>
                <a:ea typeface="Microsoft YaHei"/>
              </a:rPr>
              <a:t>学习模型偏刚，柔度被低估，不是保守估计；没有经认证的误差界</a:t>
            </a:r>
          </a:p>
        </p:txBody>
      </p:sp>
      <p:sp>
        <p:nvSpPr>
          <p:cNvPr id="22" name="Rounded Rectangle 21"/>
          <p:cNvSpPr/>
          <p:nvPr/>
        </p:nvSpPr>
        <p:spPr>
          <a:xfrm>
            <a:off x="8156448" y="4462272"/>
            <a:ext cx="3575304" cy="1627632"/>
          </a:xfrm>
          <a:prstGeom prst="roundRect">
            <a:avLst>
              <a:gd name="adj" fmla="val 3500"/>
            </a:avLst>
          </a:prstGeom>
          <a:solidFill>
            <a:srgbClr val="FBF1F1"/>
          </a:solidFill>
          <a:ln>
            <a:noFill/>
          </a:ln>
        </p:spPr>
        <p:txBody>
          <a:bodyPr rtlCol="0" anchor="ctr"/>
          <a:lstStyle/>
          <a:p>
            <a:pPr algn="ctr"/>
          </a:p>
        </p:txBody>
      </p:sp>
      <p:sp>
        <p:nvSpPr>
          <p:cNvPr id="23" name="TextBox 22"/>
          <p:cNvSpPr txBox="1"/>
          <p:nvPr/>
        </p:nvSpPr>
        <p:spPr>
          <a:xfrm>
            <a:off x="8339327" y="4590288"/>
            <a:ext cx="3209544"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规模</a:t>
            </a:r>
          </a:p>
        </p:txBody>
      </p:sp>
      <p:sp>
        <p:nvSpPr>
          <p:cNvPr id="24" name="TextBox 23"/>
          <p:cNvSpPr txBox="1"/>
          <p:nvPr/>
        </p:nvSpPr>
        <p:spPr>
          <a:xfrm>
            <a:off x="8339327" y="5029200"/>
            <a:ext cx="3209544" cy="941832"/>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262626"/>
                </a:solidFill>
                <a:latin typeface="Arial"/>
                <a:ea typeface="Microsoft YaHei"/>
              </a:rPr>
              <a:t>受预条件子中 </a:t>
            </a:r>
            <a:r>
              <a:rPr sz="1500" b="0" i="0">
                <a:solidFill>
                  <a:srgbClr val="262626"/>
                </a:solidFill>
                <a:latin typeface="Arial"/>
                <a:ea typeface="Microsoft YaHei"/>
              </a:rPr>
              <a:t>K</a:t>
            </a:r>
            <a:r>
              <a:rPr sz="1500" b="0" i="0" baseline="-25000">
                <a:solidFill>
                  <a:srgbClr val="262626"/>
                </a:solidFill>
                <a:latin typeface="Arial"/>
                <a:ea typeface="Microsoft YaHei"/>
              </a:rPr>
              <a:t>PP</a:t>
            </a:r>
            <a:r>
              <a:rPr sz="1500" b="0" i="0">
                <a:solidFill>
                  <a:srgbClr val="262626"/>
                </a:solidFill>
                <a:latin typeface="Arial"/>
                <a:ea typeface="Microsoft YaHei"/>
              </a:rPr>
              <a:t> 直接分解的限制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进展与计划</a:t>
            </a:r>
          </a:p>
        </p:txBody>
      </p:sp>
      <p:sp>
        <p:nvSpPr>
          <p:cNvPr id="3" name="Rounded Rectangle 2"/>
          <p:cNvSpPr/>
          <p:nvPr/>
        </p:nvSpPr>
        <p:spPr>
          <a:xfrm>
            <a:off x="457200" y="1097280"/>
            <a:ext cx="3483864" cy="1554480"/>
          </a:xfrm>
          <a:prstGeom prst="roundRect">
            <a:avLst>
              <a:gd name="adj" fmla="val 3500"/>
            </a:avLst>
          </a:prstGeom>
          <a:solidFill>
            <a:srgbClr val="EDF2F8"/>
          </a:solidFill>
          <a:ln>
            <a:noFill/>
          </a:ln>
        </p:spPr>
        <p:txBody>
          <a:bodyPr rtlCol="0" anchor="ctr"/>
          <a:lstStyle/>
          <a:p>
            <a:pPr algn="ctr"/>
          </a:p>
        </p:txBody>
      </p:sp>
      <p:sp>
        <p:nvSpPr>
          <p:cNvPr id="4" name="TextBox 3"/>
          <p:cNvSpPr txBox="1"/>
          <p:nvPr/>
        </p:nvSpPr>
        <p:spPr>
          <a:xfrm>
            <a:off x="640080" y="1225295"/>
            <a:ext cx="3118104" cy="411480"/>
          </a:xfrm>
          <a:prstGeom prst="rect">
            <a:avLst/>
          </a:prstGeom>
          <a:noFill/>
        </p:spPr>
        <p:txBody>
          <a:bodyPr wrap="square" lIns="54864" rIns="54864" tIns="36576" bIns="36576" anchor="t">
            <a:spAutoFit/>
          </a:bodyPr>
          <a:lstStyle/>
          <a:p>
            <a:pPr algn="l">
              <a:lnSpc>
                <a:spcPct val="112000"/>
              </a:lnSpc>
              <a:spcAft>
                <a:spcPts val="600"/>
              </a:spcAft>
            </a:pPr>
            <a:r>
              <a:rPr sz="1900" b="1" i="0">
                <a:solidFill>
                  <a:srgbClr val="1F3864"/>
                </a:solidFill>
                <a:latin typeface="Arial"/>
                <a:ea typeface="Microsoft YaHei"/>
              </a:rPr>
              <a:t>已完成</a:t>
            </a:r>
          </a:p>
        </p:txBody>
      </p:sp>
      <p:sp>
        <p:nvSpPr>
          <p:cNvPr id="5" name="TextBox 4"/>
          <p:cNvSpPr txBox="1"/>
          <p:nvPr/>
        </p:nvSpPr>
        <p:spPr>
          <a:xfrm>
            <a:off x="640080" y="1664207"/>
            <a:ext cx="3118104" cy="868680"/>
          </a:xfrm>
          <a:prstGeom prst="rect">
            <a:avLst/>
          </a:prstGeom>
          <a:noFill/>
        </p:spPr>
        <p:txBody>
          <a:bodyPr wrap="square" lIns="54864" rIns="54864" tIns="36576" bIns="36576" anchor="t">
            <a:spAutoFit/>
          </a:bodyPr>
          <a:lstStyle/>
          <a:p>
            <a:pPr algn="l">
              <a:lnSpc>
                <a:spcPct val="112000"/>
              </a:lnSpc>
              <a:spcAft>
                <a:spcPts val="600"/>
              </a:spcAft>
            </a:pPr>
            <a:r>
              <a:rPr sz="1700" b="0" i="0">
                <a:solidFill>
                  <a:srgbClr val="262626"/>
                </a:solidFill>
                <a:latin typeface="Arial"/>
                <a:ea typeface="Microsoft YaHei"/>
              </a:rPr>
              <a:t>中英文正文与补充材料修订完成；投稿信、亮点已起草</a:t>
            </a:r>
          </a:p>
        </p:txBody>
      </p:sp>
      <p:sp>
        <p:nvSpPr>
          <p:cNvPr id="6" name="Chevron 5"/>
          <p:cNvSpPr/>
          <p:nvPr/>
        </p:nvSpPr>
        <p:spPr>
          <a:xfrm>
            <a:off x="4050792" y="1719072"/>
            <a:ext cx="182880" cy="310896"/>
          </a:xfrm>
          <a:prstGeom prst="chevron">
            <a:avLst/>
          </a:prstGeom>
          <a:solidFill>
            <a:srgbClr val="6B7280"/>
          </a:solidFill>
          <a:ln>
            <a:noFill/>
          </a:ln>
        </p:spPr>
        <p:txBody>
          <a:bodyPr rtlCol="0" anchor="ctr"/>
          <a:lstStyle/>
          <a:p>
            <a:pPr algn="ctr"/>
          </a:p>
        </p:txBody>
      </p:sp>
      <p:sp>
        <p:nvSpPr>
          <p:cNvPr id="7" name="Rounded Rectangle 6"/>
          <p:cNvSpPr/>
          <p:nvPr/>
        </p:nvSpPr>
        <p:spPr>
          <a:xfrm>
            <a:off x="4352544" y="1097280"/>
            <a:ext cx="3483864" cy="1554480"/>
          </a:xfrm>
          <a:prstGeom prst="roundRect">
            <a:avLst>
              <a:gd name="adj" fmla="val 3500"/>
            </a:avLst>
          </a:prstGeom>
          <a:solidFill>
            <a:srgbClr val="F4F6F9"/>
          </a:solidFill>
          <a:ln>
            <a:noFill/>
          </a:ln>
        </p:spPr>
        <p:txBody>
          <a:bodyPr rtlCol="0" anchor="ctr"/>
          <a:lstStyle/>
          <a:p>
            <a:pPr algn="ctr"/>
          </a:p>
        </p:txBody>
      </p:sp>
      <p:sp>
        <p:nvSpPr>
          <p:cNvPr id="8" name="TextBox 7"/>
          <p:cNvSpPr txBox="1"/>
          <p:nvPr/>
        </p:nvSpPr>
        <p:spPr>
          <a:xfrm>
            <a:off x="4535424" y="1225295"/>
            <a:ext cx="3118104" cy="411480"/>
          </a:xfrm>
          <a:prstGeom prst="rect">
            <a:avLst/>
          </a:prstGeom>
          <a:noFill/>
        </p:spPr>
        <p:txBody>
          <a:bodyPr wrap="square" lIns="54864" rIns="54864" tIns="36576" bIns="36576" anchor="t">
            <a:spAutoFit/>
          </a:bodyPr>
          <a:lstStyle/>
          <a:p>
            <a:pPr algn="l">
              <a:lnSpc>
                <a:spcPct val="112000"/>
              </a:lnSpc>
              <a:spcAft>
                <a:spcPts val="600"/>
              </a:spcAft>
            </a:pPr>
            <a:r>
              <a:rPr sz="1900" b="1" i="0">
                <a:solidFill>
                  <a:srgbClr val="C00000"/>
                </a:solidFill>
                <a:latin typeface="Arial"/>
                <a:ea typeface="Microsoft YaHei"/>
              </a:rPr>
              <a:t>待办</a:t>
            </a:r>
          </a:p>
        </p:txBody>
      </p:sp>
      <p:sp>
        <p:nvSpPr>
          <p:cNvPr id="9" name="TextBox 8"/>
          <p:cNvSpPr txBox="1"/>
          <p:nvPr/>
        </p:nvSpPr>
        <p:spPr>
          <a:xfrm>
            <a:off x="4535424" y="1664207"/>
            <a:ext cx="3118104" cy="868680"/>
          </a:xfrm>
          <a:prstGeom prst="rect">
            <a:avLst/>
          </a:prstGeom>
          <a:noFill/>
        </p:spPr>
        <p:txBody>
          <a:bodyPr wrap="square" lIns="54864" rIns="54864" tIns="36576" bIns="36576" anchor="t">
            <a:spAutoFit/>
          </a:bodyPr>
          <a:lstStyle/>
          <a:p>
            <a:pPr algn="l">
              <a:lnSpc>
                <a:spcPct val="112000"/>
              </a:lnSpc>
              <a:spcAft>
                <a:spcPts val="600"/>
              </a:spcAft>
            </a:pPr>
            <a:r>
              <a:rPr sz="1700" b="0" i="0">
                <a:solidFill>
                  <a:srgbClr val="262626"/>
                </a:solidFill>
                <a:latin typeface="Arial"/>
                <a:ea typeface="Microsoft YaHei"/>
              </a:rPr>
              <a:t>作者信息与各项声明；图形摘要更新；通读定稿</a:t>
            </a:r>
          </a:p>
        </p:txBody>
      </p:sp>
      <p:sp>
        <p:nvSpPr>
          <p:cNvPr id="10" name="Chevron 9"/>
          <p:cNvSpPr/>
          <p:nvPr/>
        </p:nvSpPr>
        <p:spPr>
          <a:xfrm>
            <a:off x="7946136" y="1719072"/>
            <a:ext cx="182880" cy="310896"/>
          </a:xfrm>
          <a:prstGeom prst="chevron">
            <a:avLst/>
          </a:prstGeom>
          <a:solidFill>
            <a:srgbClr val="6B7280"/>
          </a:solidFill>
          <a:ln>
            <a:noFill/>
          </a:ln>
        </p:spPr>
        <p:txBody>
          <a:bodyPr rtlCol="0" anchor="ctr"/>
          <a:lstStyle/>
          <a:p>
            <a:pPr algn="ctr"/>
          </a:p>
        </p:txBody>
      </p:sp>
      <p:sp>
        <p:nvSpPr>
          <p:cNvPr id="11" name="Rounded Rectangle 10"/>
          <p:cNvSpPr/>
          <p:nvPr/>
        </p:nvSpPr>
        <p:spPr>
          <a:xfrm>
            <a:off x="8247888" y="1097280"/>
            <a:ext cx="3483864" cy="1554480"/>
          </a:xfrm>
          <a:prstGeom prst="roundRect">
            <a:avLst>
              <a:gd name="adj" fmla="val 3500"/>
            </a:avLst>
          </a:prstGeom>
          <a:solidFill>
            <a:srgbClr val="FBF1F1"/>
          </a:solidFill>
          <a:ln>
            <a:noFill/>
          </a:ln>
        </p:spPr>
        <p:txBody>
          <a:bodyPr rtlCol="0" anchor="ctr"/>
          <a:lstStyle/>
          <a:p>
            <a:pPr algn="ctr"/>
          </a:p>
        </p:txBody>
      </p:sp>
      <p:sp>
        <p:nvSpPr>
          <p:cNvPr id="12" name="TextBox 11"/>
          <p:cNvSpPr txBox="1"/>
          <p:nvPr/>
        </p:nvSpPr>
        <p:spPr>
          <a:xfrm>
            <a:off x="8430767" y="1225295"/>
            <a:ext cx="3118104" cy="411480"/>
          </a:xfrm>
          <a:prstGeom prst="rect">
            <a:avLst/>
          </a:prstGeom>
          <a:noFill/>
        </p:spPr>
        <p:txBody>
          <a:bodyPr wrap="square" lIns="54864" rIns="54864" tIns="36576" bIns="36576" anchor="t">
            <a:spAutoFit/>
          </a:bodyPr>
          <a:lstStyle/>
          <a:p>
            <a:pPr algn="l">
              <a:lnSpc>
                <a:spcPct val="112000"/>
              </a:lnSpc>
              <a:spcAft>
                <a:spcPts val="600"/>
              </a:spcAft>
            </a:pPr>
            <a:r>
              <a:rPr sz="1900" b="1" i="0">
                <a:solidFill>
                  <a:srgbClr val="C00000"/>
                </a:solidFill>
                <a:latin typeface="Arial"/>
                <a:ea typeface="Microsoft YaHei"/>
              </a:rPr>
              <a:t>投稿</a:t>
            </a:r>
          </a:p>
        </p:txBody>
      </p:sp>
      <p:sp>
        <p:nvSpPr>
          <p:cNvPr id="13" name="TextBox 12"/>
          <p:cNvSpPr txBox="1"/>
          <p:nvPr/>
        </p:nvSpPr>
        <p:spPr>
          <a:xfrm>
            <a:off x="8430767" y="1664207"/>
            <a:ext cx="3118104" cy="868680"/>
          </a:xfrm>
          <a:prstGeom prst="rect">
            <a:avLst/>
          </a:prstGeom>
          <a:noFill/>
        </p:spPr>
        <p:txBody>
          <a:bodyPr wrap="square" lIns="54864" rIns="54864" tIns="36576" bIns="36576" anchor="t">
            <a:spAutoFit/>
          </a:bodyPr>
          <a:lstStyle/>
          <a:p>
            <a:pPr algn="l">
              <a:lnSpc>
                <a:spcPct val="112000"/>
              </a:lnSpc>
              <a:spcAft>
                <a:spcPts val="600"/>
              </a:spcAft>
            </a:pPr>
            <a:r>
              <a:rPr sz="1700" b="0" i="0">
                <a:solidFill>
                  <a:srgbClr val="262626"/>
                </a:solidFill>
                <a:latin typeface="Arial"/>
                <a:ea typeface="Microsoft YaHei"/>
              </a:rPr>
              <a:t>CMAME，同时挂 arXiv</a:t>
            </a:r>
          </a:p>
        </p:txBody>
      </p:sp>
      <p:sp>
        <p:nvSpPr>
          <p:cNvPr id="14" name="TextBox 13"/>
          <p:cNvSpPr txBox="1"/>
          <p:nvPr/>
        </p:nvSpPr>
        <p:spPr>
          <a:xfrm>
            <a:off x="457200" y="2926080"/>
            <a:ext cx="11274552" cy="411480"/>
          </a:xfrm>
          <a:prstGeom prst="rect">
            <a:avLst/>
          </a:prstGeom>
          <a:noFill/>
        </p:spPr>
        <p:txBody>
          <a:bodyPr wrap="square" lIns="54864" rIns="54864" tIns="36576" bIns="36576" anchor="t">
            <a:spAutoFit/>
          </a:bodyPr>
          <a:lstStyle/>
          <a:p>
            <a:pPr algn="l">
              <a:lnSpc>
                <a:spcPct val="112000"/>
              </a:lnSpc>
              <a:spcAft>
                <a:spcPts val="600"/>
              </a:spcAft>
            </a:pPr>
            <a:r>
              <a:rPr sz="1900" b="1" i="0">
                <a:solidFill>
                  <a:srgbClr val="262626"/>
                </a:solidFill>
                <a:latin typeface="Arial"/>
                <a:ea typeface="Microsoft YaHei"/>
              </a:rPr>
              <a:t>后续工作</a:t>
            </a:r>
          </a:p>
        </p:txBody>
      </p:sp>
      <p:sp>
        <p:nvSpPr>
          <p:cNvPr id="15" name="Rounded Rectangle 14"/>
          <p:cNvSpPr/>
          <p:nvPr/>
        </p:nvSpPr>
        <p:spPr>
          <a:xfrm>
            <a:off x="457200" y="3429000"/>
            <a:ext cx="3575304" cy="2148840"/>
          </a:xfrm>
          <a:prstGeom prst="roundRect">
            <a:avLst>
              <a:gd name="adj" fmla="val 3500"/>
            </a:avLst>
          </a:prstGeom>
          <a:solidFill>
            <a:srgbClr val="F4F6F9"/>
          </a:solidFill>
          <a:ln>
            <a:noFill/>
          </a:ln>
        </p:spPr>
        <p:txBody>
          <a:bodyPr rtlCol="0" anchor="ctr"/>
          <a:lstStyle/>
          <a:p>
            <a:pPr algn="ctr"/>
          </a:p>
        </p:txBody>
      </p:sp>
      <p:sp>
        <p:nvSpPr>
          <p:cNvPr id="16" name="TextBox 15"/>
          <p:cNvSpPr txBox="1"/>
          <p:nvPr/>
        </p:nvSpPr>
        <p:spPr>
          <a:xfrm>
            <a:off x="640080" y="3557016"/>
            <a:ext cx="3209544" cy="411480"/>
          </a:xfrm>
          <a:prstGeom prst="rect">
            <a:avLst/>
          </a:prstGeom>
          <a:noFill/>
        </p:spPr>
        <p:txBody>
          <a:bodyPr wrap="square" lIns="54864" rIns="54864" tIns="36576" bIns="36576" anchor="t">
            <a:spAutoFit/>
          </a:bodyPr>
          <a:lstStyle/>
          <a:p>
            <a:pPr algn="l">
              <a:lnSpc>
                <a:spcPct val="112000"/>
              </a:lnSpc>
              <a:spcAft>
                <a:spcPts val="600"/>
              </a:spcAft>
            </a:pPr>
            <a:r>
              <a:rPr sz="1800" b="1" i="0">
                <a:solidFill>
                  <a:srgbClr val="C00000"/>
                </a:solidFill>
                <a:latin typeface="Arial"/>
                <a:ea typeface="Microsoft YaHei"/>
              </a:rPr>
              <a:t>P2　局部量驱动的设计</a:t>
            </a:r>
          </a:p>
        </p:txBody>
      </p:sp>
      <p:sp>
        <p:nvSpPr>
          <p:cNvPr id="17" name="TextBox 16"/>
          <p:cNvSpPr txBox="1"/>
          <p:nvPr/>
        </p:nvSpPr>
        <p:spPr>
          <a:xfrm>
            <a:off x="640080" y="3995928"/>
            <a:ext cx="3209544" cy="1463040"/>
          </a:xfrm>
          <a:prstGeom prst="rect">
            <a:avLst/>
          </a:prstGeom>
          <a:noFill/>
        </p:spPr>
        <p:txBody>
          <a:bodyPr wrap="square" lIns="54864" rIns="54864" tIns="36576" bIns="36576" anchor="t">
            <a:spAutoFit/>
          </a:bodyPr>
          <a:lstStyle/>
          <a:p>
            <a:pPr algn="l">
              <a:lnSpc>
                <a:spcPct val="112000"/>
              </a:lnSpc>
              <a:spcAft>
                <a:spcPts val="600"/>
              </a:spcAft>
            </a:pPr>
            <a:r>
              <a:rPr sz="1700" b="0" i="0">
                <a:solidFill>
                  <a:srgbClr val="262626"/>
                </a:solidFill>
                <a:latin typeface="Arial"/>
                <a:ea typeface="Microsoft YaHei"/>
              </a:rPr>
              <a:t>以应力等局部量为目标或约束；配后验误差估计与自适应修正</a:t>
            </a:r>
          </a:p>
        </p:txBody>
      </p:sp>
      <p:sp>
        <p:nvSpPr>
          <p:cNvPr id="18" name="Rounded Rectangle 17"/>
          <p:cNvSpPr/>
          <p:nvPr/>
        </p:nvSpPr>
        <p:spPr>
          <a:xfrm>
            <a:off x="4306824" y="3429000"/>
            <a:ext cx="3575304" cy="2148840"/>
          </a:xfrm>
          <a:prstGeom prst="roundRect">
            <a:avLst>
              <a:gd name="adj" fmla="val 3500"/>
            </a:avLst>
          </a:prstGeom>
          <a:solidFill>
            <a:srgbClr val="F4F6F9"/>
          </a:solidFill>
          <a:ln>
            <a:noFill/>
          </a:ln>
        </p:spPr>
        <p:txBody>
          <a:bodyPr rtlCol="0" anchor="ctr"/>
          <a:lstStyle/>
          <a:p>
            <a:pPr algn="ctr"/>
          </a:p>
        </p:txBody>
      </p:sp>
      <p:sp>
        <p:nvSpPr>
          <p:cNvPr id="19" name="TextBox 18"/>
          <p:cNvSpPr txBox="1"/>
          <p:nvPr/>
        </p:nvSpPr>
        <p:spPr>
          <a:xfrm>
            <a:off x="4489704" y="3557016"/>
            <a:ext cx="3209544" cy="411480"/>
          </a:xfrm>
          <a:prstGeom prst="rect">
            <a:avLst/>
          </a:prstGeom>
          <a:noFill/>
        </p:spPr>
        <p:txBody>
          <a:bodyPr wrap="square" lIns="54864" rIns="54864" tIns="36576" bIns="36576" anchor="t">
            <a:spAutoFit/>
          </a:bodyPr>
          <a:lstStyle/>
          <a:p>
            <a:pPr algn="l">
              <a:lnSpc>
                <a:spcPct val="112000"/>
              </a:lnSpc>
              <a:spcAft>
                <a:spcPts val="600"/>
              </a:spcAft>
            </a:pPr>
            <a:r>
              <a:rPr sz="1800" b="1" i="0">
                <a:solidFill>
                  <a:srgbClr val="C00000"/>
                </a:solidFill>
                <a:latin typeface="Arial"/>
                <a:ea typeface="Microsoft YaHei"/>
              </a:rPr>
              <a:t>P3　跨胞族与几何泛化</a:t>
            </a:r>
          </a:p>
        </p:txBody>
      </p:sp>
      <p:sp>
        <p:nvSpPr>
          <p:cNvPr id="20" name="TextBox 19"/>
          <p:cNvSpPr txBox="1"/>
          <p:nvPr/>
        </p:nvSpPr>
        <p:spPr>
          <a:xfrm>
            <a:off x="4489704" y="3995928"/>
            <a:ext cx="3209544" cy="1463040"/>
          </a:xfrm>
          <a:prstGeom prst="rect">
            <a:avLst/>
          </a:prstGeom>
          <a:noFill/>
        </p:spPr>
        <p:txBody>
          <a:bodyPr wrap="square" lIns="54864" rIns="54864" tIns="36576" bIns="36576" anchor="t">
            <a:spAutoFit/>
          </a:bodyPr>
          <a:lstStyle/>
          <a:p>
            <a:pPr algn="l">
              <a:lnSpc>
                <a:spcPct val="112000"/>
              </a:lnSpc>
              <a:spcAft>
                <a:spcPts val="600"/>
              </a:spcAft>
            </a:pPr>
            <a:r>
              <a:rPr sz="1700" b="0" i="0">
                <a:solidFill>
                  <a:srgbClr val="262626"/>
                </a:solidFill>
                <a:latin typeface="Arial"/>
                <a:ea typeface="Microsoft YaHei"/>
              </a:rPr>
              <a:t>多胞族联合训练，在留出的胞族上检验；映射或曲面边界的胞元</a:t>
            </a:r>
          </a:p>
        </p:txBody>
      </p:sp>
      <p:sp>
        <p:nvSpPr>
          <p:cNvPr id="21" name="Rounded Rectangle 20"/>
          <p:cNvSpPr/>
          <p:nvPr/>
        </p:nvSpPr>
        <p:spPr>
          <a:xfrm>
            <a:off x="8156448" y="3429000"/>
            <a:ext cx="3575304" cy="2148840"/>
          </a:xfrm>
          <a:prstGeom prst="roundRect">
            <a:avLst>
              <a:gd name="adj" fmla="val 3500"/>
            </a:avLst>
          </a:prstGeom>
          <a:solidFill>
            <a:srgbClr val="F4F6F9"/>
          </a:solidFill>
          <a:ln>
            <a:noFill/>
          </a:ln>
        </p:spPr>
        <p:txBody>
          <a:bodyPr rtlCol="0" anchor="ctr"/>
          <a:lstStyle/>
          <a:p>
            <a:pPr algn="ctr"/>
          </a:p>
        </p:txBody>
      </p:sp>
      <p:sp>
        <p:nvSpPr>
          <p:cNvPr id="22" name="TextBox 21"/>
          <p:cNvSpPr txBox="1"/>
          <p:nvPr/>
        </p:nvSpPr>
        <p:spPr>
          <a:xfrm>
            <a:off x="8339327" y="3557016"/>
            <a:ext cx="3209544" cy="411480"/>
          </a:xfrm>
          <a:prstGeom prst="rect">
            <a:avLst/>
          </a:prstGeom>
          <a:noFill/>
        </p:spPr>
        <p:txBody>
          <a:bodyPr wrap="square" lIns="54864" rIns="54864" tIns="36576" bIns="36576" anchor="t">
            <a:spAutoFit/>
          </a:bodyPr>
          <a:lstStyle/>
          <a:p>
            <a:pPr algn="l">
              <a:lnSpc>
                <a:spcPct val="112000"/>
              </a:lnSpc>
              <a:spcAft>
                <a:spcPts val="600"/>
              </a:spcAft>
            </a:pPr>
            <a:r>
              <a:rPr sz="1800" b="1" i="0">
                <a:solidFill>
                  <a:srgbClr val="C00000"/>
                </a:solidFill>
                <a:latin typeface="Arial"/>
                <a:ea typeface="Microsoft YaHei"/>
              </a:rPr>
              <a:t>规模</a:t>
            </a:r>
          </a:p>
        </p:txBody>
      </p:sp>
      <p:sp>
        <p:nvSpPr>
          <p:cNvPr id="23" name="TextBox 22"/>
          <p:cNvSpPr txBox="1"/>
          <p:nvPr/>
        </p:nvSpPr>
        <p:spPr>
          <a:xfrm>
            <a:off x="8339327" y="3995928"/>
            <a:ext cx="3209544" cy="1463040"/>
          </a:xfrm>
          <a:prstGeom prst="rect">
            <a:avLst/>
          </a:prstGeom>
          <a:noFill/>
        </p:spPr>
        <p:txBody>
          <a:bodyPr wrap="square" lIns="54864" rIns="54864" tIns="36576" bIns="36576" anchor="t">
            <a:spAutoFit/>
          </a:bodyPr>
          <a:lstStyle/>
          <a:p>
            <a:pPr algn="l">
              <a:lnSpc>
                <a:spcPct val="112000"/>
              </a:lnSpc>
              <a:spcAft>
                <a:spcPts val="600"/>
              </a:spcAft>
            </a:pPr>
            <a:r>
              <a:rPr sz="1700" b="0" i="0">
                <a:solidFill>
                  <a:srgbClr val="262626"/>
                </a:solidFill>
                <a:latin typeface="Arial"/>
                <a:ea typeface="Microsoft YaHei"/>
              </a:rPr>
              <a:t>预条件子增加一层或采用迭代粗求解，扩大单 GPU 上可分析的规模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谢谢！敬请各位老师和同学批评指正</a:t>
            </a:r>
          </a:p>
        </p:txBody>
      </p:sp>
      <p:pic>
        <p:nvPicPr>
          <p:cNvPr id="3" name="Picture 2" descr="F14_plate_design3d.png"/>
          <p:cNvPicPr>
            <a:picLocks noChangeAspect="1"/>
          </p:cNvPicPr>
          <p:nvPr/>
        </p:nvPicPr>
        <p:blipFill>
          <a:blip r:embed="rId3"/>
          <a:srcRect r="50000" b="47000"/>
          <a:stretch>
            <a:fillRect/>
          </a:stretch>
        </p:blipFill>
        <p:spPr>
          <a:xfrm>
            <a:off x="3113967" y="1188720"/>
            <a:ext cx="5961016" cy="4297680"/>
          </a:xfrm>
          <a:prstGeom prst="rect">
            <a:avLst/>
          </a:prstGeom>
        </p:spPr>
      </p:pic>
      <p:sp>
        <p:nvSpPr>
          <p:cNvPr id="4" name="TextBox 3"/>
          <p:cNvSpPr txBox="1"/>
          <p:nvPr/>
        </p:nvSpPr>
        <p:spPr>
          <a:xfrm>
            <a:off x="457200" y="5577840"/>
            <a:ext cx="11274552" cy="457200"/>
          </a:xfrm>
          <a:prstGeom prst="rect">
            <a:avLst/>
          </a:prstGeom>
          <a:noFill/>
        </p:spPr>
        <p:txBody>
          <a:bodyPr wrap="square" lIns="54864" rIns="54864" tIns="36576" bIns="36576" anchor="t">
            <a:spAutoFit/>
          </a:bodyPr>
          <a:lstStyle/>
          <a:p>
            <a:pPr algn="ctr">
              <a:lnSpc>
                <a:spcPct val="112000"/>
              </a:lnSpc>
              <a:spcAft>
                <a:spcPts val="600"/>
              </a:spcAft>
            </a:pPr>
            <a:r>
              <a:rPr sz="1500" b="0" i="0">
                <a:solidFill>
                  <a:srgbClr val="6B7280"/>
                </a:solidFill>
                <a:latin typeface="Arial"/>
                <a:ea typeface="Microsoft YaHei"/>
              </a:rPr>
              <a:t>切割面固支板的 NICE 最终设计（NICE 柔度 78.26，精确柔度 78.29）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备用：训练与部署</a:t>
            </a:r>
          </a:p>
        </p:txBody>
      </p:sp>
      <p:sp>
        <p:nvSpPr>
          <p:cNvPr id="3" name="Rounded Rectangle 2"/>
          <p:cNvSpPr/>
          <p:nvPr/>
        </p:nvSpPr>
        <p:spPr>
          <a:xfrm>
            <a:off x="457200" y="1097280"/>
            <a:ext cx="11274552" cy="1143000"/>
          </a:xfrm>
          <a:prstGeom prst="roundRect">
            <a:avLst>
              <a:gd name="adj" fmla="val 3500"/>
            </a:avLst>
          </a:prstGeom>
          <a:solidFill>
            <a:srgbClr val="F4F6F9"/>
          </a:solidFill>
          <a:ln>
            <a:noFill/>
          </a:ln>
        </p:spPr>
        <p:txBody>
          <a:bodyPr rtlCol="0" anchor="ctr"/>
          <a:lstStyle/>
          <a:p>
            <a:pPr algn="ctr"/>
          </a:p>
        </p:txBody>
      </p:sp>
      <p:pic>
        <p:nvPicPr>
          <p:cNvPr id="4" name="Picture 3" descr="91ecd0c2b4c1.png"/>
          <p:cNvPicPr>
            <a:picLocks noChangeAspect="1"/>
          </p:cNvPicPr>
          <p:nvPr/>
        </p:nvPicPr>
        <p:blipFill>
          <a:blip r:embed="rId3"/>
          <a:stretch>
            <a:fillRect/>
          </a:stretch>
        </p:blipFill>
        <p:spPr>
          <a:xfrm>
            <a:off x="2365248" y="1301496"/>
            <a:ext cx="7458456" cy="734568"/>
          </a:xfrm>
          <a:prstGeom prst="rect">
            <a:avLst/>
          </a:prstGeom>
        </p:spPr>
      </p:pic>
      <p:sp>
        <p:nvSpPr>
          <p:cNvPr id="5" name="TextBox 4"/>
          <p:cNvSpPr txBox="1"/>
          <p:nvPr/>
        </p:nvSpPr>
        <p:spPr>
          <a:xfrm>
            <a:off x="457200" y="2377440"/>
            <a:ext cx="5394960" cy="3703320"/>
          </a:xfrm>
          <a:prstGeom prst="rect">
            <a:avLst/>
          </a:prstGeom>
          <a:noFill/>
        </p:spPr>
        <p:txBody>
          <a:bodyPr wrap="square" lIns="54864" rIns="54864" tIns="36576" bIns="36576" anchor="t">
            <a:spAutoFit/>
          </a:bodyPr>
          <a:lstStyle/>
          <a:p>
            <a:pPr algn="l" marL="219456" indent="-201168">
              <a:lnSpc>
                <a:spcPct val="112000"/>
              </a:lnSpc>
              <a:spcAft>
                <a:spcPts val="1200"/>
              </a:spcAft>
              <a:buClr>
                <a:srgbClr val="C00000"/>
              </a:buClr>
              <a:buSzPct val="70000"/>
              <a:buFont typeface="Arial"/>
              <a:buChar char="■"/>
            </a:pPr>
            <a:r>
              <a:rPr sz="1600" b="0" i="0">
                <a:solidFill>
                  <a:srgbClr val="262626"/>
                </a:solidFill>
                <a:latin typeface="Arial"/>
                <a:ea typeface="Microsoft YaHei"/>
              </a:rPr>
              <a:t>第一项：能量比的对数平均；由命题 1 非负，仅当恢复位移场精确时为零</a:t>
            </a:r>
          </a:p>
          <a:p>
            <a:pPr algn="l" marL="219456" indent="-201168">
              <a:lnSpc>
                <a:spcPct val="112000"/>
              </a:lnSpc>
              <a:spcAft>
                <a:spcPts val="1200"/>
              </a:spcAft>
              <a:buClr>
                <a:srgbClr val="C00000"/>
              </a:buClr>
              <a:buSzPct val="70000"/>
              <a:buFont typeface="Arial"/>
              <a:buChar char="■"/>
            </a:pPr>
            <a:r>
              <a:rPr sz="1600" b="0" i="0">
                <a:solidFill>
                  <a:srgbClr val="262626"/>
                </a:solidFill>
                <a:latin typeface="Arial"/>
                <a:ea typeface="Microsoft YaHei"/>
              </a:rPr>
              <a:t>第二项：八分量厚度灵敏度相对参考值的误差（</a:t>
            </a:r>
            <a:r>
              <a:rPr sz="1600" b="0" i="0">
                <a:solidFill>
                  <a:srgbClr val="262626"/>
                </a:solidFill>
                <a:latin typeface="Arial"/>
                <a:ea typeface="Microsoft YaHei"/>
              </a:rPr>
              <a:t>w</a:t>
            </a:r>
            <a:r>
              <a:rPr sz="1600" b="0" i="0" baseline="-25000">
                <a:solidFill>
                  <a:srgbClr val="262626"/>
                </a:solidFill>
                <a:latin typeface="Arial"/>
                <a:ea typeface="Microsoft YaHei"/>
              </a:rPr>
              <a:t>s</a:t>
            </a:r>
            <a:r>
              <a:rPr sz="1600" b="0" i="0">
                <a:solidFill>
                  <a:srgbClr val="262626"/>
                </a:solidFill>
                <a:latin typeface="Arial"/>
                <a:ea typeface="Microsoft YaHei"/>
              </a:rPr>
              <a:t> = 1</a:t>
            </a:r>
            <a:r>
              <a:rPr sz="1600" b="0" i="0">
                <a:solidFill>
                  <a:srgbClr val="262626"/>
                </a:solidFill>
                <a:latin typeface="Arial"/>
                <a:ea typeface="Microsoft YaHei"/>
              </a:rPr>
              <a:t>）</a:t>
            </a:r>
          </a:p>
          <a:p>
            <a:pPr algn="l" marL="219456" indent="-201168">
              <a:lnSpc>
                <a:spcPct val="112000"/>
              </a:lnSpc>
              <a:spcAft>
                <a:spcPts val="1200"/>
              </a:spcAft>
              <a:buClr>
                <a:srgbClr val="C00000"/>
              </a:buClr>
              <a:buSzPct val="70000"/>
              <a:buFont typeface="Arial"/>
              <a:buChar char="■"/>
            </a:pPr>
            <a:r>
              <a:rPr sz="1600" b="0" i="0">
                <a:solidFill>
                  <a:srgbClr val="262626"/>
                </a:solidFill>
                <a:latin typeface="Arial"/>
                <a:ea typeface="Microsoft YaHei"/>
              </a:rPr>
              <a:t>测试位移：多项式与多尺度位移，集中节点载荷、面力载荷、弹簧支撑下的响应，相邻胞元施加的边界位移</a:t>
            </a:r>
          </a:p>
          <a:p>
            <a:pPr algn="l" marL="219456" indent="-201168">
              <a:lnSpc>
                <a:spcPct val="112000"/>
              </a:lnSpc>
              <a:spcAft>
                <a:spcPts val="1200"/>
              </a:spcAft>
              <a:buClr>
                <a:srgbClr val="C00000"/>
              </a:buClr>
              <a:buSzPct val="70000"/>
              <a:buFont typeface="Arial"/>
              <a:buChar char="■"/>
            </a:pPr>
            <a:r>
              <a:rPr sz="1600" b="0" i="0">
                <a:solidFill>
                  <a:srgbClr val="262626"/>
                </a:solidFill>
                <a:latin typeface="Arial"/>
                <a:ea typeface="Microsoft YaHei"/>
              </a:rPr>
              <a:t>损失由修正后的算子计算，梯度经光滑和粗网格校正传到网络参数</a:t>
            </a:r>
          </a:p>
        </p:txBody>
      </p:sp>
      <p:graphicFrame>
        <p:nvGraphicFramePr>
          <p:cNvPr id="6" name="Table 5"/>
          <p:cNvGraphicFramePr>
            <a:graphicFrameLocks noGrp="1"/>
          </p:cNvGraphicFramePr>
          <p:nvPr/>
        </p:nvGraphicFramePr>
        <p:xfrm>
          <a:off x="6080760" y="2423160"/>
          <a:ext cx="5650991" cy="2267712"/>
        </p:xfrm>
        <a:graphic>
          <a:graphicData uri="http://schemas.openxmlformats.org/drawingml/2006/table">
            <a:tbl>
              <a:tblPr firstRow="0" bandRow="0">
                <a:tableStyleId>{2D5ABB26-0587-4C30-8999-92F81FD0307C}</a:tableStyleId>
              </a:tblPr>
              <a:tblGrid>
                <a:gridCol w="1524870"/>
                <a:gridCol w="2242457"/>
                <a:gridCol w="941832"/>
                <a:gridCol w="941832"/>
              </a:tblGrid>
              <a:tr h="566928">
                <a:tc>
                  <a:txBody>
                    <a:bodyPr wrap="square"/>
                    <a:lstStyle/>
                    <a:p>
                      <a:r>
                        <a:rPr sz="1300" b="1" i="0">
                          <a:solidFill>
                            <a:srgbClr val="FFFFFF"/>
                          </a:solidFill>
                          <a:latin typeface="Arial"/>
                          <a:ea typeface="Microsoft YaHei"/>
                        </a:rPr>
                        <a:t>变体</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网络参数</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训练修正</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评估修正</a:t>
                      </a:r>
                    </a:p>
                  </a:txBody>
                  <a:tcPr marL="73152" marR="73152" marT="27432" marB="27432" anchor="ctr">
                    <a:lnL w="0">
                      <a:noFill/>
                    </a:lnL>
                    <a:lnR w="0">
                      <a:noFill/>
                    </a:lnR>
                    <a:lnT w="0">
                      <a:noFill/>
                    </a:lnT>
                    <a:lnB w="0">
                      <a:noFill/>
                    </a:lnB>
                    <a:solidFill>
                      <a:srgbClr val="1F3864"/>
                    </a:solidFill>
                  </a:tcPr>
                </a:tc>
              </a:tr>
              <a:tr h="566928">
                <a:tc>
                  <a:txBody>
                    <a:bodyPr wrap="square"/>
                    <a:lstStyle/>
                    <a:p>
                      <a:r>
                        <a:rPr sz="1300" b="0" i="0">
                          <a:solidFill>
                            <a:srgbClr val="262626"/>
                          </a:solidFill>
                          <a:latin typeface="Arial"/>
                          <a:ea typeface="Microsoft YaHei"/>
                        </a:rPr>
                        <a:t>基础网络</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训练 40,000 步（305 个几何）</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无</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无</a:t>
                      </a:r>
                    </a:p>
                  </a:txBody>
                  <a:tcPr marL="73152" marR="73152" marT="27432" marB="27432" anchor="ctr">
                    <a:lnL w="0">
                      <a:noFill/>
                    </a:lnL>
                    <a:lnR w="0">
                      <a:noFill/>
                    </a:lnR>
                    <a:lnT w="0">
                      <a:noFill/>
                    </a:lnT>
                    <a:lnB w="6350">
                      <a:solidFill>
                        <a:srgbClr val="D9DDE3"/>
                      </a:solidFill>
                    </a:lnB>
                    <a:solidFill>
                      <a:srgbClr val="FFFFFF"/>
                    </a:solidFill>
                  </a:tcPr>
                </a:tc>
              </a:tr>
              <a:tr h="566928">
                <a:tc>
                  <a:txBody>
                    <a:bodyPr wrap="square"/>
                    <a:lstStyle/>
                    <a:p>
                      <a:r>
                        <a:rPr sz="1300" b="0" i="0">
                          <a:solidFill>
                            <a:srgbClr val="262626"/>
                          </a:solidFill>
                          <a:latin typeface="Arial"/>
                          <a:ea typeface="Microsoft YaHei"/>
                        </a:rPr>
                        <a:t>基础网络加修正</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沿用基础网络</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无</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8/Q1(17)/8</a:t>
                      </a:r>
                    </a:p>
                  </a:txBody>
                  <a:tcPr marL="73152" marR="73152" marT="27432" marB="27432" anchor="ctr">
                    <a:lnL w="0">
                      <a:noFill/>
                    </a:lnL>
                    <a:lnR w="0">
                      <a:noFill/>
                    </a:lnR>
                    <a:lnT w="0">
                      <a:noFill/>
                    </a:lnT>
                    <a:lnB w="6350">
                      <a:solidFill>
                        <a:srgbClr val="D9DDE3"/>
                      </a:solidFill>
                    </a:lnB>
                    <a:solidFill>
                      <a:srgbClr val="FFFFFF"/>
                    </a:solidFill>
                  </a:tcPr>
                </a:tc>
              </a:tr>
              <a:tr h="566928">
                <a:tc>
                  <a:txBody>
                    <a:bodyPr wrap="square"/>
                    <a:lstStyle/>
                    <a:p>
                      <a:r>
                        <a:rPr sz="1300" b="1" i="0">
                          <a:solidFill>
                            <a:srgbClr val="C00000"/>
                          </a:solidFill>
                          <a:latin typeface="Arial"/>
                          <a:ea typeface="Microsoft YaHei"/>
                        </a:rPr>
                        <a:t>NICE</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继续训练 15,000 步（591 个几何的集合）</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8/Q1(17)/8</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8/Q1(17)/8</a:t>
                      </a:r>
                    </a:p>
                  </a:txBody>
                  <a:tcPr marL="73152" marR="73152" marT="27432" marB="27432" anchor="ctr">
                    <a:lnL w="0">
                      <a:noFill/>
                    </a:lnL>
                    <a:lnR w="0">
                      <a:noFill/>
                    </a:lnR>
                    <a:lnT w="0">
                      <a:noFill/>
                    </a:lnT>
                    <a:lnB w="6350">
                      <a:solidFill>
                        <a:srgbClr val="D9DDE3"/>
                      </a:solidFill>
                    </a:lnB>
                    <a:solidFill>
                      <a:srgbClr val="FBF1F1"/>
                    </a:solidFill>
                  </a:tcPr>
                </a:tc>
              </a:tr>
            </a:tbl>
          </a:graphicData>
        </a:graphic>
      </p:graphicFrame>
      <p:sp>
        <p:nvSpPr>
          <p:cNvPr id="7" name="Rounded Rectangle 6"/>
          <p:cNvSpPr/>
          <p:nvPr/>
        </p:nvSpPr>
        <p:spPr>
          <a:xfrm>
            <a:off x="6080760" y="4846320"/>
            <a:ext cx="5650992" cy="1234440"/>
          </a:xfrm>
          <a:prstGeom prst="roundRect">
            <a:avLst>
              <a:gd name="adj" fmla="val 3500"/>
            </a:avLst>
          </a:prstGeom>
          <a:solidFill>
            <a:srgbClr val="F4F6F9"/>
          </a:solidFill>
          <a:ln>
            <a:noFill/>
          </a:ln>
        </p:spPr>
        <p:txBody>
          <a:bodyPr rtlCol="0" anchor="ctr"/>
          <a:lstStyle/>
          <a:p>
            <a:pPr algn="ctr"/>
          </a:p>
        </p:txBody>
      </p:sp>
      <p:sp>
        <p:nvSpPr>
          <p:cNvPr id="8" name="TextBox 7"/>
          <p:cNvSpPr txBox="1"/>
          <p:nvPr/>
        </p:nvSpPr>
        <p:spPr>
          <a:xfrm>
            <a:off x="6080760" y="4846320"/>
            <a:ext cx="5650992" cy="1234440"/>
          </a:xfrm>
          <a:prstGeom prst="rect">
            <a:avLst/>
          </a:prstGeom>
          <a:noFill/>
        </p:spPr>
        <p:txBody>
          <a:bodyPr wrap="square" lIns="164592" rIns="164592" tIns="36576" bIns="36576" anchor="ctr">
            <a:spAutoFit/>
          </a:bodyPr>
          <a:lstStyle/>
          <a:p>
            <a:pPr algn="l">
              <a:lnSpc>
                <a:spcPct val="112000"/>
              </a:lnSpc>
              <a:spcAft>
                <a:spcPts val="600"/>
              </a:spcAft>
            </a:pPr>
            <a:r>
              <a:rPr sz="1500" b="1" i="0">
                <a:solidFill>
                  <a:srgbClr val="C00000"/>
                </a:solidFill>
                <a:latin typeface="Arial"/>
                <a:ea typeface="Microsoft YaHei"/>
              </a:rPr>
              <a:t>部署：</a:t>
            </a:r>
            <a:r>
              <a:rPr sz="1500" b="0" i="0">
                <a:solidFill>
                  <a:srgbClr val="262626"/>
                </a:solidFill>
                <a:latin typeface="Arial"/>
                <a:ea typeface="Microsoft YaHei"/>
              </a:rPr>
              <a:t>每个几何只算一次几何编码和修正设置；每次乘以 Ŝ 执行网络、修正、K 及其转置；预条件子在每次设计迭代中分解一次 </a:t>
            </a:r>
            <a:r>
              <a:rPr sz="1500" b="0" i="0">
                <a:solidFill>
                  <a:srgbClr val="262626"/>
                </a:solidFill>
                <a:latin typeface="Times New Roman"/>
                <a:ea typeface="Times New Roman"/>
              </a:rPr>
              <a:t>K</a:t>
            </a:r>
            <a:r>
              <a:rPr sz="1500" b="0" i="0" baseline="-25000">
                <a:solidFill>
                  <a:srgbClr val="262626"/>
                </a:solidFill>
                <a:latin typeface="Times New Roman"/>
                <a:ea typeface="Times New Roman"/>
              </a:rPr>
              <a:t>PP</a:t>
            </a:r>
          </a:p>
        </p:txBody>
      </p:sp>
      <p:sp>
        <p:nvSpPr>
          <p:cNvPr id="9" name="TextBox 8"/>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3.5、3.6 节，式 (13)，表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备用：修正的作用</a:t>
            </a:r>
          </a:p>
        </p:txBody>
      </p:sp>
      <p:pic>
        <p:nvPicPr>
          <p:cNvPr id="3" name="Picture 2" descr="F04_correction.png"/>
          <p:cNvPicPr>
            <a:picLocks noChangeAspect="1"/>
          </p:cNvPicPr>
          <p:nvPr/>
        </p:nvPicPr>
        <p:blipFill>
          <a:blip r:embed="rId3"/>
          <a:srcRect b="50000"/>
          <a:stretch>
            <a:fillRect/>
          </a:stretch>
        </p:blipFill>
        <p:spPr>
          <a:xfrm>
            <a:off x="457200" y="1048268"/>
            <a:ext cx="6675120" cy="2429743"/>
          </a:xfrm>
          <a:prstGeom prst="rect">
            <a:avLst/>
          </a:prstGeom>
        </p:spPr>
      </p:pic>
      <p:graphicFrame>
        <p:nvGraphicFramePr>
          <p:cNvPr id="4" name="Table 3"/>
          <p:cNvGraphicFramePr>
            <a:graphicFrameLocks noGrp="1"/>
          </p:cNvGraphicFramePr>
          <p:nvPr/>
        </p:nvGraphicFramePr>
        <p:xfrm>
          <a:off x="457200" y="3611880"/>
          <a:ext cx="6675119" cy="2139696"/>
        </p:xfrm>
        <a:graphic>
          <a:graphicData uri="http://schemas.openxmlformats.org/drawingml/2006/table">
            <a:tbl>
              <a:tblPr firstRow="0" bandRow="0">
                <a:tableStyleId>{2D5ABB26-0587-4C30-8999-92F81FD0307C}</a:tableStyleId>
              </a:tblPr>
              <a:tblGrid>
                <a:gridCol w="593344"/>
                <a:gridCol w="1780032"/>
                <a:gridCol w="1236133"/>
                <a:gridCol w="939461"/>
                <a:gridCol w="1186688"/>
                <a:gridCol w="939461"/>
              </a:tblGrid>
              <a:tr h="356616">
                <a:tc>
                  <a:txBody>
                    <a:bodyPr wrap="square"/>
                    <a:lstStyle/>
                    <a:p>
                      <a:r>
                        <a:rPr sz="1300" b="1" i="0">
                          <a:solidFill>
                            <a:srgbClr val="FFFFFF"/>
                          </a:solidFill>
                          <a:latin typeface="Arial"/>
                          <a:ea typeface="Microsoft YaHei"/>
                        </a:rPr>
                        <a:t>胞元</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基础网络（无修正）</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零内部位移</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图调和</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基础网络</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NICE</a:t>
                      </a:r>
                    </a:p>
                  </a:txBody>
                  <a:tcPr marL="73152" marR="73152" marT="27432" marB="27432" anchor="ctr">
                    <a:lnL w="0">
                      <a:noFill/>
                    </a:lnL>
                    <a:lnR w="0">
                      <a:noFill/>
                    </a:lnR>
                    <a:lnT w="0">
                      <a:noFill/>
                    </a:lnT>
                    <a:lnB w="0">
                      <a:noFill/>
                    </a:lnB>
                    <a:solidFill>
                      <a:srgbClr val="1F3864"/>
                    </a:solidFill>
                  </a:tcPr>
                </a:tc>
              </a:tr>
              <a:tr h="356616">
                <a:tc>
                  <a:txBody>
                    <a:bodyPr wrap="square"/>
                    <a:lstStyle/>
                    <a:p>
                      <a:r>
                        <a:rPr sz="1300" b="0" i="0">
                          <a:solidFill>
                            <a:srgbClr val="262626"/>
                          </a:solidFill>
                          <a:latin typeface="Arial"/>
                          <a:ea typeface="Microsoft YaHei"/>
                        </a:rPr>
                        <a:t>M1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13.5</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1097</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17.2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0.186</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0.131</a:t>
                      </a:r>
                    </a:p>
                  </a:txBody>
                  <a:tcPr marL="73152" marR="73152" marT="27432" marB="27432" anchor="ctr">
                    <a:lnL w="0">
                      <a:noFill/>
                    </a:lnL>
                    <a:lnR w="0">
                      <a:noFill/>
                    </a:lnR>
                    <a:lnT w="0">
                      <a:noFill/>
                    </a:lnT>
                    <a:lnB w="6350">
                      <a:solidFill>
                        <a:srgbClr val="D9DDE3"/>
                      </a:solidFill>
                    </a:lnB>
                    <a:solidFill>
                      <a:srgbClr val="FFFFFF"/>
                    </a:solidFill>
                  </a:tcPr>
                </a:tc>
              </a:tr>
              <a:tr h="356616">
                <a:tc>
                  <a:txBody>
                    <a:bodyPr wrap="square"/>
                    <a:lstStyle/>
                    <a:p>
                      <a:r>
                        <a:rPr sz="1300" b="0" i="0">
                          <a:solidFill>
                            <a:srgbClr val="262626"/>
                          </a:solidFill>
                          <a:latin typeface="Arial"/>
                          <a:ea typeface="Microsoft YaHei"/>
                        </a:rPr>
                        <a:t>M2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3.64</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324</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6.72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0.0273</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0.0358</a:t>
                      </a:r>
                    </a:p>
                  </a:txBody>
                  <a:tcPr marL="73152" marR="73152" marT="27432" marB="27432" anchor="ctr">
                    <a:lnL w="0">
                      <a:noFill/>
                    </a:lnL>
                    <a:lnR w="0">
                      <a:noFill/>
                    </a:lnR>
                    <a:lnT w="0">
                      <a:noFill/>
                    </a:lnT>
                    <a:lnB w="6350">
                      <a:solidFill>
                        <a:srgbClr val="D9DDE3"/>
                      </a:solidFill>
                    </a:lnB>
                    <a:solidFill>
                      <a:srgbClr val="FFFFFF"/>
                    </a:solidFill>
                  </a:tcPr>
                </a:tc>
              </a:tr>
              <a:tr h="356616">
                <a:tc>
                  <a:txBody>
                    <a:bodyPr wrap="square"/>
                    <a:lstStyle/>
                    <a:p>
                      <a:r>
                        <a:rPr sz="1300" b="0" i="0">
                          <a:solidFill>
                            <a:srgbClr val="262626"/>
                          </a:solidFill>
                          <a:latin typeface="Arial"/>
                          <a:ea typeface="Microsoft YaHei"/>
                        </a:rPr>
                        <a:t>H1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1.81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39.9</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1.28</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0.0131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0.0115</a:t>
                      </a:r>
                    </a:p>
                  </a:txBody>
                  <a:tcPr marL="73152" marR="73152" marT="27432" marB="27432" anchor="ctr">
                    <a:lnL w="0">
                      <a:noFill/>
                    </a:lnL>
                    <a:lnR w="0">
                      <a:noFill/>
                    </a:lnR>
                    <a:lnT w="0">
                      <a:noFill/>
                    </a:lnT>
                    <a:lnB w="6350">
                      <a:solidFill>
                        <a:srgbClr val="D9DDE3"/>
                      </a:solidFill>
                    </a:lnB>
                    <a:solidFill>
                      <a:srgbClr val="FFFFFF"/>
                    </a:solidFill>
                  </a:tcPr>
                </a:tc>
              </a:tr>
              <a:tr h="356616">
                <a:tc>
                  <a:txBody>
                    <a:bodyPr wrap="square"/>
                    <a:lstStyle/>
                    <a:p>
                      <a:r>
                        <a:rPr sz="1300" b="0" i="0">
                          <a:solidFill>
                            <a:srgbClr val="262626"/>
                          </a:solidFill>
                          <a:latin typeface="Arial"/>
                          <a:ea typeface="Microsoft YaHei"/>
                        </a:rPr>
                        <a:t>H2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35.0</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28.3</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0.0806</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0.0117</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0.0148</a:t>
                      </a:r>
                    </a:p>
                  </a:txBody>
                  <a:tcPr marL="73152" marR="73152" marT="27432" marB="27432" anchor="ctr">
                    <a:lnL w="0">
                      <a:noFill/>
                    </a:lnL>
                    <a:lnR w="0">
                      <a:noFill/>
                    </a:lnR>
                    <a:lnT w="0">
                      <a:noFill/>
                    </a:lnT>
                    <a:lnB w="6350">
                      <a:solidFill>
                        <a:srgbClr val="D9DDE3"/>
                      </a:solidFill>
                    </a:lnB>
                    <a:solidFill>
                      <a:srgbClr val="FFFFFF"/>
                    </a:solidFill>
                  </a:tcPr>
                </a:tc>
              </a:tr>
              <a:tr h="356616">
                <a:tc>
                  <a:txBody>
                    <a:bodyPr wrap="square"/>
                    <a:lstStyle/>
                    <a:p>
                      <a:r>
                        <a:rPr sz="1300" b="0" i="0">
                          <a:solidFill>
                            <a:srgbClr val="262626"/>
                          </a:solidFill>
                          <a:latin typeface="Arial"/>
                          <a:ea typeface="Microsoft YaHei"/>
                        </a:rPr>
                        <a:t>U2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0.402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47.2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1.23</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0.00424</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0.00465</a:t>
                      </a:r>
                    </a:p>
                  </a:txBody>
                  <a:tcPr marL="73152" marR="73152" marT="27432" marB="27432" anchor="ctr">
                    <a:lnL w="0">
                      <a:noFill/>
                    </a:lnL>
                    <a:lnR w="0">
                      <a:noFill/>
                    </a:lnR>
                    <a:lnT w="0">
                      <a:noFill/>
                    </a:lnT>
                    <a:lnB w="6350">
                      <a:solidFill>
                        <a:srgbClr val="D9DDE3"/>
                      </a:solidFill>
                    </a:lnB>
                    <a:solidFill>
                      <a:srgbClr val="FFFFFF"/>
                    </a:solidFill>
                  </a:tcPr>
                </a:tc>
              </a:tr>
            </a:tbl>
          </a:graphicData>
        </a:graphic>
      </p:graphicFrame>
      <p:sp>
        <p:nvSpPr>
          <p:cNvPr id="5" name="TextBox 4"/>
          <p:cNvSpPr txBox="1"/>
          <p:nvPr/>
        </p:nvSpPr>
        <p:spPr>
          <a:xfrm>
            <a:off x="457200" y="5815584"/>
            <a:ext cx="6675120" cy="274320"/>
          </a:xfrm>
          <a:prstGeom prst="rect">
            <a:avLst/>
          </a:prstGeom>
          <a:noFill/>
        </p:spPr>
        <p:txBody>
          <a:bodyPr wrap="square" lIns="54864" rIns="54864" tIns="36576" bIns="36576" anchor="t">
            <a:spAutoFit/>
          </a:bodyPr>
          <a:lstStyle/>
          <a:p>
            <a:pPr algn="l">
              <a:lnSpc>
                <a:spcPct val="112000"/>
              </a:lnSpc>
              <a:spcAft>
                <a:spcPts val="600"/>
              </a:spcAft>
            </a:pPr>
            <a:r>
              <a:rPr sz="1200" b="0" i="0">
                <a:solidFill>
                  <a:srgbClr val="6B7280"/>
                </a:solidFill>
                <a:latin typeface="Arial"/>
                <a:ea typeface="Microsoft YaHei"/>
              </a:rPr>
              <a:t>后四列为施加同一 8/Q1(17)/8 修正后的平均能量误差（%），面力载荷</a:t>
            </a:r>
          </a:p>
        </p:txBody>
      </p:sp>
      <p:sp>
        <p:nvSpPr>
          <p:cNvPr id="6" name="TextBox 5"/>
          <p:cNvSpPr txBox="1"/>
          <p:nvPr/>
        </p:nvSpPr>
        <p:spPr>
          <a:xfrm>
            <a:off x="7406640" y="1097280"/>
            <a:ext cx="4325112" cy="4983480"/>
          </a:xfrm>
          <a:prstGeom prst="rect">
            <a:avLst/>
          </a:prstGeom>
          <a:noFill/>
        </p:spPr>
        <p:txBody>
          <a:bodyPr wrap="square" lIns="54864" rIns="54864" tIns="36576" bIns="36576" anchor="t">
            <a:spAutoFit/>
          </a:bodyPr>
          <a:lstStyle/>
          <a:p>
            <a:pPr algn="l" marL="219456" indent="-201168">
              <a:lnSpc>
                <a:spcPct val="112000"/>
              </a:lnSpc>
              <a:spcAft>
                <a:spcPts val="1000"/>
              </a:spcAft>
              <a:buClr>
                <a:srgbClr val="C00000"/>
              </a:buClr>
              <a:buSzPct val="70000"/>
              <a:buFont typeface="Arial"/>
              <a:buChar char="■"/>
            </a:pPr>
            <a:r>
              <a:rPr sz="1500" b="0" i="0">
                <a:solidFill>
                  <a:srgbClr val="262626"/>
                </a:solidFill>
                <a:latin typeface="Arial"/>
                <a:ea typeface="Microsoft YaHei"/>
              </a:rPr>
              <a:t>M1：13.5% → 八步光滑 4.68% → 粗网格校正后八步光滑 0.230% → 8 / Q1(17) / 8 0.186%</a:t>
            </a:r>
          </a:p>
          <a:p>
            <a:pPr algn="l" marL="219456" indent="-201168">
              <a:lnSpc>
                <a:spcPct val="112000"/>
              </a:lnSpc>
              <a:spcAft>
                <a:spcPts val="1000"/>
              </a:spcAft>
              <a:buClr>
                <a:srgbClr val="C00000"/>
              </a:buClr>
              <a:buSzPct val="70000"/>
              <a:buFont typeface="Arial"/>
              <a:buChar char="■"/>
            </a:pPr>
            <a:r>
              <a:rPr sz="1500" b="0" i="0">
                <a:solidFill>
                  <a:srgbClr val="262626"/>
                </a:solidFill>
                <a:latin typeface="Arial"/>
                <a:ea typeface="Microsoft YaHei"/>
              </a:rPr>
              <a:t>光滑消除高频分量，低频分量由粗网格校正处理</a:t>
            </a:r>
          </a:p>
          <a:p>
            <a:pPr algn="l" marL="219456" indent="-201168">
              <a:lnSpc>
                <a:spcPct val="112000"/>
              </a:lnSpc>
              <a:spcAft>
                <a:spcPts val="1000"/>
              </a:spcAft>
              <a:buClr>
                <a:srgbClr val="C00000"/>
              </a:buClr>
              <a:buSzPct val="70000"/>
              <a:buFont typeface="Arial"/>
              <a:buChar char="■"/>
            </a:pPr>
            <a:r>
              <a:rPr sz="1500" b="0" i="0">
                <a:solidFill>
                  <a:srgbClr val="262626"/>
                </a:solidFill>
                <a:latin typeface="Arial"/>
                <a:ea typeface="Microsoft YaHei"/>
              </a:rPr>
              <a:t>相同修正下，图调和初始场遗留的误差为 NICE 的 5.4–265 倍</a:t>
            </a:r>
          </a:p>
          <a:p>
            <a:pPr algn="l" marL="219456" indent="-201168">
              <a:lnSpc>
                <a:spcPct val="112000"/>
              </a:lnSpc>
              <a:spcAft>
                <a:spcPts val="1000"/>
              </a:spcAft>
              <a:buClr>
                <a:srgbClr val="C00000"/>
              </a:buClr>
              <a:buSzPct val="70000"/>
              <a:buFont typeface="Arial"/>
              <a:buChar char="■"/>
            </a:pPr>
            <a:r>
              <a:rPr sz="1500" b="0" i="0">
                <a:solidFill>
                  <a:srgbClr val="262626"/>
                </a:solidFill>
                <a:latin typeface="Arial"/>
                <a:ea typeface="Microsoft YaHei"/>
              </a:rPr>
              <a:t>基础网络只在部署时加修正：80 个验证几何的平均能量误差 6.89% → 0.0965%</a:t>
            </a:r>
          </a:p>
        </p:txBody>
      </p:sp>
      <p:sp>
        <p:nvSpPr>
          <p:cNvPr id="7" name="TextBox 6"/>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5.3、5.5 节，图 8(a,b)，表 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备用：全部装配算例与精确静力凝聚的偏差</a:t>
            </a:r>
          </a:p>
        </p:txBody>
      </p:sp>
      <p:graphicFrame>
        <p:nvGraphicFramePr>
          <p:cNvPr id="3" name="Table 2"/>
          <p:cNvGraphicFramePr>
            <a:graphicFrameLocks noGrp="1"/>
          </p:cNvGraphicFramePr>
          <p:nvPr/>
        </p:nvGraphicFramePr>
        <p:xfrm>
          <a:off x="457200" y="1051560"/>
          <a:ext cx="11274551" cy="4114800"/>
        </p:xfrm>
        <a:graphic>
          <a:graphicData uri="http://schemas.openxmlformats.org/drawingml/2006/table">
            <a:tbl>
              <a:tblPr firstRow="0" bandRow="0">
                <a:tableStyleId>{2D5ABB26-0587-4C30-8999-92F81FD0307C}</a:tableStyleId>
              </a:tblPr>
              <a:tblGrid>
                <a:gridCol w="3131820"/>
                <a:gridCol w="1923832"/>
                <a:gridCol w="2684417"/>
                <a:gridCol w="1252728"/>
                <a:gridCol w="2281754"/>
              </a:tblGrid>
              <a:tr h="457200">
                <a:tc>
                  <a:txBody>
                    <a:bodyPr wrap="square"/>
                    <a:lstStyle/>
                    <a:p>
                      <a:r>
                        <a:rPr sz="1300" b="1" i="0">
                          <a:solidFill>
                            <a:srgbClr val="FFFFFF"/>
                          </a:solidFill>
                          <a:latin typeface="Arial"/>
                          <a:ea typeface="Microsoft YaHei"/>
                        </a:rPr>
                        <a:t>算例</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每构型胞元数（切割）</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载荷或设计</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柔度误差 (%)</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灵敏度或梯度误差 (%)</a:t>
                      </a:r>
                    </a:p>
                  </a:txBody>
                  <a:tcPr marL="73152" marR="73152" marT="27432" marB="27432" anchor="ctr">
                    <a:lnL w="0">
                      <a:noFill/>
                    </a:lnL>
                    <a:lnR w="0">
                      <a:noFill/>
                    </a:lnR>
                    <a:lnT w="0">
                      <a:noFill/>
                    </a:lnT>
                    <a:lnB w="0">
                      <a:noFill/>
                    </a:lnB>
                    <a:solidFill>
                      <a:srgbClr val="1F3864"/>
                    </a:solidFill>
                  </a:tcPr>
                </a:tc>
              </a:tr>
              <a:tr h="457200">
                <a:tc>
                  <a:txBody>
                    <a:bodyPr wrap="square"/>
                    <a:lstStyle/>
                    <a:p>
                      <a:r>
                        <a:rPr sz="1300" b="0" i="0">
                          <a:solidFill>
                            <a:srgbClr val="262626"/>
                          </a:solidFill>
                          <a:latin typeface="Arial"/>
                          <a:ea typeface="Microsoft YaHei"/>
                        </a:rPr>
                        <a:t>两胞元装配，七个选择胞元</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2（0 或 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14 个构型，各六个面载荷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 0.056</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灵敏度 ≤ 0.67</a:t>
                      </a:r>
                    </a:p>
                  </a:txBody>
                  <a:tcPr marL="73152" marR="73152" marT="27432" marB="27432" anchor="ctr">
                    <a:lnL w="0">
                      <a:noFill/>
                    </a:lnL>
                    <a:lnR w="0">
                      <a:noFill/>
                    </a:lnR>
                    <a:lnT w="0">
                      <a:noFill/>
                    </a:lnT>
                    <a:lnB w="6350">
                      <a:solidFill>
                        <a:srgbClr val="D9DDE3"/>
                      </a:solidFill>
                    </a:lnB>
                    <a:solidFill>
                      <a:srgbClr val="FFFFFF"/>
                    </a:solidFill>
                  </a:tcPr>
                </a:tc>
              </a:tr>
              <a:tr h="457200">
                <a:tc>
                  <a:txBody>
                    <a:bodyPr wrap="square"/>
                    <a:lstStyle/>
                    <a:p>
                      <a:r>
                        <a:rPr sz="1300" b="0" i="0">
                          <a:solidFill>
                            <a:srgbClr val="262626"/>
                          </a:solidFill>
                          <a:latin typeface="Arial"/>
                          <a:ea typeface="Microsoft YaHei"/>
                        </a:rPr>
                        <a:t>两胞元装配，切割面面力载荷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10 个构型，各三个切割面面力载荷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 0.10</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灵敏度 ≤ 0.16</a:t>
                      </a:r>
                    </a:p>
                  </a:txBody>
                  <a:tcPr marL="73152" marR="73152" marT="27432" marB="27432" anchor="ctr">
                    <a:lnL w="0">
                      <a:noFill/>
                    </a:lnL>
                    <a:lnR w="0">
                      <a:noFill/>
                    </a:lnR>
                    <a:lnT w="0">
                      <a:noFill/>
                    </a:lnT>
                    <a:lnB w="6350">
                      <a:solidFill>
                        <a:srgbClr val="D9DDE3"/>
                      </a:solidFill>
                    </a:lnB>
                    <a:solidFill>
                      <a:srgbClr val="FFFFFF"/>
                    </a:solidFill>
                  </a:tcPr>
                </a:tc>
              </a:tr>
              <a:tr h="457200">
                <a:tc>
                  <a:txBody>
                    <a:bodyPr wrap="square"/>
                    <a:lstStyle/>
                    <a:p>
                      <a:r>
                        <a:rPr sz="1300" b="0" i="0">
                          <a:solidFill>
                            <a:srgbClr val="262626"/>
                          </a:solidFill>
                          <a:latin typeface="Arial"/>
                          <a:ea typeface="Microsoft YaHei"/>
                        </a:rPr>
                        <a:t>两胞元装配，九个检查点选择之外的胞元</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2（0 或 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18 个构型，各六个面载荷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 0.27</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灵敏度 ≤ 1.49</a:t>
                      </a:r>
                    </a:p>
                  </a:txBody>
                  <a:tcPr marL="73152" marR="73152" marT="27432" marB="27432" anchor="ctr">
                    <a:lnL w="0">
                      <a:noFill/>
                    </a:lnL>
                    <a:lnR w="0">
                      <a:noFill/>
                    </a:lnR>
                    <a:lnT w="0">
                      <a:noFill/>
                    </a:lnT>
                    <a:lnB w="6350">
                      <a:solidFill>
                        <a:srgbClr val="D9DDE3"/>
                      </a:solidFill>
                    </a:lnB>
                    <a:solidFill>
                      <a:srgbClr val="FFFFFF"/>
                    </a:solidFill>
                  </a:tcPr>
                </a:tc>
              </a:tr>
              <a:tr h="457200">
                <a:tc>
                  <a:txBody>
                    <a:bodyPr wrap="square"/>
                    <a:lstStyle/>
                    <a:p>
                      <a:r>
                        <a:rPr sz="1300" b="0" i="0">
                          <a:solidFill>
                            <a:srgbClr val="262626"/>
                          </a:solidFill>
                          <a:latin typeface="Arial"/>
                          <a:ea typeface="Microsoft YaHei"/>
                        </a:rPr>
                        <a:t>全学习胞元点阵，面载荷</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8（4），8（3）</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三个面载荷</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 0.015</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灵敏度 ≤ 0.144；梯度 0.04–0.09</a:t>
                      </a:r>
                    </a:p>
                  </a:txBody>
                  <a:tcPr marL="73152" marR="73152" marT="27432" marB="27432" anchor="ctr">
                    <a:lnL w="0">
                      <a:noFill/>
                    </a:lnL>
                    <a:lnR w="0">
                      <a:noFill/>
                    </a:lnR>
                    <a:lnT w="0">
                      <a:noFill/>
                    </a:lnT>
                    <a:lnB w="6350">
                      <a:solidFill>
                        <a:srgbClr val="D9DDE3"/>
                      </a:solidFill>
                    </a:lnB>
                    <a:solidFill>
                      <a:srgbClr val="FBF1F1"/>
                    </a:solidFill>
                  </a:tcPr>
                </a:tc>
              </a:tr>
              <a:tr h="457200">
                <a:tc>
                  <a:txBody>
                    <a:bodyPr wrap="square"/>
                    <a:lstStyle/>
                    <a:p>
                      <a:r>
                        <a:rPr sz="1300" b="0" i="0">
                          <a:solidFill>
                            <a:srgbClr val="262626"/>
                          </a:solidFill>
                          <a:latin typeface="Arial"/>
                          <a:ea typeface="Microsoft YaHei"/>
                        </a:rPr>
                        <a:t>全学习胞元点阵，随机载荷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8（4），8（3）</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三个随机载荷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 0.069</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灵敏度 ≤ 0.454；梯度 0.22–0.28</a:t>
                      </a:r>
                    </a:p>
                  </a:txBody>
                  <a:tcPr marL="73152" marR="73152" marT="27432" marB="27432" anchor="ctr">
                    <a:lnL w="0">
                      <a:noFill/>
                    </a:lnL>
                    <a:lnR w="0">
                      <a:noFill/>
                    </a:lnR>
                    <a:lnT w="0">
                      <a:noFill/>
                    </a:lnT>
                    <a:lnB w="6350">
                      <a:solidFill>
                        <a:srgbClr val="D9DDE3"/>
                      </a:solidFill>
                    </a:lnB>
                    <a:solidFill>
                      <a:srgbClr val="FFFFFF"/>
                    </a:solidFill>
                  </a:tcPr>
                </a:tc>
              </a:tr>
              <a:tr h="457200">
                <a:tc>
                  <a:txBody>
                    <a:bodyPr wrap="square"/>
                    <a:lstStyle/>
                    <a:p>
                      <a:r>
                        <a:rPr sz="1300" b="0" i="0">
                          <a:solidFill>
                            <a:srgbClr val="262626"/>
                          </a:solidFill>
                          <a:latin typeface="Arial"/>
                          <a:ea typeface="Microsoft YaHei"/>
                        </a:rPr>
                        <a:t>算例 A，厚度优化</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8（4）</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第 0、12、23 次迭代的设计</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0.011–0.028</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梯度 0.069–0.33</a:t>
                      </a:r>
                    </a:p>
                  </a:txBody>
                  <a:tcPr marL="73152" marR="73152" marT="27432" marB="27432" anchor="ctr">
                    <a:lnL w="0">
                      <a:noFill/>
                    </a:lnL>
                    <a:lnR w="0">
                      <a:noFill/>
                    </a:lnR>
                    <a:lnT w="0">
                      <a:noFill/>
                    </a:lnT>
                    <a:lnB w="6350">
                      <a:solidFill>
                        <a:srgbClr val="D9DDE3"/>
                      </a:solidFill>
                    </a:lnB>
                    <a:solidFill>
                      <a:srgbClr val="FBF1F1"/>
                    </a:solidFill>
                  </a:tcPr>
                </a:tc>
              </a:tr>
              <a:tr h="457200">
                <a:tc>
                  <a:txBody>
                    <a:bodyPr wrap="square"/>
                    <a:lstStyle/>
                    <a:p>
                      <a:r>
                        <a:rPr sz="1300" b="0" i="0">
                          <a:solidFill>
                            <a:srgbClr val="262626"/>
                          </a:solidFill>
                          <a:latin typeface="Arial"/>
                          <a:ea typeface="Microsoft YaHei"/>
                        </a:rPr>
                        <a:t>切割面固支板</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24（8）</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初始、最终、均匀化及两个均匀设计</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0.011–0.032</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梯度 0.029–0.32</a:t>
                      </a:r>
                    </a:p>
                  </a:txBody>
                  <a:tcPr marL="73152" marR="73152" marT="27432" marB="27432" anchor="ctr">
                    <a:lnL w="0">
                      <a:noFill/>
                    </a:lnL>
                    <a:lnR w="0">
                      <a:noFill/>
                    </a:lnR>
                    <a:lnT w="0">
                      <a:noFill/>
                    </a:lnT>
                    <a:lnB w="6350">
                      <a:solidFill>
                        <a:srgbClr val="D9DDE3"/>
                      </a:solidFill>
                    </a:lnB>
                    <a:solidFill>
                      <a:srgbClr val="FBF1F1"/>
                    </a:solidFill>
                  </a:tcPr>
                </a:tc>
              </a:tr>
              <a:tr h="457200">
                <a:tc>
                  <a:txBody>
                    <a:bodyPr wrap="square"/>
                    <a:lstStyle/>
                    <a:p>
                      <a:r>
                        <a:rPr sz="1300" b="0" i="0">
                          <a:solidFill>
                            <a:srgbClr val="262626"/>
                          </a:solidFill>
                          <a:latin typeface="Arial"/>
                          <a:ea typeface="Microsoft YaHei"/>
                        </a:rPr>
                        <a:t>规模算例的板</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24（8），51（12）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初始设计</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0.013，0.011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梯度 0.045，0.047</a:t>
                      </a:r>
                    </a:p>
                  </a:txBody>
                  <a:tcPr marL="73152" marR="73152" marT="27432" marB="27432" anchor="ctr">
                    <a:lnL w="0">
                      <a:noFill/>
                    </a:lnL>
                    <a:lnR w="0">
                      <a:noFill/>
                    </a:lnR>
                    <a:lnT w="0">
                      <a:noFill/>
                    </a:lnT>
                    <a:lnB w="6350">
                      <a:solidFill>
                        <a:srgbClr val="D9DDE3"/>
                      </a:solidFill>
                    </a:lnB>
                    <a:solidFill>
                      <a:srgbClr val="FFFFFF"/>
                    </a:solidFill>
                  </a:tcPr>
                </a:tc>
              </a:tr>
            </a:tbl>
          </a:graphicData>
        </a:graphic>
      </p:graphicFrame>
      <p:sp>
        <p:nvSpPr>
          <p:cNvPr id="4" name="Rounded Rectangle 3"/>
          <p:cNvSpPr/>
          <p:nvPr/>
        </p:nvSpPr>
        <p:spPr>
          <a:xfrm>
            <a:off x="457200" y="5349240"/>
            <a:ext cx="11274552" cy="640080"/>
          </a:xfrm>
          <a:prstGeom prst="roundRect">
            <a:avLst>
              <a:gd name="adj" fmla="val 3500"/>
            </a:avLst>
          </a:prstGeom>
          <a:solidFill>
            <a:srgbClr val="FBF1F1"/>
          </a:solidFill>
          <a:ln>
            <a:noFill/>
          </a:ln>
        </p:spPr>
        <p:txBody>
          <a:bodyPr rtlCol="0" anchor="ctr"/>
          <a:lstStyle/>
          <a:p>
            <a:pPr algn="ctr"/>
          </a:p>
        </p:txBody>
      </p:sp>
      <p:sp>
        <p:nvSpPr>
          <p:cNvPr id="5" name="TextBox 4"/>
          <p:cNvSpPr txBox="1"/>
          <p:nvPr/>
        </p:nvSpPr>
        <p:spPr>
          <a:xfrm>
            <a:off x="640080" y="5349240"/>
            <a:ext cx="10908792" cy="640080"/>
          </a:xfrm>
          <a:prstGeom prst="rect">
            <a:avLst/>
          </a:prstGeom>
          <a:noFill/>
        </p:spPr>
        <p:txBody>
          <a:bodyPr wrap="square" lIns="18288" rIns="18288" tIns="36576" bIns="36576" anchor="ctr">
            <a:spAutoFit/>
          </a:bodyPr>
          <a:lstStyle/>
          <a:p>
            <a:pPr algn="l">
              <a:lnSpc>
                <a:spcPct val="112000"/>
              </a:lnSpc>
              <a:spcAft>
                <a:spcPts val="600"/>
              </a:spcAft>
            </a:pPr>
            <a:r>
              <a:rPr sz="1600" b="1" i="0">
                <a:solidFill>
                  <a:srgbClr val="C00000"/>
                </a:solidFill>
                <a:latin typeface="Arial"/>
                <a:ea typeface="Microsoft YaHei"/>
              </a:rPr>
              <a:t>柔度误差：</a:t>
            </a:r>
            <a:r>
              <a:rPr sz="1600" b="0" i="0">
                <a:solidFill>
                  <a:srgbClr val="262626"/>
                </a:solidFill>
                <a:latin typeface="Arial"/>
                <a:ea typeface="Microsoft YaHei"/>
              </a:rPr>
              <a:t>全部 ≤ 0.27%；</a:t>
            </a:r>
            <a:r>
              <a:rPr sz="1600" b="1" i="0">
                <a:solidFill>
                  <a:srgbClr val="C00000"/>
                </a:solidFill>
                <a:latin typeface="Arial"/>
                <a:ea typeface="Microsoft YaHei"/>
              </a:rPr>
              <a:t>全学习胞元的点阵与设计：</a:t>
            </a:r>
            <a:r>
              <a:rPr sz="1600" b="0" i="0">
                <a:solidFill>
                  <a:srgbClr val="262626"/>
                </a:solidFill>
                <a:latin typeface="Arial"/>
                <a:ea typeface="Microsoft YaHei"/>
              </a:rPr>
              <a:t>柔度 ≤ 0.069%，梯度 ≤ 0.33%</a:t>
            </a:r>
          </a:p>
        </p:txBody>
      </p:sp>
      <p:sp>
        <p:nvSpPr>
          <p:cNvPr id="6" name="TextBox 5"/>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论文表 3；两胞元装配中只有被测胞元为学习胞元，其余算例中所有胞元均为学习胞元</a:t>
            </a:r>
          </a:p>
        </p:txBody>
      </p:sp>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800000"/>
      </a:dk2>
      <a:lt2>
        <a:srgbClr val="333333"/>
      </a:lt2>
      <a:accent1>
        <a:srgbClr val="EB6743"/>
      </a:accent1>
      <a:accent2>
        <a:srgbClr val="D3A911"/>
      </a:accent2>
      <a:accent3>
        <a:srgbClr val="FFFFFF"/>
      </a:accent3>
      <a:accent4>
        <a:srgbClr val="000000"/>
      </a:accent4>
      <a:accent5>
        <a:srgbClr val="F3B8B0"/>
      </a:accent5>
      <a:accent6>
        <a:srgbClr val="BF990E"/>
      </a:accent6>
      <a:hlink>
        <a:srgbClr val="7B9B63"/>
      </a:hlink>
      <a:folHlink>
        <a:srgbClr val="38A3B2"/>
      </a:folHlink>
    </a:clrScheme>
    <a:fontScheme name="奥斯汀">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noFill/>
        </a:ln>
      </a:spPr>
      <a:bodyPr anchor="ctr">
        <a:spAutoFit/>
      </a:bodyPr>
      <a:lstStyle>
        <a:defPPr>
          <a:defRPr sz="2800" b="1">
            <a:solidFill>
              <a:srgbClr val="0070C0"/>
            </a:solidFill>
            <a:latin typeface="Microsoft YaHei" panose="020B0503020204020204" pitchFamily="34" charset="-122"/>
            <a:ea typeface="Microsoft YaHei" panose="020B0503020204020204"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en-US" sz="1800" b="1" i="0" u="none" strike="noStrike" cap="none" normalizeH="0" baseline="0" smtClean="0">
            <a:ln>
              <a:noFill/>
            </a:ln>
            <a:solidFill>
              <a:schemeClr val="tx1"/>
            </a:solidFill>
            <a:effectLst/>
            <a:latin typeface="Arial" panose="020B0604020202090204" pitchFamily="34" charset="0"/>
          </a:defRPr>
        </a:defPPr>
      </a:lstStyle>
    </a:lnDef>
  </a:objectDefaults>
  <a:extraClrSchemeLst>
    <a:extraClrScheme>
      <a:clrScheme name="Default Design 1">
        <a:dk1>
          <a:srgbClr val="000000"/>
        </a:dk1>
        <a:lt1>
          <a:srgbClr val="FFFFFF"/>
        </a:lt1>
        <a:dk2>
          <a:srgbClr val="800000"/>
        </a:dk2>
        <a:lt2>
          <a:srgbClr val="333333"/>
        </a:lt2>
        <a:accent1>
          <a:srgbClr val="EB6743"/>
        </a:accent1>
        <a:accent2>
          <a:srgbClr val="D3A911"/>
        </a:accent2>
        <a:accent3>
          <a:srgbClr val="FFFFFF"/>
        </a:accent3>
        <a:accent4>
          <a:srgbClr val="000000"/>
        </a:accent4>
        <a:accent5>
          <a:srgbClr val="F3B8B0"/>
        </a:accent5>
        <a:accent6>
          <a:srgbClr val="BF990E"/>
        </a:accent6>
        <a:hlink>
          <a:srgbClr val="7B9B63"/>
        </a:hlink>
        <a:folHlink>
          <a:srgbClr val="38A3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2E507A"/>
        </a:dk2>
        <a:lt2>
          <a:srgbClr val="333333"/>
        </a:lt2>
        <a:accent1>
          <a:srgbClr val="5A90C2"/>
        </a:accent1>
        <a:accent2>
          <a:srgbClr val="8AC246"/>
        </a:accent2>
        <a:accent3>
          <a:srgbClr val="FFFFFF"/>
        </a:accent3>
        <a:accent4>
          <a:srgbClr val="000000"/>
        </a:accent4>
        <a:accent5>
          <a:srgbClr val="B5C6DD"/>
        </a:accent5>
        <a:accent6>
          <a:srgbClr val="7DB03F"/>
        </a:accent6>
        <a:hlink>
          <a:srgbClr val="F6831A"/>
        </a:hlink>
        <a:folHlink>
          <a:srgbClr val="EFC821"/>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A82A9F"/>
        </a:dk2>
        <a:lt2>
          <a:srgbClr val="4D4D4D"/>
        </a:lt2>
        <a:accent1>
          <a:srgbClr val="12B4D4"/>
        </a:accent1>
        <a:accent2>
          <a:srgbClr val="F1C23D"/>
        </a:accent2>
        <a:accent3>
          <a:srgbClr val="FFFFFF"/>
        </a:accent3>
        <a:accent4>
          <a:srgbClr val="000000"/>
        </a:accent4>
        <a:accent5>
          <a:srgbClr val="AAD6E6"/>
        </a:accent5>
        <a:accent6>
          <a:srgbClr val="DAB036"/>
        </a:accent6>
        <a:hlink>
          <a:srgbClr val="8CA62C"/>
        </a:hlink>
        <a:folHlink>
          <a:srgbClr val="808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item1.xml><?xml version="1.0" encoding="utf-8"?>
<s:customData xmlns="http://www.wps.cn/officeDocument/2013/wpsCustomData" xmlns:s="http://www.wps.cn/officeDocument/2013/wpsCustomData">
  <extobjs>
    <extobj name="ECB019B1-382A-4266-B25C-5B523AA43C14-1">
      <extobjdata type="ECB019B1-382A-4266-B25C-5B523AA43C14" data="ewoJIkZpbGVJZCIgOiAiNTA3NzgzNTM2NTQwIiwKCSJHcm91cElkIiA6ICI5ODIxNTE3NjAiLAoJIkltYWdlIiA6ICJpVkJPUncwS0dnb0FBQUFOU1VoRVVnQUFBY2dBQUFXR0NBSUFBQUNFM3FLeUFBQUFBWE5TUjBJQXJzNGM2UUFBSUFCSlJFRlVlSnpzM1hrZ2xOdi9CL0F6RzJQZnMwZVdTbEVoTFpaUVVWYzNsTFpiVXFuVWJkT2VTMXB1V3BSdW14YVJiRzJLTHFYaXRtKzB1QzJTSllrc0ViSXpHRE8vUDg3Mysvem1PeVRxWVdyNnZQNmFPWFBtZVk3QmU4NXpudk9jaDhMbGNoRUFBQUR5VUFYZEFBQUFFRFlRckFBQVFESUlWZ0FBSUJrRUt3QUFrQXlDRlFBQVNBYkJDZ0FBSklOZ0JRQUFra0d3QWdBQXlTQllBUUNBWkJDc0FBQkFNZ2hXQUFBZ0dRUXJBQUNRRElJVkFBQklCc0VLQUFBa2cyQUZBQUNTUWJBQ0FBREpJRmdCQUlCa0VLd0FBRUF5Q0ZZQUFDQVpCQ3NBQUpBTWdoVUFBRWdHd1FvQUFDU0RZQVVBQUpKQnNBSUFBTWtnV0FFQWdHUVFyQUFBUURJSVZnQUFJQmtFS3dBQWtBeUNGUUFBU0FiQkNnQUFKSU5nQlFBQWtrR3dBZ0FBeVNCWUFRQ0FaQkNzQUFCQU1naFdBQUFnR1Yyd3U2K3ByYjE1KzI3KyswTEJOZ1AwQUhWMTFiRTIxckt5TW9KdUNBRGRUc0RCK3Z6bHErMjcvNnFvK0NUWVpvQWVJQ3NqSXlraE1kNXVqS0FiQWtDM0UvQlFRRmxaT2FUcVQ2S3F1dnJEaDFKQnR3S0FuaURnSGl2Qm9IOWYrekcyZ200RjZCWjM3ajE4L2pKTjBLMEFvT2Q4TDhFNm9IOC96NldMQmQwSzBDMXFhbW9oV01GUEJXWUZBQUFBeVNCWUFRQ0FaQkNzQUFCQU1naFdBQUFnR1FRckFBQ1FESUlWQUFCSUp2ekIydExTSXVnbUFBQitMa0llck1YRnhUWTJOamR2M3VRdC9QVHBVMmw3cXFxcVByZWRZOGVPV1Z0Ykp5Y245MGlyMjdGbzBhSUpFeWFVbFpVSnFnRUFnTTc3WGk0UTZDYUJnWUVVQ2tWT1R1NzE2OWNJSVRVMU5WbFoyU1ZMbHJ4NTg2WnRaU3NycS8zNzk3ZTduYlMwdExxNnVxeXNySkVqUjNhcEFVMU5UVFFhalU3L3BzK1p6V2EvZXZXS3hXS1ZsSlFvS1NsOXk2YStLQ3NyYStiTW1iTm56MTY1Y21XMzdnZ0FJU2JNd2ZycTFhdkV4RVFtazdsczJUSXVsOXZVMU9UcjYrdnM3QndRRU1CaXNieTl2YlcxdFQwOFBIRGxMVnUyU0VwS2ZtNVRXN2R1VFV0THM3UzA3RklEQWdNRHo1NDlHeE1UbzZ5cy9DMC9DSjFPRHdzTHE2cXFNakl5K3BidGRNYUZDeGNRUXBNblQrN3VIUUVneElRMldHdHFhdjc0NDQrUkkwY2VPblNJUXFIczNMbnp6cDA3MXRiV0NDRU5EUTAybS8zeDQ4ZGZmdmxGVDA4UDEyOXRiWldRa1BqYzFoUVZGVzF0dTd5VXdZc1hMeG9iRzcvdDUvZ1BmWDE5VXJiVHNZYUdobXZYcnBtWm1mWHUzYnNIZGdlQXNCTE9NVll1bDd0eDQ4YUtpb3JmZnZzdEl5UGovUG56Rnk1Y21EZHYzb2NQSHlvckt4RkNjWEZ4ZFhWMW8wZVBibWhvUUFnVkZCUzhlL2V1dTQreXZ3Nlh5KzJ4VFYyOWVyV2hvY0hGeFlXc1BRTHdjeExPWUcxdGJlVnl1WEp5Y2w1ZVhxdFhydzRJQ0pDVWxEeDU4dVM4ZWZPU2twSmlZMk4zNzk2OWVQSGlYcjE2V1ZsWkRSOCszTm5aR1NFMGV2VG96MjF3Ky9idHBxYW1qeDQ5d2srdlg3OXVhbXA2OE9EQndzTEN0V3ZYV2x0YlcxaFlyRnk1c3JpNEdGY0lDQWd3TlRYOTk5OS9FVUlPRGc2bXBxYkxsaTBqdG5idDJqVTNOemR6YzNOcmEydFBUOC9NekV6aUpXTExLU2twVTZaTUdUcDA2TzNidC9HeHVhbXBLWnZOSm1xeTJlem82T2c1YytaWVdWbU5IRGx5NnRTcElTRWhMQmJyaTV2cVFFeE1qTHk4L0ZmMHpRRUF2SVJ6S0lCT3B4ODZkR2pac21VR0JnWkxseTUxZFhWMWNIQ1lPWFBtakJrejNyNTllK2ZPblZXclZrMmZQcDFDb1V5ZVBEa2pJOFBSMGRIYzNGeERRNk5MZXlrcks1c3paNDZXbHRhb1VhUCsvZmZmZS9mdXZYLy8vdHk1Y3d3R3c5all1TFcxOWViTm0rWGw1Uk1uVGhRVEUrdlRwdzkrMTRFREJ5SWlJcFNVbEJ3Y0hPcnI2Mi9kdXZYMDZkUGc0T0FCQXdid2JubmR1bldXbHBhREJnMXFkK1MzcGFWbHhZb1ZqeDgvVmxKU3NyVzFwVkFvVDU4K1BYcjA2TDE3OTRLQ2dwaE1adWMzUlhqMTZsVldWdGE4ZWZPKzhWUWJBT0NuK3hmUzFkWGRzR0hEK2ZQbkowNmNHQmNYSnlVbFZWbFpPVzNhdEsvWTFKVXJWelpzMklEZlcxZFg1K2JtbHArZm41eWNQR3JVcURGanhvd1pNeVluSjZlOHZQejMzMzhuVGw0bEp5ZEhSRVFZR1JrRkJnYmltSHYrL1BuOCtmUDM3Tmx6OHVSSllzdUppWW1iTjIrZU1HSEM1M1lkRkJUMCtQRmpXMXZiSFR0MmlJaUk0S2pkc0dIRG5UdDNRa0pDZUh2SFg5d1VJU1ltQm4vVGZNVkhBUURnSlp4REFZVFRwMC9iMmRsbFoyY2ZQWHJVenM0dU56Y1hJVVNqMGU3ZnY2K2lva0tqMGI1bDR3WUdCa1FpUzBwSzR2RUUzdVA2ZHR1REVQTDI5aVk2ajBPR0RCazhlUERMbHk5NVo5R3FxcW82T0RoOGJpTjRFSURKWkhwNWVlRlVSUWd4R0l4MTY5YlJhTFNMRnkveVZ1NTRVNFM2dXJxa3BLUVJJMGFvcWFsOXNUSUFvR05DM21NMU16TWJQWHIwOGVQSEJ3MGFOR0xFaUdQSGppR0VhbXRybno1OXl1RndMQ3dzMkd3Mm04MjJzTERBOWYzOC9Eby93amh3NEVEZXAzZ2tvYmEydG9PM3ZIejVrazZuLy9QUFAvLzg4dzlSV0ZOVGd4QXFMQ3lVbFpYRkpZTUdEYUpRS0ovYlNHNXVibjE5dlltSmlhS2lJbSs1cXFxcXVycjYrL2Z2UzB0TGlUNXl4NXNpSkNRa3NGaXNLVk9tZkxFbUFPQ0xoRHhZOWZYMUhSMGRvNk9qRFEwTkhSMGRjWWZ4MnJWcnJhMnR2cjYrb3FLaTE2NWRlL255NWZyMTYzRjkzb0hPTCtLYm5vVkhOanM0ODk3YTJscFhWNGNRQ2cwTmJmdHFVMU1UOFpndk1mbmd2bTI3YzJNVkZSWGZ2MzlmWDEvZnlVMFJZbUppbEpTVXJLeXNPbE1aQU5BeElRL1cwdExTWjgrZU5UUTBGQlVWUFh2MkRNOHF2WEhqaHJXMXRhT2pJNzdRS0RzN2U5eTRjVDNRR0JxTkppSWlRcVZTNzkrLzMzRXZzdU5YeGNYRjhWbXB0aTlWVkZRZ2hLU2xwVHU1S2V6NTgrZHYzNzcxOFBENHhyRVJBQUFtek1IS1lySHUzTG1UbXBwYVhsNmVrSkJ3Ky9idDh2SnlQQmVxNHdOMnN1QlE0M0E0UkltK3ZuNTZlbnBtWnFhQmdjRlhiMVpQVDA5RVJPVDE2OWVWbFpWeWNuSkVlVWxKU1ZGUmtacWFXaWQ3cVlTWW1CZ3FsWXJIaUFFQTMwNllUMTVWVjFjdldyUW9JU0ZCWDEvZnc4TWpJU0VCejNrYU4yN2NsQ2xUTEN3c0xDd3NUcDA2VlZKU1l2RmZpeFl0SXJFQk9QWHk4L09KRW53ZXlkL2Z2N3E2bWlnc0x5OVBUVTN0L0dhWlRLYVRrMU5EUThPT0hUdUl0YnNhR3h0MzdkckZack5uelpyVnBVWldWMWRmdjM3ZDB0THlHNis3QlFBUWhMYkh5bWF6Mzc5L3I2S2kwdmFsVFpzMkVZLzV4bGlKMDBla01ETXp1Mzc5K3ViTm02MnNyS1NscFZlc1dERmx5cFFiTjI3OCsrKy9reWRQSGpwMHFJS0NRa0ZCd2VQSGo5M2QzVTFOVFR1LzVSVXJWcng2OWVybXpadU9qbzdEaGcxanNWZ3ZYcndvS3l1enM3T2JQbjE2bHhwNTZkS2w1dVptT0cwRkFJbUVObGlmUEhuQ1pyTU5EUTNidnNRN290cXRZNnpPenM1NWVYbUppWWxYcmx6QjgwUHBkSHBnWUdCRVJNUzFhOWZ1M0xraklTR2hxcXI2KysrL2R6WFh4TVhGUTBKQ1RwMDZkZTNhdGFTa0pCcU5wcWVudDNqeFlpY25wODRNcXZLS2pZMVZWVlh0NnFwZEFJQU9DRzJ3eHNURURCbzBxRmV2WGdnaFEwUEQrdnI2Ky9mdnYzLy92dU9yano3SHg4Zkh4OGVIZURwMjdOaTJCKy9tNXVaOGhYUTZmZTNhdFd2WHJ1VXRGQlVWWGJodzRjS0ZDOXZkVWJ0Ynh2SEhWOEprTXVmUG56OS8vdnpQdGZsem0rTDE1TW1UL1B6OHBVdVhVcW5DUENnRVFBOFR6bUJsczlrc0Ztdng0c1g0NmVqUm8zLy8vWGNLaFdKb2FJZ1h1QUpZVEV3TW5VN0hFeVFBQUdRUnptREZSOXpFMDJIRGhxV21wbks1M0xhSHlTdFdyRml4WWtXUE4vQzd3T1Z5Ky9idE8zTGt5SzdPSWdBQWRFdzRnN1ZkWFIxOEZIb1VDc1hkM1YzUXJRQkFDTUhJR2dBQWtBeUNGUUFBU0FiQkNnQUFKSU5nQlFBQWtrR3dkanMybTUyWGw4ZTc0bFMzN3F1cmI4RUxiZ0VBU1BRVHpRcm9qUHI2ZXQ1TCt6dFBTMHVMV0VVd1BqN2UzdDZldUQ5S1JVV0ZpNHZMamgwN2VLL3Z1bno1OHRpeFkzbnZvVkpWVlpXVmxkWEozY25MeTdlOWIrdnExYXNsSlNYLy9QUFB6amY3dzRjUHMyYk5tak5uenB3NWN6ci9MZ0JBeDM3NFlKMDhlVElSaFRRYVRWVlYxZFRVZE9IQ2hhcXFxa1NkN2R1M3g4YkdCZ1FFZkhFUjY0eU1qSzliaHlVb0tHam8wS0Y0RldwL2YvK29xS2pkdTNkcmEydTNyZG5jM0x4dDI3WXJWNjdVMU5UTW5EbVRLSC85K3ZYeTVjczd1YnZSbzBmdjJiT0hyM0R3NE1FSER4NmNQWHMyYitZZVAzNzgvUG56ZkRWbnpKaUJMOWxTVlZWMWMzTTdlUEFnaDhPWk4yOWVZbUtpdDdkM0IvdDFkWFZkdFdwVkp4c0p3RS9yaHc5V2JPVElrVFFhcmE2dUxpY25KeTR1N3NhTkcrSGg0ZTNtV3NjR0RCaUFGOE1tL1B2dnZ3RUJBY0hCd1VTSDFNM05iZmJzMlhaMmRyelZORFUxOFFNZEhaMndzTEMxYTllNnVibnQyTEhEMHRLU3QxcHhjZkg2OWV2ZnZIbXpmdjM2ZGxkTENRd01OREV4NmJpUnZPdFhwYVNrRkJZVzRzYzBHazFjWFB6S2xTdnE2dXE0Wk9EQWdmWDE5UTBORFc1dWJyZ2tOemYzK3ZYcnhKcFlDS0c1YytmUzZmU2pSNDlhV2xyMjc5OS96Wm8xbjl2dm9VT0hPbTRZQUFBVGttRGR1WE9ubEpRVVhqMXYzYnAxeWNuSmtaR1J2cjYrWGQyT3VMaDR2Mzc5ZUV2d0hhMzc5ZXRIQkN1SHcxRldWdWFyeGt0Zlh6ODhQSHpGaWhVZlBuemdleWtsSmFXeXNqSWtKTVRJeUtqZDl6SVlERkZSMFk0YnlYdWx3NjFidCs3ZnYwODhsWmFXVGtwS0lwN2lQQlVYRnllNjRYLzg4UWVGUWhrL2ZqeEM2TUdEQjc2K3ZxR2hvYTZ1cnBNblQ4YnJaMnRwYVgxdXYwRkJRUjAzREFDQUNVbXdFc1RFeEZ4Y1hKS1RrejkrL1BoMVcyaHFhbnIrL0RueE5EczdHeUgwN05rekJvT0JTemdjVG41Ky9xTkhqNGc2SmlZbURBYWp1cnI2NXMyYlJLR2pveU8rdFI5ZVZQdnAwNmNORFEwVUNtWE9uRGs1T1RrNU9UbTRtcG1aR2U5dHR6MDlQYjk0OStuNitucWlNLzdISDMrVWw1Y0hCZ2F1V3JWS1JrWUdGMTY3ZGkwbEpXWE5talZTVWxMNzl1MGozbGhhV25yanhvMnhZOGZpdHpjM04xZFhWK1B6WFRoVkFRQ2tFTFpnSlc0SmhkZTAvZ29WRlJWTGxpemhLL1QwOU9SOWV1Yk1tVE5uemhCUEV4TVRGUlVWS3lvcTJ2YnA4SkU0UXVqNjlldjM3dDFydXp0NWVYbmVZSjA1YytZWFc4NTNTRTZuMCsvZXZjdmxjcmR1M1lwelB5UWtSRlJVdEcxV25qMTdsc1BoZkc0UU9UMDluZmRtQndSOWZYM2VrMndBZ0M4U3RtQXRLaW9LRFEyVmtwTDY3YmZmdm1VN1c3WnNHVFpzR0VJb0xpNHVMQ3lNdUtkMFZWWFZ6Smt6TjIvZVBIejRjSVRRblR0My9QMzk4VXM2T2pyWHJsM2ozY2lWSzFmOC9mMm5UWnNXSFIxdGEydXJyYTA5Y2VKRTNwdXB0RFY4K0hCOEVxd0RKaVltdkwxYVdWblpaY3VXYmQrKzNkSFIwZFRVTkNFaElTOHZMeXdzak84R1ZqVTFOUmN1WFBqMTExOC9GOXdlSGg0c0ZxdHQrYmx6NS9UMDlEcHVFZ0NBbDVBRXE0K1BENTFPLy9UcFUwWkd4cUJCZy83NjZ5L2VXUUZmUVZaV0Z0K3FwTEd4VVVaR2hyaHRDYjVWdFphV0ZpNGhqcjc1Wkdkbjc5dTNMeTB0YmRPbVRZTUhENDZPam01cWFrcE1URHg4K0xDTmpZMkxpNHVabVZtN2k4SXNYNzY4azB1anVyaTRMRm15Qkkrb1VxblVJVU9HdkgvL3ZxaW82Tml4WTNwNmVybTV1Ym01dWJ4M0ZUeDc5bXhEUTBQSE4yNlpPM2V1dmIwOThUUTNOM2ZqeG8yZGFRd0FnSmVRQk91REJ3K0l4OW5aMmFkUG4xNnpaczNYclduTnA3Q3drUGRtVUNVbEpYaVdVcnVWMld4MmNuTHl1WFBua3BPVGh3d1pjdmJzV1EwTmpkTFNVb1RRcUZHanRtL2YvdXJWcXpObnppeGZ2bHhGUldYcTFLbU9qbzVFOXVIN1pzK2JONitEMDBjRWIyOXZDb1hTMk5oNDVNZ1JvcEFZaUtpcXFzTGwydHJheEVtMlVhTkcvZjMzMzE1ZVhzZU9IVk5TVW1wM3M3MTY5ZUk5S2RmYTJ0cTVEd2tBOEQrRUpGaHYzNzR0SlNWVlgxLy8vdjM3aUlpSStQajRkKy9lblR4NThodVhDbVN6Mlk4ZlAyNW9hRGg5K2pTZWMvcnc0VVBjalcxYk9TNHVidCsrZmJXMXRacWFtanQzN3JTenM4TjdsNVdWRFFnSUdEaHdJTDZYd2ZidDIxZXVYQmtWRlJVVUZIVDA2RkVQRHc4OE9SOWZtbVZqWTlPM2I5OHZ0Z29oSkNJaUlpY254emY0MEJaeDhxcC8vLzRoSVNGejU4NzE4dklLRGc2R1d3WUEwSDJFSkZneENRa0pBd09EN2R1M0Z4UVVwS1dsUFhyMGFNU0lFZCt5d1FjUEh0VFYxVGs3TysvZHUvZmR1M2ZyMXEyN2UvY3VuVTVmdUhEaGtTTkgrRVllTFMwdEh6OStQSDc4ZUhOemM5N3h6ZGV2WDY5ZnYvN1FvVVA0UGpFSUlTVWxwVldyVnJtN3UwZEZSZW5vNk9CQ0hLeTRsMjFuWjRkUGVmSFp2SG16dmIwOURsYmloTkt6Wjg4cUtpcmFWdTdUcDQrdXJpNXZpWnFhbXJlMzk1bzFhKzdmdno5cTFLaHYrV1FBQUIwUXFtREZxRlNxa1pGUlJrWkdYbDdldHdScmEydHJZR0NnbnA2ZXI2K3ZrWkZSY0hEdzJiTm5TMHBLOXUvZkh4WVc1dUhoRVJ3Y3pGdS91Ymw1K1BEaGxaV1ZDUWtKdk9WcGFXa2NEaWN6TTdQdEREQk5UVTNpUHJKRlJVVVVDZ1dmMm1wb2FMQzN0K2U5QnFHeHNYSDkrdlU0VXZIMGZtSzY2NGtUSng0OWVpUWlJc0s3WlJhTDVlN3V2blRwVXI0OTJ0all5TXJLUG56NHNOMWc1WEE0dktzTndGQUFBRjlIQ0lNVmh4UkNDRjh5OE5XQ2c0TnpjM01QSGp5STc3ZHFhbW82Yjk0OFkyTmpLeXNyRXhPVGhRc1hMbG15aFBmcXFjek1UR0tHQUsrbXBpWThSNnJkU1VzZUhoNzRDdFRNek16ZXZYdUxpWW5oOHQ2OWU1dWJteFBWOEdSWTNnM3lYa2RnWldYMTExOS84VzRXWHdMUUxqazV1ZXJxNm5aZkNnZ0lDQWdJK1B4SEFnRG9GQ0VNMWt1WExqMTQ4SURKWkg3TExaMFRFeE92WHIzcTVPUmtZV0dCTzRDK3ZyNzE5ZlZlWGw1NHpPSGd3WU1iTjI3azdTZmEydHJ5bmtQRGlvcUtKaytlcktPams1MmQ3ZXZyKzdtOGEycHFTa3RMNDAzUzh2SnkzalZaZUVjRzhLU29yNXZTWDFKU1VsQlE4TGx4QUh0N2UxTlRVNzVDWWdRREFOQkpRaEtzZi96eEI0MUdhMjV1TGlnbytQRGhBNVZLOWZiMmxwZVg1NjBUSEJ3Y0V4UERXK0xsNWNVN09aL1hzR0hEeE1YRmlUdFgzN2x6NTlXclY1czJiU0xHVlJVVkZZOGRPNWFZbU5oQnF4b2JHMzE4Zk1URXhBSURBdzhjT0xCNTgyWW1rMmxqWTlPMjV0MjdkK3ZxNm5qdklIdjI3Tm16WjgrMnUxazhvdHJ4ZkZnKzI3WnRlLzc4dVlTRVJGNWVIa0xvMTE5L2JWdkh3OFBEek14c3dJQUJuZDhzQUtCZFFoS3N5Y25KK0lHTWpJeU5qYzNjdVhQYlhvemZkbEcrRHRaSWxaT1Q0MTNuYWR5NGNicTZ1bTNueWVNUnlYYm5IdVRtNXZyNit1Yms1UHoxMTE4S0NncmUzdDZWbFpWcjFxeHhkblpldVhJbDd6QUZsOHVOaUlnUUZ4Y25NdGZDd3NMR3hzYkt5b3B2bTNpZ0FGOXh5enNycTd5OC9OYXRXN3cxbTV1YmVaK2FtSmprNWVXMXRMUllXRmhNbno2ZE9HUEdxK09WQTV1Ym0xa3NGdDlJN3JkSVMzOHRLaW9xS2lJaUtTa2hMeWNIdDNvRXd1U0hEOWJZMk5ndjF2SHg4Zkh4OGZuR0hSR3BpcSs0bDVDUW9GQW8wZEhSZERxZDl6SUJOcHVkbXBvYUh4K2ZsSlFrTHk4ZkdCaG9abWFHVCtJZk9IQWdLQ2pvNU1tVFY2OWVIVE5taklPRHc4Q0JBNldscGUvZnYvLzY5V3QzZDNkaUVIYjM3dDI4dXo1NjlDaStUa0ZFUk9Uang0K3hzYkg2K3ZyRUVsYjRhbFNpYzkydUNSTW1USmd3b2FzL2NsNWVYa0pDZ29pSUNJUEJTRTFOWmJQWmJSZUIvV3JMVjIrZzBXZ01PbDFVVkZSVFUzM1lVQk1yODVGOXRMODhoeGVBNzk4UEg2dzlqMHFsN3QyN0Z6K1drSkJZdFdvVnZzQTBQajcrOHVYTDZlbnBMQlpMVGs1dXdZSUZycTZ1eEpwWStJMi8vLzY3bzZOamVIaDRmSHo4bFN0WEVFTEd4c2FIRHgvKzVaZGY4QUtwN1Nvc0xDVG1xOUxwOUVHREJ2M3h4eC9FcTlMUzBoTW5UdHl5WlF2dlcxeGRYYi94M0IzK01nZ05EY1dQeGNYRm5aeWN4b3daODQzYkpGUldWclZ5V2x0Yk9TMHRMV25wcjY5YyswZEVST1NYY1dNWHpKMnRwNnNqU2w3WEdJQ2VSOEVYL0FoS3pOK1gxbmx2UWdpNU9FL2NzNk1MUzk5M0h6YWIvZkhqUjNsNStZNVhIbUd6MlZ3dWwxanlDbC94dFdQSERpTWpJM056Y3pNenM0NFhxV3BvYUVoTlRVMUpTYkd4c2NGZDJvNXhPSnltcGlZT2h5TW1KdGJ6Yy90YlcxdjVWaDdva20wNzk1eU1QSTBROHZWYU44L3RQMnQ3LzNQemRrTkRRME5EWTBGUjhmdUNnbmQ1K1JtWjJRZ2hjVEd4ZVc0elo4MllwcUlNSjgzQWp3cDZyUHpvZExxYW1scG5xdkdWOU8zYk55d3NySk43RVJjWHQ3S3lhanVLK2psVUtwV1lpZFh6dmlWVlA4ZHU5SDhHbExsY2JsMTlmVVhGcDZlcHp5TE9uRXQvblJsOE1xS3dxSGpiWmg5Sm52NCtBRDhRdUs0UkNCaUZRcEdTbE5UVzZqMWxzdFBKb01CUkZpUFo3TmE0eTFkRHdpTGhDZ1h3ZzRKZ0JkOFJCWG41dy92M3pKZzZtVTZuSHp3Y0ZISDZuS0JiQk1EWGdHQUYzeGR4Y1hIUHBZdEhXMXNoaEU2ZnUxQlFXQ1RvRmdIUVpSQ3M0THVqcEtnd2UrWjBLU21wd3FMaVczZnVkK0lkQUh4ZjRPUlZOL3I0OGVQVHAwLzVDZ2NPSEVpbFV2SDlZOXJWcjE4L0V1ZmgvNkNHbWhvUDZOLzMwWlBVZjErOG1PYmlCUGVHQVQ4V0NOWnVsSldWNWV2cmEyaG9TSlJrWjJldlhMbnkrZlBudlBkUzVYUHAwcVhPVEVzUWJxSWlJdE5kSmoxNmt2b21KN2Voc1JHQ0ZmeFlJRmk3RjRQQkNBOFBKNTVPbmp3WkliUjkrL1p0MjdiaGt0R2pSM3Q0ZU15WU1ZT284OFc3dFA0a0xNeEhVQ2lVbkxkdkd4b2E1THV5TUFJQUFnZi93OTJMeStYeUx0U0NWeWVnVXFsNGtuOVZWVlY5ZmIyT2pnNkVhVnRLaWdvcXlzb2ZTa29LQ29zMWVLN2ZCZUQ3Qi8vUDNZdk5acDgrZlpwNGl1OUZpRmMrYldwcXdrL2o0K09KSlZSV3JGang3WmVpQ2cxTkRiVVBKU1VmeThvRTNSQUF1Z2FDdFh1MU94U0FFTHA0OGVLRUNSTk1URXhNVEV4d1NWVlYxZkhqeHhjc1dBREJTcENUbFVVSWxaVzNjK01aQUw1bkVLemRDNi9VUnp6RmExUmorSkpXWDE5Zk9UbTUxYXRYRnhRVUhEOStYRUROL0U3aFc5aFdWSHdTZEVNQTZCb0kxbTVFcFZJbEpDU09IVHRHbFBqNCtQQmRkODlpc2ZBOXJFQmJERG9kSWRUY0RKOFArTUZBc0hZWEZvczFjT0RBK1BoNDNzS1RKMDhTZHdQRXVGd3UzSWthQUNFRHdkcGR6cHc1RXhnWTJPNUx2UGNjcksrdi83cTdWd0VBdmxzUXJOMWw4dVRKdHJhMitQSGJ0Mi9YcjE4ZkZSV0ZsLzVUVWxJaXFoVVhGL1BlNmdvQUlBVGdJTFM3eU1qSWNEZ2NGeGNYR28ybXFxcUs3MUtscmEydHJhMU4zRmFncEtTa3NMQlFXVmxaMEkwRkFKQUpnclViVlZkWDg5NU8xYzdPenNMQ3dzTENvcXlzN01DQkEwWkdSbmdtbHErdmIyeHNySktTMHBFalI3cDA3MVVBd1BjSmhnSzZVWDUrUGtMbzNidDNlQ2FBbjUrZnFLZ283c3dPSFRyMHpKa3owZEhSM3Q3ZUh6OSszTEZqeC8zNzl6ZHYzZ3pMcndBZ0JDQll1MUY2ZWpxTlJ2UHg4Vm01Y2lWQ2FQanc0Zmc4VldwcWFraEl5T1BIajkzZDNWMWNYQkJDUTRjTzlmTHkrdTIzMy96OS9kdmV1QnNBOEdPQm9ZRHUwdExTY3ZQbVRYZDM5NzU5KytLYmIrUDdOcGFWbFhsN2U1ZVZsUjA2ZEdqcDBxVzRzcG1aMmFsVHB4UVZGVDk5Z3Nud0FQendvTWZhWFM1Y3VGQlZWVFY2OUdoM2QvZWdvS0RJeUVoSFI4ZWhRNGVxcUtqWTI5dXJxS2dVRmhaR1IwZmo5UVN3NGNPSHA2YW1Ta2xKRWRlNUFnQitSQkNzM1VWRFE4UFkyTGh2Mzc0SW9lWExsMCtiTnUyZmYvNTU4ZUxGczJmUEtpb3E2dXZybTV1YjJXdzJoOFBCTjlTajBXaDBPcDFPcDArYk5rM1FiUWNBZkJNSTF1NWlaV1dscWFsSlBGVldWbloxZFhWMWRSVm9vd0FBUFFIR1dMdVJ0cmEyb0pzQUFCQUFDRllBQUNBWkJDc0FBSkFNZ2hVQUFFZ0d3UW9BQUNTRFlBVUFBSkpCc0FJQUFNbStsM21zcnpPekRodysxb21LNE1mejdFV2FvSnNBUUkvNlhvSTFJek03SXpOYjBLMEFBQUFTQ0hnb1FFRmVUa1pHV3JCdEFEMURVbEpTU1VsUjBLMEFvQ2NJdU1kcVlqeDQweC9yM3hjVUNyWVpQYW0wNUVOcHlRZUVrTEtLcXJLS3FxQ2IwM1BVMVZVdFJ3NFhkQ3NBNkFrQ0RsWnBLYWxKamhNRTI0WWVkdno0OGNRcmx4QkNpeFl0OHZEd0VIUnpBQURrZzFrQkFBQkFNZ2hXQUFBZ0dRUXJBQUNRRElJVkFBQklCc0VLQUFBa2cyQUZBQUNTUWJBQ0FBREpJRmdCQUlCa0VLd0FBRUF5Q0ZZQUFDQVpCQ3NBQUpBTWdoVUFBRWdHd1FvQUFDU0RZQVVBQUpKQnNBSUFBTWtnV0FFQWdHUVFyQUFBUURJSVZnQUFJQmtFS3dBQWtBeUNGUUFBU0FiQkNnQUFKSU5nQlFBQWtrR3dBZ0FBeVNCWUFRQ0FaQkNzQUFCQU1naFdBQUFnR1FRckFBQ1FESUlWQUFCSUJzRUtBQUFrZzJBRkFBQ1NRYkFDQUFESjZJSnVnSkJyYlcydHFLaGdzOWxFU1UxTkRaZkx4UStLaTR1SmNocU5wcWlvU0tQUkJOUlNBQUJwSUZpN0Y1ZkwzYlZyMTl1M2I0bVNtcG9hL0NBaEllSGV2WHRFdWFxcWFtQmdvQ0RhQ0FBZ0dRUnI5NkxUNmJxNnVuZnUzT0V0cEZBb09HR0prRVVJalJvMWlrNkhYd2NBd2dER1dMdmQrUEhqY1pMaURpd2ZYRTZsVWgwZEhRWGFUQUFBYVNCWXU1Mk9qazcvL3YwN3JxT3ZyNitucDlkVExRSUFkQzhJMW01SG9WQWNIQno0U29nK0xHWnZiODlYQWdENGNVR3c5Z1FyS3l0SlNjblB2U290TFQxeTVNaWViUkVBb0J0QnNQWUVPVGs1QXdPRHo3M2F2MzkvSlNXbG5tMFJBS0FiUWJEMkJIRnhjVU5EUTc1VFdQZ3hoVUl4TWpLU2xaVVZhQU1CQUdTQ1lPMEpWQ3JWME5CUVNrcUtieUNWUXFHSWlZa1pHaHBTcWZDTEFFQjR3UDl6RHpFeU1wS1RrMnRiTGlFaFlXUmtKSWdXQVFDNkN3UnJEMUZRVU1BQlNuUmE4UU1URTVOMkF4Y0E4T09DWU8wNUV5Wk1hRnZvN093c2lMWUFBTG9SQkd2UE1UWTI3dFdyRjM2TXU2dXFxcXJHeHNhQ2JoY0FnR1FRckQySHdXRFkyOXZ6amdhTUdUT0d3V0FJdWwwQUFKSkJzUGFvY2VQR2lZaUk0TWRNSnRQYTJsclFMUUlBa0ErQ3RVZXBxYW4xNmRNSFA5YlYxZFhRMEJCMGl3QUE1SU5nN1ZFU0VoS0dob2I0c2FHaElWd1hBSUJRZ21EdFVRd0dZOUNnUWVMaTRrd20wOGpJaUJnV0FBQUlFMWhadWFmaEt3VllMQmJSZFFVQUNCa0kxcDZtcGFYVnUzZnZwcVltVFUxTlFiY0ZBTkF0QkJ5czFkVTFDWWxKYjNQekJOdU1Ic1pxcFhCcG90dDJCUWk2SVQxS1MxUGpWNGR4OG5DWkdmZ0pDRGhZbno1N3ZpdmdRRjFkbldDYklSaDNId2k2QlQxS1hGeE1WbGJHY2NJdmdtNElBTjFPd0NldnFxcXFmOUpVL2ZrME5EUldWRlFLdWhVQTlJVHZaWXgxcU1tUWFTNlRCTjBLMEMzaUU2N2VmNWdpcUwyWGxWZmN2SDIzcFBTam9Cb0F2Z2VLaWdwamJVY3AvL2VhOHU3MnZRU3JWbS9OS1pQZ05xWENLU016UzREQmVpM3ArcDc5Z1hCZzlKTVRFMlBXMXRZdFhqQzNaM1lIODFpQmtNdDdYd0NwQ2hvYldXOXozL1hZN3I2WEhpc0EzVzJVcGJueFlGaFQvS2Z6T2lQcm41dTNlM2luRUt6Z1p6SEswdHpkYlphZ1d3RjYyb1dMOFQwZnJEQVVBQUFBSklOZ0JRQUFra0d3QWdBQXlTQllBUUFKVGovbkFBQWdBRWxFUVZTQVpCQ3NBQUJBTWdoV0FBQWdHUVFyQUFDUURJSVZBQUJJQnNFS3ZsOFNFdUlJb2RxNldrRTNCSUN1Z1dBRjM2OWV2WlFRUXNVZlNnVGRFQUM2Qm9JVmZMOTZLU2toaEdERlAvRERnV0FGM3k4VjVWNDBHaTB2LzMxcGFabWcyd0pBRndoL3NKYVhsejk4K0xDcXF1cnIzczVtczlQUzBrcExTeEZDVlZWVkhBN25pMitwcUtnb0tXbi82TFcwdEJSdml0ZmJ0Mi9iMXN6TnphMm9xUGk2TmlPRXFxdXJQOWZVVDU4K25UeDU4c09IRDErOThSNmpxcUtzcmRXYncrR2N2eGduNkxiMEJCYUwxZERRMEptYVZWVlZ0MjdkWXJQWnZJWHA2ZW54OGZINDhlZitBanZlKzFmL213QStRaGlzOWZYMXVibTV4TlBIang4dlg3NDhLeXZyNjdiVzFOUTBkKzdjaXhjdklvUThQVDNkM2QzNWNqQWxKZVgwNmRPOEpmdjI3VnU1Y2lYeHRMeThuTVZpNGNmYnRtM2J0bTBiYitYSGp4OVBtemJ0L3YzN2ZQdGR2WHIxMnJWclA5ZXF3c0pDL0IvNC9QbHpNek16M0tUaTR1S2NuQnhjd2RQVGMvbnk1ZTIrdDZ5c0xEQXc4UDM3OS9ocm8rcExPdjFSa1U5UlFkN00xQmdoZENYeG41STJYMGhDcHFTa1pNS0VDZnYyN2V0TTVYUG56cTFkdS9iZHUvOVpZUFRHalJ0YnQyNWxzOWw1ZVhsT1RrNDdkKzRrL3ZEdzloLytyOWJXVnVMVjV1Ym1tVE5uenBrenA0T2RzbGlza3BLU1Y2OWVYYjkrL2VUSmswK2ZQc1diVGZ0ZjJkblpYL1VCQ0JVaFhEWXdMaTV1Nzk2OWdZR0JJMGVPL1BhdE1abE1oQkR1L1czZHV0WGIyM3ZtekpuZTN0NU9UazY0UW54OGZHSmlJa0pvNXN5WmJkL2UxTlEwYnR5NDlldlhUNTgrdmQzdGg0ZUg2K3ZybTV1YmM3bmM2dXBxWEppWGwxZFFVT0RvNk1pWGEwd21rOGxrc3Ruc1JZc1dEUnc0Y1BmdTNWd3VsOFBoY0xuYzV1Ym05ZXZYTnpZMlJrZEhJNFN5czdNWExGand4Wi91K2ZQbml4WXQ2cUFDbFVwOTh1VEpGN2ZUVFpoTTVsQVQ0NHZ4Q1RsdmM4OUV4NnhZc29oR293bXFNU1I2OHVRSmIrUVJwS1dsWTJOakRRME41ZVhsMjc2cXE2dXJwcWFHQXk0Nk90cmUzbDVmWDUrM0F2NWJiV2xwMGRiVzl2ZjMzN1JwMDcvLy9oc1VGSVMzZHVmT25kMjdkL1BXdjNmdm5yaTRPSDRjRmhhV241K1BFRHAvL3Z6VXFWUDVkcDJhbXJwMDZkS1dsaGFpaEVxbERoMDZkT2pRb2RIUjBlSGg0YnlWdGJTMFltTmp2K3FERVI3Q0ZxeGNMamNtSmtaVlZYWDQ4T0drYkpCR285SHBkSHpNcGEydEhSNGVmdno0Y1RNek02TENsaTFieXNySzl1N2RLeTR1N3V6czNLV052M2p4SWlVbEpUQXdrRXFsVmxWVmpSa3podmZWdzRjUEh6NThtTGRrMmJKbDgrYk5vOVBwNjlldlg3MTY5ZW5UcHcwTURQQkxlL2Z1emMvUER3c0xvOUZvTDE2OGFHcHE2dnduY09EQUFTVWxwYmJsdDI3ZE9uSGlSSmQrSXRMWmpiYTVmRFh4OXQzNzBURi9HdzRjWURmYVJyRHRJWVdmbjE5aFllSG5YdjN6enovYkxTZStucU9qbyt2cTZwWXNXY0pYQVFkcmMzT3ptSmlZalkxTldGall4WXNYNVhqdU4wNmxVdS9jdVlNUTJySmxTM3A2dXBpWUdDNS84dVJKU0VqSTdObXpXMXBhOXUvZmIyUmsxTDkvZjk0dHM5bnNscFlXTHkrdlBuMzZ5TWpJeU12THk4bkpVYW4vT2Q2VmxaV05qSXpFajQ4ZE8vYnExYXV2L0Z5RWlMQUY2NDBiTi9MeThpWk1tUERpeFF0Y2dyK0gzNzU5S3lJaXdsZFpXVmtaZHdFUVF2Nysvc1Q0RkI4Mm0zM3ExS2x6NTg0UkpmalkvKysvLzFaU1VoSVJFZG16WjgvczJiTXZYTGp3NjYrLzB1bGQrRWdQSFRvMGN1VElrU05IVmxWVkpTVWxoWVNFME9sMExwZnI2ZWs1Y09EQXRuMUpGUlVWL01EYTJ0ckh4OGZHeGdiL2RBaWhRWU1HbVp1YjYrcnFJb1J1Mzc2TkVIcnc0RUZ5Y2pMeFhqMDlQVkZSMGFLaUlqekllKy9ldllLQ0Foa1pHWVNRam80TzhUbndldjM2ZGVkL2xtNGlKU1hwdDluSGVicHI2Y2N5NzAxL2xwV1Z6NXcrUmRDTitsWnhjWEVJb2FkUG4ycG9hRFEwTkZ5K2ZObmUzcDQzeTZxcnEyTmlZaFFWRlIwZEhaOCtmYXFzckt5cHFZbGZxcXVyQ3c4UG56eDVzcWFtWmtaR2hweWNIUEZYZ1lPeXFxcXFzcklTaitaTFNVbjUrZm1abUpoTW1EQUIxeEVYRjI5cGFVbEpTWmsrZlRxRlFzSC9JRjVlWHYzNjljTkovZkxseTJYTGxwMDRjVUpMUzR1djJTTkdqQ0NhUWFpcnE1T1FrQ0QrZmlRa0pMcnRZL3VSQ0ZXd3RyYTJIanQyRENHVWtKQ1FrSkRBKzlMZXZYdmIxbmQxZFYyMWFoViszTlRVaEJCcTk3ZzRORFJVUTBQRDN0NmVyNXo0RzVLVmxUMTgrTENTa2xLWFVqVXhNVEV0TFEzbjllSERoLy81NTUrNHVEZ1pHWm1VbEpTYW1wcFpzMllaR2JWL0g1SEl5TWhIang0aGhHN2V2RmxiVzRzUTJyRmpCejZtUzA1T1hydDJiV0ppb3FLaTRzMmJOM0g5TjIvZTRIL1J0Mi9mNGc0TFF1ak1tVE40S0JaM1dObzk5bnp6NWszbmY1enVvNmFxY21SL3dLcjFQa1hGeGR0Mjdzbkl6RnF5YUlGeUx5V2l4L1NEOHZUMFhMcDBxYkd4Y1dscHFZZUhoN3k4dkwyOS9iQmh3MjdjdUJFZkg2K25wN2Q0OFdLRTBNYU5HeWRObWtUOFpZYUVoT0N4b05iV1ZsOWYzK2JtNWlsVHB1RHZTenpVUG5ueVpGeVRUcWNyS2lxcXFLandkVDlUVWxMcTYrc2RIQnp3cjNqSmtpVVNFaElIRGh6QVBZOURodzR0WExod3pwdzVmbjUrbHBhV3ZHLzgrUEVqTVJSRHBWSnhvR2RuWnlzcksvZlVaL2JERUtwZ2pZcUtldmZ1M2Z6NTgzbEhWMU5TVWtKQ1F0YXNXVU1jTlJQNC9pQkVSVVhkM056YWJqWXVMazVEUTZQZGx3aTllL2Z1VWxNckt5c0RBZ0xjM055MHRiVXpNek12WHJ5NFpzMmFoSVNFMHRMUzFOUlVLcFdhbkp5Y2twS0NFREl3TUJnL2ZqenZlMVZVVlByMjdZdEgwL0JnbHJhMnRxeXNMRUpJU1VucDVzMmJwYVdsL3Y3K1k4ZU94YWZPeG8wYnQyVEpFbUpRT0NzcmErYk1tVWVPSEJrK2ZEZysvOEEzOUViZ1Bia2hXS2JHZy9mdDNyN0ZiOWZyekt4VDV5NDhTSGs4MFdIOEtNdVJBL3IzSTQ1bmYxQUdCZ2JidDI4dktTblp2WHYzaVJNbjhOaUxsWldWcjYrdmdvSUNYK1hNek16VHAwK3ZYYnRXVmxZMlBqNyszYnQzTzNmdWpJbUpxYSt2VjFaVzF0WFZMUzR1OXZUMEhESmtpSXFLaXFLaVlydmZQZGV2WHg4d1lFQ2ZQbjJ1WExteWE5Y3VKU1dsSTBlT0VOK3Nzckt5SVNFaDY5ZXY5L1QwSERkdTNPTEZpNG0vYlE4UEQySWpUQ2J6d1lNSFQ1NDhTVXRMVzdGaUJWSE9ZREFxS3l0WkxCWWVsL2hwQ1Urd3ZudjNMaWdvcUgvLy9vc1cvYzhwRGp5dlNGZFgxOWpZK091MkxDRWh3WHViejZ5c0xGVlZWV2xwNlJjdlhoQW43bWZQbnQxeDh2SzVkZXZXcDArZnpwMDdkL3IwNmVibVppMHRyYWxUcHg0NGNPRDE2OWNaR1JuOSsvZkh4L2pQbnordnFLamdDMVk3T3pzN083dUtpb3ExYTlmaVBuSkJRY0hnd1lPZG5KelliUGEwYWROdzV3SlhMaXNyUXdpcHFxcDIwSmp6NTg4VGgzSkpTVW54OGZHQmdZRzRPNE83eGdKSG9WQk1qUWNIQmU0N0VSWjE0ZS80dlB6M1I0NmZPSGZob3B5c2pLWDVDTE9oSm5xNk9qcmEvSWV1UDRSTGx5N0Z4Y1U5Zi81Y1IwZG42ZEtsdHJhMno1NDlpNDJOL2VXWFg2eXRyZm0rOCtMajQxdGJXMCtlUEJrVUZGUmJXenRzMkRCN2UzdmlXQ290TGUzZXZYc0dCZ2FEQmczcVlJLzM3OStmTUdGQ1ZsYlc1czJiaHc4ZnZuVHAwbzhmUC9KMk1uSnpjN2RzMlpLUWtCQVpHVGwxNmxRaVdNUEN3b2cvSkFxRmN2WHExVjI3ZGlrcksvT2VXaGc4ZVBDcFU2ZHNiVzFGUkVSOGZYM3h0L3RQU0VpQ3RhNnViczJhTlZ3dWQ5T21UVjk5NHJpcHFTa2lJb0szWk9USWtmcjYrdExTMHNUWmVTNlg2KzN0M2RUVUZCOGZyNnlzUEh2MmJId2czOWpZeVB2R0x4NmxXbHBhcmx5NVVrNU83dkhqeHdrSkNhdFhyNmJUNld2V3JBa0xDM3Z4NHNYKy9mdngyU1JYVjlkMjMzN3YzcjBkTzNZb0t5di8rZWVmcTFldjF0Ylc5dlB6ZS9ic21iR3hjWDUrdm9LQ0FqSDJpaCtvcTZ0MzhrTW9MeThuaGxiMTlmWDV6anNMRUlWQ1VWZFQzZVM5YnVaMGw1MEIrMSsrU3ErcHJmMVlWcGIxSnVkRWVCUkNpTUdnOTlIV1VwQ1RsNUFRbDVTU2xKS1FzTFcyc2pRZkllaUdmNEdFaE1UZ3dZTzl2THowOVBSd1NaOCtmU1pQbnB5VmxaV1RrNE9IUVFrVEpreVFsNWVYa1pGSlRFeE1UMC8zOXZibWZSV2ZwNnFzck9SeXVlWGw1WVdGaFFVRkJZV0ZoWVdGaGJ5VC9HYk1tQkVXRmpaOSt2VFEwTkNCQXdjZVBYbzBKaWFHR0RoQ0NDMVlzTURUMDNQQmdnV3VycTY4SFU5WldWbEZSVVhpYVdabXBxU2s1TjY5ZS9GSVBUWm16SmlEQnc5bVpXVlJxZFFoUTRhUS9XbjlNSVFrV05sc2RtTmpvN2UzZDc5Ky9iNTZDeXdXS3lnb2lDaGhzVmp5OHZMNit2cEtTa3JFM05VSER4N2s1ZVV0WHJ3WWp6SGhYaXJ2dS9DbXZqalkycXRYcjlteloxZFdWdTdidDgvZTN0N0N3Z0tuZG14czdJZ1JJOW85UjQ5eE9Cd2ZINStrcENRSEJ3Y2ZINStNakF5RTBQVHAwMGVQSHIxKy9mcmV2WHV2VzdjdU56ZVhPRE9ibVprcEl5UFRObGdURXhORFEwTi8vZlZYaEJEdjlCbzJtODFtczNGN0NLZFBuMjU3S2tOUTlIUjFUaHc5K09oSjZ1bHpGeDQrZWx4UjhRbVh0N1N3czkrOFJlai9aeG1uUEhrYWRLaFQwMElGNWNDQkEvaFA1ZXpacysxVzJMRmpCKy9FcklFREJ3NGNPUERObXpjQkFRR0xGeS9XMU5Ua2NEakZ4Y1U0US9IMDdUMTc5bXpkdWhXL2k4RmdxS3VyYTJobzhIN3h6NTA3OTlLbFM4ZU9IZU9iVXQxV3g0ZnpIaDRlSWlJaXljbkp2T2RJTVdWbFplSjAyYzlKU0lJVlQvaVFsSlJzZTJZL0xTME5qN1MydmVScDRzU0pSSStnb2FGQlhWMmRlSHR1YnU3VXFWUHhINWF5c25KNWVYbExTd3VEd1FnUEQ1ZVdscDR4WTBZSGpXbHBhV2s3QTZGZE8zYnN3Tk5vOE5PVWxKU2lvaUlYRjVlQ2dnSmMwdHpjM05EUVFEeVZrcEtTbFpYVjE5Y2ZPM2JzbURGanNyS3k3dDY5NitQam82S2lvcWVuRnhVVnBhbXBTYVZTNCtMaUxsNjhXRmxaS1NjbjkrVEprNEVEQnhJZnhkMjdkL0g1cTdpNE9BTURBend6Y2MyYU5jU0p1QWNQSHR5NmRXdmp4bzI4N2VUdHB3aGNYdjc3dzhkQ1VwKy9xS3F1Ym1qNC83eGdNT2hhbXBxeXNyS1NFdUxpRXVLUzR1S0RCeGtxOStvbDBNWjI1TUNCQTN5ajJBRUJBWldWbGR1MmJlTTk0dm56eno4WkRBYnh0TG01MmRmWFYxOWZIeDh0MWRYVjRkRnpKcE9wb2FIQlpESVZGQlJ3NW1wcWFuSzVYSGw1ZWI1OFpEQVlreVpOT243OHVLK3ZMLzVENWVzWGZ3N3ZuNzJDZ2tKb2FHaE1URXgxZGJXVWxCUnZDNnVycXdjTUdBREJLaVFVRlJWTFMwdTNidDNhN3F0OHgvaVlnNE1EMGJWc2FHakE1Mzh3L0EyUFQ3WDM3dDJidytFVUZoWm1abWIrKysrL0sxZXVsSktTNnFBbE5UVTFIVmZBTGx5NGNQUG1UVDgvUHpFeHNheXNyT0xpWWh5Z0J3OGVQSGp3SUZHTjkxUStuc1pnWjJmWDFOU1VrNU96WjgrZWdvS0Nnd2NQRXRjdk5qWTJTa2hJakJneGdzUGgzTHg1MDhMQ0lqTXpjOE9HRGZqVkxWdTI1T1hsNFpUY3VYT252YjM5bFN0WEtCU0trNU1UTVg1U1VWRngvLzc5Y2VQR2ZiSDlQYSttdGpibVlueGcwSW5LeWtvcWxTb2xKYW1vSUQvSzB0eDh4TEIrZmZYMWRYVUUzY0F1S0NzcjQvdTZldi8rZlc1dXJydTdPOStBT0o3TDNOVFVKQ29xaWhEYXRXdFhmbjcrMGFOSDA5UFQzNzU5UzZmVFQ1NDhxYWFtaHJlMmZQbnltcG9hRnhjWC9LdWNPM2V1bXBvYTN4RVZRcWhmdjM3TnpjMWxaV1hxNnVwNHZsUm4ycnhxMVNyaWZKcW9xS2lpb3VMbHk1ZnQ3T3ltVHAyNmRPbFNYRjVRVURCbHloUytJNTZma1BBRUt6NG5qaStDNG5YejVrMS9mLzlkdTNhMVBYbkZlOEJlVWxLaW9hRkJQTVVYak9JL09Id0tQams1T1RRMFZGZFg5N2ZmZnZ0Y0EvQWd3S2RQbjc0NFNhQ3VybTdQbmowVUN1WG8wYU8rdnI1Y0xsZFhWemM0T0hqVXFGRzgxZGF0VzZldXJrNWNJSXNIczFhdlhzMTd6Uzd2RlY4QkFRRzJ0cmJLeXNxREJ3OCtkKzVjVVZFUmhVSVpQWG8wZm5YT25EbjYrdnBVS25YbXpKbDRVeFVWRlRJeU1od09oN2hFbmNWaWNibGNQSXNMOTJVa0pTVTcvbGw2UnM3YjNEMzdBLys1Y1FzaHBLbWhQdGJXZW95dDlaQkJSdUxpUCtTc2dOMjdkL01PYXhKQ1EwTkRRMFBibGtkR1JnNFlNQ0F0TFEzUGdaMC9mejRleW5kMWRYVjBkQ1NxR1JrWmhZYUdOalkyMXRmWDQ1QnRkOG9IN2luajQ1WEt5a3JlUWRJT0RCOCtuRzhlcTdpNHVJT0RRM1IwdEp1YkcrNU03TjY5VzE1ZUh2ZW1mMlpDRmF4VUtyWHRRU3ZPQldscDZRNk9aMXRhV2dvTEMzbG43ZFhVMU9CRGJ6eC9YbFpXOXNDQkExd3VkLy8rL1o4YlAzMzc5bTFVVk5UR2pSdUxpNHUvZUJ3a0tTbHBaR1NrcUtpb3BhWFZwMDhmTFMwdFRVMU5TVWxKR1JtWjJOall0TFEwYjI5dkJvTWhLaW9xS1NrcEpTVzFiZHUyK2ZQbmEydHJJNFNDZzROcmEydmQzZDNOek14V3IxNk5OeGdmSHg4VUZFUk1LWnM2ZGVyR2pSdno4dkxHakJsRC9PRDRQNUIzMllUYzNOemV2WHRmdlhxVnI2ZHZZL09mQzV4VVZGVDRaZ1FMUlBycnpBMGJ0MlJrWllzd0dFNi9PbmdzbUt1bHFkR2xXY1BmSVNNakkzOS9mL3dZWDI5NjZOQWhIUjBkTHBkYlhGeE1ESXRuWldVUnM2MjF0YlVkSEJ6NjlPbEQvTTN3SG9QajA2MUJRVUdSa1pGLy8vMTNZMlBqb1VPSGRIVjFlUWY5ejU0OTI5RFFjTzNhTlVsSlNkeVR5TTdPeHRlVmRCS0h3eWtyS3lzdExXVXdHQVlHQmdzV0xMaDI3ZHJXclZ2MzdOa1RHQmo0OE9IRGdJQ0FuM3l1bGJBRjYxZkx6TXhzYlcwbHhpTHhNbFI0NkJibjlZQUJBeDQrZkxoaXhRcERRMFBjclZ1d1lNSHExYXROVEV5SUxadzdkMjdRb0VFNU9Ubk56YzE4VTdMYkZSSVMwcmF3dnI3K3lKRWpnd2NQNXYySGtaYVdMaXdzM0xKbHk1a3paMFJFUkdSbFpZOGZQLzdwMHljVEV4TjVlWGtxbFZwY1hCd1JFVEZseWhUaUlodzdPN3M5ZS9aVVYxZDNQQno4NXMwYmZPcVdTcVZHUlVYeHZYcmh3b1dIRHg5KzhRZnBidFUxTlI3TFYzMzRVQ0lsS2JuUTNXMkp4L3dmL2RJQWpNRmc0RWxPOWZYMWtaR1JMaTR1ZVA3MStmUG5qeDQ5R2hvYWlyOUhpWmx6K0p1ZTc0eFRYVjBkazhra2N0UEF3RUJhV2pvb0tLaFBuejdIangvWDBOQjQvUGl4dDdmMzBhTkhjWVg4L1B6WTJGaDFkWFUvUHo4Nm5mN2h3NGY4L1B6UExXU0IzYng1TXlrcENTSDB4eDkvVkZaV2xwV1Y0UTZ2azVQVHBrMmJsSldWTjJ6WXNIbno1b1VMRno1NzlzelQwOVBXMXJaN1ByQWZDUVFyd2hmQzRpbDQrQUdGUWpsMzdweUtpZ3FlTlgzbzBDR2NMOFNrcTNmdjNtVmtaRlJXVnVML0NoYUxkZmZ1M2FGRGgvcjUrWVdIaDR1S2lnNGVQTGlUdXk0cEtjbkl5SGoxNmxWK2ZuNUFRTUNKRXlmcTZ1cUlIZ3JHWURCOGZId1dMRmdRRkJTRTE2eHlkM2VuVUNoNzkrNk5qSXljUG4zNnVYUG5ORFEwZUplekNnd014RXU2NEFVSDhQQWNuOUxTMG95TWpIbno1dFhYMStOeE43NEszOE01cTZhbXBqOTM3UG53b1VTNWw5SkdyN1VUeHZOZi8vYWpxNjJ0WGJ0MmJVVkZoWldWMWFOSGoxZ3Nsb1NFQkpmTFhiWnNXVmhZV0x1L2dzTEN3aGN2WHJ4NDhlTGx5NWM1T1RuWHIxL0hQWUM3ZCs4ZVBIZ1FIMnd0WGJvVWQwano4dkx3YVV6ODNnMGJOaEJqN25qWkFkelA3YUNGNzkrL1QwOVB4MzhodXJxNnFxcXFxcXFxS2lvcXhEa0pVMU5URFEyTlo4K2VLU2twL2JRVFYva0lTYkMydHJaK2JpRkxQTytrc2JHUkdEZmtoVHVHMTY1ZE16TXpVMUZST1hqd0lCNmxaVEtaZm41K2RYVjFmbjUrLy96emo0T0RBNHZGaW95TTdOdTM3eSsvL0lJbk9lSGo3aXRYcmlDRWJHMXRkKzdjV1Y5Zkh4MGRQVzdjdUMrZURVaE9UZzRQRDgvT3pzYnhwNjZ1UG16WXNMUzB0TWpJeVBuejV4T2p2V3cyRzUreE5UWTJualJwVWtSRXhKZ3hZd1lNR0tDb3FMaHUzVG8zTjdmbHk1ZmpxM1duVDUvZTNOeU1EOEZPbno0ZEdSbHBibTV1WkdRVUZCVGs1ZVcxYytkTzR1Z01YN3hMb1ZEdzhhQ2xwV1hiZ2VudlI4cmpwOWR2M21ZdzZET21UaDV2TjZZVDcvakJORFUxUFgvK25NMW1lM3A2VXFsVUNRa0pDUWtKSlNXbHVycTZkZXZXaFlhRzhzNGNpSTZPRGc0Ty92VHBFMEpJVFUzTjFOUjAxcXhaNHVMaU4yN2NPSFhxMUlzWEwvVDE5ZmZ2M3g4UUVPRHY3Nit2cjYraG9mSG16UnRsWmVWMkEvckRody9uenAyenRiWHQrSlRBM0xsekRRd01saXhaTW5mdVhMNHgxaytmUGtWR1JwNDVjMFpjWE56TnpTMCtQbjdTcEVsVHBreHhkSFQ4Nm9tUHdrRklnalVySzZ2ajhmSTFhOWEwV3o1dDJqUlpXZG15c3JKMTY5WWhoTHk4dkR3OFBGcGJXOVhWMWQrL2Z6OXQyclNLaW9ybHk1ZlBuVHUzcnE2dXRMUjA0OGFOTVRFeHVibTVhbXBxK0dxbHNXUEh2bnYzRG85MTRnbmIrQkx2amtsS1NqSVlqQmt6WnVDWmlmakxmOW15WlZwYVd2UG56NCtLaW1JeW1WVlZWVy9mdmlWT3NIcDZlaFlWRlhHNVhEeWo1ZmJ0MitIaDRmbjUrWTZPampRYTdmejU4MWV2WG8yTmpRME9EajUzN3R6Z3dZUDM3Tm5EWkRMTHk4dGpZbUptelpxMVk4ZU81OCtmNStmblAzdjJESDl6aEllSFQ1dzRFWGRtT1J3Tzc1SmRHSWZESWNZV0JLSzF0ZlhSazlUYXVyb0IvZnZObWpGVk9OWU01S09vcUppWW1NamhjSmhNSnJHSUg1NVdGUmdZR0JJU2dpODd4bjhoNnVycWxwYVdRNGNPTlRVMXhiK2FzTEN3aVJNbmxwZVhxNm1wYmRxMGFlTEVpVlFxdFZldlh2aDZmenp4QXk4THdLZXVyczdUMDVQTDVYYm16N1d0NU9Ua21KaVllL2Z1Y1RnY1oyZm5aY3VXeWNqSXpKczM3L0Rod3pFeE1XZlBubFZTVXRxMWE5ZFBlNDJBa0FTcnVycjZGMmM3dDB0TFM2dTB0TlRDd2dJdjJTY3RMUzB0TFUyOFpHMXQ3ZVRraEFkTUpTVWxqeDgvSGhJU2N2WHFWUWFEUVp3MWtwT1R3eE5SVDU4Ky9mVHAwNENBQU42ckEwVkVSRUpDUXRxdUNXUmtaSFRvMENHK1FuOS8vL0x5Y2dhRGtaU1VsSjZlVHFmVERRME5pZkV2S1NtcG8wZVB0cmEyTGxteTVNbVRKMXd1MTlMU2N0dTJiWGhvMk5YVk5TTWpZL1BtelE4ZVBMQzF0ZDI2ZFN2dW9ucDVlY25JeUlTR2h1SkpPZGV1WFJNVEU1cy9mejZOUmhNWEYxKzRjQ0hlT0o2ZndOZWVTNWN1NGY5cVFTbXZxSGo4TkJVaE5ORmhuR0tiQytlRkJ1ODhQNEtJaUVoQlFjSHIxNjhaRE1hOGVmUHd0N2lGaFFYZlRDWVpHUmt0TFMwdkx5OXJhMnRpNkxsZnYzN2g0ZUY3OSs2Tmk0dlQxdGJtdmNhZmdHK0g0ZXZyUzF6eFJaQ1hsLy9pQ2d3RkJRVnBhV2x6NTg2ZFBIa3k4UWN2TFMzOXh4OS9MRnUyTENrcEtTTWpvK01yYTRVY1Y2QXVYSXp2WXpDa2o4R1F0WC80Q3JBWmpZMk5wR3pudzRjUHBHeW5ZK0hoNGVIaDRlM3VLeVVsSlRRMEZDOTl6ZXYyN2R2bDVlVjhoWGhtVlEvNGM4ZHUvRnNPRFQvVnBUZG1acjh4TUI3UngyQklZVkh4MSs5OTV4Njg5eFBoVVYrOUVhSFUwdElpd0xmM21QT3hjZjhObVUwOXRsTWg2YkYrSTdKbWgvVE1nWE1IcTcwTUh6NjgzZld0cmEydDJ4YTJlMGJydTFKYStwSEZZbWxxcUt1cmRiU0lEUGc2M3poZjdVZWY3dGF0aEdIYUNoQldoWVhGQ0NGSVZmRERnV0FGMzYrQ1lnaFc4RU9DWUFYZnI5cWFXb1NRdEpTMG9Cc0NRTmRBc0FJQUFNa2dXQUVBZ0dRUXJBQUFRRElJVmdBQUlCa0VLd0FBa0F5Q0ZRQUFTQWJCQ2dBQUpJT0wwc0RQNHU3OWgrMHVIUW1FMit1TXJFN1VJaGtFSy9oWjNMMy84TzU5d2Q4UUFmd01ZQ2dBQ0RrTmRiVWY5SWFEZ0VTaW9xSmF2ZmxYNyt3KzBHTUZRdTdYWDhZeG1hSWZQNVlMdWlGQWtCUVZGY2JhanVwRVJYSjhMOEZhL0tFazZjWXRRYmNDZEl2OGdrSUI3bDFKVWVHM3FTNENiQUQ0Q1gwdndacjg2RW55b3llQ2JnVUFBSkJBd0dPczBsSlNYN3dKQkJBT0lpSWlNakt3VGhYNEtRaTR4enJVZE1qS1pZdXozN3dWYkRONlV0V25pc3BQRlFnaE9Ya0ZXWG1odlk5VFd6cDl0RWRabWd1NkZRRDBCQUVIcTV5czdNSjVuNzNSaUZBNmZ2eDRVRkFRUXNoKzdLSjI3L0lHQVBqUndYUXJBQUFnR1FRckFBQ1FESUlWQUFCSUJzRUtBQUFrZzJBRkFBQ1NRYkFDQUFESklGZ0JBSUJrRUt3QUFFQXlDRllBQUNBWkJDc0FBSkFNZ2hVQUFFZ0d3UW9BQUNTRFlBVUFBSkpCc0FJQUFNa2dXQUVBZ0dRUXJBQUFRRElJVmdBQUlCa0VLd0FBa0F5Q0ZRQUFTQWJCQ2dBQUpJTmdCUUFBa2tHd0FnQUF5U0JZQVFDQVpCQ3NBQUJBTWdoV0FBQWdHUVFyQUFDUURJSVZBQUJJQnNFS0FBQWtnMkFGQUFDU1FiQUNBQURKSUZnQkFJQmtkRUUzUU1pMXRyWldWRlN3Mld5aXBLYW1oc3ZsNGdmRnhjVkVPWTFHVTFSVXBORm9BbW9wQUlBMEVLemRpOHZsN3RxMTYrM2J0MFJKVFUwTmZwQ1FrSER2M2oyaVhGVlZOVEF3VUJCdEJBQ1FESUsxZTlIcGRGMWQzVHQzN3ZBV1VpZ1VuTEJFeUNLRVJvMGFSYWZEcndNQVlRQmpyTjF1L1BqeE9FbHhCNVlQTHFkU3FZNk9qZ0p0SmdDQU5CQ3MzVTVIUjZkLy8vNGQxOUhYMTlmVDArdXBGZ0VBdWhjRWE3ZWpVQ2dPRGc1OEpVUWZGck8zdCtjckFRRDh1Q0JZZTRLVmxaV2twT1RuWHBXV2xoNDVjbVRQdGdnQTBJMGdXSHVDbkp5Y2dZSEI1MTd0MzcrL2twSlN6N1lJQU5DTklGaDdncmk0dUtHaElkOHBMUHlZUXFFWUdSbkp5c29LdElFQUFESkJzUFlFS3BWcWFHZ29KU1hGTjVCS29WREV4TVFNRFEycFZQaEZBQ0E4NFArNWh4Z1pHY25KeWJVdGw1Q1FNREl5RWtTTEFBRGRCWUsxaHlnb0tPQUFKVHF0K0lHSmlVbTdnUXNBK0hGQnNQYWNDUk1tdEMxMGRuWVdSRnNBQU4wSWdyWG5HQnNiOStyVkN6L0czVlZWVlZWalkyTkJ0d3NBUURJSTFwN0RZRERzN2UxNVJ3UEdqQm5EWURBRTNTNEFBTWtnV0h2VXVISGpSRVJFOEdNbWsybHRiUzNvRmdFQXlBZkIycVBVMU5UNjlPbURIK3ZxNm1wb2FBaTZSUUFBOGtHdzlpZ0pDUWxEUTBQODJORFFFSzRMQUVBb1FiRDJLQWFETVdqUUlIRnhjU2FUYVdSa1JBd0xBQUNFQ2F5czNOUHdsUUlzRm92b3VnSUFoQXdFYTAvVDB0THEzYnQzVTFPVHBxYW1vTnNDQU9nVzMxMndWbno2ZE92dS9hS2lENEp1U0RlaWlvaUwwcGtIRGdjSnVpSGRTRVc1MTlqUjFncnk4b0p1Q0FBQzhOMEY2KzE3RDNiNC8xVlZYUzNvaG5TL3BCdUNia0Uza3BTVXBEUG9MazRUQmQwUUFBVGd1enQ1VlZoWS9GT2txckNycTZzckxDenVSRVVBaE5CMzEyTWxERGN6SFRGc3FLQmJBYm9zNWZIVFIwOVNCZDBLQUFUcCt3M1dFY09HZWk1ZExPaFdnSzl3RElJVi9PUyt1NkVBQUFENDBVR3dBZ0FBeVNCWUFRQ0FaQkNzQUFCQU1naFdBQUFnR1FRckFBQ1FESUlWQUFCSUJzRUtBQUFrZzJBRkFBQ1NRYkFDQUFESklGZ0JBSUJrRUt3QUFFQXlDRllBQUNBWkJDc0FBSkFNZ2hVQUFFZ0d3UW9BQUNTRFlBVUFBSkpCc0FJQUFNbUVQMWlMaTR1cnFxcmFmU2svUDcvNmYyOWNXRk5UOC9Iang3WTEwOVBUR3hvYXVxMk4vNFBOWnVmbDVkWFgxL2ZNN3I1bjdGWTJRb2hHcHdtNklRQjBqYkFGYTBSRVJHcnEvOXh3eWQzZFBTUWtCRDl1YVdrcEx5OW5zOW40NmZUcDAyTmpZM2tyUjBWRk9lT2g4eFFBQUNBQVNVUkJWRHM3OHdWeGFXbXBtNXZieVpNbjIrNnV2cjcrOVZmaHpjMzQrSGdXaTBVOHJhaW9jSEZ4dVgvL1B1K09MbCsrekZ2bkoxRlRVNGNRa3BHV0VuUkRBT2lhNy9kbWdsK2h2cjcrNHNXTFFVRkJodzhmSGpKa1NOc0tUNTQ4V2I1OCtibHo1L1QwOU5xKzJ0alllUDc4ZVNjbkoxbFoyWmFXRmlMN3JsMjdoaEFhT1hJa1grQktTa3BtWkdRc1dyVG9LNW9hRkJRMGRPaFFoRkJ1YnE2L3YzOVVWTlR1M2J1MXRiWGIxbXh1YnQ2MmJkdVZLMWRxYW1wbXpwejV1UTJXbDVlUEd6Y09JZVRrNUxScDA2YTJGYXl0cmRsczlvTUhENzZ1dmtCVVZWY2hoT1RrWkFYWUJnQytnbEFGcTRTRXhPSERoK2ZPbmV2cDZSa1VGTlMvZi84dXZmM01tVE90cmEwTEZ5NUVDTjI1YzJmRGhnMjhyK0p5WG1GaFlRTUdERGg5K2pSdjRiLy8vaHNRRUJBY0hDd2hJWUZMM056Y1pzK2ViV2RueDF0TlUxTVRQOURSMFFrTEMxdTdkcTJibTl1T0hUc3NMUzE1cXhVWEY2OWZ2LzdObXpmcjE2K2ZQbjE2WjM2S3VMaTRYMy85MWNURXBKTS9kVmZyOTZTaUR5VUlJUVU1ZVVFM0JJQ3VFYXBnUlFpcHFhbnQzYnQzd1lJRmx5OWY3bEt3VmxWVlJVUkV6SnMzVDE1ZS91WExseHdPSnl3c0RDRlVWRlRrNCtQajd1NCthdFFvdnJmbzZ1cUtpNHYzNjllUHQ3QzR1QmdoMUs5ZlB5SllPUnlPc3JJeVh6VmUrdnI2NGVIaEsxYXMrUERoQTk5TEtTa3BsWldWSVNFaFJrWkduZmtwZXZYcVZWWld0bjM3OWpObnpvaUlpSkJldnlkOS9GaFdWRlJNb1ZDMHRYb0x1aTBBZEkyd0JTdEN5TWpJS0NJaW9vTWdhOWZodzRkbFpHUm16WnJGWnJQOS9QeWtwYVh4eU96ZHUzZEZSVVhkM055a3BOb2Y2V3RxYW5yKy9EbnhORHM3R3lIMDdOa3pCb09CU3pnY1RuNSsvcU5IajRnNkppWW1EQWFqdXJyNjVzMmJSS0dqb3lPTlJydDQ4V0p0YlMxQzZPblRwdzBORFJRS1pjNmNPVGs1T1RrNU9iaWFtWm1aaG9iRzUzNktYcjE2alJneElqNCsvdVRKazUwWm8raHEvWjUwOThGRERvZlRXMU5EWGw1TzBHMEJvR3VFTUZoeGg3Rkw5Vk5UVXk5ZXZIam8wQ0VSRVpIVHAwL241dWFlUEhseTM3NTlDS0dFaEFRNU9Ubmk5SmVkbloyaG9TSHZleXNxS3BZc1djSzNRVTlQVDk2blo4NmNPWFBtRFBFME1URlJVVkd4b3FJaUtDaUk3NDMxOWZWNCtzSDE2OWZ2M2J2WHRxbnk4dklkQkd0cmErdktsU3Z2M2JzWEdobzZidHk0ZGdkdHY2VitqMmxxYXJwd01SNGhwSytySXk0dUp1am1BTkExd2hPc0VSRVJrWkdSK0hGQVFNRGd3WU03Lzk2WW1CZ3VsK3ZsNWRYUzB0TFUxT1RrNU5TM2I5K1FrSkRDd3NMS3lzcmh3NGZuNWVXMXRyWW1KeWRyYTJ2ekJTdTJaY3VXWWNPRzRTSExzTEN3aXhjdjR2S3FxcXFaTTJkdTNyeDUrUERoZU9qVzM5OGZ2NlNqbzROUGl4R3VYTG5pNys4L2JkcTA2T2hvVzF0YmJXM3RpUk1ueXNsMXJiOG1JeU96ZHUxYUh4OGZQeisvNE9CZ0NvVkNidjJlOFNUMTJldk1iRHFkUG1Td2tiZ1lCQ3Y0d1FoUHNPSWsvZmp4NDVreloxcGFXbmhmK21KWXpKZ3h3OGpJU0U1T0xpb3E2djM3OTB1WExoVVZGVDF3NE1DeVpjc1FRa2VPSEVFSU5UUTBXRmxaZlc0THNyS3l5c3JLZUdxQmpJd01mb3dueGlLRXRMUzBjSW1NakV5N2I4L096dDYzYjE5YVd0cW1UWnNHRHg0Y0hSM2QxTlNVbUpoNCtQQmhHeHNiRnhjWE16T3p6a2ZlK1BIakV4SVNIajU4K1BmZmYwK2FOSW4wK3QydHFxcjZmR3hjWFYyZFZtOU51OUcyMzBuV0E5QjV3ak9QZGZEZ3dXNXViZzRPRG56bGJEYWJUdi9DOThlZ1FZTisrKzAzQlFXRmpJeU1GU3RXS0NnbzROTld5Y25Kdi83NmE1ZWFVVmhZU0tRcVFxaWtwQVFocEtxcTJtNWxOcHQ5Nzk2OVpjdVcvZmJiYjgzTnpXZlBuclczdDhjdmpSbzE2dFNwVXlkT25LRFQ2Y3VYTDNkMmRvNktpc0l4M1JuZTN0NU1KdlBBZ1FNVkZSWGRVYi83TkRheWpnYWZUUHpuQmtKbzZpUW5mVDBkd2JZSGdLOGdQTUg2T1MwdExaMDUzMTFmWDc5MTYxWVRFeE1YRnhkY2dxOGRNREl5S2lnb0tDZ29LQ29xUWdoVlZsWVcvRmZiR2Z0c052dng0OGZwNmVuRUhLeUhEeC9pYm16YlBjYkZ4WTBkTzNibHlwV0ZoWVU3ZCs0TUNRbkJnNmV5c3JJQkFRSEd4c1lJSVVORHcrM2J0MSsrZk5uR3hpWW9LT2lYWDM0SkR3L3Z6RSt0cXFxNlpNbVMydHJhZ0lDQTdxamZUU3FycWxhdDl6NFplYXE1cFdYS0pLY0Y3bTdRWFFVL0l1RVpDbWdYaDhPcHI2K1hscGIrWWswL1A3OVBuejRkUFhxMHRyYjIzYnQzSEE0SG40am5PMWQrK1BEaHc0Y1A0OGY3OSsvbkd4eDQ4T0JCWFYyZHM3UHozcjE3MzcxN3QyN2R1cnQzNzlMcDlJVUxGeDQ1Y29UdnFnUkxTOHZIangrUEh6L2UzTnljUnZ2L3F6WmZ2MzY5ZnYzNlE0Y085ZXJWQzVjb0tTbXRXclhLM2QwOUtpcEtSNmV6UGJnWk0yWmN2WG8xS1NscDRzU0o1dWJtcE5jbkM1ZkxiV3hrMWRUV1BudnhNamcwNGtYYUt5cVZPbXlvaWZlNlZTTC9uVmtCd0k5Rm1JT1Z6V2JYMU5Sd3Vkd3Zudjk1OE9CQlVsS1NwS1RrL1BuejhiSHd0R25UdkwyOWVYdWFqWTJOcnE2dXYvLysrOWl4WTNFSjd5RS9Qc01lR0Jpb3A2Zm42K3RyWkdRVUhCeDg5dXpaa3BLUy9mdjNoNFdGZVhoNEJBY0g4OVp2Ym00ZVBueDRaV1ZsUWtJQ2IzbGFXaHFIdzhuTXpHeTdhb0dtcHFhS2lrb25mM3dhamVicjZ6dDc5dXdkTzNaY3VIRGhpMTIvcnRiL1JuY2ZQR3hzWURXeVdCOCtsT1M5ZjUrVm5mUHlWVHBDU0VSRVpKcUw4N3paTTJWbDJ4K1BCdUQ3SjdUQm1wU1U5UEhqUnp5dnZvUDVTWmk2dXJxaG9XR2ZQbjIwdExUNjlPblR1M2R2RFEwTlBJQ3dmZnQyTFMwdFYxZFhQQXRLUVVHaHRyYjJ5SkVqdTNmdkZ2dmZzOVhCd2NHNXVia0hEeDVFQ0RrN081dWFtczZiTjgvWTJOakt5c3JFeEdUaHdvVkxsaXpodlhvcU16T1RtQ0hBcTZtcENTRjA2TkFoSnBQWjlsVVBEdzk5ZmYxT2ZnajkrdldiTld0V1JFUkVVRkFRblU3bk82ZjM3ZlcveFpvTkc5bXRyYTNzMWtZV3E3VzFGU0Vrd21CWW1JK1k0enBqcUxFeFRMRUNQelRoRE5iNCtQZ3JWNjZzWExreVBUMmRTcVcydXpJQUwyMXQ3WGJITHRQUzBtSmpZOWVzV2NOYktDc3IrL3o1ODcvKyttdno1czFFWVdKaTR0V3JWNTJjbkN3c0xCQkNMQmJMMTllM3ZyN2V5OHNMWDJ0NzhPREJqUnMzOG83MjJ0cmF0cjBTdjZpb2FQTGt5VG82T3RuWjJiNit2dVBIai8vYXorQS9GaTFhZE9QR2pWT25Ub21LaW5aSC9hOUdvOUZGUkVSb05Kb1NRMUZUUTkxaXhEQmI2MUY2dW4yNmRhY0E5QXhoQzFaOElKK1FrT0RxNmpwcjFxejU4K2NiR1JtSmk0dDM1cjJ0cmEzNStmbnA2ZW12WDcrV2xwWmV0R2pSM3IxN3RiVzFwMDJieGx0TlUxTnp3WUlGUjQ0Y3NiT3pJOFlpaHcwYkppNHV2bmJ0V3Z6MHpwMDdyMTY5MnJScEU1SHBpb3FLeDQ0ZFMweE03S0FCalkyTlBqNCtZbUppZ1lHQkJ3NGMyTHg1TTVQSnRMR3grZG9QQXlHRW1FeW10N2YzMHFWTEd4b2EydTBDZjJQOXJ4YTRiemVUS2NvVUZaV1NrbEpTVktCU2hmODhLdmg1Q0Z1dzR2RktUMDlQTnplM1I0OGV2WGp4NHM4Ly8veml1MDZkT3BXWW1KaVRrOVBVMUVTajBYUjFkU2RObWhRVkZaV1dsbmJzMkRFOFd3c3ZOb2hISHVmTW1YUHQyalUvUDcvbzZHaThCVGs1T1c5dmIyS0Q0OGFOMDlYVmJkdFQ1dDBJbjl6Y1hGOWYzNXljbkwvKytrdEJRY0hiMjd1eXNuTE5talhPenM0clY2NzgzQVcxblRGaXhJZ0pFeWJ3amVTU1dQL3JERFZwWi9reEFJU0RzQVhyMUtsVFRVeE1wazJiOXZIang4MmJOdzhZTU9DWFgzNzU0cnNZRElhNnVycTl2ZjNBZ1FNTkRBeVlUR1pqWStPRUNST2NuWjIxdGJVakl5TWxKQ1JldkhoQm5MQ2kwK2srUGo2UmtaRjRQTFJkUktxV2xwYmV1SEZEUWtLQ1FxRkVSMGZUNlhUZXl3VFliSFpxYW1wOGZIeFNVcEs4dkh4Z1lLQ1ptUm51T1I0NGNDQW9LT2preVpOWHIxNGRNMmFNZzRQRHdJRURQemZEUVZGUmtXOGhXbDUvL3ZrbjN4ZE1WK3NEQURwUDJJTFYxTlRVMU5RVUliUnIxeTRPaDdOcjF5N2VZMHdqSXlOaXVpaXZhZE9tOFIzdmk0bUpSVVJFeU1ySzR2TklyYTJ0VENiVHdjRUJYNW1LRUJveVpBaGU4aFV2WjlVQktwVzZkKzllL0ZoQ1FtTFZxbFc0Q3h3ZkgzLzU4dVgwOUhRV2l5VW5KN2Rnd1FKWFYxZGlUU3o4eHQ5Ly85M1IwVEU4UEJ5UEdpT0VqSTJOZzRLQ2VLZG5BUUMrTjhJV3JJUTllL1o4K3ZSSlNVbUp0MUJLU2dwUHZNZFNVbEk2MkFLUnY0OGZQKzZnV3E5ZXZTNWR1aVF2LzlrMVE1V1VsRkpUVTlsc05wZkxaZkJNek96ZnYzOXNiT3preVpQTnpjM056TXcrZDNtWXVycTZ0N2YzeXBVclUxTlRVMUpTYkd4c0lGVUIrTTRKYmJEU2FEUytWTzBtZERwZFRVMnRNOVg0U3ZyMjdZdVhmTzBNY1hGeEt5dXJEaFlyQUFCOFArQlVMQUFBa0F5Q0ZRQUFTQWJCQ2dBQUpJTmdCUUFBa2tHd0FnQUF5U0JZQVFDQVpCQ3NBQUJBTWdoV0FBQWdHUVFyQUFDUURJSVZBQUJJQnNFS0FBQWtnMkFGQUFDU1FiQUNBQURKSUZnQkFJQmtFS3dBL0I5Nzl4M1ExTlgzQWZ3bUpCQjIyRVAyRUZGQVFad01xMWEwNEo3VVhSK0sxb25XdlZ2M2FBc0tLbWhkcUNocVZSeFZhMFhGRGU2dFVBZklVTGFNUUJMeS9uSGU5NzU1QWxMSElRSDhmdjY2T2JtNTk1Y0FYODQ5OTl3YkFNb1FyQUFBbE5YZkcxMWZ2WjdDTUp0VVhRVjh0S3ZYVTFSZEFvQ0sxZDlndlpaODQxcnllNy90RGdDZzNxcDNRd0VXNW1ZNk9qcXFyZ0krbDVhV3BvVzVtYXFyQUZDTmV0ZGo3ZHJabjh2bHZzN01VblVoZFNVbk95c25PNHRoR0ROekN6TnpDMVdYVTFmTXpVeTdkdlpYZFJVQXFzR1J5V1NxcnVITEVoTVRFeDBkelRETTJMRmpRME5EVlYwT0FOQlg3NFlDQUFBYU9nUXJBQUJsQ0ZZQUFNb1FyQUFBbENGWUFRQW9RN0FDQUZDR1lBVUFvQXpCQ2dCQUdZSVZBSUF5QkNzQUFHVUlWZ0FBeWhDc0FBQ1VJVmdCQUNoRHNBSUFVSVpnQlFDZ0RNRUtBRUFaZ2hVQWdESUVLd0FBWlFoV0FBREtFS3dBQUpRaFdBRUFLRU93QWdCUWhtQUZBS0FNd1FvQVFCbUNGUUNBTWdRckFBQmxDRllBQU1vUXJBQUFsQ0ZZQVFBb1E3QUNBRkNHWUFVQW9JeW42Z0lhT2FsVW1wZVhKNUZJMkpiaTRtS1pURVlXTWpNejJYWTFOVFZqWTJNMU5UVVZWUW9BMUhESUh6blVFWWxFTW5QbXpMUzBOTGFsdUxpNHFLaUlZUmg5ZlgwOVBUMjIzY0xDSWpJeWtzZkR2enFBQmc5L3huV0x4K001T2pxZVAzOWV2cEhENFpDRUxTNHVaaHY5L2YyUnFnQ05BOFpZNjF5UEhqMUlraklNSTZ1R3RITzUzTjY5ZTZ1MFRBQ2dCc0ZhNXh3Y0hKbzFhMWI3T3M3T3prNU9Uc3FxQ0FEcUZvSzF6bkU0bk1EQVFJVVd0ZzlMQkFRRUtMUUFRTU9GWUZVR1B6OC9IUjJkOXoycnA2ZlhvVU1INVZZRUFIVUl3YW9NQmdZR3JxNnU3M3UyV2JObUppWW15cTBJQU9vUWdsVVp0TFMwM056Y0ZFNWhrV1VPaCtQdTdpNFVDbFZhSUFEUWhHQlZCaTZYNitibXBxdXJxekNReXVGd05EVTEzZHpjdUZ6OElBQWFEL3c5SzRtN3U3dUJnVUgxZG0xdGJYZDNkMVZVQkFCMUJjR3FKRVpHUmlSQTJVNHJXZkR5OHFveGNBR2c0VUt3S2s5UVVGRDF4cjU5KzZxaUZnQ29Rd2hXNWZIMDlEUTFOU1hMcEx0cVlXSGg2ZW1wNnJvQWdESUVxL0x3K2Z5QWdBRDUwWUN1WGJ2eStYeFYxd1VBbENGWWxhcDc5KzdxNnVwa1dTQVFkT3JVU2RVVkFRQjlDRmFsc3JTMHRMZTNKOHVPam81V1ZsYXFyZ2dBNkVPd0twVzJ0cmFibXh0WmRuTnp3M1VCQUkwU2dsV3ArSHkraDRlSGxwYVdRQ0J3ZDNkbmh3VUFvREhCblpXVmpWd3BJQktKMks0ckFEUXlDRlpsczdXMXRiR3hxYWlvc0xhMlZuVXRBRkFuNnQxM1h1WGw1eWRldVBqNmRaYXFDNmxEYVdscFZWVlZ6czdPcWk2a0RwbWJtWDdkcFpPUm9hR3FDd0ZRZ1hyWFl6MlhkR241cWw4TGk0cFVYVWpkTy8yM3FpdW9Rem82T2p3K2IwQ2ZYcW91QkVBRjZ0M0pxNHlNekM4aVZSdTdrcEtTakl6TUQxZ1JvQkdxZHoxV1ZyczJyZHUzOVZaMUZmRFJybDVQdVpaOFE5VlZBS2hTL1EzVzltMjlwMHdZcCtvcTRCTnNRckRDRjY3ZURRVUFBRFIwQ0ZZQUFNb1FyQUFBbENGWUFRQW9RN0FDQUZDR1lBVUFvQXpCQ2dCQUdZSVZBSUF5QkNzQUFHVUlWZ0FBeWhDc0FBQ1VJVmdCQUNoRHNBSUFVSVpnQlFDZ0RNRUtBRUFaZ2hVQWdESUVLd0FBWlFoV0FBREt2cXhnbGNsa0VvbUV5cWJLeXNwdTM3NU5aVk8xS0MwdHJldGRBQUIxOWZjN3IrckN5Wk1uVjZ4WXNYLy9mak16TTlJaWs4bmV2SGxUNDhvNk9qcmEydHJ2MjlUUFAvOTg4ZUxGdzRjUEd4c2JmMVFOdWJtNU4yN1UvSlZRUXFHd1hidDI3TVB3OFBEejU4OXYyclNKcmZaRHZIbnpKaVVsUmFHeFJZc1dYQzYzc0xEd2ZhOXljWEZSVjFmLzhMMEFRQzIrb0dBVmk4VWJObXl3czdQTHk4dkx5OHRqR01iSnlhbWlvaUl3TUxERzljUEN3a2FNR1BHK3JZMGJOeTR4TVhIRGhnMExGeTU4M3pweGNYRXltVXkrcFZ1M2JzK2VQWnM3ZDI2TjY3dTV1Y2tIYTNCdzhQbno1ME5EUTJOaVlzek16UHIzNy8veTVjdGEzbUJTVXBLV2x0YVRKMDhXTEZqZzV1Ykd0ajk5K2pRc0xPejI3ZHVuVDU5KzMydVBIajFxYVdsWnk4WS9YOHJOV3dLQlFGTWcwTlhWTlRZeTVISy9yS01sK0tKOFFjRWFGeGVYbVptWm41Ly8vZmZmU3lRU2lVUnk1TWdSUzB2TGZmdjJWVlpXamhneFl2TGt5VDQrUHFRYkd4d2NyS09qd3pCTVNVbEo5KzdkYTl5Z1ZDbzljdVRJcVZPbnFqLzErKysvTjJ2VzdOZGZmNjJxcXBKdmI5NjhPVm5Zc21XTHZiMjkvRk9MRnk4dUtDaVFiekUzTjkrOGVYTm9hR2hrWk9TU0pVdkdqQmxUWEZ4Y1l5VTNidHc0ZCs0Yys1RFA1Ky9Zc1lOOTJMOS9mNFpobGkxYnRtVEpFdExTcFV1WDBORFE0T0JnZGgwZXI4NS9FeVpPbmNYanFYRzVYRDZmYjIzVnhLZDkyODZkL0owYzdUL2dwUUFOekpjU3JQZnYzNCtLaXBvNGNlSjMzMzFYV1ZrNWV2Um9RME5EUzB0TExwZnI1T1QwNk5FamhtRzh2THljbkp4SW1ESU1ROFlCWkRLWlNDVHk4Zkh4OXZiK2tCMmxwcVllUDM2YzVHbHljakxibnBpWU9IMzZkS0ZRV0ZaV3hqQ01ycTZ1VUNoODl1elpqaDA3SmsyYVpHWm14dWZ6NWJjVEdocmFwRW1UUllzVzdkcTFTMHRMaTJHWW5qMTcxckpmK1dDVnlXVHljVThHYXJsY0x1a2tGaFlXbHBhV09qZzRLQ0ZNNVVtbGtvcktDcWxFV2k0U1BYL3g4c0xGeTcrczI5QzFzLytvWWQrNnQzRFYxTlJVWmpFQWRlcUxDTmFDZ29LWk0yZGFXVm0xYmR2MjRjT0hCdzRjZVBYcTFhUkpreDQvZnV6bzZLaWhvYkZ6NTA1TFMwdG5aMmV4V016bjh5OWN1TUF3akltSkNic0ZUMC9Qa1NOSGt1WHk4dkxnNE9CQmd3WU5IejY4K3I3T25EbHovUGh4OW1GcGFTa0o2TXpNVEE2SFkybHBtWm1aeVQ3Nzl1M2JQLy84Yy9UbzBkVkhVWXVMaS9YMTlSbUdJYW42VVNRU3laNDllK1EzUlJiV3JsMWJVVkZCSGlZa0pDUW1KcEwyeVpNbjYrcnFmdXhlUHRhdnE1YVZsNHZLeXN1enNySmZwcWMvZnZMczd2MEhmNTQ2Yys3OHhlREIvY2VNSE5ha2pzY2lBSlRtaXdqV2lvb0tjM1B6Ky9mdlQ1NDhtY2ZqNWVibUdoZ1lMRjY4T0RjM2Q4ZU9IVWVQSGoxNzl1ejY5ZXR2M0xneGVmSmtQcDh2Rm91dHJhM0pZYnVtcG1aNGVMajhZZnZmZi8rZGtaR2hwNmRYNDc1YXRXb1ZIaDV1WTJORFFuYnAwcVdIRHg4V0NvV1ptWmxtWm1hZmRvSW9OemMzS3l1cmVydSt2ajdaa1lJYWh3SVloamwwNkZCUVVKQ1hsNWVYbHhkcEtTd3NqSW1KQ1FrSlVVS3crdmwwWUpjcktpdkx5OHJ2UFhpNGJrUE16ZHQzZHU3ZTkvejV5L0MxSy9UcXZnd0FKZmdpZ3RYYzNIenIxcTN0MjdkZnZueTV1N3U3bjU5ZlZGU1VwYVhsVjE5OTlmZmZmMSs1Y21YOSt2VnQyN1o5OSs1ZG16WnRORFEwdW5idDJxVkxGdzBORFRMNDZPZm5KNysxWThlT0NRU0NybDI3MXJndlkyTmpkbjF2YjIrSlJMSjkrL2F3c0xEVTFGUXJLNnNhWDhMaGNHcXYvOFNKRXhFUkVkWGJ1M1Rwc21iTm11cnRZckdZREJZVElwR0lYZmJ6OC9QejgxdXdZSUdCZ2NHMGFkUFMwOU5qWW1KcTMzdGQwRkJYMTFCWDkvUHA0TjZpK1pLVmE0Ny9lZnBjMHFYd3lJMHpwMDRXQ0FUS3J3ZUFyaThpV0dzUkZCUTBjZUxFMmJObkh6MTZkTW1TSmVYbDVXWm1acjE3OTJaWFdMVnFWVUpDZ3Z4TFJDSVJoOE1KQ0Fpb1piTmR1blJac21TSlVDajg5dHR2ZCsvZUhSd2NmUC8rL1VHREJpbXNWbGxaeVRETWgzUmpkWFIwRkJLd3hrZ2xZNm5hMnRxYk5tMWlXK2JObTZlbXBxYndGc1JpOGIvdVZBbUVRdjJsaStZWkNJV3hjZkhiWStOTWpZM0hmVDlHMVVVQmZLNHZLMWhuelpwRnp0ajg4TU1QN0hRZm1VeDI5ZXJWWWNPRzFmZ1NmMzkvQ3dzTDl1SEJnd2N6TXpQSGpSdW5jSzVKZ1oyZEhWa1lNV0xFM3IxNzU4eVpJeEtKMnJkdnI3QWE2VXQrU0I5TlRVM054Y1ZGdnFYR09iWWlrYWhGaXhZSy93bTJiZHRHdXJGc2kwd21xeit6blRRMU5TZU5INXRmVUhqNDZQRjlCdzkzKzdxTG83MmRxb3NDK0N4ZlZyRDI2OWZQeXNwcStmTGx3Y0hCUXFGdzFhcFZETU5jdjM2OXJLeHMrL2J0c2JHeEZSVVZqeDQ5T25QbURGbi8rUEhqSFRwMDZORGhmd2NIbno1OXVtN2R1ajU5K3Z6blAvOGhRNS9IangvdjE2L2YrOFpiR1liUjA5TUxEZzdldW5XcnVycTZwNmVud3JOdjM3N2xjcmtHQmdhMDNtQmNYRnhrWkdTTlQ1RTNTNVNXbG43Q09iRzZvNituKyszZ0FZa1hrckt6Yzg2ZHYraGdaL3V2d3lNQTlkbVhGYXp0MjdkM2QzZGZ2bng1cDA2ZExDMHRTZFlrSkNSWVdWbU5IeitlWVpnTkd6YVltSml3eCt3S3ZjSmZmdmxGWFYxOTdOaXg1R0ZNVE16Qmd3ZnQ3ZTM5L2YxcjJlblFvVU8zYnQzcTR1SkNCbTNsdlhyMXl0RFE4TzNidC9LZDRzL1J2My8venAwN2srVzB0TFNaTTJmdTJyV0x6R1NTbitTUW1ablpxVk1uS251a3BhV0htMXR6MTB0WHJ0MjkvNkNpb2dJanJkQ2cxWmZqUWVWSVMwdTdlL2N1d3pCUG5qeTVkKzhlbVRDUWxKUVVIQnpjdlh2Mzd0MjdDNFhDSmsyYWRQOC84c2Y3Qnc4ZVRFbEpHVGR1bkttcEtjTXcvL3p6ejVFalI3cDI3VXBTbFV4OXJkR1ZLMWNZaG5uNDhPR3JWNjhVbnJwKy9YcHVibTVJU01pSEZDLzVid3JYZEJINit2cFZWVlVEQmd4UVUxTWpZVzFyYTJ0bloyZG5aOGYrazhqT3pzN0l5UGlveTJTVlFKM1BIenA0SU1Nd1Q1NCtLeTByVTNVNUFKL2xTK214VmxWVmljWGk3ZHUzazZ5TWlvb2k1M00wTkRUMjc5OVBab3pXSWowOVBUdzgzTlhWbFF6RnltU3k1Y3VYYTJ0cno1bzFpMkdZbEpTVXNMQ3czMzc3clUyYk5nb3ZsRXFsVzdac01UQXdLQ3NyMjdoeDQ0b1ZLNW8yYmJwa3lSSnpjL09VbEpTTWpBeG5aK2QzNzk0eERMTnc0VUtGeTdUa0ZSVVZ5Vi90U25UcDBxWEdOUm1HTVRBd0lKdnQxcTBiYVQ5OCtIQkVSSVNUazFOMGREVERNQXNXTEpnMmJWcGdZT0NHRFJzb2prVjhqblp0V3F1cHFmM3o0c1c3ZHlWR2hvYXFMZ2ZnMDMwcHdVcG14VWRHUmxwWldmbjUrYTFidDQ1TXQ3cDE2MVo0ZURpN21zSVk2NGdSSThhTkcxZGVYdjdqanovS1pMS2xTNWVTT042elo4K3RXN2RXckZoaFpHVEVNSXlIaDRlTmpjM3MyYk5qWTJNVnJyZy9jZUxFeTVjdjU4MmI5K3pacy9qNCtOR2pSN3U0dUFRR0JsWldWdjd5eXk5Q29UQWdJT0Rnd1lQa1dxd1hMMTc4OU5OUFlXRmgxV2VuQ2dTQ3FWT25LalRXT0grTDNFL2crZlBucE5TbFM1ZVNJUWg5ZlgxdmIrKzR1TGo0K1BpNWMrZStlZk5tK2ZMbEZ5OWVYTFJvVVQyNS9ZcWhvVUVUUzh0WDZla1pyelB0Ykd1WW53dlFVSHdwd1pxV2xzWXdUUFhqWHpzN08vbTdxQ2lNc1RvNE9FZ2trcmx6NTZhbHBhMVlzWUtjNjc5Mzc5NzY5ZXQ3OSs3TnpyaFNWMWRmdlhyMXNHSERmdnp4eDIzYnRySGpnNjlldlZxN2RxMlRrMU9mUG4zZXZuMzd4eDkvUkVWRnJWdTNUaUtSTEZpdzRPblRweXRXck1qTnpXWDNYbGhZZVA3OCtVR0RCaWtFcTZlbjV3OC8vREJ3NE1BUGVhY1BIanhRVTFPYk4yOWVXRmdZd3pEdDJyVWo1Nmx1M0xpeFpjdVc2OWV2anhrelpzQ0FBV1NhN2V6WnM3Lzk5dHRWcTFhNXU3dC82a2RMazRXNTZhdjA5TGR5bndsQVEvU2xCT3VWSzFlc3JLejA5ZlhML252OHpzREFRUDc0ZmMrZVBXU01sVzFadEdqUmhRc1hSbzhlVFdJME5UVjEyclJwZG5aMlpCQkFJcEdJUktMeThuS1pURFowNk5DWW1KaWZmLzU1K2ZMbDVNclg2ZE9uaTBTaXVYUG5xcW1wbVp1YkR4NDgyTkRRTURjM2QvNzgrY25KeVNFaElRRUJBWHYyN0dGdkVVdHVZRmc5L2QzZDNXc1BQdElmSjllTW5UMTdkc3lZTWFtcHFmUG16U09qRm1UNndkeTVjM1YxZGRldlg5K3hZMGZ5cWpadDJ1emV2WHZtekpuNStmazBQbU1LeUtERTI5dzhWUmNDOEZtK2lHQVZpVVRIamgzcjFhc1h1WktxVmF0VzZlbnAxNjVkSXhQdmEzK3RWQ3J0MWF2WHBFbVRHSWE1YytmT0R6LzhVRkZSVVZGUjBiMTdkNUZJVlAyMjJhZE9uV3JXck5uSWtTTlRVbExTMHRMbXpKblRzbVZMOHRUVXFWT1BIVHMyWk1pUWQrL2VUWjA2bGR4cXdOVFVORGMzTnlvcXlzVEU1UERod3dLQjRIMFhhQ21JajQvUHo4OVhWMWNYaVVUNzl1MnpzN1BqOC9seGNYR0ZoWVZkdW5RWk0yWk1kSFIwYkd4czc5Njl2YjI5emMzTkF3SUN6TTNOTXpJeTR1UGo1VStGdFd2WDdzYU5HN3E2dXV4MXJpcEVMbW5OeTZzdlFRL3dhYjZJWU0zTnpUVXpNL3YyMjIvSllidTN0L2VzV2JQNGZINi9mdjNNemMxcmYrMk1HVFBZOCtuTm16ZDNkblkyTkRRME16TVRDb1Y2ZW5xNnVybzZPanE2dXJyYTJ0cTZ1cm9DZ1dEaXhJbDc5KzRkTUdDQW41L2ZpaFVyNUMvUXVuUG56cElsUzJ4c2JINzU1WmRXclZxUnhrNmRPdm43KzhmR3hvckZZajA5dmFsVHAzN2dpT2ZqeDQrUEhEbENyb2kxdGJXZFAzOCtHWFgxOVBSczJyUXB3ekNUSmswYVBIandYMy85ZGVmT25WdTNidVhsNVpXV2xsWldWa29rRW5LV2pNUGhxS21wOFhnOEhvODNlUERnei9pQXFlR3BxVEVNSTVGSVZWMEl3T2VSMVRQaGtadnNYVnZadTdZS2o5eFlwenVxcXFxcWk4MitmdjI2cUtqb2ZjL2V2SG16c3JLUzR1NnFxcXFrVXFsOHkvUG56eWx1L3hPRVIyNzh2NS9ncG85OTdieEZTKzFkVy8yOGZFM2RsQWFnSkY5RWo3VkdkWFJ0VCszMzRhOSs4ZFZuNG5BNENtK0V2Wm9XQUZUbHk3cEFBQUJBQ1JDc0FBQ1VJVmdCQUNoRHNBSUFVSVpnQlFDZ0RNRUtBRUFaZ2hVQWdESUVLd0FBWlFoV0FBREtFS3dBQUpRaFdBRUFLRU93QWdCUWhtQUZBS0FNd1FvQVFCbUNGUUNBTWdRckFBQmw5ZmRHMTFldnB6RE1KbFZYQVIvdDZ2VVVWWmNBb0dMMU4xaXZKZCs0bG54RDFWVUFBSHkwZWpjVVlHRnU5cS9mbkFyMW41YVdwb1c1NHZkNEEzd2g2bDJQdFd0bmZ5Nlgrem96UzlXRjFKV2M3S3ljN0N5R1ljek1MY3pNTFZSZFRsMHhOelB0MnRsZjFWVUFxRWE5QzFZalE4T0IvWHFydW9vNkZCTVRjK3JFVVlaaHhvNGRHeG9hcXVweUFJQytlamNVOTk0OGpBQUFJQUJKUkVGVUFBRFEwQ0ZZQVFBb1E3QUNBRkNHWUFVQW9BekJDZ0JBR1lJVkFJQXlCQ3NBQUdVSVZnQUF5aENzQUFDVUlWZ0JBQ2hEc0FJQVVJWmdCUUNnRE1FS0FFQVpnaFVBZ0RJRUt3QUFaUWhXQUFES0VLd0FBSlFoV0FFQUtFT3dBZ0JRaG1BRkFLQU13UW9BUUJtQ0ZRQ0FNZ1FyQUFCbENGWUFBTW9RckFBQWxDRllBUUFvUTdBQ0FGQ0dZQVVBb0F6QkNnQkFHWUlWQUlBeUJDc0FBR1U4VlJmUXlFbWwwcnk4UElsRXdyWVVGeGZMWkRLeWtKbVp5YmFycWFrWkd4dXJxYW1wcUZJQW9BYkJXcmRrTXRuS2xTdlQwdExZbHVMaVlySncvUGp4cEtRa3R0M0N3aUl5TWxJVk5RSUFaUWpXdXNYajhSd2RIYytmUHkvZnlPRndTTUt5SWNzd2pMKy9QNCtISHdkQVk0QXgxanJYbzBjUGtxU2tBNnVBdEhPNTNONjllNnUwVEFDZ0JzRmE1eHdjSEpvMWExYjdPczdPems1T1RzcXFDQURxRm9LMXpuRTRuTURBUUlVV3RnOUxCQVFFS0xRQVFNT0ZZRlVHUHo4L0hSMmQ5ejJycDZmWG9VTUg1VllFQUhVSXdhb01CZ1lHcnE2dTczdTJXYk5tSmlZbXlxMElBT29RZ2xVWnRMUzAzTnpjRkU1aGtXVU9oK1B1N2k0VUNsVmFJQURRaEdCVkJpNlg2K2JtcHF1cnF6Q1F5dUZ3TkRVMTNkemN1Rno4SUFBYUQvdzlLNG03dTd1QmdVSDFkbTF0YlhkM2QxVlVCQUIxQmNHcUpFWkdSaVJBMlU0cldmRHk4cW94Y0FHZzRVS3dLazlRVUZEMXhyNTkrNnFpRmdDb1F3aFc1ZkgwOURRMU5TWExwTHRxWVdIaDZlbXA2cm9BZ0RJRXEvTHcrZnlBZ0FENTBZQ3VYYnZ5K1h4VjF3VUFsQ0ZZbGFwNzkrN3E2dXBrV1NBUWRPclVTZFVWQVFCOUNGYWxzclMwdExlM0o4dU9qbzVXVmxhcXJnZ0E2RU93S3BXMnRyYWJteHRaZG5OenczVUJBSTBTZ2xXcCtIeStoNGVIbHBhV1FDQndkM2RuaHdVQW9ESEJuWldWalZ3cElCS0oySzRyQURReUNGWmxzN1cxdGJHeHFhaW9zTGEyVm5VdEFGQW42bDJ3NXVYbkoxNjQrUHAxbHFvTHFVTmNkUzBObmlBaUtsclZoZFFoY3pQVHI3dDBNakkwVkhVaEFDcFE3NEwxWE5LbDVhdCtMU3dxVW5VaGRlLzAzNnF1b0E3cDZPancrTHdCZlhxcHVoQUFGYWgzSjY4eU1qSy9pRlJ0N0VwS1NqSXlNajlnUllCR3FONzFXRm50MnJSdTM5WmIxVlhBUjd0NlBlVmE4ZzFWVi9ILzN1Ym1uVDEzSVR2bmphb0xBVlV5TmpiNnVyTy8yZjlkVTE3WDZtK3d0bS9yUFdYQ09GVlhBWjlnVTcwSzFwT256NndKanl3cEtWRjFJYUJLbXBxQ2QrOUt4b1dNVnM3dTZ0MVFBQUJkTDE2bEkxV2h2RnlVOXM5enBlMnUvdlpZQWVqeTkrM28yUkwzRlAvaVBIejA1Syt6NTVTOFV3UXJmQ244ZlR1T0dUbE0xVldBc2gwNGxLRDhZTVZRQUFBQVpRaFdBQURLRUt3QUFKUWhXQUVBS0VPd0FnQlFobUFGQUtBTXdRb0FRQm1DRmVvUk5aNGF3ekJpaVZqVmhRQjhGZ1FyMUNNR1FpSERNSG41QmFvdUJPQ3pJRmloSGpFM04yVVlKak96TWQvbUhMNEVDRmFvUjB5TlRSaUdlWldSSVJaTFZGMEx3S2REc0VJOVltNXVxcU90WFZCUWVDMDVSZFcxQUh3NkJPdi8yN05uejcxNzkrUmJjbk56Zi92dHQ0eU1qRS9iWUZGUlVWcGFHcVhxdmdobXBxWXRQZHdZaHRsMzRKQkU4Z1YxV25OemM5KzgrWWhiY1JjV0ZpWW1KaXA4UkE4ZVBFaElTQ0RMMmRuWkgxdURTQ1FxTEN6ODJGZEJqUkNzLzIvMzd0MEt3WnFRa0xCcjE2NmlULzJxbUpNblR3WUhCOWV5d2ovLy9CTVFFUERzMmJQcVQxMjRjT0diYjc0Wk5teFlWVlZWN1hzNWZ2ejRtREZqY25KeVBxM0lla1dvcjlmR3k1UEw1VjY5bm56cDZuVlZsNk04TVRFeDMzenp6WWVuNGI1OSs2WlBuLzc4K1gvZFlQVHZ2Ly8rNmFlZkpCTEppeGN2K3ZUcHMyTEZDcEZJeEQ2Ym5aMTkrYjlKcFZMMjJjckt5cUZEaDQ0YU5hcVduWXBFb3V6czdQdjM3NTg1YzJiYnRtMHBLU2xrcy9mKzI5T25Uei8rQTJoc2NOdkEyaHc1Y3NUQndhRkZpeFkxUGl1UlNKS1NrdVJickt5czlQWDFIeng0UUI0K2UvWk1KcE1sSmlheUt6ZzVPY2wvNi9XZE8zZUtpNHVyZncvMnJWdTM1c3laMDZSSmsyZlBua1ZGUlUyYU5LbVdJczNOemRQUzBzYVBINzlqeHc0ZEhaMVBlcVAxaFpxYVd2ZUFyanYzN012TEw5aXliYWRuUzNjOVhWMVZGMVhuSkJMSm1UTm4zTjNkemMzTlAyUjlrVWdVSHg4ZkVCRGc3T3dzM3k0UUNCaUdFWXZGZG5aMnExYXRXcmh3NGMyYk42T2pvdzBORFJtR09YLysvT3JWcStYWFQwcEswdExTSXN2YnQyOS8rZklsd3pENzkrOGZOR2lRd2g1djNMZ3hZY0lFc2ZqL3A4Rnh1Vnh2YjI5dmIrLzQrUGdkTzNiSXIyeHJhL3ZISDM5OC9NZlFxQ0JZMyt2R2pSc1pHUmsrUGo2SERoMnEvcXlWbFZXelpzMm1UNTh1M3poNDhHQWZINS8xNjllVGgrL2V2WlBKWk96RDlQVDBTWk1talJ3NWtqeFZVVkZ4NDhhTlpzMmFsWlNVa0Z2Y0d4a1pjVGljeE1URXVYUG5tcHFheHNURUpDUWtSRVJFYUdob2hJYUd2cS9PMXExYnIxKy8vdnZ2djEreFlzV3laY3RvZnd6SzV1THNORFprOU9wZjExMjZjbTNsMnZBNTA4TjBHMTIyaG9XRkpTY255N2VJUktLSER4LzYrUGpVOHFyQXdNQjU4K1l4REJNZkgxOVNVakorL0hpRkZVaXdWbFpXYW1wcWZ2WFZWOXUzYno5MDZKQ0JnUUc3QXBmTFBYLytQTU13aXhjdmZ2RGdnYWFtSm1sUFRrN2VzbVhMaUJFanhHSnhlSGk0dTd0N3MyYk41TGNza1VqRVl2SHMyYlB0N2UzMTlmVU5EUTBOREF5NDNQODkzaFVLaGJHeHNXUjUwNlpOOSsvZi82eFBwMUZBc0RLNXVibGthRWtpa2VUbTVxYW1wdko0UERzN08vSzdjdW5TcFV1WExsVi9WVkJRVUpzMmJXN2MrTjh2ZDFxNWN1V1JJMGQ2OWVyVnZIbHpYMTlmMHJodjM3NjFhOWV5LzcyN2RPbkN2bnpSb2tYa1Y1eGhtTzdkdTVPRmt5ZFA3dHk1YzgrZVBlYm01bEZSVVVLaGNNU0lFYytmUDQrT2puN3g0c1djT1hQZUZ6RWVIaDZUSmszNjdiZmZBZ01EYS8vamJCREdqQnlXbXZiOHlOSGplL2Yva1pQejVvZlFNWjR0UGRUVTFGUmRGelZCUVVGZVhsN3N3OTkvLzkzUTBIREVpQkcxdjhySnlZbDgvZTJPSFR2NjkrOXZiVzM5Nk5FakF3TUR0cDlMZ3JLd3NMQ2dvQ0FuSnljbkowZFhWM2ZwMHFWZVhsNUJRVUZrSFMwdExiRllmUFhxMVNGRGhuQTRISVpoWHI1OE9YdjJiQmNYRjVMVWQrL2VuVGh4NHUrLy8yNXJhNnRRUVB2Mjdhc2ZYWldVbEdocmExdGFXcEtIMnRyYW4vM3hOQVlJVm1iNzl1MXhjWEZrZWNlT0hUdDI3TkRYMTErMWFsVlNVdExnd1lPSERCbFMvU1gvK2M5L05EUTAySWVIRGgzYXYzLy9raVZMQkFKQmRIUTAyMzcvL3YycXFpcTJSU1FTWGIxNnRieTh2SDM3OXZQbnp4OHhZa1JJU01odnYvMUcvbUF1WHJ3WUVoS1NrWkdocWFuNXd3OC9aR2Rua3hHM3dNREFaOCtlL2ZYWFh6ZHUzQmcxYWxULy92MUp4MFRCNE1HRDE2OWYvK3V2djdadjM3NmhaNUNhbXRxOFdkTU1oUHBiZCs0K2wzVHAzb09IMzNUdkZqYnhCd09odnFwTG82TmJ0MjdzY2xKU1VrbEp5WlFwVThpaERNTXdWVlZWZCs3Y3NiQ3dxSEZrWU11V0xSS0paT3pZc1ZLcGRNR0NCWldWbFFNSERuejkrblZPVGc0NVU5cS9mMyt5Sm8vSE16WTJOamMzVitoK1hyMTZ0YlMwTkRBd2tJeFdqUjgvWGx0Yk95SWlRbDFkbldFWWN2UXphdFNvcFV1WHNsMEU0czJiTit5dkZwZkxKZVU5ZmZyVXpNeXNEajZraGczQnl2end3dytqUjQrdXFLam8zNzkvU0VoSXYzNzlHSWFaTkdtU1VDaWNNR0dDam83T3c0Y1BtemR2THYrU3Fxb3FQcDlQbG0vZnZyMXk1Y3JodzRjSEJnYmV1M2N2TlRXVlhTMDNONWRoR0xaRktwWG01ZVdscHFhNnVycTJiTm55NHNXTCt2cjZPVGs1eDQ0ZFc3bHk1VjkvL1ZWWVdEaHYzcnprNU9RVksxYkk3MDRvRk83Y3VYUHAwcVVIRGh6bzI3ZHZqZS9penAwNzVLekZzV1BIK3ZUcFV3ZWZrMUxwNmVwT0Q1c29sa2orT0hJMHY2QXdkcysrdzBkUERBc2VHTmc5d01MY1RLQ2hvYTZ1enVjMytOL2VxcXFxRFJzMjZPdnJ5dzlyaWtTaWtKQ1FNV1BHVEpnd1FXSDl4NDhmNzltelovcjA2VUtoTUNFaDRmbno1eXRXckRoNDhHQnBhYW1abVptam8yTm1adWFVS1ZOYXRXcGxibTV1Ykd6TUhxM0xPM1BtVFBQbXplM3Q3VStjT0xGeTVVb1RFNU1OR3phUWNWanl5N1pseTVhWk0yZE9tVEtsZS9mdTQ4YU5zN0d4SVUvSmowY0pCSUpMbHk0bEp5ZmZ1M2R2OHVUSmJEdWZ6eThvS0JDSlJEWCsrLzl5TlBoZnpjK25yYTJ0cmExOTVjb1ZpVVNpcmExdGJHejg2TkdqdExTMHhZc1g2K2pvM0w1OSt6Ly8rYys4ZWZQWWpnQVp4aUwvM3JPenM2ZFBuKzd0N1UxK3Q5emQzZGVzV2NPdVJvWUMySll1WGJvRUJRV3hIWlBMbHk5MzZOQ2hwS1FrSnllSHkrVXVXN2FNdytHWW1Kakk3NGdsRW9uNjkrL3Y0ZUhCbm0xUWtKaVl5T1B4N08zdHQyN2Qyck5uejRiZWFTVWRyZ1d6cDNmOXl2L29pWk4vblQyWG4xK3dhZk8yVFp1M3VUUjFidXJrYUc1dTJzVENRaWpVMTlMVTVQUDU2dXJxNnVwOEcydHJFMk1qVlJmK0VmYnUzZnYwNmROWnMyYXh3NTIxUzBoSWtFcWwyN1p0aTQ2T2Z2ZnVYZHUyYlFNQ0FnSUNBc2l6OSs3ZFMwcEtjblYxOWZEd3FHVWpGeTllREFvS2V2TGt5YUpGaTlxMWF6ZGh3b1EzYjk3STl6ci8rZWVmeFlzWEh6OStQRFkyZHRDZ1FXeXdidCsrM2NMQ2dpeHpPSncvLy94ejVjcVZabVptOHYvc1c3WnN1WHYzN3M2ZE82dXJxeTlZc09EcnI3LytwQSttd1VPdy9xL1RwMDh6REhQNDhPR0tpb3J2dnZ0dTc5NjlEZzRPNUpmSjBORHdtMisra1Y5WkxCYXp4MDBGQlFXNnVyb3JWNjVrR0tadDI3WW1KaWE3ZCs4bXEyVmtaRlJWVmMyWU1ZTThMQzB0WmJjZ2tVaXVYTGt5ZCs3Y3pNeE0wbUpxYWpwejVzeTdkKyt5NjRTRmhmWG8wYU9zckV3Z0VCUVZGUzFmdm56UG5qMDFGaThXaTArZE91WGo0OU8zYjkrcFU2ZWVQSG1TSFZOcjZEcTJiOXZhcytYM1kwWmR1bnp0ejlOL3BkeTgvZVRwc3lkUG41Ry9iUTBORFo2YUdsZU5xOFpWVTFQanVqVnZ2dXluK1JibURlUElOQ3NyYThPR0RVMmJOaDB3WU1BSHZpUW9LTWpRMEZCZlgvL1VxVk1QSGp5WU8zZXUvTFBrUEZWQlFZRk1Kc3ZOemMzSXlFaFBUOC9JeU1qSXlGaXlaQW03V25CdzhQYnQyNGNNR2JKMTY5WVdMVnBzM0xqeDRNR0RaOCtlWlZjSUNRbVpNbVZLU0VqSThPSEQ1VHVlUXFIUTJOaVlmZmo0OFdNZEhaMWZmdmxGWC8vL2gyaTZkdTI2YnQyNkowK2VjTG5jVnExYWZlcG4wK0FoV0JrU2VXZk9uT0h4ZUNZbUpwczJiY3JQejU4MmJSckRNQThmUGt4S1NwbzdkMjVxYWlxSHczRnpjeU9IYjFLcGxBU3JnNE9EcjY5dmVYbDVlWG41dFd2WHRMUzArdmJ0eTQ0YlNDU1NaOCtlc1ErdlhidkdIcG9sSnllTFJDSWZINS85Ky9lelpSUVVGSmlibTdkczJaSmhtS05IajVhWGwwc2tFajgvdjlqWVdDT2oyanBpWkJpaFY2OWVmbjUrRGc0T1c3ZHU3ZEdqUnlQb3RCSmNycHF1dHJhRmhabWhvWUdGdVZsNnhtdlNMcFBKcXFSU0NjTndaVlZWbkNxcGxQdXU1SjM4bEtENlRDS1J6SjQ5dTd5OGZNU0lFV3BxYXZJelQ4aGJlUHIwcVh5anM3T3ptNXRiaXhZdFdyUm84ZXpaczdWcjE0NGJOODdhMnJxcXFpb3pNNU5rNkQvLy9NTXd6Sm8xYTM3NjZTY3lnNVhQNXpkcDBzVEt5cXE4dkp6ZDFPalJvNDhlUGJwcDB5YjV0SzFSN1lmem9hR2g2dXJxVjY1Y3VYTGxpc0pUWm1abWplWmYrNmRCc0RKay9rcVRKazNldlh2bjQrTXpjT0RBV2JObTJkcmFEaHc0Y04yNmRjN096bjM3OXAwK2ZYcEdSa1pjWEJ5UHg2dXNyR1FZaGdScmNIRHdnQUVEaEVKaFpXV2xqNCtQaFlXRnZiMjl2YjA5MmV5K2Zmc3VYcno0M1hmZmtZZnNBaG1aVlZOVG16cDFhbloyZG1GaDRmZmZmKy9uNThjd1RKczJiY2pJMnVYTGx6K3dlSmxNdG0zYk5xRlE2T2ZueCtGd3Z2dnV1d1VMRmlRa0pKREI0b2J1OGRObmh4S09IVDl4T3ZQL0pzODcyTnM1Mk51Wm1oaWJtNW9hR1J0cWFXcHFxR3RvYUtocmFHaFltSnRaTmJGVWRja2Y1TmRmZnlYVGtzZ3YwcXBWcXhSV3VIejU4clZyMTlpSHc0WU5JLy9YS3lzckZ5eFk0T3pzVEdZUmxKU1VrQ0YxZ1VCZ1pXVWxFQWlNakl4STVscGJXOHRrTWtORFE0Vjg1UFA1L2ZyMWk0bUpXYkJnQWRrN21SN3dyK1N2ZGpFeU10cTZkZXZCZ3dlTGlvcDBkWFhaVXc3a2dzUG16WnNqV0w5MFJVVkZ1M2J0K3Y3Nzc4bjhxczZkTzIvYXRLbGx5NWFKaVluSnljbS8vLzY3bXByYTVNbVRCdzhlZk9EQWdlRGdZQktzWkZiQXNHSERBZ0lDeG84Zi8vejU4NnFxS2tkSHgzWHIxcDA2ZFlwc3VheXNyS3FxU3Y0M3pNN09MaW9xaW1FWWIyOXYwbnU5ZGV1V1dDejI5dmEydGJWTlNrbzZmLzU4VmxZV09RUDdnZlVuSkNUODg4OC9QLzc0STQvSFl4aW1SNDhlTzNiczJMaHhZN2R1M1JyNjlRTHhCdyt2MnhEejV1MWJpVVNpcTZNenNGL3ZyN3QrWmQya2lZNjJ0cWFtUUg1aVJzT3laOCtlZmZ2MnViaTRQSG55aExSY3ZYcVZmYmFzck16UHoyLzA2TkhWVDE2UmlYMHZYNzdjdUhIamd3Y1AwdExTZUR6ZXRtM2JMQzB0eVVINnBFbVRpb3VMeWRoQ1hsN2U2TkdqTFMwdDVXZXFFQzR1THBXVmxXL2Z2bTNTcEFtWkwvVWhaVStkT3BVOWN0TFEwREEyTmo1MjdGaTNidDBHRFJyRWxwcWVuajV3NE1CR01PZnZNeUZZbVczYnRzbGtzbDY5ZXJHVG5MMjh2UEx5OHRhc1dkTy9mMzh5VG1SdmI5K25UNS9vNk9pZ29LQ0tpZ28yV051M2IzL216Sm54NDhmZnZYdFhUVTNOemMzTjJOaTRYYnQyWkR2bnpwM2J2My8vd29VTDJYMnhwNTdhdEduVHBrMGJzdmZ5OHZLeFk4Y3lETE5yMXk1VFUxTjNkM2N5VnZBaHhSY1VGS3hidDg3T3ptN3c0TUdraGN2bGhvV0ZUWnc0TVR3OGZQNzgrYlEvTFNVUmlVUjc5aDFZRXg1WldWbXBvNjNkUGFEcm5CL0REQXlFcXE2TGdyeTh2UER3Y0E4UGoxbXpaZzBiTnV5alhudnYzcjBqUjQ2UUNYL2taejE4K1BEZXZYdXpLN2k3dTIvZHVyVzh2THkwdEpTRXJNTFZWZ1M1bUpXTU9SUVVGTWdQa3RhaVhidDJDdk5ZdGJTMEFnTUQ0K1BqUjQ0Y1NTWlpyMTY5K2tQbTVEWjZDRmJHMnRvNk5EUlU0Wi8yanovK21KT1RrNUtTTW1qUW9Nckt5b3FLaXRMUzByS3lzdDkvLzMzZ3dJRnNzUGJwMDJmLy92MkppWWtuVHB4bzA2WU5uODgzTURCZ3IzVjU5T2dSaDhOeGNYR1IzM0pKU1VuMWpxUlVLczNQejJjWXh0WFZsY3ljUFhEZ3dMOVdMcFBKRml4WVVGaFl1R1RKRXRKZEpUcDA2TkM1YytkRGh3NzUrUGgwN3R6NTh6NGVGWkRKWkdzam92YnVQMWhSVWVIdDVUbnBoKzg3dG0vYmFJYU1qWXlNcGsyYjlzMDMzeFFVZlBUOXZPM3M3QUlEQThsd2s2MnRyYlcxdGZ3eE9QblJSMGRIeDhiR0hqNTh1THk4ZlAzNjlZNk9qaEtKaFAzMTJMdDNiMWxaMmNtVEozVjBkS3lzck1oZ3JxT2o0NGZYVUZWVjlmYnQyNXljSEQ2ZjcrcnFHaElTY3ZMa3laOSsrbW5ObWpXUmtaR1hMMTlldTNidEZ6N1hDc0hLa0RPdFpLUkpYa0JBZ0w2K3ZxV2xwVkFvMU5QVDA5ZlgxOVBUTzM3OCtPWExsOG1GVW1SK2pLdXJhNGNPSGRhc1daT1RrN04wNmRMYnQyK1R2cWU4cmwyN3lqLzA5ZldOaUlpNGZQbnk0OGVQczdLeWJ0MjZsWjZlM3JGalJ6YzNOeTZYZStMRWlkdTNiek1Ndzg0V3FFVjRlUGlWSzFjR0R4N2NzV05IaGFmbXpKbHo2OWF0aFFzWC92Nzc3MDJiTnYzVXowWTFqaHo3YzllZWZaVmljYi9lUFdkT20yUm1hcXJxaWlnamc1V2ZFS3k2dXJvS1o1eEtTa29FQWdHYm02NnVybnA2ZXRIUjBmYjI5akV4TVZaV1Z0ZXZYNTg3ZCs3R2pSdkpDaTlmdnZ6amp6K2FOR215ZE9sU0hvK1hsWlgxOHVYTEdxK0NZWjA5ZTViTW1aa3paMDVCUWNIYnQyOUpoN2RQbno0TEZ5NDBNek9iTld2V29rV0x2di8rKzF1M2JrMlpNcVVoL2krbkRzRmE4Nm5Qb1VPSERoMDZWS0d4WmN1V21wcWFaRVlVZTFBL2MrYk1nUU1IQ2dRQ2YzOS9EUTJOYytmT3Nlc2ZPblJvL2ZyMThoTlp5UFJNaG1HT0hUdDI1ODRkR3hzYmdVQmdabVkyWThZTUp5ZW5oUXNYdXJtNTllalJnMkdZdFd2WGtyTUtKaVltQ3IwU1l1UEdqYnQyN1dyZnZ2MlBQLzVZL1Zrakk2T2ZmLzU1eXBRcEV5Wk1pSXlNVk9nMTEyZFoyVG1yZjQyb0ZJdjlmRG9zbmo5THQ0RVBFOWVGakl5TU8zZnUzTGx6NSs3ZHU2bXBxV2ZPbkJFS2hlU09hT3ZXclNzdUxtWVlac0tFQ2FSRCt1TEZpNEtDQXZZb2F0YXNXYk5teldJM0ZSOGZUL3E1dGV6dTFhdFg1TDVDTGk0dWpvNk9GaFlXNUtvd3NsTnl0d29ySzZ0YnQyNlptSmg4c1JOWEZTQllQd0laUlNLL1pLYi8xNDI2ZXZXcVZDcmxjRGlqUm8yYU1tV0tqNDhQTzZlS0RCZlVlSUgvOHVYTHljSzJiZHZPblR0SHBnUXdER05qWTBQKzRXL1lzSUZjM0hueTVFa3k1NUU5ZXlzU2lWYXNXSEhzMkRFSEI0ZFZxMWJKRHdMSTgvSHhDUXNMKysyMzM4YU1HZlBqanovMjdkdTN4dXR3NnB1L3pwN0x5ODgzTmpJS0dUM2lTMGhWbVV6R251MGt5Tm5SNTgrZks3UmJXbG8rZXZSbzgrYk5aTlRJMHRLeWRldld3NFlOMDlMUyt2dnZ2M2Z2M24zbnpoMW5aK2Z3OFBDMWE5ZXVXclhLMmRuWnlzcnEyYk5uWm1abTh2TlBXVmxaV2Z2MjdldmN1VE43Q1VDTlJvOGU3ZXJxT243OCtOR2pSeXVNc2VibjU4Zkd4c2JGeFdscGFZMGNPWkxNUlJrNGNHRHYzcjBiMFAveXVvQmcvWGZMbGkzamNyazZPanJxNnVyWjJkbW5UcDFxMHFRSnVVWEZ4WXNYZi9ubGwvNzkrdzhZTUdEKy9QbGhZV0hHeHNZZUhoNk9qbzU2ZW5vQ2dXRDI3Tm5IamgwakkxTVNpVVFpa1ZSV1ZqbzdPN01udUtwNy92eTVTQ1RLeTh2VDF0YVdTQ1NuVDUvVzB0SWlzNjhNREF4S1MwdEhqaHo1NHNXTHRtM2JybDY5dXZiei9zT0hENWRJSk92WHIxKzJiRmx4Y2ZIbzBhUHI1aE9pcHZqZHUrUWJOOFZpaWI5dmh3N3QycWk2SEdXUXlXVFZ6ekdTMjFDeHQra2hldmJzK2ZYWFgvdjYrbnA3ZTdkdTNacGNxcjk5Ky9aZXZYcmw1dVphV2xvdVhMaXdWNjllWEM3WDFOU1VYTzhmRUJCdzRzUUpjbHNBQmVRR0JUS1piTnk0Y1o5UTlwVXJWdzRlUEppVWxGUlZWZFczYjkrSkV5ZnE2K3QvOTkxM1VWRlJCdzhlM0x0M3I0bUp5Y3FWSzcvWWF3UVFyUC91N2R1M2x5NWRJamVjNXZGNDd1N3VNMmJNNEhBNE9UazVQLzc0bzZlbjU0d1pNOVRWMWZmdjMzL3g0c1h6NTgvZnYzLy8xcTFiNzk2OWswcWxNcG1zK2dZM2JkcFU0NDQwTkRUVTFkVVBIang0Ly81OVgxOWZmMzkvSG84WEhoNmVsNWZINC9FR0RCaGdZbUxDTUl5L3YzK2JObTJtVDUvK3ZyNnF2TkdqUjl2YTJoNC9mbno0OE9FMFBveTZsWmRYa0hMak5zTXdmWHNGZmNpN2F3UzRYTzRIemdBaEZHWXk2ZXZyMjlyYXpwNDl1MU9uVHV3UmlZdUx5NDRkTzM3NTVaY2pSNDdZMmRuVmVNL0p3c0xDcXFxcUJRc1drSHNBeVRNME5QelhTMnpUMDlQdjNiczNldlRvL3YzN3M1ZkQ2dW5welprelorTEVpYWRQbjM3MDZGSHRWOVkyY3JKNkpqeHlrNzFySzN2WFZ1R1JHMVZkeTM4Umk4WGw1ZVZWVlZYeWpmSHg4UlVWRlIveWNuSzlGcm12NWNmdVdpcVZ5dTlYb1liNkpqeHk0Ly85QkRkOTdHdFRidDZ5ZDIzbDBjYTNvcUtTVmowL3IxaEQ2dmw5eHk1YTIyd2NQdUZYa2VMTGxXYi9IMGZJTDhEME9RdVZ0dE12b2xOQUJZL0hxOTZIcW42djlmZmhjRGdmZUgxTGRRcGpvNSs4bmZvdk16T2JZUmdiYXl0MTlSck8xd0ZkbjNsTThJVWNVbnlhQm5BMkE3NGM2YTlmTXd4amJkVkUxWVVBZkJZRUs5UWpiOTdtTWd6VHNHNzlCMUFkZ2hYcUVZbFl3akFNajRkeEFHallFS3dBQUpRaFdBRUFLRU93QWdCUWhtQUZBS0FNd1FvQVFCbUNGUUNBTWdRckFBQmx1Q2dOdmhRWExsNSs5KzZkcXFzQVpYdjQ2SW55ZDRwZ2hTL0ZoWXVYTDF6ODBPKytCZmdjR0FxQVJzNnFpYVdXMXIvY0JBOGFQUTBORFZzYjZ3OVlrWTc2MjJPOWVqMkZZV3ErYnluVVoxZXZwNmk2aFAvUzg1dnVBb0hHbXplNXFpNEVWTW5ZMk9qcnp2NUsyMTM5RGRacnlUZXVKZDlRZFJYUTRKa1lHMzA3YUlDcXE0QXZTNzBiQ3JBd042djk2MGFnUWREUzByUXdOMU4xRlFDcVVlOTZyRjA3KzNPNTNOZVpXYW91cEs3a1pHZmxaR2N4REdObWJtRm1icUhxY3VxS3VabHBWeVVlZVFIVUsvVXVXSTBNRFFmMjY2M3FLdXBRVEV6TXFSTkhHWVlaTzNac2pWOUdCQUFOWGIwYkNnQUFhT2dRckFBQWxDRllBUUFvUTdBQ0FGQ0dZQVVBb0F6QkNnQkFHWUlWQUlBeUJDc0FBR1VJVmdBQXloQ3NBQUNVSVZnQkFDaERzQUlBVUlaZ0JRQ2dETUVLQUVBWmdoVUFnRElFS3dBQVpRaFdBQURLRUt3QUFKUWhXQUVBS0VPd0FnQlFobUFGQUtBTXdRb0FRQm1DRlFDQU1nUXJBQUJsQ0ZZQUFNb1FyQUFBbENGWUFRQW9RN0FDQUZDR1lBVUFvQXpCQ2dCQUdZSVZBSUF5bnFvTGFPU2tVbWxlWHA1RUltRmJpb3VMWlRJWldjak16R1RiMWRUVWpJMk4xZFRVVkZRcEFGQ0RZSzFiTXBsczVjcVZhV2xwYkV0eGNURlpPSDc4ZUZKU0V0dHVZV0VSR1JtcGlob0JnRElFYTkzaThYaU9qbzduejUrWGIrUndPQ1JoMlpCbEdNYmYzNS9IdzQ4RG9ESEFHR3VkNjlHakIwbFMwb0ZWUU5xNVhHN3YzcjFWV2lZQVVJTmdyWE1PRGc3Tm1qV3JmUjFuWjJjbkp5ZGxWUVFBZFF2Qld1YzRIRTVnWUtCQ0M5dUhKUUlDQWhSYUFLRGhRckFxZzUrZm40Nk96dnVlMWRQVDY5Q2hnM0lyQW9BNmhHQlZCZ01EQTFkWDEvYzkyNnhaTXhNVEUrVldCQUIxQ01HcURGcGFXbTV1YmdxbnNNZ3loOE54ZDNjWENvVXFMUkFBYUVLd0tnT1h5M1Z6YzlQVjFWVVlTT1Z3T0pxYW1tNXVibHd1ZmhBQWpRZitucFhFM2QzZHdNQ2dlcnUydHJhN3U3c3FLZ0tBdW9KZ1ZSSWpJeU1Tb0d5bmxTeDRlWG5WR0xnQTBIQWhXSlVuS0Npb2VtUGZ2bjFWVVFzQTFDRUVxL0o0ZW5xYW1wcVNaZEpkdGJDdzhQVDBWSFZkQUVBWmdsVjUrSHgrUUVDQS9HaEExNjVkK1h5K3F1c0NBTW9RckVyVnZYdDNkWFYxc2l3UUNEcDE2cVRxaWdDQVBnU3JVbGxhV3RyYjI1TmxSMGRIS3lzclZWY0VBUFFoV0pWS1cxdmJ6YzJOTEx1NXVlRzZBSUJHQ2NHcVZIdyszOFBEUTB0TFN5QVF1THU3czhNQ0FOQ1k0TTdLeWthdUZCQ0pSR3pYRlFBYUdRU3JzdG5hMnRyWTJGUlVWRmhiVzZ1NkZnQ29FL1V1V1BQeTh4TXZYSHo5T2t2VmhkUWhycnFXQms4UUVSV3Q2a0xxa0xtWjZkZGRPaGtaR3FxNkVBQVZxSGZCZWk3cDB2SlZ2eFlXRmFtNmtMcDMrbTlWVjFDSGRIUjBlSHplZ0Q2OVZGMElnQXJVdTVOWEdSbVpYMFNxTm5ZbEpTVVpHWmtmc0NKQUkxVHZlcXlzZG0xYXQyL3JyZW9xNEtOZHZaNXlMZm1HcXFzQVVLWDZHNnp0MjNwUG1UQk8xVlhBSjlpRVlJVXZYTDBiQ2dBQWFPZ1FyQUFBbENGWUFRQW9RN0FDQUZDR1lBVUFvQXpCQ2dCQUdZSVZBSUF5QkNzQUFHVUlWZ0FBeWhDc0FBQ1VJVmdCQUNoRHNINjAwdExTaElTRTNOeGNpdHVVU0NRVXQvYXhwRkpwVGs1T1NVbUpDbXNBYUV6cTcwMVlQb3BVS24zeTVFbjFka3RMeXhyYldXWm1abloyZGp0MzdteWRIRzRaQUFBZ0FFbEVRVlRWcXBXSGh3ZkRNT25wNlZLcFZHRTFjM056Z1VCQWx2UHo4My82NmFmbzZHaGpZMk9HWWFxcXFwS1Rreit3VGo2ZjcrWGxwZEM0YytmT2hJU0V1TGc0UHAvL2dkdGhHS2E0dVBqTm16Zi91cHBBSVBqWDc0TE55c3JxMDZmUGQ5OTlOM0hpeEE4dkFBRGVwNUVFYTFsWjJZZ1JJNnEzaDRlSGg0V0YxZkxDd1lNSFQ1MDY5ZXpac3hzM2JseTVjbVduVHAxR2pScFZWTzJHc05IUjBTNHVMaHMyYktpK0Y3RllQSDc4K0Erc1UxOWYvK3pac3dxTm5wNmVFUkVSQnc4ZURBNE9aaHV2WGJzMmYvNThoVFZkWFYzWHJWdEhsaytmUHIxaXhRcDlmZjFhZGljU2laeWRuWGZzMkZGN1ZUS1pqR0VZRG9memdlOENBR3JYU0lKVlcxdjc2TkdqN01QYzNOeEpreWE1dXJxMmI5LyszTGx6Ykh2UG5qMjdkT2t5YmRvMHRvWFA1NnVycTBkR1JrNllNR0hHakJrclZxeGdHR2Jnd0lGZHVuUWhLK1RsNVMxWXNJQmtkM3g4ZkdCZ1lJM2ZXVDFtekppUWtKRGFpL3psbDEvT25EbERsdFBTMG03ZHVzVStaV0ZoY2ZmdVhSN3ZmMzhjWm1abXBHczhlUEJnc2p1UlNMUno1ODZ5c2pLRmQvM0hIMy9Vc3NmTm16ZmZ2MysvOXFwSXA1dGhHRFUxdFg5ZEV3QStSQ01KVmk2WGEybHBlZXZXTFUxTlRRY0hoN2x6NXdxRndsV3JWdkg1ZlBiNG1nd2p0bXJWU2xkWFYrSGxPam82RVJFUk0yZk90TFcxSmQvMzE2NWR1L3o4ZkMwdHJmejgvQThwZ01mamFXaG8xTDZPZkhJOWV2Um8yN1p0OHMvZXVYUG56cDA3Wk5uVDA3Tjc5KzRNd3d3Wk1zVE96bzVobUFNSERqQU1FeGdZS1ArUzB0TFNvS0NnV3ZZb2tVaWFOV3YycjhXVFlPVnlNZUFPUUVjakNWWWlQajcrMHFWTEhoNGVhV2xwTzNic0lJZkphV2xwcjE2OVloam0yYk5uRE1NVUZSVWxKaWFTOVkyTmpkM2QzY215VUNpTWlZbVIzMXF2WHIwbVRKancxVmRmZmNpdXQyM2J0bWZQbnRyWEVZbEUydHJhWkxsbno1NDlldlRZdUhHanI2K3ZwNmNuYWN6TXpQejU1NTluekpqaDZPaVlsSlRFdmxBbWs4WEZ4Wm1hbXZicTlWOWZJYVdqbzNQKy9QbGE5cmh1M2JvYk4vNzludE1rV0RFVUFFQkxvd3JXSlV1V1RKczI3ZEtsU3hNblRuUndjQ0NOQ1FrSnUzYnRZdGVKaUloZ2wzMTlmU01pSW80ZlAxNVpXZG12WDcvUDJiV3ZyeTg3ZXZBK3g0NGRlL3o0TWZ1UXgrUGR2MzgvTVRGeDc5Njk2dXJxSkozdjM3K3ZvNk9qOE1MTGx5Ky9lUEZpM3J4NUNtZTNTa3BLZkh4OGF0bWpRby8xeElrVHk1WXRxNzRhR1dQZHNtWEw5dTNicXo4ckZBcVBIejllKzFzREFIbU5KRmdyS2lyeTh2SVlocGt5WmNyTGx5OWZ2WHFWbVpsSlJpSEpvVDBaaTB4UFR4ZUx4U1J6cDAyYlJzNyszNzU5KzQ4Ly9uajU4dVhreVpNLytYRFkyZGxaNFRpOXVvNGRPNWFXbHNxM3pKNDllL0Rnd2R1M2J3OE5EVTFQVDA5SVNKZzRjU0laWUpXM2RldFdhMnZyM3IxN3l6ZXFxNnVibXBwdTNMaXhsajNHeDhjL2YvNmNmV2h2Yno5a3lKRHFxMlZsWlowK2ZicEZpeGF0V3JXcS9xeW1wbWJ0NzRzaWFaV1VZUml1R2dZbG9HRnJKTUY2Nzk2OXNXUEhzZzh6TWpJU0VoTElTWC9TR1NRMmJOaVFtNXU3ZWZObStkZk9uVHRYWFYwOU5qWTJOemQzNmRLbG4xYkExcTFiZCs3YytTRnJPamc0eE1iR0ppWW12bnYzam1HWXRtM2JhbXBxSmlRa25EeDVrc2ZqNmVqb2tNclpRWU9iTjIvZXZuMTcrdlRwNU5SV1FVSEJvMGVQeURqR2dnVUx5UCtQOS9IMTlmWDE5YjE4K1RJNVArYnE2dXJxNmxwOXRVT0hEcDArZmRyUTBIRHk1TW1mOXZacGVmZXVoR0VZdldxRDRBQU5TeU1KVmxkWDE5allXSVpoWHI1OE9YLysvTGx6NTdxNnVvYUdoaG9aR1pIOHFnV0h3NWt4WTRaQUlHREhPajhLT1k3dTBxWExoNHpHYnQ2OG1heS9aOCtlOVBSMDBwaVdsa1lXZEhWMW82T2p5ZktrU1pQSWdvT0RnNWVYMThhTkcxMWNYTHk4dkZKVFUxZXRXaVVXaTNOeWNzek56ZG1KQkFVRkJWS3BsRXl0clZGUVVGQm9hR2lOVDVHa3Zubnpwa1FpWVRlb0VvV0ZSUXpER0JqVU5vY01vUDVySk1HcXJhM2R2SGx6OXN5N3JhMnRob1pHZVhsNTY5YXQ1YWRiVlZWVnZlOWdudzB5VmtWRnhZZWtESmtDNWU3dVRzN2oxMjdmdm4xa1FhSFhYQjE3OGtvb0ZFWkZSWkhaWUh2MzdtM1RwczJSSTBlZVBIa3lkT2pRelpzM1cxcGFrdFdXTFZ2MjVzMmI4UER3NmxjM2tQSGM5KzJvcXFycS9QbnpycTZ1ang0OVNrcEs2dHk1ODcrK2k3cVQ4L1lOd3pDR0JnWXFyQUhnOHpXU1lLMHVNVEZSVDAvUDNkMWRQbGhMUzB2WlEyd0YyZG5aSmlZbTdJeW9rcElTbVV4Vy9UeFNkV1RZbEt3NWMrYk1TNWN1VlYrbmQrL2VzMmJOSW1lVDJBSmV2SGlSbXBwYWZXV2hVT2p0N1MzZm9xNnV2bno1OHI1OSs4Ykd4c3BQd2gwM2JoeWJtSGw1ZWExYXRUcDkrdlRjdVhPcmIzUGZ2bjFPVGs0MTF2LzMzMy9uNXVaT21UTGx3SUVETzNic1VHR3c1dVhudjN5Vnp1Rnc3R3hzVkZVREFCV05ObGk3ZCsvdTVPU2swRk43K2ZKbG16WnRhbHcvUER3OE5UVjEvLzc5NUNFNVRxL2x5SnFWa1pIQnJsbFJVV0Z2YjY5d0lkYktsU3NyS2lySWNtVmxwYUdoSVZsT1RFeU1qSXhrcjVRbHhHS3htNXZiMXExYkZmWmlZbUxTc1dQSHk1Y3ZLd1Nya1pFUldZNkxpNVBKWkY5OTlkWDgrZk1qSWlMMjd0MUwzdnYyN2R0UG5qelpwRW1UR291dnFLall0R21Uc2JGeHQyN2QxTlhWWjgyYWRlclVxUS9wZXRlRksxZXZTeVJTUzBzTEUyTWpsUlFBUUV1akRWWnJhMnRyYTJ2NWx2VDA5TXpNekJyUDNwQVJSaWNuSnc2SG82YW14dUZ3YnQ2OHlUQ01vNk5qWldVbGw4dXRaWTRudVJkQjA2Wk55VU9oVU5peFkwZjVGYlMwdE5qbGlvb0srU1N0UGhGMS92ejU3enNmWldSa3hGNUJRSmlabVptYW1ySjdLUzB0MWREUTZObXpaMVJVMUxWcjEvcjA2Vk5ZV0hqMDZORng0OGE5Nzh4K1JFVEVpeGN2Rmk5ZXpPZnp1M1RwMHJ4NTgrWExsemR2M2x6aG8xT0Npc3JLdVAySEdJWnhjWExVMUZMZVBBU0F1dEJvZzdVNjBnMHNMeSt2L3RTTEZ5L3k4dkpHamh6Sk1NeGZmLzBsbFVxSERCbkM0L0VlUFhyazYrdEw3ckdTazVOVDQyYVRrNU9Oakl6WXZtMXBhYW5DYlYvWTdpcFovclRaUzJLeCtQYnQyeFlXRnZLTjhpZnh4V0p4aHc0ZHlFVzZJU0VoNGVIaDN0N2VxMWV2dHJhMkhqaHdZSTNiakkyTjNiZHZuNysvUDdudWdNdmxMbHk0Y09USWtlUEdqWXVPanY3WFc3ZlFkZmZlZ3dlUEhxbXBxYm03TmRkUzRnUXZnTHJRK0lOMTRzU0pQL3p3dzc1OSt4SVNFdXpzN05hdFczZjU4dVU1YythUTJ3SVExNjVkWXhpbWZmdjI1T0gyN2R1ZlAzL3U2ZWs1WmNxVTRPRGdLVk9ta0VtalNVbEpBb0hnOWV2WDdBdHpjM092WDcvZXQyOWZ0dVh1M2J0RGh3NVZxSUhNTjZpcXFzclB6emY0bURNekNRa0pmLzMxbDRHQndaczNiOTYrZmF0d1c1YjkrL2ZMbjd4S1QwOS84T0NCUUNBSURnNitldlhxc0dIRE9Cek83dDI3cTk4MFN5cVZybCsvUGpZMnRtblRwa3VXTEdIYm5aMmRGeTVjT0gvKy9GR2pSaTFldk5qUHorL0RTLzBjcGFWbEJ3OGZMUzUrWjJscDBhMUxaMXhjQ3cxZFl3dFdzVmlzY0hWbVJVVkZSRVRFSDMvODRlN3VIaFVWOWVUSmswV0xGZzBaTWlRME5IVFVxRkZrbmIvLy90dlkySmljM2psdzRNQ0dEUnM2ZE9pd2Z2MzY0OGVQTDF1MjdPYk5tNlRyUnc3cXliMVR5UzVpWTJPcnFxcllTd05hdEdqUnRHbFQwdk9WUjZMdDRjT0hZckdZWFB0UFNDUVM5dnBhUXFGZjNLeFpzL3YzNzVlWGx6czdPMCtZTUtGWHIxNHltZXpPblRzUEh6NGtleTh2TDgvT3pzN0p5Y25LeW1JWVp2SGl4VU9HRENrdExYMzc5aTM1S09MajQwZU1HTUVPeFRJTTg4OC8veXhac3VUdTNic3RXclJZdDI2ZHdnbTZiNzc1UmlLUkxGMjZOQ3dzckhQbnpoTW1UTEMzdDZmd2czay9rVWkwZWR2T3cwZVBNd3d6b0UrdjVxNHVkYm83QUNWb0pNSDY3dDI3K1BoNFRVMU5Na3VKNUVocGFlbmh3NGUzYmR0V1VGQkF6c3NMQkFJdkw2KzllL2V1WExreUtpcnEzTGx6UC8vOHM3NisvcTFidHdJREEwdEtTbjc5OWRjalI0NTRlbnF1WHIyYXcrSDA3Tm5Ud2NFaExDd3NKQ1FrTWpMeXpKa3ptcHFhWkdUQXhNU2txS2hvNzk2OUhoNGU3QVJZaFltaUowNmN1SGZ2bm9HQmdVQWdLQ3NyTzNic21McTZ1dndJckVna21qNTl1c0o3YWRteUpidmN0R2xUaFRzWWNEaWNsU3RYU3FWU1B6OC9McGZyNU9UazcrOXZZV0d4WjgrZTR1TGl2bjM3SGpod1lNV0tGYjE3OTk2MGFkUE5temNqSWlKMjc5N2RzbVhMME5CUUd4dWJyVnUzSGpseVJDS1I5TzdkZS9iczJUWGVPS1pYcjE2MnRyWUxGaXhJVEV4TVRFeHMzYnIxNnRXcmE3eW4xK2NyS242Myt0ZUlQNDRjcTZ5czdCSHc5ZmRqUnVLV0JkQUlOSkpnMWRUVWpJbUprVWdrV2xwYVE0Y09KYjNDeTVjdi8vcnJyODJhTlZ1K2ZIbmJ0bTNabGJXMXRaY3NXZEs2ZGV2MTY5ZVhsNWR6dVZ4WFY5ZDI3ZHJGeGNVbEpDUU1IVHAweXBRcDdIU0M1czJiNzl5NTgvWHIxM3A2ZWx1M2JxMnFxaElJQk45Kys2Mk5qUTNETUNOSGp1eldyZHY3cWhLSlJQdjM3eWRYQkpBclNwY3ZYODZPeG1wcGFkblkyQnc2ZEVqK0phdFhyLzdYMjFmdjNidTNlcU5BSUNndUxzN016RFEwTkl5TGl5TW4wenAxNnVUdjczL3o1czB6Wjg2NHVMaWtwS1FjUEhqUTNOeDgxcXhaL3Y3K3RlekN3OE1qUGo0K0xpNXV6NTQ5WDMvOU5mVlVsVXFsWXJINDRlTW5hMzViZnozbEpzTXdMazJkbHl5Y28vT2V5WEFBRFF1SC9iT3ZKeUtpb2lPaU5qRU1NMlhDMkNrVHhuM20xdExTMGh3ZEhkLzNyRWdrWXMvUlM2VlNtVXoyL1BseloyZm5XalpZeXlVR05aTEpaQlVWRlJLSlJDQVFxUGFpSnVMcTFhdGVYbDd5bC9uVzdoT3V4WXFJMmhRUkZjMHd6SlFKNDZaTStQL3JqSytuM0JSVlZJaktSVy9ldmsxNy91TEJ3OGNwTjIrUmNaTGVRVDIrLzI1a1UrZWFaOW9DTkRpcS8xT3ZVN1drS3VubHNjdmswb0RhVS9VVGJscks0WEFVWnFxcUZudUM3Z05SL0djd2RlWmNzVVFpcmhTWGxaV0pKUktHWWZoOFh2dTJiWUlIOWZmcDBBNzNCNERHcEpFSEs5UWZwV1ZsYWx3MUhrL053TURBcW9sRko3K09BVjkzZFVFdkZSb2pCQ3NvU2RSdmE3UzBOQVVDZ1ZCZjM4elVCSE9xb0JGRHNJS1MrSFJvcCtvU0FKUUV2UVlBQU1vUXJIVWxOemUzeGp2NDFTSTdPL3Zldlh0a1lqOEFORndJMWpyeDZOR2pQbjM2S0h3UDY3K0tpNHNiUFhwMFFVRkJuZFVGQU1xQVlLMFR6Wm8xYzNOejI3eDVNN2s1L3djaVBkejZNTjBWQUQ0SC9vWS9GN213dFhxN2hZWEZ3NGNQVDV3NGNlSENCWVduZXZUb1lXdHJXLzBsa3YrZDNhbDR6eFFBYUZnUXJKK3J1TGc0SmlhR3grUFYyTk1rM3c2cndOM2RIY0VLMElnaFdPa1lOMjdjZDk5OTkxRXZDUXNMSS9kellaSFRWbDI3ZHExeGZWZFgxeTFidG54ZW1RQ2dEQWpXdW5MeTVFbGRYVjBmSHgrMjVlWExsMDJhTkdFN3R0N2UzdXpYdEJEWHJsM0x5Y21wOFp0Ui92enp6L3AyVndjQWVCOEVLelgzNzk4L2NlTEVqQmt6eUkzdklpTWpiVzF0NVlNMU5EVFV3TUNBSFpBZFBueTR3aGJHalJ0WFhsNitjT0hDNmhzL2UvWnNqYmY0QTRCNkNMTUNxSG44K1BHK2ZmdnUzNzlQSHJaczJmTDI3ZHZzcE5SLy92a25OemVYdlhOcmpZcUtpdlQwOUdwOFNpd1dJMWdCR2dvRUt4MWNMdGZYMTVkMExVbEx5NVl0UlNJUm03UFhyMTluR0tiMkx6dDUvZnExdWJsNWpVK0p4ZUo2ZFpjc0FLZ0ZndlZ6a1c4bjFOVFVORGMzZDNaMlpyOXF4Y1BEZzJHWTI3ZHZrNGVYTGwwU0NBU3RXN2QrMzNheXM3TkxTMHZsdjdpRkpaRklwRklwZXF3QURRV0M5WE9WbHBhU0w3Sm1HTWJYMXpjOVBmM1ZxMWZrVnJBOEhvOThPWlZJSkVwSlNlbllzV010NFVpKzBMQkZpeGJWbnlMZjg0b2VLMEJEZ1dEOVhNWEZ4UXpENk9ycU1neER2Z0RteXBVclpEcXFqWTBOQ2RiazVPVEt5c3JPblR2WHNwMC8vL3p6ZlRlaVpqdkZkZmsrQUlBYUJPdm5Ta3RMWXhpR0hNSjdlSGp3K1h3U3JBekRPRGs1WldkbkZ4UVVuRDE3bHNmajFmSTFVOG5KeWNuSnliNit2aVltSnRXZkxTc3JRN0FDTkNBSTFzK1ZtcHFxcGFWbFpXVkZqdGJkM2QyVGs1UEpOVlFqUjQ3Y3UzZXZycTd1K2ZQbk8zVG9vUEJGMDZ5Q2dvTEZpeGR6dWR5eFk4Zld1RUpKU1FuNURzUTZmaXNBUUFmbXNYNFdzVmg4OWVwVk56YzM5a3ViSjAyYXBLdXJTNjRDY0hWMUphZXRpb3FLYXB6Mnp6Qk1mbjcrK1BIanM3T3p4NDRkMjd4NTh4clh5YzNOWlVjYkFLRCtRN0IrbGdzWExoUVZGUVVGQmJFdFpES0F2R1BIam1scGFkVTR3SHJ2M3IyWk0yZStlZk9tWDc5K29hR2hOZTVDSnBPZE9ISGlRNzdvRUFEcUNRVHJweE9KUk92V3JkUFIwZm42NjY5Lyt1a25jdmFwT25LTndGZGZmY1cyaElTRURCOCtQQ1ltWnRldVhWS3BOQ1FrWk55NC8vK2k3NnlzckZtelp1bnA2ZW5vNktpcHFhV21wcWFtcHJxNHVEUnQybFFwYndzQVBoZUM5ZE05Zi80OE96dDcxcXhaQW9HZ1M1Y3VOalkySC9qQ1ZxMWFQWGp3SURZMjFzREFZUDc4K1FvbnRVeE1USjQ5ZTFaWldVa2U2dWpvZE83Y2VmcjA2ZVFMdWdHZy9rT3dmanBYVjlmSXlFaHZiMjl5U1ZYdFYxVlZ0M3IxYWk4dkwzMTlmWVYySG85MzVjb1ZtVXdtbFVxcnFxclUxZFdwVmcwQWRRN0IrbG5hdEduenlhK3RmVm9yaDhQQlZ3a0FORkNZYmdVQVFCbUNGUUNBTWdRckFBQmxDRllBQU1vUXJBQUFsQ0ZZQVFBb1E3QUNBRkNHWUFVQW9BekJDZ0JBR1lJVkFJQ3krbnZSNU5YcktReXpTZFZWd0VlN2VqMUYxU1VBcUZqOURkWnJ5VGV1SmQ5UWRSVUFBQit0M2cwRldKaWJ2ZThyVEtBQjBkTFN0REEzVTNVVkFLcFI3M3FzWFR2N2M3bmMxNWxacWk0RVBvdTVtV25YenUvOThrU0F4bzBqazhsVVhRTUFRS05TNzRZQ0FBQWFP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UDBQZTNjZVYxUCsvd0g4M0sxOUx5VlVLdTJMeXBLMHFMUVFJa1hFV01ZK0JrTW0yMkJtekpqdjhMWEx5RHEya0d6WmtqYWxza1FJYWJPVkZLbHU2KzF1L2Y0NE0vZDdmMjNDcVp1OG5uL000OXpQUGZlZTk4MzA2bk0vNTNNK0I4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ak5ueGgzeFgrdjdLMVdzdkN3bzcvdERRZWZUUTd1NDdZbmczRFhWSkZ3SkFQUWtFNjdYNHhBMWJ0dGZXMW5YOG9hSHprSmFXbHBXVkRScnZMK2xDQUtnbmdhR0FkKzlLa2FwUVgxLy83bDJwcEtzQWFCY1M2TEdLZUxxN2VnNTFrMkFCSUJIWDRoS3V4U2RLdWdxQWRpVEpZRFUzTXdudzg1VmdBU0FScjR1S0VLelF0V0ZXQUFBQXhSQ3NBQUFVUTdBQ0FGQU13UW9BUURFRUt3QUF4UkNzQUFBVVE3QUNBRkFNd1FvQVFERUVLd0FBeFJDc0FBQVVRN0FDQUZBTXdRb0FRTEV1R0t6bDVlVUZCUVVORFEyTjJqa2NUa0ZCUVYxZHU2eFlXRnJhZUFXODh2SnlEb2ZUSHNjQ2dFNnVxd1ZyVFUzTmhBa1Rmdi85ZHhxTjF1aXBMVnUyVEpnd29iNit2dW1yK0h6KzNyMTdxNnFxUHUyZ09UazVJMGFNU0VsSkVXL2N2SG56bURGaitIeitwNzNuSjlpK2ZmdTMzMzU3NXN5WlZ2YmhjRGdsSDZQcEh3d0ErQ0JKTGh2WUhzTEN3a3BMUzMxOWZXTmpZMFdOMnRyYXlzcks1ODZkczdhMlRrOVBGOTlmVDAvUHlNam80Y09IZS9mdWpZMk5EUTBOMWREUUlBamk2TkdqSCt4dmpoZ3hRbHRibXlBSVkyTmpKeWVubjMvK09TSWlRbFZWbFNDSXlzcksyTmpZOGVQSE01a3Qvb1NmUG4wYUZ4Zlg5byttb3FJeWFkS2tscDQ5ZHV6WW9VT0hhRFRhdTNmdlhGeGN5RS9SVkV4TXpDKy8vTkwyZ3lvcks4Zkh4N2Q5ZndEb2FzR2FuWjE5NHNRSktTbXA4UEJ3OFhZUEQ0L1hyMThMaGNJblQ1NnNYYnRXL0ttZ29DQWpJeU03Tzd2ZmYvOTkxYXBWTTJiTUNBc0w2OTY5Ky9Ianh5c3FLc1QzNUhLNVFxRlFSa1pHMU5Ldlh6OHlXQW1DV0w1OCtZWU5HN2hjTHZudzRzV0xYQzQzTlRVMU16T3phWjM5Ky9mLzdydnZjbkp5RGh3NDBQWlAxNnRYcjVhQzllTEZpMXUyYkxHMXRWMjhlUEg4K2ZNWExWb1VGaGFtb0tEUTBsdjk5dHR2clR3cmN2NzgrWHYzN3JXOVFnQWdkWjFnTFNrcCtlR0hIN1MxdFk4ZE81YVdsdWJzN0N3S3dmajQrSkNRa0EwYk5yaTd1eWNtSmc0ZVBGaEtTcXJSeXowOVBmbDgvazgvL2ZUSEgzOXMyN2J0MHFWTGpYYjQ4Y2NmYjkrK2ZmMzZkZkhHcFV1WGlyY2tKaVlTQkJFU0VuTDQ4R0ZMUzBzcks2dG1TKzNWcXhkQkVMNit2cjYramRmNUxpa3A4Zkh4bVRoeDR0S2xTOXY0d1E4ZlByeHQyelpUVTlQTm16Y3JLU250MkxGajNyeDVVNmRPM2I1OWU4K2VQWnQ5aVlPRGc0cUt5Z2ZmT1QwOUhjRUs4QW02U0xCV1YxY3ZYTGl3c3JLUzdBTnUzYnIxOU9uVDI3WnRrNWFXRGc4UFQwOVBYN1ZxbGJ1N2UwVkZ4UjkvL05HalI0K3RXN2NxS3lzM2VwUGh3NGZUNlhSN2UvdTJIM2ZTcEVtZW5wNHJWNjcwOS9mdjE2OGYyWmlVbEZSYVdycDc5KzdldlhzVEJMRml4WXBldlhyTm56K2YwazlNa0FQS2YvNzU1NlZMbDJ4dGJiZHMyYUtvcUVnUWhKV1YxYlp0MjVZdVhUcGx5cFNmZi83WjJkbTUyZGRldlhxMTJlRm1FU2NuSjhvTEJ2aEtkSkZnbFphVzF0RFFDQTRPTmpFeElVOGNMVjI2OVBuejUyZlBubzJNakZSVlZYMzQ4S0dKaVltNXVmbisvZnRuelpvVkZoWVdFaExTOUgyOHZiMC82cmkydHJaQ29YRGx5cFUyTmpia2EydHFhbjcvL1hkdmIyL1JLR2RwYVdsYnZuZC9yUHYzNzY5ZXZicW9xTWpQejIvWnNtVXNGa3YwVkw5Ky9ZNGVQYnAwNmRJZmZ2akIwOU56NmRLbFRZZGMvL3p6VHphYjNjcjc3OXUzai9LYUFiNFNYU1JZV1N4V2FHaW82S0dKaWNtdVhidCsrZVdYaHc4ZkxsdTJiUGp3NFFzWExwdzFhOWJLbFN0SGpCaXhmLy8rYnQyNmlYYU9pb3A2OCtZTnVXMWpZL05SUFZhQ0lIZzhIa0VRb3JFRmVYbjU4UER3cUtnb1gxL2ZScWQ5K0h6KzgrZlBLeW9xQmd3WThEa2Z0cmk0ZU1lT0hkSFIwZVJ3cmFtcDZmbno1NXZ1Tm5Ma3lFT0hEbDI3ZHUzNjlldWpSbzJhTW1VS09RUkJhc3NwS1hKa0F3QStWaGNKVm5FQ2dlRDgrZk5idDI2Vms1TUxEUTBsVSt5dnYvNWFzMmJObWpWcnJsMjc5dU9QUDRyMzcySmlZakl5TXNpcFNGT25UdjNZWUNWUFdJV0ZoWjA4ZVpJZ0NETXpzeVZMbHFpcnE1TkordXpaTXphYmZmdjI3U2xUcHVUbTVuSzVYRWRIeDg4SjF2THk4bkhqeHRYVzF2cjQrQmdhR3U3ZHUvZlJvMGN0N2F5am83TjU4Mlp5WUtSbno1NVRwMDc5NU9NQ1FOdDF0V0JOVFUzZHVuVnJmbjYrZzRORFNFaUlrcEtTNk9UK3lwVXJ6YzNOLy9yckx6OC9QMjl2NzZDZ0lETXpNNElnZHU3Y1NZYmd4MFlxaVF4V1BUMjk3dDI3SnlVbHljcktSa2RISnlRa1ZGWldPam82a3ZOWXUzZnYzcmR2MzhEQXdGT25Uc25LeW43T0IxUlZWVjJ4WWtYdjNyM056YzBKZ25kRm44UUFBQ0FBU1VSQlZKZzJiZG9IWDdKdjM3NWJ0MjQxVGZPV3BsNTVlSGg4MUpRc0FHaWtpd1FyajhlTGpvNCtkdXhZYm02dW5wN2VnZ1VMZHV6WTRlZm4xM1JQTXpPelBuMzZYTHAwNmZMbHl6MTY5Smd6Wjg3SWtTTS81OUJrc0U2YU5NblcxdmJGaXhkU1VsSUpDUWx2M3J5UmxwYisrZWVmVFV4TWZ2MzFWMzE5L2VEZ1lJSWd6cDQ5S3ljbjl6bUhJd2pDeDhmblkxL1M3TjhNUHAvUDRYQ0NnNFBGNTBnY1BYcFVOR2tNQUQ1TkZ3bFdEb2V6YTljdWdpQ1dMVnMyZHV4WVBwOHZPa2ZQNC9HRVFxRzB0RFQ1VUZGUnNYZnYzdE9tVFR0Ky9IaHNiR3hMTTZMYWpqd0ZSTVlsajhkVFZsYisvZmZmVDU0OEdSWVc1dW5wU1JDRStEVmdkWFYxbngrc3BETm56bXphdE9tRHV5a3FLcEtqc1MwWk0yYU1lRWxYcjE2bHBEeUFyMWtYQ1ZaRlJjVzllL2RxYW1vU0JISHo1azBuSnljeU1Ua2NqcmUzOTVJbFMwYVBIaTNhZWR1MmJmMzY5VnV4WWtWSVNBaUR3ZmpNUTVORERmTHk4bVR2VlpUZ1RmSDUvT0xpWXZIelpwK0R4K054T0p5NWMrZVNoMjVXWEZ4Y1hsNGVKWWNEZ0xicklzRXFtblYvK2ZMbDFhdFhoNGVIay9PdVpHUmtURXhNa3BPVFJjSDY0c1dMSTBlT1ZGVlZPVGs1dFpTcUhBNW4wNlpOczJmUGJrc0lGaGNYTXhnTUxTMHRnaURxNit2Rkw4MFNlZnYyN2VUSms2dXFxaW9xS2dZUEh2elpuL1YvL1B6OFdycDZsU0NJZ29LQ0R3WnJYbDZlK0IrRGRscWtCdUNyMG5XQ2xlVGw1YlZyMTY1ZHUzWnQyN2FOYkhGeWN0cXpadytQeHlObkFodytmRmhXVm5iZXZIa3R2VU5lWHQ3S2xTdno4L085dkx6YUVxeloyZGs2T2pya20zTTRuR2FEVlZOVFUwZEhoeUFJUjBmSDE2OWZQMzM2dE9rMVY1SXlmZnIwUmkxa3FRRHd5YnBhc0RLWnpPblRwNjlmdi83Qmd3ZDkrL1lsQ01MT3pxNnVyaTQ5UGQzQndlSFZxMWNYTDE2Y04yOGVPUjFLSEhrWjBvMGJOOExEdytYbDVUZHUzTmpHU1ZFWkdSbGs3NWg4azVaTytvc3VVZjN2Zi8rYm1wcmFlWUwxNE1HRGpZWXZsSlNVSkZjT1FGZlExWUtWdkFiL3dJRURqeDQ5SW9QVjFOUjAzcng1ZW5wNjVNd3FUVTNOb0tDZ3BxOGlMNHJQejg5M2NuSmF2WHAxMCsvWHBhV2xUWmVxZXZIaVJXNXU3cXhac3dpQ0VBcUZiRGFidk1pS3hXSnhPQnlCUU1CZ01QYnUzU3Yra3R6Y1hBTURnNWErcEpPbndnb0xDeE1TRXBvK0t5VWw1ZWpvK0VrL2xXWU1HelpzNk5DaHJRd0tjN25jcHFzdkFzQUhkWjFnemNyS2V2andJYm50NysvUFpETEpHZnZrcWEzazVPU2FtcHE0dURoWFY5ZHo1ODZKWGpWKy9IZ3lPd29LQ21nMDJwSWxTMFN4bTVHUmNmejRjU1VsSlNrcHFhS2lvb2NQSC9idjM3L1JRZmZ0MjZlZ29DQVFDTTZjT1pPVmxWVlhWMmRxYWtvUVJKOCtmZXJyNjVjdFd6Wnc0RUE2L1o5RmI0VkNZWFoyZG5wNit1clZxeE1TRWtTREZVMGxKeWNuSnljM2JXKzZpTi93NGNOYitaa0loY0pXcnFhbDArbE5VM1hyMXEwMU5UV3lzcklDZ2VEeTVjc1lGZ0Q0QkYwbldPL2Z2OStvYjlpVXNySnlSa1lHZVowVktTQWdnRHlGRlJRVU5IRGd3RDU5K29pZVVsQlFFSzJYeW1Bd3pNek1HcTA0eGVmek16TXo1OHlaOCtMRmk0TUhEOHJKeVFVRkJkbmEyaElFWVcxdFBYUG16TWpJeUVZZFR4VVZsVysrK2NiWDE3ZXlzdklUem1JMTdUTC8rT09QclVUbnhZc1hIejkrL0ZHSHFLK3Z2MzM3Tm5sZGc3R3g4UTgvL1BDeFJRSUFyZWt0VE5yYnR0Q3diYUc3Q1lKWU5IL09vdmx6Ty9qb0gwVzAvaitEd1dqMlMzRmhZYUcydHZibno5bjZCQUtCZ00vbnQvSkZ2dFBhRnJwN1cyZ1lRUkNMNXM5ZE5IK09wTXNCb0Y3WDZiRzJoMWJXL3llSkwydlN3UmdNaGtRQ0hRQStxS3ZkOHdvQVFPSVFyQUFBRkVPd0FnQlFETUVLQUVBeEJDc0FBTVVRckFBQUZFT3dBZ0JRRE1FS0FFQXhCQ3NBQU1VUXJBQUFGRU93QWdCUVRKSnJCZVEvZXhFVDE4eXFvOUMxNVQ5N0lla1NBTnFYSklQMTRwV3JGNi9nbnFBQTBOVklZQ2hBVFUxVi9FYjI4SFZpc1ZocWFxcVNyZ0tnWFVpZ3grbzExTFdxcXVyNWkxY2RmK2pPb0tMc2ZYblplNElnVk5YVVZkUWEzM3JyNjZHcjA4dHJxS3VrcXdCb0Z4Slk2UG9ydDJmUG5yQ3dNSUlnNXN5Wk0zdjJiRW1YQXdEVXc2d0FBQUNLSVZnQkFDaUdZQVVBb0JpQ0ZRQ0FZZ2hXQUFDS0lWZ0JBQ2lHWUFVQW9CaUNGUUNBWWdoV0FBQ0tJVmdCQUNpR1lBVUFvQmlDRlFDQVlnaFdBQUNLU1hLaDY2K0JRQ0I0Ly80OW44OFh0VlJXVnBJcmlsVldWaFlWRlluYUdReUdob1lHZzhHUVVLVUFRQmtzRzlpKytIeCtTRWhJZm42K3FLV3lzcExOWmhNRW9heXNyS1NrSkdyWDF0YmV1WE1uazRrL2RRQmZQUHdhdHk4bWsybG9hSGo5K25YeFJocU5SaVpzWldXbHFOSEZ4UVdwQ3RBMVlJeTEzUTBiTm94TVVvSWdHcG9nMitsMHVxK3ZyMFRMQkFES0lGamJuWUdCZ2FtcGFldjdHQmtaOWVuVHA2TXFBb0QyaFdCdGR6UWF6Y2ZIcDFHTHFBOUw4dkx5YXRRQ0FGOHVCR3RIY0haMlZsQlFhT2xaSlNVbEJ3ZUhqcTBJQU5vUmdyVWpxS3FxbXBtWnRmU3NxYWxwdDI3ZE9yWWlBR2hIQ05hT0lDY25aMmxwMmVnVUZybE5vOUdzckt4VVZGUWtXaUFBVUFuQjJoSG9kTHFscGFXaW9tS2pnVlFhalNZcksydHBhVW1uNHg4Q29PdkE3M01Ic2JLeVVsVlZiZG91THk5dlpXVWxpWW9Bb0wwZ1dEdUl1cm82R2FDaVRpdTVZV2RuMTJ6Z0FzQ1hDOEhhY1VhTUdORzBjY3lZTVpLb0JRRGFFWUsxNDlqYTJtcHFhcExiWkhkVlcxdmIxdFpXMG5VQkFNVVFyQjJIeFdKNWVYbUpqd1lNSFRxVXhXSkp1aTRBb0JpQ3RVTjVlM3RMU1VtUjJ6SXlNa09HREpGMFJRQkFQUVJyaCtyUm80ZSt2ajY1YldobzJLdFhMMGxYQkFEVVE3QjJLSGw1ZVV0TFMzTGIwdElTMXdVQWRFa0kxZzdGWXJHc3JhM2w1T1JrWkdTc3JLeEV3d0lBMEpWZ1plV09SbDRwd09Gd1JGMVhBT2hpRUt3ZFRVOVBUMWRYdDc2K1hrZEhSOUsxQUVDN2tNQTlyOTZYbFNVazNYajkrazBISDdmenlNL1BGd3FGUmtaR2tpNUVrcnByYVhxNEQxRlhVNU4wSVFEVWswQ1BOVEU1WmYyZm15dlk3STQvZE9jU0V5ZnBDaVJKUVVHQnlXTDZqeDRsNlVJQXFDZUJrMWVGaFVWSVZhaXVyaTRzTEdyRGpnQmZIa21Pc2RvUDZEZG9ZSDhKRmdBU2NmTjIrcTA3ZHlWZEJVQTdrbVN3RGhyWWY5SDh1UklzQUNSa040SVZ1amJNWXdVQW9CaUNGUUNBWWdoV0FBQ0tJVmdCQUNpR1lBVUFvQmlDRlFDQVlnaFdBQUNLSVZnQkFDaUdZQVVBb0JpQ0ZRQ0FZZ2hXQUFDS0lWZ0JBQ2lHWVAwZlBwOWZVVkhScVBITm13NWRrTHVxcW9yRDRaRGJOVFUxSlNVbEgzeko2OWV2Mjc4dUFQZ0lDTmIvV2JWcTFaSWxTd1FDZ2FpbHNMQnc1TWlSa1pHUjdYRTRVWUNLKyt1dnYwYU5Hc1hsY2dtQ21ETm56c0tGQzV2ZFRTUWhJY0hYMS9mS2xTdnRVU0VBZkJyYzgrcC9wazJiTm1YS2xQMzc5OCtlUFp0c09YMzZ0SlNVMU5DaFExdDUxWkVqUnlvcks5dCtGRTlQVDJOajQ3dDM3NGFFaEd6WnNzWGEybHIwVkUxTnpZVUxGMGFOR2tYZXZYWE9uRGsvL1BERGpoMDdmdnp4eDJiZnFxeXM3RC8vK1krQ2dnS1R5VXhJU0dqcGlFT0dES0hUOFJjVW9PTWdXUC9Iek14czl1elpHaG9hNUVNZWp4Y1ZGY1ZrTW9PRGc1dmRmOTI2ZFQxNzlqeHg0a1J4Y1hIYmo2S3ZyMjlzYkt5cnEwdW4wNE9EZzQ4ZVBhcWxwVVUrRlI0ZXp1RndKaytlVEQ1MGRuYWVNMmVPaTR0THMrL0Q1L09YTFZ0V1dscktaREovL3Zublp2Y2hlN3RwYVdtNHp6WkFSMEt3RWprNU9aTW1UUkp2V2I5K2ZZOGVQUUlEQXlzckt3TUNBaGdNUnJNdmxKYVdKZ2ppMHFWTFRaLzY5ZGRmejU4L241aVlxS2lvMk94cnUzWHI5c2NmZjh5Yk55ODRPSGpmdm4weU1qSnNOdnZvMGFOQ29YRGN1SEhpZXg0NmRFaTByYTJ0VFk1TENJWEMxYXRYMzc5L1gxZFhsOHZsL3ZYWFg3cTZ1dUt2cXF1cisvWFhYMk5pWXFaTW1ZSlVCZWhnQ0ZaQ1cxdjd0OTkraTQrUFQwOVBEd2tKSVJ2cjYrczNiZHJrN2UyOWJOa3lnaUF5TXpPWEwxOSs5T2hSVlZWVnFvN2J2My8vNzc3N2J1Zk9uYUdob2NIQndUdDM3cXl1cnZieDhYRndjQ0IzZVBueTViNTkrNzc5OWx0OWZYMnlSVlpXbHV4S3IxMjdOaVltWnUzYXRTNHVMak5tekpnNWMrYW1UWnVzckt6STNYSnpjMy82NmFlOHZMeFpzMmJObll0N05BQjBOQVFyb2FpbzZPM3RuWitmLy9UcFUyOXZiN0p4ejU0OUhBNW4wcVJKUEI2UHhXTFYxOWNYRnhlTG45ZWl4TFJwMHdRQ3diaHg0ekl5TXM2Y09VTU9SL2o0K0pEUFptUms3TnUzejk3ZXZuLy8vM2Ruc0dYTGxpVW5KLy8wMDArK3ZyNEVRZXphdFd2NTh1WFRwMDhmTTJiTXBFbVR3c1BEejUwN3A2U2t0R1hMbHBhR0VRQ2dYZUdjeGovNGZMNzRWK1laTTJiczI3ZHYvdno1Wk42SnE2aW9TRXRMS3kwdC9meUQwbWkwbVRObkVnVHgwMDgvOWVyVnE0MnZtanAxNm9ZTkcvejgvTWlIV2xwYSsvYnRjM056TzN2MmJFQkF3Smt6Wnl3c0xDSWpJNUdxQUpLQ0h1cy91Rnh1VVZIUnJGbXp5SWNoSVNHaWI5YnYzNy9QenM0bUNHTHQyclhQbno4bjU1WWVQbnhZZEpyck01MDZkYXEwdEhUMzd0MHpaODdjdG0xYmFHZ28yZDdRMEVBUXhJSUZDMFRuOU5ldVhldmw1ZFczYjEveVlYMTkvY09IRDFOVFV4TVNFZ29LQ2xSVVZBWU9ISGpyMXEzTXpFdy9QNysrZmZ1YW01djM3dDI3WjgrZUdob2FLaW9xTWpJeWxCUU1BSzFEc1A2RHkrVXFLQ2lZbUppVWw1ZEhSMGUvZVBFaU1UR3hycTV1NjlhdEd6WnNJUGVSbFpVTkRBeGtzVmliTm0waWh6cy9YMlptNXVUSmswMU1URXhNVEFpQzhQTHlhalRHT25ueVpORVlxNFdGUlVsSnlmWHIxL1B5OHJLeXNuSnljdmg4dnBLU2twT1QwNkpGaTV5ZG5abE1Kby9IdTNuelprcEt5cDA3ZDI3Y3VDRTYwSUlGQzZaTm0wWkp6UURRT2dUclA3aGNycjYrL3RLbFN6TXpNNk9qbzlsc2RteHNyRkFvOVBUMDlQZjNyNnFxV3J4NDhmTGx5elUwTk83Y3VVTVFoSnljM09jZnRLNnViczZjT2FOSGoxNjJiRmx0YlcxYnhsZ3JLeXZEd3NKa1pXVTFORFM4dkx6czdPeE1UVTNKTG0xK2ZqNjVqNmFtcHArZm41K2ZYM1YxZFhaMnRwU1VWRmxaMlRmZmZQUDVCUU5BV3lCWS84Rm1zOG1zNVBGNEJFRU1IRGd3SUNEQTNkM2R5c3JLMXRZMlBUMWR0R2RkWFIxVndacWNuRnhmWHo5NDhPQzJ2MFJKU1NrNk9wckZZbTNmdnYzUW9VUHg4ZkdpcC9oOFBwL1BGLysrTHhBSWVEeGVhbW9xT1RNTUFEb0dndlVmRlJVVjVPa2o4bkxTVnBLb3NMQlFSa2FtcFFtcUh5VXVMazVCUVdIUW9FR2lscnQzNzRxMnlVVUE0dUxpY25KeXlCWjdlM3REUTBNV2kwVSsxTlBURXorM0ZoNGVIaFlXZHYzNmRWSEwxYXRYVjY1YytmbDFBc0JIUWJEK283aTQyTjdlbmp3alJCQkVzK2Q1UWtORG56MTdscE9UNCtqb1NLUFJQdk9JSEE3bnhvMGJucDZlb3FBa2cvWHAwNmZrTnRsM2pvMk5GVTFYME5EUU1EUTAvTXpqQWtCN1E3QVNaSGYxN2R1M0JnWUdvc3RBbXcxV096czdhV2xwWjJmbkNSTW1iTnEwS1RBd3NPMXpwSnFLaTR2amNEaWVucDdpamJObnp3NEtDaUszTXpJeVpzNmMrY2NmZnpTYXh5cnk4dVZMUjBkSDBVTnlLRUM4aGZLSnR3RFFGZ2hXZ293d2dpREk4L0wxOWZVMEdxM1pvUUFIQjRkUm8wYVJpL3VGaDRkYldscCtUckNTMC9qSmJ2S242ZG16cDJodUZrRVFVVkZSSjA2Y0NBOFBGN1VrSnlkdjJyVHBrOThmQUQ0TmdwVWdDQ0ltSnNiUTBGQlBUNDhnaVBMeWNnVUZCYktkeFdMVjFOU1FsNStLajM3bTV1WVNCR0ZnWUpDY25Nem44NXUrSWJtS2EzSnljck96c295TmpSc2FHdTdkdXpkNjlHZ204Ly85RXhRVUZJaE9sT1hsNVpGTEdZanZZR1ZsSlFwOUpwT3BvNk1qZWtwVlZaVk9wNHUzcUt1cmYrcVBCQUErSFlLVmVQNzhlWHg4L0lRSkU0NGZQODVpc1NJaUlreE5UY21uK3ZUcGMrellNZkpjdkdqLzJ0cmEwNmRQZCsvZTNkRFFjTnEwYWEyc2w3cDY5ZXBtMjBOQ1Fzek56UTBNREx5OHZCbzlGUkVSRVJFUklkN1NxTXQ1NGNLRkhqMTZrTnQxZFhYSnljbWlwNTQ5ZThibjg4VmJSTU8xQU5DUkVLeEVabWFtbXByYTlPblRmWDE5K1h5K25wN2VraVZMeUtlQ2c0Ti8rZVdYc0xBdzhXNHBpOFV5TmpaZXRtd1puVTQvZXZUb0o0eGpkdXZXVFZsWitkU3BVK1MxVmVJV0wxNDhZY0tFVmw0cjNzTXRLeXZic21XTCtMTmFXbHJpTFdSM0d3QTZHSUtWOFBYMXRiR3hVVkZSU1VwS2F2U1VnWUdCK0twOVRZbXVpZm8wNGxNTDVPVGt4RWNiUG1qaHdvVUxGeTc4bktNRFFEdkJJaXdFUVJDTkZqTUZBUGdjQ0ZZQUFJb2hXQUVBS0laZ0JRQ2dHSUlWQUlCaUNGWUFBSW9oV0FFQUtJWmdCUUNnR0lJVkFJQmlDRllBQUlvaFdBRUFLQ2JKdFFKdTNrNG5pTjBTTEFBazR1YnQ5RGJzQmZBRmsyU3czcnB6OTlhZGoxaDJCQURnaXlDQm9RRHQ3bHFpbGFUaHF5VW5KNnZkWFV2U1ZRQzBDd24wV0llNnVkRHA5TmRGYnpyKzBKMkJRQ0I0blBtQTNMYTJzWk4wT1JMVFhVdHpxSnVMcEtzQWFCZTBwbXN0UTd1cXJxNGVNbVFJdWYxUkM3QUN3SmNDc3dJQUFDaUdZQVVBb0JpQ0ZRQ0FZZ2hXQUFDS0lWZ0JBQ2lHWUFVQW9CaUNGUUNBWWdoV0FBQ0tJVmdCQUNpR1lBVUFvQmlDRlFDQVlnaFdBQUNLSVZnQkFDaUdZQVVBb0JpQ0ZRQ0FZZ2hXQUFDS1NmS2VWMThWZ1VEdzl1M2Job2FHbXBvYTBlTGllL2Z1MWRUVXRMR3hZYkZZb2oxWkxKYXFxaXFUaVg4YWdDOFY3aURRUWNyTHk1Y3RXMVpTVXRMUTBGQllXRWcyMG1nMFdWbFpOVFUxR28wbTJ0UFcxbmJ4NHNYS3lzcVNLeFlBUGd1NlJSMUVXbHBhWFYyZHZCZUxlSXpXMWRXOWZ2MWE5SkJHbzdtNHVDQlZBYjVvR0dQdElMS3lzcmEydHVSWC9vYm1rTHRKU1VrTkhqeFkwc1VDd0dkQnNIWVFHbzFtYkd5c3JxN2UrbTRLQ2dxMnRyWWRWUlFBdEFzRWE4Y3hNVEhSMXRZV2I2SDlTOVRpN2UwdEl5TWppZW9BZ0RJSTFvNGpLeXM3WU1DQVJtT3M1TWdBdWNGZ01QejkvU1ZVSFFCUUJzSGFvZHpkM1p0dEo2UFcwdEpTVDArdnc0c0NBSW9oV0R1VWtaRVJHWjJpVHF2NGREZFBUODlHblZrQStCSWhXRHZheElrVFJkdmlxYXFxcWpwdzRFQUpGUVVBVkVLd2RqUTNOemM1T2JtbTdlYm01bXBxYXBLb0NBQW9obUR0YUlxS2l2Mzc5eGNmRGFEUmFIUTYzY0xDQXRjRkFIUU5DTmFPSmlVbE5XREFBQWFESWQ2b3JLemN0MjlmT2gzL0hBQmRBWDZUT3hxTlJqTXhNU0d2RkJCTllsVlRVN093c0pCMGFRQkFEUVNyQlBUdTNidG56NTdpTFFNR0RGQlVWSlJjUlFCQUpRU3JCS2lycTF0YVdvcVBCdmo0K0VpMElnQ2dFb0pWTXB5Y25LU2twTWh0YlcxdFUxTlRTVmNFQUpSQnNFcUdqWTJOYUVFV2YzLy9SdWV5QU9DTGhtQ1ZEQ2FUU1M0TElDOHY3K3JxS3VseUFJQktDRmFKR1RseUpKUEp0TEN3ME5EUWtIUXRBRUFsM0VGQVl0VFUxT3p0N2EydHJadTlFQXNBdmx3U3Z1ZFZiVzNkZzh4SFJXK0tKVmlEQkdWblo5UHBkQ01qSTBrWElnR3lzakkyMWxZOXRMdEx1aEFBNmttNHgvcncwZU1WYTM1OVZWQW8yVEtnNDBsTFMzODdaZEtTaGQvaHhCMTBQUkllWTMxZDlBYXArbldxcjY5L25QV1V6K2RMdWhBQTZuV1dNZFllMnQwZDdBZEl1Z3JvQ0VWRnhiZlM3d3FGUWtrWEF0QmVPa3V3V3BpWmJsei9xNlNyZ0k0UUU1dHc5LzRETHBjcjZVSUEyZ3VtV3dFQVVBekJDZ0JBTVFRckFBREZFS3dBQUJSRHNBSUFVQXpCQ2dCQU1RUXJBQURGRUt3QUFCUkRzQUlBVUF6QkNnQkFNUVFyQUFERkVLd0FBQlJEc0FJQVVBekJDZ0JBTVFRckFBREZFS3dBQUJSRHNBSUFVQXpCU2lVK24xOVJVZEdvOGMyYk54SXFCd0FrQThGS3BWV3JWaTFac2tRZ0VJaGFDZ3NMUjQ0Y0dSa1pLZEc2dWlBZWo0ZTdaa0duMVZudWVkVTFUSnMyYmNxVUtmdjM3NTg5ZXpiWmN2cjBhU2twcWFGRGg3YnlxaU5IamxSV1ZyYjlLSjZlbnNiR3hwOWQ3QmVwb2FIaDJiTm5pWW1KMmRuWksxZXVWRkZSa1hSRkFNMUFzRkxKek14czl1elpHaG9hNUVNZWp4Y1ZGY1ZrTW9PRGc1dmRmOTI2ZFQxNzlqeHg0a1J4Y1hIYmo2S3ZyLzlWQld0RFF3T1h5NjJzckV4T1RqNTM3dHlUSjA4YUdobzBORFI0UEo2a1N3Tm9Ib0tWQWprNU9aTW1UUkp2V2I5K2ZZOGVQUUlEQXlzckt3TUNBaGdNUnJNdmxKYVdKZ2ppMHFWTFRaLzY5ZGRmejU4L241aVlxS2lvMkc2RmQzYWxwYVhaMmRsUG56NjlkKy9lbzBlUHFxdXJKVjBSUUpzZ1dDbWdyYTM5MjIrL3hjZkhwNmVuaDRTRWtJMzE5ZldiTm0zeTl2WmV0bXdaUVJDWm1abkxseTgvZXZTb3FxcXFwT3Z0N0hnODN1M2J0K1BpNHJLenMwdEtTdGhzZHJQRHFUUWFUUkxWQVh3WWdwVUNpb3FLM3Q3ZStmbjVUNTgrOWZiMkpodjM3Tm5ENFhBbVRackU0L0ZZTEZaOWZYMXhjYkg0ZVMwUUp4QUllRHplcTFldkxsKytmT25TcGJLeU12Rm5HeG9heEI4aVVxR1RRN0JTaHMvblMwbEppUjdPbURIRHdjRmgvdno1YytiTUNRd01GTit6b3FJaUt5dkx5TWhJTkJyNzFXcG9hSGoxNnRXVEowOHlNek16TWpMeTgvUDVmTDc0c3kyOUVOa0tuUm1DbFRKY0xyZW9xR2pXckZua3c1Q1FFQ3NySzNMNy9mdjMyZG5aQkVHc1hidjIrZlBuSlNVbEJFRWNQbno0YXc3V2hvWUdkdm43dFd2WFBudjJyS1NrcEthbXB0R3o0ZzlGTVNwcXI2aW8rUEhISDFrczFtZVdZV0JnTUhYcVZHMXQ3Yzk4SHdCeENGYktjTGxjQlFVRkV4T1Q4dkx5Nk9qb0Z5OWVKQ1ltMXRYVmJkMjZkY09HRGVRK3NyS3lnWUdCTEJacjA2Wk5zckt5a2k1WndnUjgvdXZYcjkrOGVkUG8vSDRySFZVUkxwZjc0TUdEeisrMzNyOS9YMTlmdjlGWENvRFBoR0NsREpmTDFkZlhYN3AwYVdabVpuUjBOSnZOam8yTkZRcUZucDZlL3Y3K1ZWVlZpeGN2WHI1OHVZYUd4cDA3ZHdpQ2tKT1RrM1RKa2tTajBkUzZhWVh0MlB6NjlldlUxTlNJaUlqQ3drS3l2V24vdEduVVVqVVVJQkFJMkd3MkpXOEZJSUpncFF5YnpTYXprdXgvRFJ3NE1DQWd3TjNkM2NyS3l0YldOajA5WGJSblhWMGRnbFhFd01EQXdNREF3Y0dob3FLQ3pXYmZ2bjA3T1RtWm5OamJOR0ZGVkZSVVZxMWFwYXlzL01uSHZYRGh3b1VMRno2dmRvRG1JVmdwVTFGUjBhdFhMN0xyS3BxajJxekN3a0laR1ptdmVZSnFVNGFHaHVTR3U3djcwcVZMMDlMU1RwOCtmZS9lUFM2WHkrUHhtdlpQbVV5bXRiWDE1d3hTMzcxNzkvTktCbWdSZ3BVeXhjWEY5dmIyNUF4V2dpQmtaR1NhN2hNYUd2cnMyYk9jbkJ4SFIwZWMxMjRKazhsMGRuWjJkbll1TFMxTlNVbTVkKzllWGw3ZXk1Y3Z5WjYrU0Z1R1lnRWtBc0ZLallxS2lyZHYzeG9ZR0JBRXdlRndXZ3BXT3pzN2FXbHBaMmZuQ1JNbWJOcTBLVEF3a096a1FyTTBORFJHang3dDQrUHo1czJiRnk5ZTNMdDNMeVVsNWZuejU0aFU2T1FRck5USXlNZ2dDTUxFeElUc3NkSm90R2FIQWh3Y0hFYU5Ha1VRUkZWVlZYaDR1S1dsSllMMWcxZ3NscTZ1cnE2dXJvdUx5NkpGaTU0OGVYTDI3Tm1IRHgraXl3K2RGb0tWR2pFeE1ZYUdobnA2ZWdSQmxKZVhLeWdva08wc0ZvdWNvZG0vZjMveFFiM2MzRnp5dkUxeWNyTDRsSGdSY2hYWDVPVGtabWRsR1JzYjkrelpzejAvVUNkRm85RXNMQ3dzTEN5NFhHNUxLekFBU0J5Q2xRTFBueitQajQrZk1HSEM4ZVBIV1N4V1JFU0VxYWtwK1ZTZlBuMk9IVHRHRUlTU2twSm8vOXJhMnRPblQzZnYzdDNRMEhEYXRHbmswRUd6VnE5ZTNXeDdTRWpJVno3MVV2d2lONERPQnNGS2djek1URFUxdGVuVHAvdjYrdkw1ZkQwOXZTVkxscEJQQlFjSC8vTExMMkZoWWVMZFVoYUxaV3hzdkd6Wk1qcWRmdlRvMFU5WVFLQmJ0MjZVZmdJQW9CS0NsUUsrdnI0Mk5qWXFLaXBKU1VtTm5qSXdNRGgwNkZBcnI5WFgxMi9uNmdDZ28rSFdMTlRRMWRXVmRBa0EwRmtnV0FFQUtJWmdCUUNnR0lJVkFJQmlDRllBQUlvaFdBRUFLSVpnQlFDZ0dJSVZBSUJpQ0ZZQUFJb2hXQUVBS0laZ0JRQ2dHSUlWQUlCaUNGWUFBSW9oV0FFQUtJWmdCUUNnR0lJVkFJQmlDRllBQUlwMWxqc0laT2ZtcmZ0am82U3JnSTd3c3FCUTBOejlFd0c2ak00U3JLOEtDZzhlQ1pkMEZRQUFGSkR3VUVCM0xVMXQ3ZTZTclFFa1FrcEt5dGlvRDI1aERWMlNoSHVzZmEwdGYvbHBlVUhCYThtV0lSRnYzaFFWdm5wSkVJU2F1b1poSHlOSmw5UFI1T1JrSGV3SE1KbWQ1VHNUQUlVay9MKzFncnk4aDlzUXlkWWdLVWVPSERrZGNad2dpSkVqUjA2ZkVpVHBjZ0NBTXBnVkFBQkFNUVFyQUFERkVLd0FBQlJEc0FJQVVBekJDZ0JBTVFRckFBREZFS3dBQUJSRHNBSUFVQXpCQ2dCQU1RUXJBQURGRUt3QUFCUkRzQUlBVUF6QkNnQkFNUVFyQUFERkVLd0FBQlJEc0FJQVVBekJDZ0JBTWR3WUE2QkZmRDcvL2Z2M0gvc3FkWFYxM0hMbUs0ZC9mb0FXNWVmbkJ3Vjk5RjF6d3NQRFRVeE0ycWNpK0RJZ1dEdmFnd2NQSGp4NHdPRndIang0SU9sYTRBTjBkSFIyN2RyVnREMHZMMi83OXUwbUppYno1ODl2OWxVZFVoMTBYZ2pXanJaeDQ4YWNuQnlCUUNEcFF1REQ1T1RrN08zdEd6VW1KU1h0M3IxYlZWWDF6ei8vMU5EUVlMRllFcW9PT2krY3ZPcG9XVmxaNHFuS1lyRXNMUzBsV2hHMEZZZkQyYmh4NCtMRmk3VzF0ZCs5ZTNmanhvMmdvS0FWSzFZVUZoWkt1alRvWE5CamJVY05EUTFWVlZYVjFkV05Hc2tOWDE5ZmdpQTBORFJzYkd5S2lvb1VGQlNVbEpRa1ZDbDgySjA3ZC83em4vOFVGaFl1V0xEQTBkRnh3b1FKVWxKU2t5Wk5DZzBOOWZmM0h6dDI3TXlaTTlYVjFTVmRKblFLQ05iMkZSY1hkL2p3WWFGUTJQU3BqSXdNY3VQYXRXdDBPbjNLbENsanhveWgwV2dkWGlOOFFFRkJ3Ylp0MnhJU0VucjE2blhnd0FFTEM0dTh2RHlDSUdnMDJ1alJvejA4UFBidTNYdml4SWxMbHk3Tm5UczNNRENRd1dCSXVtU1FNQVJyTzZMUmFGcGFXdFhWMVdWbFplS041SWI0OTBjdExTMHRMUzJrYW1lVG01djc5OTkveDhURXNGaXNxVk9uenBneFExNWV2dEUrQ2dvS2l4Y3Y5dlB6VzdkdTNhWk5teTVjdUxCeTVVb3JLeXNKbFF5ZEFzWlkyNWVKaVltV2xoYTUzZEFjOGlsZFhWMVRVMU9KVmdyTmlJaUl1SHIxNnNpUkk4K2VQYnR3NGNLbXFTclN1M2Z2ZmZ2MmhZU0VGQlFVaEllSGQyeVowT21neDlxKzFOVFVMQzB0czdLeVd0L053c0pDVFUydG80cUN0bHE4ZVBHRUNSTU1EUTBidFd0cWFxNVlzY0xhMmxxOGtVYWpCUVlHdXJpNFlLd2NFS3p0aTBhanVibTVuVHAxaXR4dWFHZ1FmZDhYZFZjSmduQnljcEpjamRBaU9UazVRMFBEcUtpbzlldlh0MlgvbFN0WGt1Y2s0U3VIWUcxM2RuWjJXbHBhSlNVbFRaOGlRN1puejU2WWNkV1pDUVFDSG84M2QrNWNWVlhWbHZZcEx5L2Z2WHMzcGljRENjSGE3bGdzMW9nUkl3NGNPTkRTRG1QSGpzVWs4ODV2MkxCaHJWeFNWVkJRc0h2MzdvNnRDRG92bkx6cUNMNit2cUpWT2NnUkFORTRBSlBKOVBmM2wyaDFBRUF4Qkd0SDZOYXRHL2xsWDN4Q0ZibmR2MzkvUlVWRmlWWUhBQlREVUVCSGtKS1NHalJvMFAzNzk4bUgySmxyNFFBQUlBQkpSRUZVNHFldFhGeGNKRmNYZklUaTR1SlBmaGErTmdqV2prQ24wODNOelZWVlZjdkx5OFhidGJTMHNMN2NsMkx1M0xtU0xnRytHQWpXRG1KZ1lHQm9hSmllbmk3ZWFHcHFpaVhtdmhSYnRtd1JYZXZSVkVsSnllTEZpenUySXVpOEVLd2RSRXRMeThqSTZPN2R1K1E0QUkxR1l6QVk1dWJtdUM2ZzgvUDE5Zlh4OFpHU2ttcmxtbU1URTVPN2QrOTJiRjNRZWVIa1ZRZWgwK2tEQnc0a2Z6bkozMDk1ZVhrYkd4dXNEOUQ1TVJnTWFXbHAvRXRCMnlGWU80NmRuWjJ5c3JMb29hYW1wb1dGaFVRckFvQjJnV0R0T0FvS0NxNnVycUtIYm01dXNyS3lFcTBJQU5vRmdyVkQrZm41MGVsMDh0dmxpQkVqSkYwT0FMUUxCR3VITWpZMk5qSXlJZ2pDeXNvSzh3RUF1aW9FYTBjYk9uUW9lZUc1cEFzQmdQYUNZTzFvL2Z2MzE5Ylc3dCsvdjZRTEFZRDJnbUR0YUpWVk5ib0dSc21wdDhyS3l0dXdPd0I4ZVhDQlFNZkplcHE5YTgrQnRGdDNxcXFycnFmY1BIRDQySVJ4WTZjRVRaQ1R3OXdBZ0M0RndkcStoRUxodTlMU0oxblprV2ZQeHlVbWM3bGNzcDNINDc4cUtOeXdlZnZCdytHQkFYNWVROTMwOWZYazVlUWtYUzhBVUFEQjJvNWV2SHgxTlRZKzZVYnF2WXdIOWY5R3FvcXlzclBqb05MM1pXbTM3aEFFOGE2ME5EUnMzK2x6VVFQNjJRN3o5SEFjYksrb29DRHB3Z0hnc3lCWTIwVkp5YnNkdS9kY2pyNVdWVjB0dWwySG1xcnFsS0RBYnlZRnlzdkpDNFdDNXk5ZmJ0NytWMkxTRFlGQThLYTRKT3BTZEhSTW5LNXVyNW5UcG96M0h5UHBUd0FBbnc3QlNxV0tDblpPWG43VXBTdG5veTdXMVhISVJnVUZlVjJkWHNNOGhvNFBHS1BacmR1Lys3TE1URXpDZG15K2QvL2hzWk9SR2ZjZkZCVzk0Zko0ZWZuUGw2LytKV3ovMzVNbmpuZHlzTmZUMVpXU3dsMWJBTDR3Q0ZacXZDdDlIeHVma0ppY2N2ZmVnN0ovRjEyVms1TjFHK0k4MU5YRndYNmdsbWEzcHEraTArbjk3V3hzcksyeXNyTlQwbTVkaVlsOS9PU3BVQ2g4L3VMbCtnMmJlK3ZwT3RnUEdPN2xZV2ZiVjFwS3FzTS9Fd0I4SWdUcjU2cmpjUFlkUEhMODFPblMwdmQ4UHA5c2xKYVc5aHMxWXU2czZkMjFORmtzVnVzTEl6R1pEQ3NMY3dzejAyK0NBdStrMzl1MExmUngxbE9CUUpELzdIbitzK2VuenB3M056WCtmdDVzVjJkSExMQUU4RVZBc0g2aW1wcmE1eTlmeHNZbkhnay9XVjdCSmh1bHBLUjBkWG81RHg0MGVlSjQvZDU2SC9XR2REcGRYazdPMWNYSjJkRWgvbnJ5cVRQbk14ODlLWG43dHI2K1B1TkI1c3g1Qy92WjJreWVPTTYycjdWMmR5M1JyUWtCb0JQQzcrZEhxNm1wdVJvYkh4T2JjUC9obzdmdjNwR05NakxTVG9NZGZMdzkrdG5hOU95aFRhNjA4bWtZRElhbnU2dVRnMzEyYnQ3TjIrbG56bC9NZi9hOG9hRWgvVjVHeG9PSFJvWUdBd2YwR3pOcWhJMjFKWFdmQ1FDb2hHRDlDRnd1OTl5Rnk3djNIaWg2VTh6bDhVVHRRNXdjRjN3MzI5elVSRnE2dFVYbVA0cXNyS3lOdFpXVnBjV0VjV09qcjhWdjIvbFh5ZHQzQW9IZ2FVNXVUbDcrcVRQbkIvYXpXN3h3bnJVbFZuUUY2SFFRckI5V1cxdjM3TVdMbExSYkowK2RlZkdxZ0d4a01CZ0crcjN0Qi9TYk9ON2Z6TVM0blE3Tm9OTlZsSlVuQlBqNWp4NTU4VXJNNWVpWXpNZFAzcjRycmF1cnUzNGpKZTMySFNjSCs3RmpSbGxibW10Mzc4NWdNTnFwREFENEtBalcxZ2lGd3NUa0cxZXV4dDY1bS9HcW9KQnNaREFZdG4ydGZVY01IOURQeGtDL040dlZFZE9oV0N5V24rOElEemVYek1kWjE1TlR6bDI4L081ZEtaZkxqYitlbkp4NjA5TGMxR213dzVoUkkvUjc2M1pBTVFEUU9wcjRQZTVCaE0vblgwOU9YYjloOC9PWEw4WGIrMXBaaGl4Wk9HaGdmOG1lb0srdjV4NE9QN0ZuLzZIM1pXV2lSanFkUHRMSE8zamg5enE5ZWtpd3RpL0ZuajE3d3NMQ0NJS1lNMmZPN05tekpWME9kQ25vc2Y0L1BCNy81YXRYdDlQdm5qb1RsZm40aVZBb0pBT3Jady90dmxhVzQvM0hEQnJZdnpPY2taZVdscG81N1p1eG8wZWRpN3AwTFQ0aEp6ZS9nczBXQ29WUkY2L0V4aVY2RG5YMUhUSGMwc0s4bTRhNnBDc0YrQnBKUGlNNkNhRlFtUEhnNGNYTE1UZnZwT2ZtNVpPUlNoQkVIME1EM3hIREhCM3N6VTFOcEtXbEpWM20vOUJvTkhVMTFSblRKby94OWJtWDhTQTI0ZnJGeTFmck9KemF1cnJ6RjY4a0pOMndzakFmNHV3NGNyaDNkeTFOU1JjTDhIWEJVQUJCRU1UanJPejFHemJmdkgxSC9LZWgzMXQzMGZmemZIMittS1grSzZ1cXRtemZkZXBzVkcxdHJhaFJTVWt4S0REZ2gvbHpwWER0MXYrSG9RQm9QMTkxajdYZ2RWSEcvUWRuemw5TVNiMHBFQXJKYnFDR2hycWxtZW1ZVVNQY1hKMFY1T1VsWGVOSFVGSlVYTHRxMmJSdmdzNUdYVXBNdXBHYm4xOVh4Nm1zck5xOTkrRFI0NmNDeHZoNmU3cWJtNWxnOVN5QTl2WTFCbXREUTBOV2RzNnBNK2R2cDkvTGYvWmN0RWFxdHBhV3Y1K3ZxNHVUdWFteGpJeU1wTXY4UkhxNk9qOThQM2ZDdUxHWmo1NWN1QndkRzUvSXFhK3ZycTcrKzJqNGhjdFhqSTM2RFBmeUdEVml1TEtTb3FRckJlaXl2cnBnZmZ1dWRPT1c3VkdYb25saU0veFZsSlhuekp3Mlkrcmt6bkJpaWhMZHRUUzdhMmw2RG5YTmUvWjg0K2J0MStJVENZSjRYMWFlZHV0TzJxMDdvV0g3NXMrWk9kNS9ETVlIQU5wREY4bVJEM3BUWEhMbjdyM29hM0Z4Q1VtaVNGVlJVZWxuMDlmRGZZaTNoN3VLaXJLa2Eyd1hmUXowdzNadXljbkx2M0RwU3RLTnRDZFBzd1VDUWNuYmQydlcvUkcyLysrUnc3M2RoamhibUp2aTVnVUFGT3I2d1ZyMHB2ak0rUXVKU1NrNXVYblZOVFZrbzVxcXFzOHd6MkdlUTgzTlRKU1ZsTHI4cWxIR2ZRd1h6Wi9uUDhiMzRhTW5wODZjdTNYbkxwL1BmMTMwSm16LzMxR1hydlMxc2h6cDR6M2N5NlBML3h3QU9rWlhEdFlLZHVXK0E0Y09IZ212NDNERTJ5ZFBERnd3YjJZM0RRM0psU1lCVENhanQ1NXViejNka2NPOWJ0NisrOGZHelkrem5wSjkrVGZGSmRIWDRuUjY5VndaRWp6VTFibkxqSWNBU0VvWC9CVXFLeTkva1Brb052NzYxZGg0MFMybVpXVmtiUHBhRFhGMkhEMXl1SmJtVnoydmswNm5EeDQwNE1McDQ3ZlQ3MTI4Y2pYdDFwM25MMTRLaGNLQ3d0ZnpmMWhxYW16a08zTDQ0RUVEK3hnYXlIU21lYnNBWDVBdUZheDFITTdaOHhldXhpWThmUFNZemE0a0crVmtaVjJIT1BtTkdtRnBidGF0bThibkxPalh4UXpzYjJkamJmbnMrWXViZCs1R25qbi81R20yVUNoODhqVDd5ZE5zZlQzZGZuWTJZMzFIMmt2NjRsMkFMMUZYQ0ZhQlFGQmV3VDUvOGZLV0hidHFhK3ZJUmpxZExpc2pNOVJ0eUtMdjUranJmZHlhMDE4UEtTa3BVeE5qVXhQaktVR0IxK0lTZDRidHk4M0w1M0s1ejErK2V2N3lWZVRacUFIOWJILzRmcDZOdGFXTWpBd1NGcUNOdnV4Z3JhbXB6WHo4SkRrbDlWTDBOZEhxVTFKU1VxWW1SbzZEN0gxSEREYzJNa1FjdEFXZFR2ZjJkSGQySEhRajlkYmxxOWZ1WnR3dmVsUGMwTkJ3NTI3RzFGbnordHZaamhqdVBXaGdmNFBlZXZoNUFuelFseHFzOWZYMTBkZmlUcCs3a1BVMCsvMi9BNmtFUWJnNERaNFE0TmZYMmtwTHN4dSs5WDhzT1RrNUx3ODNWeGZIWjg5ZlhMK1JlaVQ4Wk5HYllqNWZjUE4yK3QyTSs3MTY5T2huWnp0NXdqZ3JTM1BFSzBBcnZyQmdGUXFGSEU3OXRiaUVyYUc3WC82NzVqUkJFTEt5TXYxc2JWYjh1TGo5MXB6K2VvakdCMlovTy9YUXNSTi9Id2wvVTF6TTQvSEo4WUdvaTVlSHVEZ3REMTdVbzRjMjdoMEwwS3d2SmxpRlF1R2pKMW1wYWJlakxrYy96YzRoR3hrTWhrRnZ2Zjc5YkVmNURMT3o2U3NsMVJGclRuODlhRFRhdE1rVFI0OFlmaTArNFZyODlZejdEOHJLSzdnODNyVzRoSVRyeVI3dVE0WjVEaDNRejA2N3U1YWtLd1hvWEw2QVlPWHhlRGZ2M0QxNi9PU2p4MWx2MzVVS0JBS3kzZHpNWlBLRThRNzJBM1I2OWNTMy92YWpxcW95M3QvUHg5c3I3OW16SzFkalQ1Ky9VRlpXenVmem8yUGlyaWVuNlBUcTVlYmlOR0c4djU1T0wwbFhDdEJaZE41Z2JXaG9xSyt2Zi9qb3lhYXRPKy9lZnlCYUlGVktTc3JFcU0vQytYT0d1cnA4MUx1eDJXd3BLU201VnEvZFRFaEl1SGZ2WG5Cd01Qa3dPVGs1S3l2cm0yKytrWldWL2J4UDAxbHdPSndQcmkrVGxwWW1MeTl2YlcwdDNxaWdJRzlqYldWamJUVjMxcmNIRHg4N0hINmlwcWEycm82VGs1dVhrNXQzSlB5a3Y1L3YzSm5UTmRUVldhek8rejhWUU1mb2pMOERRcUh3YVhiT2piUmIxK0lTN21ZOEVMWDMxdE1aYkcvdjRUN0V3WDZndFBUL0c5MFRDQVRpUzZuU2FMUkdkOWE3ZlBueW1qVnJnb09EZzRLQ1dqbjBreWRQTGwyNkpBclc4K2ZQMzd0M2I4YU1HYTI4cEtxcUtqVTE5WU1mU2xWVmRlREFnYUtINzk2OUUvMnBhQ05GUlVVNU9ibUdob1lqUjQ1b2Ftb09HemFNSUFnMm0vM3UzMXR3dDZSUG56N2tSbWhvYUdwcTZvRURCMXBmc1h2anhvMjllL2Zldkhsejh4OUVSWG5Kd3U4bVR4d2ZFNWR3UGVsRzJxMDd0WFYxdFhWMVI4SlBucjl3MlcySXM3dXI4NkNCQTNEekF2aWFkYTVnYldob3lIcWFmZVI0eEswN2Q0dUszb2h1TWEybnF6Tnh2TCtyaTVOdXI1N05kcmltVHAyYWxaVWxlcWlrcEpTUWtDQjZ5T1Z5ZCszYVJhZlRUNTQ4T1hiczJEWXVDVmhYVjVlV2x1Ymw1ZFg2M1UrTGlvcFdybHdwSlNYVnluQUVsOHUxc3JJU0Q5YUFnSURxNnVxMmxDRWkrcXR3Ky9idCsvZnZtNW1aNmVucFJVZEhiOWl3b2ZVWDNycDFpN3hLZGRDZ1FRY1BIdnp6enovWHJGbnpVWWR1U3JPYlJ0QjRmeDh2ajd6OFp4Rm56OGRjaTYrdXFhbXNxanAvOFhKOFlwSlJINE5obmg3akE4WW9LV0p4UXZnYWRaWmdyYXlxeXNuTkM5djNkMkx5RFlIZ242NmNuSnhzRDIzdFdkT25qQmptSlNmWDJwZnhrSkFRVVU1ZHZIanh5Wk1uNHMvdTJMR2pyS3hzMTY1ZFM1Y3UzYjU5ZTBoSWlQaXpDUWtKOSsvZlg3eDRjYVAzakkyTjVYQTQ3dTd1YmFsL3g0NGQvZnYzYituWkpVdVdWRlJVaUxkczNyeVp6K2MzMnEycXFtcmp4bzA4SG0vMTZ0Vk5oeXowOVBUSXp2alBQLzg4YnR5NFZhdFcvZjMzMy83Ky9xTkdqUklJQkZldVhQSHc4Q0QvWnZCNHZOT25UeDg2ZEVoUlVYSDI3Tm1pYS8vNzllczNjZUxFOFBCd1oyZG5OemUzdG55dVZ0RHBkRFUxMVlGcS9RWU82UGR5N3F6OWg0NUd4OFN5S3l1cnFxdnYzWDk0Ny83RDdidkNwbjBURk9EbnE2V2xpZmtEOEZXUmNMQTJORFM4ZkZWdzgzWjZiSHhpeXMzYjlmWDFaTHVHaHZwZyt3SHVRMXc4aDdxMlpYelQydG82UER4Y1QwL1AwZEV4T1RsWlJVVkY5RlJ5Y25KNGVQakNoUXNIREJpd2JObXkxYXRYR3hzYmp4a3pSclJEWm1ibWhRc1htZ2JyK2ZQbkNZTEl5c3JLeTh0cmVrUXZMNitlUFh1S0hqNTgrTEN1cnE2bDhzckt5aHIxWi92MTY5ZG9uNWN2WC83blAvK3BxS2pZdkhtenZiMTlLeXVoYUdob2hJU0UvUFRUVHlkT25KZzhlVEtUeWN6TnpUMTU4bVJZV05nMzMzeWpwcVlXRmhiRzUvUG56NTgvZHV6WVJ1OHpmLzc4eE1URWd3Y1BEaGt5NU1TSkU4MitmMlZsWldGaFlYaDRPRG52SWpBd3NLVktSUFIwZFg1ZHZXTGE1SW5SMStLVFUxSXpIbVJ5dWR6cW1wcWR1L2VlaWJvNDFOWEYxZG1wbjExZmRHRGhLeUhKWUMwdWVYdjB4S200aE9zdlhyNFNSYXFhbXVwWTM1RytJNGJyNnZaU1ZGQm8rMFQwRXlkT0JBUUVPRG82VmxSVUtDdi9zN2pxZ3djUFZxeFk0ZUxpTW1YS0ZJSWdmSHg4c3JPejE2OWZ6Mkt4Um93WTBjcTdQWG55SkNNamc4bGtIanAwU05USTQvRUVBZ0haS3pRM054Y1AxcjE3OTM1d0tLQ1Z3NTA1YzJiejVzMXFhbW9NQmlNbUppWW1KdWJGaXhjTEZpeG9xUmM4ZlBod05wczlldlJvUHAvLzRzVUxHbzMybi8vOEp5WW1adi8rL2JXMXRVWkdScXRYcjVhV2xuN3g0Z1haMVdXeC9wbUlKaU1qczNYclZtMXQ3WWFHaHREUTBHYmZuTVBoc05sczhsbHBhZW0yQkN2SlFMLzNuQmxUL1h4SFpENTZjdnpVNlJ1cE53VUNRVkhSbXlQaEp5OUhYek0zTXhrenltZkVNRy9NaW9NdVR3TEJXbHRiOStMVnE2UEhJMDZkT1MrYU95VXRMYVhacmRzNHY5RkJFd0xVVkZVLzRXM2Z2Myt2cXFwS25zL1IwTkFnQ0NJOVBUMDRPRmhmWDMvZHVuV2lnRjYwYUZGWldkbWFOV3RldlhvMWE5YXNsanFHWko1T21EQkJ2Q2Y3L2ZmZlYxVlZpVWV0eU1jT0JZZ1VGaFp1MkxBaEpTVmwyTEJoSzFhczhQWDFKUWhpOU9qUkd6ZHVuRE5uenVEQmd4Y3NXR0JzM014VkR4TW1UQ0JIZUpzR1gyNXVMdm1IaEhUNjlPbmV2WHVMSGhvYUdwSWJLU2twelpZMGR1ellWazVldFk3QllHaDMxOUx1cnVYbDRmYjR5ZE8vOWgxTXUzbWJYVm41dnF3c09TVXRPU1Z0MDdaZGMyZE45eHJxcXFxaUlvcDdnQzZtUTRPVncrRWtwYVJGeDhRbEp0Mm9ZTFBKUm1VbEpUdmJ2bTR1VHNNOGgycDg2cW5rbXBvYURvZERCbXRGUlVXZlBuMGlJaUwrKzkvLzZ1bnAvZjc3NzN3K1h6elhGaTllM05EUXNHL2Z2c2VQSCsvY3ViUHB1K1htNXNiR3hoSUU4ZWJORy9IMjB0SlNYVjNkWmd0SVRVMHRLaXBxcWJ6aTR1S21aOHlxcTZ2Mzc5OS8vUGh4SnBQNTg4OC9qeG8xU3ZTVW5aM2RzV1BIenAwN0Z4b2FHaFFVNU8vdi8vMzMzeXNxS25JNG5JaUlDSEtmUG4zNkRCNDhtTndPRFEwbFowZmw1ZVZObno3OTZOR2o1SUJzZG5iMnpKa3p5WDBlUG53b09yL240K09qcUtoSWpwT1ltNXVycTdmTEdYd0xjOU90RzlablBuNGNFeHVmY3ZQMjAreGNQcDlmOU9iTjJuVi9IRDErMHR0amFFL3RiZ1V2WHpLWlRDYVRTZjhYdWMxZ01CZ01ocWlGM0JiOVYveFowYmJvVFZwcUVYODVuVTRYL1ZFSG9GeUhCbXR5U3RxcW4zOTcvNzZNZk1oZ01NYU5IVDBoWUd4dlBWMmx6N3UzM2Z2Mzc4a3BUV1NQVlVWRlJWVlZkZkRnd2U3dTduNStmazMzLy9iYmI0T0RnMDFNVEpwOXR5Tkhqc2pJeUF3YU5FaDhkRlVvRkw1Ky9kckJ3YUhabDBSR1JyWXlLbHBUVTJOaFlTRmViWGg0K0tsVHAycHFhanc4UEJZc1dOQ3JWK1BaOVhRNmZlellzWjZlbmx1MmJJbU1qSXlMaS92aGh4OEdEeDVNM3JHNXZyNSt4SWdSb21CdGk5VFUxQ05IamdpRlFpNlhhMjl2cjZpb3lHYXpWNjllcmErdnYyZlBubmJxUERLWkROdSsxdGFXbHRQZWw2YmZ1Ny92NEpFSG1ZOGFHaHB5Y3ZQejhwOGI2bXFYbHJ5aDBXams5d25SaHZoMjAwWlJ1L2gvRyszV2JHT2o5bytkbFFIUWRoMGFyTlUxdGZXY2V2RVdLU2twZVhrNTVtZFBLU2VETlNjbnA2eXNyS0tpb3FTa1pNaVFJVnUzYmkwdkx5ZVRxQkZ0YlczeEVkSkdwazZkYW1Sa3BLNnV2bnIxNnJkdjMycHFhcExkMk5yYTJrYlQ1c2tiWjQwZE8zYnk1TWw2TFM5T0dCa1pXVnRiSzNxWW5wNys5OTkvMjluWkxWcTB5TkxTc3BYUHBhaW91R2JOR205djc5OSsrMjN2M3IzdTd1N2s5L2R4NDhhSjd6Wi8vbnp4aDVNblQyNzZWblBuenAwN2QyNUNRc0xTcFV2SkZtVmw1VjkvL1hYeDRzVWJObXhZdFdwVksyVjhKaHFOa0phV2xwZVRVMUZSbHBHVzV0VFhrK2N0eVpuSERhSXRTV2c2NVJuZzgzVm9zSHA3dU5IcHRDc3hjVGR2MzZtc3JCSUlCSWVQbllpNmVHV3d3MEQzSVM2dXpvNXFhcDh5dWlvNjdiNSsvWHJ5WVdSa3BJeU16T0xGaTFrc2xxMnRMWVBCbUR0M3JxT2o0emZmZkVQT2F0cThlWE5RVUpDUmtWR3o3MlpvYUdob2FFaStaMnhzTERsN05DVWxoVWFqMmRyYWluYUxpb29pZXozNit2b3BLU2t0RFZtU21Fd21lWjdkeHNiRzI5dTdSNDhlelo3T1dyeDRjZmZ1M1JzMTJ0dmJSMFJFbEpXVnRYVFoySysvL2tyMnZsKytmQmtTRXJKbHk1WWVQWG9RQlBIczJiTVZLMWEwVXBXTGk4dmt5Wk9QSGoxcVpXVkZEdTlTU3lBUVBNM09UVXk2a1pCMEkvUFJZOTYvTTh6MGUrdTV1VGdaR2VpeEs4ckpVNEpDb1ZEOHY0MGVOalEwOFBsODhqS1FsdlloTjhTM0d4b2F5Qlp5bzlIKzVIKzdkKzl1YW1wSytRZUhyMXlIQnF1Y25Oem9rVDZ1ems0NWVma25JOCtjdjNoRklCQlVzTm1YbzY5ZFQwclIwZWs1MW5la3Y1K3ZxdGhrcVRZYU9uVG9uVHQzUkE4REFnS2twS1Jldm53NWZ2ejRyVnUzT2pnNE1Kbk1HemR1a01GNi9mcjFxS2lvOGVQSE4zMGYwZVFFZ2lEVTFOUUdEUm9VRVJFeGNlSkVjdmJWNE1HRHhTZHluVDkvL3ZYcjEwM2ZSQ0FRbEpXVktTb3FObnNsQXBQSk5EYzN0N0t5S2l3c0RBZ0lhTXVuR3o1OCtOcTFhMXZwWXZmbzBZTzh2SW9jTjlUVjFTWFBWbkc1M0ErKytmZmZmMy9uenAzSXlNaVJJMGRTdStUQzAremNBMGVPcGFiZEtubjdUalNnMmIyNzF2UnZnanpkWGJXMXU1T1RXeHYrSmRxbTBXaU5Hc1gvSzk3RGJkclk3TTVOMzFEMERpd1dTK1hqLzM4RGFKMEVaZ1VvS3lzTjZHYzdvSjl0OEtMdjl4NDhrbkE5NmMyYjRwcmEycWZadWVzM2J0bHo0TkRFOGY1alJvM1EwdXdtS3l2N3NldCsxdFRVc05sc0hvOG5JeU9qcDZlbnBxWjI5ZXBWQndlSEFRTUc3TnExcTdhMlZrNU9MaTR1cmsrZlBtWm1adVJMeU4reGUvZnVIVGh3SUMwdFRUUlZpeUNJNmRPbno1bzFLekl5VWs1T3JyQ3dVUFFsbXJSLy8zNXlJeXNyNjltelp4NGVIdVNsb25sNWVZR0JnU0VoSVQ0K1BxMlUydERRd09QeGZIeDgrdmJ0MjhwdU8zYnNFTjJ2dXlYejU4OG5mMURrWjVrMGFaTDRSMnNkaThYYXVuV3Jpb29LSmFrcUZBckxLOWhQczNNT0hUdVJtSlRNNS8rVHA0cUtpa2FHQnVQR2p2YnpIZGxvdXBYNFNDaEExeURKZWF6YTNiVldMdzhPR2ovMitvM1V4T3MzN3R6TDRISzVwZS9MZHZ5MU4rTDBlYmNoVHE0dVRpNk9EaCs4QXBYTlpsKzdkaTBySyt2eDQ4ZDVlWGtCQVFIMTlmWGtxMXhkWFM5ZnZyeHExYXFCQXdkdTM3NDlJeVBEeHNibTVzMmIzMzMzbmVqbHo1OC9aN1BaczJiTjZ0V3JWNzkrL2NSUFdObloyYm01dWUzY3VWTmFXcnBmdjM3T3pzN05GbkR5NU1ta3BDUXZMeS94eHN6TXpLYURkODdPem8yK3p0dloyVFY3ZWsxazM3NTlyWDk4c3RkSlRxSXFMQ3hjdjM3OXNtWEx0TFMweUpHQlAvLzg4NE12MS96L2QxZXNxYW41dEpCOVZWQklmdXUvZVR0ZDFQZlgwdXptTkhpUXE0dXprNE85c3JMU0o3d3R3QmRId2xkZTBXaTBQb1lHaGdiNm8wZjZQSHFTOWZlUjhKUzBtd0tCc09UdDI1T1JaNi9FeE9ycjZVMmROTUhMdzYyVjY2OXFhMnMzYmRwa1lXSGg3T3k4YU5FaWEydnI2T2hvTWxqZDNOd2lJaUp1Mzc3dDRPQ2dxS2o0Nk5HamQrL2VDUVFDVVYrU3orZm41K2ZMeWNuTm16ZHYzTGh4ZS9ic2FYU2RWWEJ3c0srdmIzVjE5YzgvLzl6czBhdXFxaElTRWx4ZFhSdWRXRDk3OW14VVZGU2puVStlUE5uNjhscWZ4c3pNakJ6OEpiL1ZtcHViOSs3ZG04bGtzdGxzY3BML0I5OWgxNjVkNUJodVVWRlJhV2xwSzhNT3pTcDhYWFQwZUVUMHRiaVN0KzlFa1Nvdkx6OXh2TCtmN3dnOUhaM1dyMGdHNkdJNnhWb0JOQnBOUTEzTjFkbHhpTlBnek1kUDl2OTk1TTdkak5MM1pXeDI1ZjJIbWZjZlpocm85NTQyZWFLcmk2Tm10MjVTVGE0NjE5YldUa3BLRXMrMXVybzZNb2p0N094c2JXMkZRaUdkVG8rSWlORFUxSncyYlpxRGc0Tm81aWFUeWR5NWM2ZEFJREF3TUdoYVdHRmhZVWhJQ0oxT1YxQlFXTEZpeGFKRmk4YU1HZE9vTjNmZ3dJSHE2dXJZMk5oSmt5YUp6K1JmczJaTjYwTUJueXduSjZlNHVGaEhSNmVsSFo0OWV4WVlHQ2dsSmNYbGNuVjBkTWplS3preUVCOGZUMDdJRmI5a2dDQ0lnb0tDbUpnWWN0dk16S3oxTmNCRTcxWlZYVjFZK1BwWVJPVEZTMWVyL3AyOUpDY25xOU9yMTRoaG5sT0NBcFdVMEVXRnIxR25DRllSR28xbWJXbXgrYy9mSHo1NmNqMzVSbUpTeXNOSGp3bUNlUGI4eFpwMWYvUXhOSEJ6Y1hKMWNlcG4yN2RSdklxbmFsbFpHWi9QSi90dVRDWlQ5RlZhVTFQeitmUG5tWm1aamI0ZE56dE5TaUFRUkVaRzd0eTVrOGxrN3RpeG8xZXZYc3VYTC8vOTk5L0R3OE9uVHAzcTdlMU5GcENSa1JFZUhqNXo1c3pIangvUG1qVnI1Y3FWalFZRVBxaTh2THlnb0tDVkhScXRMcGlYbHpkMzdsdzFOYldrcEtTSWlJaVJJMGV1WGJ0VzlCRjBkSFIyN2RwbFlXSHgwMDgvOFhnOGFXbnBJVU9Ha0g4Skdob2FmdnZ0dDh1WEwrdnA2YTFhdGVxLy8vMnYrTFNFZGV2V3JWNjlXaWdVc2xpc3R2UnczNWVWWFU5T0piLzQxOVRVa0kyS0N2S0RCOWtQY1hGMGRYYnFycVg1b2ZjQTZMSm9FcHhDMkRxQlFGQlZWWjN4SUhQbjdqMzNIejRpNjZUUmFBb0s4aFptcG5ObVRoL2k5UCtteDU4NWMwWWdFRWhMUzErN2R1MzI3ZHZyMXEzYnVIRmpvL2ZrY3JuVjFkV2lFelV6Wjg1c2REMW9hR2pvNmRPbjE2MWJ0MzM3OXJ5OHZFR0RCcTFaczRiczhRa0VncE1uVCs3ZHU3ZXlzbEpSVVhINTh1VUdCZ2JmZmZlZHRyYjJ3WU1IYTJ0clY2MWFsWnFhcXFPalkycHFldTNhdGJGang0cm1acEhUZmZoOFBwL1BWMU5UOC9Ed0lEdUo0bXZCdEdMNDhPRy8vZlliT1YwM01EQlFXbHI2OE9IRDU4NmQyN1ZybDVtWm1aT1RVN2R1M2FTa3BCZ01odWdpSlI2UHgrZnplVHdldWRHM2I5KzdkKzl1MmJKbHhvd1pVNmRPWGJCZ3djT0hEd2NNR0dCcmE2dW1wc1ppc2NqTG44aXJrcmhjYm4xOWZYMTlQYmt4YnR3NFJiSEZVeXJZbGVFblQ0V2ZqSHhmVmk3NjFpOHJLK003d3VmYnFaTjZhbXZqV3o5QTUrcXhpbU13R0NvcXltNURuSndHMnllbjNOeC82RWhPYmw1NUJidXFxdnJtN2ZTYnQ5T3RMUzIrblRwNVlIODd6VzRhZERyOXpwMDc1SmRaRlJXVlpjdVcyZGpZekprenAvVkR0TFF3Q3B2TnJxbXArZjMzMzhuRnBFWDFCQVVGK2ZyNm5qcDFLaTB0VFY5ZmYvcjA2ZDI2ZGR1NGNTT1R5VlJTVXRxeFkwZGlZdUxseTVlenNyS2twYVhQbkRsejVzeVpwbTgrZCs1YzhZZXpaczFxZlFVLzhjbi9LaW9xNnVycTY5YXRVMWRYbnpGamhvV0ZSVVJFUkZSVVZGbFpXZXN6QjA2Y09HRnJhK3ZtNWpadjNqd2FqYlozNzk0TEZ5NWN2WHIxN05temJEYWJ5K1cyOVBmVjBORHcyMisvSlVkWENsOFhYYm9TRXg0UldmcnZ0WE5TVWxKYW10MWNYWnltVFo2bzM3dkY2eU1BdmphZHQ4ZmFpRkFvdkp2eElPbEc2dFhZK0x6OFoyUWprOGswTWVyajZERFF5OFBkeXNLY3dXQUlCQUpLcnM0VUNBUWZ2Q0RucjcvK0Nnd01WRk5UYS9aWjhkbnA1QlIzc2wxR1JvWjg1NGFHQmk2WFMvWVQyMTVZZFhXMWdvSkNzMC94L2tYTzNLVFJhR1RIbkU2bmsyZk0rSHgrUzlmZENnUUNIbzlISnF6NFpmVk1Kck9DelU2K2tScVhtSngyNi9hNzB2ZmsvZ3dHdzluUndjTjlpTE9qZzg1SG51a0M2UEsrbUdBbDhYaDhkbVhsdGJpRTNmdi9MaWdvSkJ0cE5KcUtpdktBZm5aTEZuNW4zTWRRMGpWMkhVS2g4R1RrMmFNbklsNitLcWl0L1dlMVdSYVQ2ZVRvOE1QOHVYcDZPaCsxcmlQQTErTUxDMVlSRG9jVGRlbkt5Y2h6ZWMrZVZWWDlieldOb1c1RHBnUUZtcHVacXFvbzQ5YXRuNGJINHhXOUtiNmVuTHJ2NzhPRnIvOVpzb3ZKWkhiVFVMZnRhejE5eWlRN0cydmtLVUFydnRSZ0pWVlZWYWZmeTdoK0l6VXVJZW4xdjZ2MlNVdEw5N1d5ZEhGeThQWndOOUR2alFob3U3cTZ1dHZwOTY3Rko2YWszU29vS0JRMk5KQXJWRmxiV25oNXVMczREVFl4Nm9NK3Y2RkZBQUFINEVsRVFWU2ZKOEFIZmRuQlN1Snl1Y1VsYnk5Y2p0NjFaMzlkSFlkc1pER1pLaXJLUTEySHpKazFUYS9sS1o5QUVncUZDVW5KZXc4Y3pzck9FZjhHWU52WCtydlozOXJaOWxWU1ZNUXFVQUJ0MUJXQ1ZhUzJydTVFeE9rck1iSFpPWG5WLzA2dWxKZVQ4L1owRC9BYmJkVEhRSldpSytLN0RCNlA5N3JveloyN0djZE9SRHg4OUw4N01QYnNvVzF0WlRFaFlLelQ0RUhvb2dKOHJDNFZyS1IzNzBwdnB0OU51SjU4UFNtbC9OOGJCOGpKeVE0YTJOL1YyY25iY3lodWVVL0tlSkFaRXh1ZmRDTTFKeStQdkRNdW5VN3ZZNkR2NWVFK3hIbXdoWmxwRys4VERnQ05kTUZnSmZGNC9MZnYzaDA2ZXZ6b2lWTWN6ai9qQXd3R1ExWldadUw0Z05uVHA2aXJOejlOcXNzVENvWHA5KzV2M2hiNjhQSGordnIveldEdDJVTjc2US9mdXcxeFZwQ1hSNzhlNEhOMDJXQVZLU3dxT240eU1pRXA1ZVdyVjZJUldBMTFOVC9ma1Q3ZW5nWUd2UlhrNWIrR2I3c0NnYURrN2J2c25Od2p4eU5TVW0rSzFweldVRmN6TlRIMjh4M3A1OXZhYldzQm9PMjZmckNTQ2d1TGJxU2x4Y1pmVDA1SkUyV0t1cnFhNHlCN2QxZG5WMmVuejd6cFZpZjM3UG1McTdIeENkZVRNeDVraXRhYzF1NnU1ZUh1T3RUVnhkYkdXckdGaXc0QTRCTjhMY0ZLcXVkeVg3OStzMzNYN2lzeGNmL1gzcjMvTkhYR2NSd0hXNUNsVUoxUU55NEZsVkoxNDlLV3F3S0NpR0NseXQxTGxFeW5NM0hPeGN4bCt3OWNvaHZiTkpLTXhDV0x5NXlTZ1pYYVdxeUFJQ2hZT2dSS3JTSVhMeFNJSUZkcHdiYjc0WXdUdkFRdlBBV0J6K3ZISjZTY2x1Uk5lMDdQOTZIdkFYVndZQzdtY0Q3L2JHZlc5aTBUYkFnNFF6VzN0QjdQeVZVVmx4cE5KbnFleTJLTzI5NWRXUm1weWM3T3JObjNsQUdtM2R3S0s4VnF0VFpvZGFmUG5GTnIvbTF2TjR5TUZkYlR3MzNIdHN6WTZLaWxTMzNtdnpTY2NHYnA3dW5SMzJuS2w4cmt5aUxqMkFhT0N4YXdsM2g3SjRrVE1sSTJMMXk0NEhXUEFRRHZhQzZHbGRiYzJsWlZyWllwbE5WcURmVUIyZDdlM3Yzamo0S0ZncVFONnlOWFI3QnNNSlRhcHF4VzY4TjJnK0xTNVpLeThnYXRibWhzYTFobkZpdEpuSkFZSHljU0N0Z3UrTlFQWUZ0ek9xeFVpVXdtVTcxVzk5T3ZKMi9XYU9oWHc5SFJrYy96L1hMZm5nMEo2NmI3R04vVXdNREF5ZDlPRlZ5UTlUenBwVStrdXJnNFo2YWw3UDlpTjl1RjdURHBiY1lCNEUzTTliRFNMQlpMbGJxbTRMeXNwdlpXYTl0OSttVlp3ZmZMVEV1T0NBLzFYYnJrNWMwTDNnZTlmWDNheHR0RlYwcitLYmp3ZFBqL1VTa3NGb3ZQV3hZVEhaV1J1dG5EL2NYOXRBSEFwaERXNTR5TWp0NjllNi9pUmxYaHhVczYvUjNxYWcrRHdWamk0eDBhTEV6ZG5DUVVCREhmanpzN3JWWnJiMitmb2tpbEtybGEzNkR0N25sQ3JYL2c1TFFtT2xJaVRnZ1dDakRHSDJCYUlLeXY5dXpaczZ2bGxVZU9acmUwdFkxZkR3cncvLzd3MStHaElkUDcxZGRoby9IMFgyZHpmLytqWjZ5bjFEOEF5Y2JFYnc0ZTRIcDVUT094QVFEQ09oR3oyVngwcGFSUXJyeFZWMi9vNktRV0dReEdlR2h3Um1weVVLQS8xOU5qS3IrdU5EUTBkS2ZwWHRtMXlyTjVCUjFkWGRTaWd3T1Q1N3RzVlhqWXRveFVudThydGtRRWdDbUdzTDdlNE5CUW8wNWZjZjNHK1VMNWc0ZVBxRVVtazdsaU9UOHlJaXd0V2VKbisrbmFvNk9qbDR0TGxhcmlHazF0dTZHRFduUjBjQWdMRFphSUUwTkVBaDl2THFaUEFid25FTmEzWURLWjh2S2x4M055SDNkM2oxK1BYeHY3N2FFRGZqeGZXNXdmR0JrWlVSU3BqbVlmcDk4eVU4S0NoZDhkUGlRU0JCTC9qUUF3U1Fqcld4c2NISkxLNU1yTHhUcTlmdndsbzNWcll6WWxiUWo0ZE9WaURtZnlRMHlNUmxOclcxdTFXdk4zWHI3K2JoUDFaMkl3R0Z3dnp4Q1JZRXQ2YW9oSVFPTFpBQUI1Q09zNzZoOFkxTjNXRjVlVzVlVkxlL3Y2cUVVbnAvbDhIaTg2Y2xWbVdySTMxK3ZkSHRsc05wZFgzSkRLTG1wcTYrZ3pEL2IyOWtFQi9wbnB5YUVpb1RlWDYraElZTU5FQUxBUmhIV3luZzRQNStTZSt2UE11ZjcrQVhyUnljbHBhM3JLd2YzN0ZpMzY4TTBmeW1LeDNGUnJmdmp4NS9FenArM3M3SmI3OFE0ZittcGQ3SnE1TUlVTFlCWkFXTW5vN09xU3laV2w1UlVOamJxK3ZuNXEwWm5GRWlmR3g4ZkZpb0lDSnhqL2FqYWJtNXBicXRVMTBrSkZiVjA5OWVYWmVmUG1jYjA4aFVHQktaczJob2VGelBUWkJRQnpDc0pLMHVQdW52b0dyYUpJSlZNb3g0OCs0Zk44RStMamtpVmlOOWZuTmkrd1dDeTM2clg1NXk5VTEyaGFXKy9UOHd4OXVGNlo2U2xScXlPVzgvMlFWSUFaQjJHMUNVTkg1N0ZmVHNnVlJmVG9MRHM3T3pjMzE3MjdzblpuN2FEdTJYL3c4TkdSWTltcTRxdjBmZjNVak5UOSsvYnMzSlk1VFFjT0FBUWdyRGJVM05JcWxjbXZWVlpwRzNWMFlWMWRGOFd2alRGMGRKWmRxNlIva3VQbUZ1RC9pVVNjR0JjVHhXYXpwKytRQVlBQWhOVzJMQlpMdThGUVc5Y2dMWlNYVlZ3ZkhmY0dsc0xodUtaSU5zYkZ4cXhjd1dlN3pPWmREQURtRG9SMTZqUm9kZGtuY3FwdXFvMUdFNVBKWkxzNDc5eStkZSt1TEJacmhrMTlCWUNKSWF4VHJiYXVYcTVVZWJxN0o0blh2M0F0Q3dCbUI0UVZBSUF3YkI4UEFFQVl3Z29BUUJqQ0NnQkFHTUlLQUVBWXdnb0FRQmpDQ2dCQUdNSUtBRUFZd2dvQVFCakNDZ0JBR01JS0FFQVl3Z29BUUJqQ0NnQkFHTUlLQUVBWXdnb0FRQmpDQ2dCQUdNSUtBRUFZd2dvQVFCakNDZ0JBR01JS0FFQVl3Z29BUUJqQ0NnQkFHTUlLQUVBWXdnb0FRQmpDQ2dCQUdNSUtBRUFZd2dvQVFCakNDZ0JBR01JS0FFQVl3Z29BUUJqQ0NnQkFHTUlLQUVBWXdnb0FRQmpDQ2dCQUdNSUtBRURZZjMvY3RKRWt2WWwrQUFBQUFFbEZUa1N1UW1DQyIsCgkiVGhlbWUiIDogIiIsCgkiVHlwZSIgOiAiZmxvdyIsCgkiVXNlcklkIiA6ICI5MDg3OTM4MzQiLAoJIlZlcnNpb24iIDogIjIwIgp9Cg=="/>
    </extobj>
  </extobjs>
</s:customData>
</file>

<file path=customXml/itemProps1.xml><?xml version="1.0" encoding="utf-8"?>
<ds:datastoreItem xmlns:ds="http://schemas.openxmlformats.org/officeDocument/2006/customXml" ds:itemID="s:customData">
  <ds:schemaRefs>
    <ds:schemaRef ds:uri="http://www.wps.cn/officeDocument/2013/wpsCustomData"/>
  </ds:schemaRefs>
</ds:datastoreItem>
</file>

<file path=docProps/app.xml><?xml version="1.0" encoding="utf-8"?>
<Properties xmlns="http://schemas.openxmlformats.org/officeDocument/2006/extended-properties" xmlns:vt="http://schemas.openxmlformats.org/officeDocument/2006/docPropsVTypes">
  <TotalTime>0</TotalTime>
  <Words>1129</Words>
  <Application>WPS 演示</Application>
  <PresentationFormat>Widescreen</PresentationFormat>
  <Paragraphs>80</Paragraphs>
  <Slides>8</Slides>
  <Notes>1</Notes>
  <HiddenSlides>0</HiddenSlides>
  <MMClips>0</MMClips>
  <ScaleCrop>false</ScaleCrop>
  <HeadingPairs>
    <vt:vector size="6" baseType="variant">
      <vt:variant>
        <vt:lpstr>已用的字体</vt:lpstr>
      </vt:variant>
      <vt:variant>
        <vt:i4>28</vt:i4>
      </vt:variant>
      <vt:variant>
        <vt:lpstr>主题</vt:lpstr>
      </vt:variant>
      <vt:variant>
        <vt:i4>1</vt:i4>
      </vt:variant>
      <vt:variant>
        <vt:lpstr>幻灯片标题</vt:lpstr>
      </vt:variant>
      <vt:variant>
        <vt:i4>8</vt:i4>
      </vt:variant>
    </vt:vector>
  </HeadingPairs>
  <TitlesOfParts>
    <vt:vector size="37" baseType="lpstr">
      <vt:lpstr>Arial</vt:lpstr>
      <vt:lpstr>SimSun</vt:lpstr>
      <vt:lpstr>Wingdings</vt:lpstr>
      <vt:lpstr>汉仪书宋二KW</vt:lpstr>
      <vt:lpstr>Microsoft YaHei</vt:lpstr>
      <vt:lpstr>汉仪旗黑</vt:lpstr>
      <vt:lpstr>Times New Roman</vt:lpstr>
      <vt:lpstr>SimHei</vt:lpstr>
      <vt:lpstr>汉仪中黑KW</vt:lpstr>
      <vt:lpstr>Tahoma</vt:lpstr>
      <vt:lpstr>Century Gothic</vt:lpstr>
      <vt:lpstr>苹方-简</vt:lpstr>
      <vt:lpstr>SimSun</vt:lpstr>
      <vt:lpstr>Arial Unicode MS</vt:lpstr>
      <vt:lpstr>幼圆</vt:lpstr>
      <vt:lpstr>Microsoft YaHei</vt:lpstr>
      <vt:lpstr>SimHei</vt:lpstr>
      <vt:lpstr>Wingdings</vt:lpstr>
      <vt:lpstr>汉仪正圆-75W</vt:lpstr>
      <vt:lpstr>汉仪正圆 55简</vt:lpstr>
      <vt:lpstr>BatangChe</vt:lpstr>
      <vt:lpstr>Apple SD Gothic Neo</vt:lpstr>
      <vt:lpstr>DejaVuMathTeXGyre</vt:lpstr>
      <vt:lpstr>DejaVu Math TeX Gyre</vt:lpstr>
      <vt:lpstr>Calibri</vt:lpstr>
      <vt:lpstr>Helvetica Neue</vt:lpstr>
      <vt:lpstr>Calibri</vt:lpstr>
      <vt:lpstr>SimSun</vt:lpstr>
      <vt:lpstr>Default Design</vt:lpstr>
      <vt:lpstr>PowerPoint 演示文稿</vt:lpstr>
      <vt:lpstr>核心问题</vt:lpstr>
      <vt:lpstr>不同边界条件的影响</vt:lpstr>
      <vt:lpstr>公式修正</vt:lpstr>
      <vt:lpstr>PowerPoint 演示文稿</vt:lpstr>
      <vt:lpstr>PowerPoint 演示文稿</vt:lpstr>
      <vt:lpstr>子结构法</vt:lpstr>
      <vt:lpstr>PowerPoint 演示文稿</vt:lpstr>
    </vt:vector>
  </TitlesOfParts>
  <Company>Guild Desing Inc.</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ThemeGallery PowerTemplate</dc:title>
  <dc:creator>www.themegallery.com</dc:creator>
  <cp:lastModifiedBy>酸菜馅饺子</cp:lastModifiedBy>
  <cp:revision>2170</cp:revision>
  <dcterms:created xsi:type="dcterms:W3CDTF">2026-04-02T09:27:36Z</dcterms:created>
  <dcterms:modified xsi:type="dcterms:W3CDTF">2026-04-02T09:27:36Z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81BED8106B4DB7BE062FCE699721D4BC_43</vt:lpwstr>
  </property>
  <property fmtid="{D5CDD505-2E9C-101B-9397-08002B2CF9AE}" pid="3" name="KSOProductBuildVer">
    <vt:lpwstr>2052-12.1.25205.25205</vt:lpwstr>
  </property>
</Properties>
</file>